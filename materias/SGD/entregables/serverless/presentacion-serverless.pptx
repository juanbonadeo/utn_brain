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positor 1 — Qué es" id="{b7c780c1-5914-ce1c-92a5-d5c26aae7cba}">
          <p14:sldIdLst>
            <p14:sldId id="256"/>
            <p14:sldId id="257"/>
            <p14:sldId id="258"/>
            <p14:sldId id="259"/>
          </p14:sldIdLst>
        </p14:section>
        <p14:section name="Expositor 2 — Cómo funciona" id="{06f21479-7983-ac3b-72e0-ecbfffd982cc}">
          <p14:sldIdLst>
            <p14:sldId id="260"/>
            <p14:sldId id="261"/>
            <p14:sldId id="262"/>
          </p14:sldIdLst>
        </p14:section>
        <p14:section name="Expositor 3 — Economía y datos" id="{abd229d6-2267-f80b-191b-ecd591b9f995}">
          <p14:sldIdLst>
            <p14:sldId id="263"/>
            <p14:sldId id="264"/>
            <p14:sldId id="265"/>
          </p14:sldIdLst>
        </p14:section>
        <p14:section name="Expositor 4 — Límites y futuro" id="{bcdcde98-8d23-4efd-8646-b0fbc003b1df}">
          <p14:sldIdLst>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USD por mes</c:v>
                </c:pt>
              </c:strCache>
            </c:strRef>
          </c:tx>
          <c:spPr>
            <a:solidFill>
              <a:srgbClr val="64748B"/>
            </a:solidFill>
            <a:effectLst/>
          </c:spPr>
          <c:invertIfNegative val="0"/>
          <c:dLbls>
            <c:numFmt formatCode="&quot;USD &quot;0.00" sourceLinked="0"/>
            <c:txPr>
              <a:bodyPr/>
              <a:lstStyle/>
              <a:p>
                <a:pPr>
                  <a:defRPr b="1" i="0" strike="noStrike" sz="1400" u="none">
                    <a:solidFill>
                      <a:srgbClr val="0B1220"/>
                    </a:solidFill>
                    <a:latin typeface="+mn-lt"/>
                  </a:defRPr>
                </a:pPr>
              </a:p>
            </c:txPr>
            <c:showLegendKey val="0"/>
            <c:showVal val="1"/>
            <c:showCatName val="0"/>
            <c:showSerName val="0"/>
            <c:showPercent val="0"/>
            <c:showBubbleSize val="0"/>
            <c:showLeaderLines val="0"/>
          </c:dLbls>
          <c:dPt>
            <c:idx val="0"/>
            <c:invertIfNegative val="0"/>
            <c:bubble3D val="0"/>
            <c:spPr>
              <a:solidFill>
                <a:srgbClr val="64748B"/>
              </a:solidFill>
              <a:effectLst/>
            </c:spPr>
          </c:dPt>
          <c:dPt>
            <c:idx val="1"/>
            <c:invertIfNegative val="0"/>
            <c:bubble3D val="0"/>
            <c:spPr>
              <a:solidFill>
                <a:srgbClr val="F59E0B"/>
              </a:solidFill>
              <a:effectLst/>
            </c:spPr>
          </c:dPt>
          <c:cat>
            <c:multiLvlStrRef>
              <c:f>Sheet1!$A$2:$A$3</c:f>
              <c:multiLvlStrCache>
                <c:ptCount val="2"/>
                <c:lvl>
                  <c:pt idx="0">
                    <c:v>EC2 t3.small 24×7</c:v>
                  </c:pt>
                  <c:pt idx="1">
                    <c:v>Lambda</c:v>
                  </c:pt>
                </c:lvl>
              </c:multiLvlStrCache>
            </c:multiLvlStrRef>
          </c:cat>
          <c:val>
            <c:numRef>
              <c:f>Sheet1!$B$2:$B$3</c:f>
              <c:numCache>
                <c:formatCode>General</c:formatCode>
                <c:ptCount val="2"/>
                <c:pt idx="0">
                  <c:v>15</c:v>
                </c:pt>
                <c:pt idx="1">
                  <c:v>2.47</c:v>
                </c:pt>
              </c:numCache>
            </c:numRef>
          </c:val>
        </c:ser>
        <c:dLbls>
          <c:numFmt formatCode="&quot;USD &quot;0.00" sourceLinked="0"/>
          <c:txPr>
            <a:bodyPr/>
            <a:lstStyle/>
            <a:p>
              <a:pPr>
                <a:defRPr b="1" i="0" strike="noStrike" sz="1400" u="none">
                  <a:solidFill>
                    <a:srgbClr val="0B122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18"/>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Lambda</c:v>
                </c:pt>
              </c:strCache>
            </c:strRef>
          </c:tx>
          <c:spPr>
            <a:solidFill>
              <a:srgbClr val="F59E0B"/>
            </a:solidFill>
            <a:ln w="38100" cap="flat">
              <a:solidFill>
                <a:srgbClr val="F59E0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59E0B"/>
              </a:solidFill>
              <a:ln w="9525" cap="flat">
                <a:solidFill>
                  <a:srgbClr val="F59E0B"/>
                </a:solidFill>
                <a:prstDash val="solid"/>
                <a:round/>
              </a:ln>
              <a:effectLst/>
            </c:spPr>
          </c:marker>
          <c:cat>
            <c:multiLvlStrRef>
              <c:f>Sheet1!$A$2:$A$12</c:f>
              <c:multiLvlStrCache>
                <c:ptCount val="11"/>
                <c:lvl>
                  <c:pt idx="0">
                    <c:v>0 %</c:v>
                  </c:pt>
                  <c:pt idx="1">
                    <c:v>10 %</c:v>
                  </c:pt>
                  <c:pt idx="2">
                    <c:v>20 %</c:v>
                  </c:pt>
                  <c:pt idx="3">
                    <c:v>30 %</c:v>
                  </c:pt>
                  <c:pt idx="4">
                    <c:v>40 %</c:v>
                  </c:pt>
                  <c:pt idx="5">
                    <c:v>50 %</c:v>
                  </c:pt>
                  <c:pt idx="6">
                    <c:v>60 %</c:v>
                  </c:pt>
                  <c:pt idx="7">
                    <c:v>70 %</c:v>
                  </c:pt>
                  <c:pt idx="8">
                    <c:v>80 %</c:v>
                  </c:pt>
                  <c:pt idx="9">
                    <c:v>90 %</c:v>
                  </c:pt>
                  <c:pt idx="10">
                    <c:v>100 %</c:v>
                  </c:pt>
                </c:lvl>
              </c:multiLvlStrCache>
            </c:multiLvlStrRef>
          </c:cat>
          <c:val>
            <c:numRef>
              <c:f>Sheet1!$B$2:$B$12</c:f>
              <c:numCache>
                <c:formatCode>General</c:formatCode>
                <c:ptCount val="11"/>
                <c:pt idx="0">
                  <c:v>0</c:v>
                </c:pt>
                <c:pt idx="1">
                  <c:v>0.0106</c:v>
                </c:pt>
                <c:pt idx="2">
                  <c:v>0.0212</c:v>
                </c:pt>
                <c:pt idx="3">
                  <c:v>0.0318</c:v>
                </c:pt>
                <c:pt idx="4">
                  <c:v>0.0424</c:v>
                </c:pt>
                <c:pt idx="5">
                  <c:v>0.053</c:v>
                </c:pt>
                <c:pt idx="6">
                  <c:v>0.0636</c:v>
                </c:pt>
                <c:pt idx="7">
                  <c:v>0.0742</c:v>
                </c:pt>
                <c:pt idx="8">
                  <c:v>0.0848</c:v>
                </c:pt>
                <c:pt idx="9">
                  <c:v>0.0954</c:v>
                </c:pt>
                <c:pt idx="10">
                  <c:v>0.106</c:v>
                </c:pt>
              </c:numCache>
            </c:numRef>
          </c:val>
          <c:smooth val="0"/>
        </c:ser>
        <c:ser>
          <c:idx val="1"/>
          <c:order val="1"/>
          <c:tx>
            <c:strRef>
              <c:f>Sheet1!$C$1</c:f>
              <c:strCache>
                <c:ptCount val="1"/>
                <c:pt idx="0">
                  <c:v>Servidor encendido 24/7 (EC2)</c:v>
                </c:pt>
              </c:strCache>
            </c:strRef>
          </c:tx>
          <c:spPr>
            <a:solidFill>
              <a:srgbClr val="0F766E"/>
            </a:solidFill>
            <a:ln w="38100" cap="flat">
              <a:solidFill>
                <a:srgbClr val="0F766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66E"/>
              </a:solidFill>
              <a:ln w="9525" cap="flat">
                <a:solidFill>
                  <a:srgbClr val="0F766E"/>
                </a:solidFill>
                <a:prstDash val="solid"/>
                <a:round/>
              </a:ln>
              <a:effectLst/>
            </c:spPr>
          </c:marker>
          <c:cat>
            <c:multiLvlStrRef>
              <c:f>Sheet1!$A$2:$A$12</c:f>
              <c:multiLvlStrCache>
                <c:ptCount val="11"/>
                <c:lvl>
                  <c:pt idx="0">
                    <c:v>0 %</c:v>
                  </c:pt>
                  <c:pt idx="1">
                    <c:v>10 %</c:v>
                  </c:pt>
                  <c:pt idx="2">
                    <c:v>20 %</c:v>
                  </c:pt>
                  <c:pt idx="3">
                    <c:v>30 %</c:v>
                  </c:pt>
                  <c:pt idx="4">
                    <c:v>40 %</c:v>
                  </c:pt>
                  <c:pt idx="5">
                    <c:v>50 %</c:v>
                  </c:pt>
                  <c:pt idx="6">
                    <c:v>60 %</c:v>
                  </c:pt>
                  <c:pt idx="7">
                    <c:v>70 %</c:v>
                  </c:pt>
                  <c:pt idx="8">
                    <c:v>80 %</c:v>
                  </c:pt>
                  <c:pt idx="9">
                    <c:v>90 %</c:v>
                  </c:pt>
                  <c:pt idx="10">
                    <c:v>100 %</c:v>
                  </c:pt>
                </c:lvl>
              </c:multiLvlStrCache>
            </c:multiLvlStrRef>
          </c:cat>
          <c:val>
            <c:numRef>
              <c:f>Sheet1!$C$2:$C$12</c:f>
              <c:numCache>
                <c:formatCode>General</c:formatCode>
                <c:ptCount val="11"/>
                <c:pt idx="0">
                  <c:v>0.036</c:v>
                </c:pt>
                <c:pt idx="1">
                  <c:v>0.036</c:v>
                </c:pt>
                <c:pt idx="2">
                  <c:v>0.036</c:v>
                </c:pt>
                <c:pt idx="3">
                  <c:v>0.036</c:v>
                </c:pt>
                <c:pt idx="4">
                  <c:v>0.036</c:v>
                </c:pt>
                <c:pt idx="5">
                  <c:v>0.036</c:v>
                </c:pt>
                <c:pt idx="6">
                  <c:v>0.036</c:v>
                </c:pt>
                <c:pt idx="7">
                  <c:v>0.036</c:v>
                </c:pt>
                <c:pt idx="8">
                  <c:v>0.036</c:v>
                </c:pt>
                <c:pt idx="9">
                  <c:v>0.036</c:v>
                </c:pt>
                <c:pt idx="10">
                  <c:v>0.036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64748B"/>
                    </a:solidFill>
                    <a:latin typeface="+mn-lt"/>
                  </a:defRPr>
                </a:pPr>
                <a:r>
                  <a:rPr sz="1200" b="0" i="0" u="none" strike="noStrike">
                    <a:solidFill>
                      <a:srgbClr val="64748B"/>
                    </a:solidFill>
                    <a:latin typeface="+mn-lt"/>
                  </a:rPr>
                  <a:t>utilización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max val="0.12"/>
          <c:min val="0"/>
        </c:scaling>
        <c:delete val="0"/>
        <c:axPos val="l"/>
        <c:majorGridlines>
          <c:spPr>
            <a:ln w="12700" cap="flat">
              <a:solidFill>
                <a:srgbClr val="F1F5F9"/>
              </a:solidFill>
              <a:prstDash val="solid"/>
              <a:round/>
            </a:ln>
          </c:spPr>
        </c:majorGridlines>
        <c:title>
          <c:tx>
            <c:rich>
              <a:bodyPr/>
              <a:lstStyle/>
              <a:p>
                <a:pPr>
                  <a:defRPr sz="1200" b="0" i="0" u="none" strike="noStrike">
                    <a:solidFill>
                      <a:srgbClr val="64748B"/>
                    </a:solidFill>
                    <a:latin typeface="+mn-lt"/>
                  </a:defRPr>
                </a:pPr>
                <a:r>
                  <a:rPr sz="1200" b="0" i="0" u="none" strike="noStrike">
                    <a:solidFill>
                      <a:srgbClr val="64748B"/>
                    </a:solidFill>
                    <a:latin typeface="+mn-lt"/>
                  </a:rPr>
                  <a:t>USD por vCPU-hora</a:t>
                </a:r>
              </a:p>
            </c:rich>
          </c:tx>
          <c:layout/>
          <c:overlay val="0"/>
        </c:title>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mn-lt"/>
              </a:defRPr>
            </a:pPr>
            <a:endParaRPr lang="en-US"/>
          </a:p>
        </c:txPr>
        <c:crossAx val="2094734554"/>
        <c:crosses val="autoZero"/>
        <c:crossBetween val="between"/>
        <c:majorUnit val="0.02"/>
      </c:valAx>
      <c:spPr>
        <a:noFill/>
        <a:ln>
          <a:noFill/>
        </a:ln>
        <a:effectLst/>
      </c:spPr>
    </c:plotArea>
    <c:legend>
      <c:legendPos val="t"/>
      <c:overlay val="0"/>
      <c:txPr>
        <a:bodyPr/>
        <a:lstStyle/>
        <a:p>
          <a:pPr>
            <a:defRPr sz="1300">
              <a:solidFill>
                <a:srgbClr val="334155"/>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1 · 0:20]
 Buenas. Somos el grupo que va a presentar serverless. Vamos a contar qué es,
 cómo funciona por dentro, cuánto cuesta de verdad y, sobre todo, cuándo no
 conviene usarlo. Somos cuatro y nos vamos a ir pasando la palabra por bloques.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1 · 1:00]
 Arranquemos por el nombre, que es lo primero que confunde. Serverless no
 significa que no haya servidores. Los servidores existen, están en un
 datacenter y alguien los mantiene. La diferencia es que ese alguien no sos vos:
 es el proveedor. Pasa lo mismo con wireless: los cables siguen existiendo, pero
 no los tirás vos.
 Y no es una moda de nicho. Lambda, el servicio serverless de Amazon, ejecuta
 más de quince billones de invocaciones por mes, billones de los nuestros, diez a
 la doce. Según el relevamiento de Datadog de 2025, el sesenta y cinco por
 ciento de los clientes de AWS usa Lambda y el setenta por ciento de los de
 Google Cloud usa Cloud Run. O sea, es algo que la mayoría de las empresas que
 están en la nube ya usa en producción. Entonces, si los servidores existen,
 ¿qué es exactamente lo que cambia?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1 · 1:00]
 La definición que tomamos es la de la CNCF, la fundación que agrupa los
 proyectos cloud native. Dice que serverless es construir y correr aplicaciones
 que no requieren gestión de servidores, y que se ejecutan, escalan y facturan
 según la demanda exacta del momento.
 De ahí salen tres propiedades, y las usamos como criterio. Primera: no
 administrás infraestructura. No elegís el tamaño de la máquina, no parcheás el
 sistema operativo. Segunda: escala hasta cero. Si llegan mil pedidos levanta lo
 necesario, y si no llega ninguno, no queda nada corriendo. Tercera: pagás por
 uso real, por ejecución, no por tener algo encendido.
 Si falta una, no es serverless. Un Kubernetes administrado por el proveedor
 cumple la primera a medias, pero no la tercera: el pod cuesta plata aunque
 nadie lo llame.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1 · 1:10]
 Para entender por qué apareció esto, sirve mirar la historia como una escalera.
 En cada escalón el desarrollador se desentiende de una capa más.
 Con bare metal comprás el servidor y te ocupás de todo. Con IaaS, por ejemplo
 EC2, alquilás una máquina virtual por hora. Con PaaS subís tu aplicación y el
 proveedor se ocupa del sistema operativo. Con contenedores empaquetás la
 aplicación con sus dependencias. Y en el último escalón, FaaS, lo que desplegás
 es una sola función.
 Fíjense en la última fila: la unidad de cobro pasa de la hora al milisegundo.
 Es la primera vez que el costo de cómputo puede ser cero cuando nadie usa el
 sistema.
 Abajo está la otra distinción importante. FaaS es tu código: funciones que se
 disparan con eventos. BaaS son servicios que consumís por API, como la base, la
 autenticación o el almacenamiento. En una aplicación serverless real, la mayor
 parte es BaaS, y tus funciones son el pegamento entre esos servicios.
 Pase al expositor 2: ahora que sabemos qué es, veamos qué pasa por dentro
 cuando llega un pedido.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2 · 1:20]
 Una función serverless no está corriendo todo el tiempo esperando. Se invoca
 cuando pasa algo: llega un pedido HTTP, alguien sube un archivo, entra un
 mensaje a una cola o se cumple un horario.
 La primera vez, la plataforma tiene que preparar el entorno. Esa fase se llama
 INIT: crea una máquina virtual chiquita, descarga el código, arranca el runtime
 y corre el código de inicialización, que es donde van los imports y la conexión
 a la base. Después viene INVOKE, que ejecuta la función propiamente dicha. Al
 terminar, el entorno no se destruye: se congela. Si llega otro pedido, se
 reutiliza y se saltea todo el INIT. Si pasan entre cinco y quince minutos sin
 pedidos, se apaga.
 De esto salen dos consecuencias. La primera: el estado no se puede guardar en
 memoria, porque no hay garantía de que dos pedidos caigan en el mismo entorno.
 Es stateless por contrato. La segunda: en Lambda cada entorno atiende un pedido
 a la vez. Si llegan cien por segundo y cada uno tarda dos décimas, necesitás
 veinte entornos simultáneos. Si tarda dos segundos, necesitás doscientos.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2 · 1:10]
 Esa primera invocación, la que tiene que pasar por INIT, es más lenta. Se llama
 cold start y es el precio de poder escalar a cero: si no hay nada corriendo,
 algo hay que arrancar.
 Cuánto tarda depende mucho del lenguaje. Go o Rust, que son compilados,
 arrancan en menos de cien milisegundos. Python anda entre doscientos y
 cuatrocientos. Java sin optimizar puede tardar segundos. Si además la función
 está dentro de una red privada, se suman unos cientos de milisegundos más.
 Estos números son órdenes de magnitud reportados en 2026, no mediciones
 nuestras.
 Para bajarlo hay varias opciones. Provisioned Concurrency mantiene entornos
 precalentados, pero se pagan por hora, así que se pierde parte del pago por
 uso. SnapStart, en vez de arrancar de cero, restaura una foto de un entorno ya
 inicializado: así Java baja a unos cien milisegundos. Y siempre ayuda tener un
 paquete liviano, con pocas dependencias.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2 · 1:40]
 Ahora, el problema que tiene el proveedor es difícil: correr código de miles de
 clientes distintos en la misma máquina física, sin que uno pueda ver al otro, y
 arrancando en milisegundos. Los contenedores solos no alcanzan, porque
 comparten el kernel. Las máquinas virtuales tradicionales son demasiado lentas.
 Amazon lo resolvió con Firecracker, un monitor de máquinas virtuales escrito en
 Rust y open source. Levanta una microVM con Linux en menos de ciento veinticinco
 milisegundos y con unos cinco megas de memoria extra. Lo logra sacando todo lo
 que una PC normal trae y una función no necesita. El aislamiento es por
 hardware. Es la base de Lambda.
 Cloudflare eligió el camino opuesto. En vez de darle a cada función su propia
 máquina virtual, mete miles de funciones dentro de un mismo programa: V8, el
 motor que ejecuta JavaScript en Chrome. Adentro de ese programa, cada función
 vive en un compartimento separado, que se llama isolate, con sus propias
 variables y sin poder ver las de las demás.
 La ventaja es la velocidad. Como el motor ya está andando, sumar una función
 nueva es casi instantáneo: unas cien veces más rápido que arrancar un programa
 de Node desde cero. El cold start prácticamente desaparece. La contra son dos
 cosas: la separación entre clientes la hace el software, no el hardware, y
 solo se puede correr JavaScript o WebAssembly.
 Pase al expositor 3: todo esto tiene un costo, y ahí es donde serverless se
 pone interesante.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3 · 1:15]
 El modelo de cobro tiene dos partes. Una por cantidad de pedidos: veinte
 centavos de dólar por millón. Otra por duración, medida en gigabyte-segundo,
 que es la memoria que configuraste multiplicada por el tiempo que corrió la
 función. Se cobra al milisegundo, y hay una capa gratuita todos los meses de
 un millón de pedidos y cuatrocientos mil gigabyte-segundo.
 Un detalle: la CPU que te dan es proporcional a la memoria. Si duplicás la
 memoria, la función puede terminar en la mitad del tiempo y costar lo mismo.
 Hicimos la cuenta con un caso concreto: una API con cinco millones de pedidos
 por mes, doscientos milisegundos cada uno y medio giga de memoria. Descontando
 la capa gratuita da unos dos dólares y medio por mes. Una máquina virtual chica
 de Amazon, encendida todo el mes, cuesta unos quince. Para este caso serverless
 sale seis veces más barato.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3 · 1:20]
 Pero el ejemplo anterior tiene trampa: esa API está ociosa casi todo el tiempo.
 ¿Qué pasa si la función corre sin parar?
 El gráfico compara el costo de tener un procesador disponible durante una hora.
 El servidor cuesta lo mismo esté ocupado o no: es la línea plana. Lambda, la
 línea naranja, arranca en cero y crece con el uso. El problema es la
 pendiente: normalizado por procesador, el vCPU-hora de Lambda cuesta unas tres
 veces más que el de una instancia equivalente.
 Las dos líneas se cruzan alrededor del treinta y cuatro por ciento de uso, un
 tercio.
 Debajo de eso gana serverless, y por mucho. Arriba, conviene un servidor.
 Es la analogía del auto: alquilar un servidor es tener auto propio, lo pagás
 aunque esté estacionado. Serverless es tomar un Uber: si no viajás no pagás,
 pero el kilómetro sale más caro. Si viajás ocho horas por día, te conviene el
 auto.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3 · 1:15]
 Esto es lo que más se conecta con la materia. Para que una base de datos sea
 serverless, tiene que poder apagar el cómputo sin perder los datos. El truco es
 separar las dos cosas: los datos viven en un almacenamiento persistente, y los
 nodos que procesan consultas se prenden y se apagan según la demanda. Así
 funcionan Neon, Aurora Serverless y DynamoDB en modo on demand.
 Pero hay un choque clásico. Una base relacional como Postgres soporta cientos
 de conexiones, no miles. Si quinientas funciones corren a la vez y cada una
 abre su conexión, la base se cae. Las soluciones son dos: poner un pooler en
 el medio, como RDS Proxy o PgBouncer, que reutiliza pocas conexiones para
 muchas funciones, o usar bases que se consultan por HTTP en lugar de mantener
 conexiones abiertas.
 Pase al expositor 4: con todo esto ya podemos decir cuándo conviene y cuándo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4 · 1:00]
 Juntando todo lo anterior, serverless encaja cuando la carga es espigada o
 impredecible, cuando el trabajo se dispara por eventos y cuando no hace falta
 guardar estado entre pedidos. Por ejemplo, generar una miniatura cada vez que
 alguien sube una foto, procesar datos de sensores o correr tareas programadas.
 iRobot, el de la Roomba, procesa más de veinte millones de eventos por día así
 y reporta un treinta por ciento menos de costo.
 No encaja cuando la carga es constante, porque ya vimos que arriba de un
 tercio de uso pierde. Tampoco cuando la latencia es crítica, por el cold
 start, cuando hace falta estado o conexiones persistentes, o cuando el sistema
 es una cadena larga de funciones muy acopladas. El caso más famoso de eso lo
 contó el propio Amazon.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4 · 1:00]
 En 2023, el equipo de Prime Video publicó que había sacado un sistema de
 serverless y había bajado el costo un noventa por ciento.
 El sistema analizaba la calidad de cada stream que miraban los usuarios. Estaba
 armado con funciones encadenadas, y por cada segundo de video había varias
 transiciones entre funciones. Además, los datos pasaban de una etapa a otra
 por la red. Lo que más costaba no era procesar: era mover datos. Lo
 reescribieron como un solo proceso en contenedores, con todo junto en memoria.
 La lección no es que serverless sea malo. Es que, cuando comunicar cuesta más
 que computar, hay que juntar los componentes, no separarlos.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4 · 0:50]
 Y la industria tomó nota. En 2026 Amazon lanzó Lambda Managed Instances: las
 mismas funciones, pero corriendo sobre servidores dedicados, pensado para
 cargas estables. Es el propio proveedor reconociendo el punto de cruce. También
 anunció microVMs con sesiones de hasta ocho horas y estado, que rompen dos de
 los dogmas originales.
 En paralelo, la inferencia de inteligencia artificial se está llevando al
 edge, cerca del usuario. Y dos de cada tres empresas que usan funciones también
 usan contenedores. El futuro es híbrido: cada carga va donde le conviene.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4 · 0:40]
 Para cerrar, tres ideas. Serverless no es sin servidores: es no tener que
 administrarlos. Se paga por uso, así que gana en cargas espigadas y pierde
 cuando el uso es alto y constante. Y es un trade-off: se elige porque encaja
 con el problema, no porque esté de moda. Gracias.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0B1220"/>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7315200" cy="320040"/>
          </a:xfrm>
          <a:prstGeom prst="rect">
            <a:avLst/>
          </a:prstGeom>
          <a:noFill/>
          <a:ln/>
        </p:spPr>
        <p:txBody>
          <a:bodyPr wrap="square" rtlCol="0"/>
          <a:lstStyle>
            <a:lvl1pPr indent="0" marL="0">
              <a:buNone/>
              <a:defRPr lang="en-US" sz="1200" b="1" spc="200" kern="0" dirty="0">
                <a:solidFill>
                  <a:srgbClr val="0F766E"/>
                </a:solidFill>
              </a:defRPr>
            </a:lvl1pPr>
          </a:lstStyle>
          <a:p>
            <a:pPr indent="0" marL="0">
              <a:buNone/>
            </a:pPr>
            <a:endParaRPr lang="en-US" sz="1200" dirty="0"/>
          </a:p>
        </p:txBody>
      </p:sp>
      <p:sp>
        <p:nvSpPr>
          <p:cNvPr id="3" name="Text 0"/>
          <p:cNvSpPr/>
          <p:nvPr>
            <p:ph idx="101" type="title" hasCustomPrompt="1"/>
          </p:nvPr>
        </p:nvSpPr>
        <p:spPr>
          <a:xfrm>
            <a:off x="548640" y="640080"/>
            <a:ext cx="11094415" cy="731520"/>
          </a:xfrm>
          <a:prstGeom prst="rect">
            <a:avLst/>
          </a:prstGeom>
          <a:noFill/>
          <a:ln/>
        </p:spPr>
        <p:txBody>
          <a:bodyPr wrap="square" rtlCol="0"/>
          <a:lstStyle>
            <a:lvl1pPr algn="l" indent="0" marL="0">
              <a:buNone/>
              <a:defRPr lang="en-US" sz="3000" b="1" dirty="0">
                <a:solidFill>
                  <a:srgbClr val="0B1220"/>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4" name="Text 0"/>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64748B"/>
                </a:solidFill>
              </a:rPr>
              <a:t>SGD · Serverless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548640" y="1097280"/>
            <a:ext cx="6858000" cy="365760"/>
          </a:xfrm>
          <a:prstGeom prst="rect">
            <a:avLst/>
          </a:prstGeom>
          <a:noFill/>
          <a:ln/>
        </p:spPr>
        <p:txBody>
          <a:bodyPr wrap="square" lIns="0" tIns="0" rIns="0" bIns="0" rtlCol="0" anchor="t"/>
          <a:lstStyle/>
          <a:p>
            <a:pPr indent="0" marL="0">
              <a:buNone/>
            </a:pPr>
            <a:r>
              <a:rPr lang="en-US" sz="1300" b="1" spc="200" kern="0" dirty="0">
                <a:solidFill>
                  <a:srgbClr val="F59E0B"/>
                </a:solidFill>
              </a:rPr>
              <a:t>SOPORTE A LA GESTIÓN DE DATOS CON P. VISUAL</a:t>
            </a:r>
            <a:endParaRPr lang="en-US" sz="1300" dirty="0"/>
          </a:p>
        </p:txBody>
      </p:sp>
      <p:sp>
        <p:nvSpPr>
          <p:cNvPr id="4" name="Text 1"/>
          <p:cNvSpPr txBox="1"/>
          <p:nvPr/>
        </p:nvSpPr>
        <p:spPr>
          <a:xfrm>
            <a:off x="548640" y="1600200"/>
            <a:ext cx="7132320" cy="1280160"/>
          </a:xfrm>
          <a:prstGeom prst="rect">
            <a:avLst/>
          </a:prstGeom>
          <a:noFill/>
          <a:ln/>
        </p:spPr>
        <p:txBody>
          <a:bodyPr wrap="square" lIns="0" tIns="0" rIns="0" bIns="0" rtlCol="0" anchor="ctr"/>
          <a:lstStyle/>
          <a:p>
            <a:pPr indent="0" marL="0">
              <a:buNone/>
            </a:pPr>
            <a:r>
              <a:rPr lang="en-US" sz="6600" b="1" dirty="0">
                <a:solidFill>
                  <a:srgbClr val="FFFFFF"/>
                </a:solidFill>
                <a:latin typeface="Arial" pitchFamily="34" charset="0"/>
                <a:ea typeface="Arial" pitchFamily="34" charset="-122"/>
                <a:cs typeface="Arial" pitchFamily="34" charset="-120"/>
              </a:rPr>
              <a:t>Serverless</a:t>
            </a:r>
            <a:endParaRPr lang="en-US" sz="6600" dirty="0"/>
          </a:p>
        </p:txBody>
      </p:sp>
      <p:sp>
        <p:nvSpPr>
          <p:cNvPr id="5" name="Text 2"/>
          <p:cNvSpPr txBox="1"/>
          <p:nvPr/>
        </p:nvSpPr>
        <p:spPr>
          <a:xfrm>
            <a:off x="548640" y="2926080"/>
            <a:ext cx="6766560" cy="914400"/>
          </a:xfrm>
          <a:prstGeom prst="rect">
            <a:avLst/>
          </a:prstGeom>
          <a:noFill/>
          <a:ln/>
        </p:spPr>
        <p:txBody>
          <a:bodyPr wrap="square" lIns="0" tIns="0" rIns="0" bIns="0" rtlCol="0" anchor="t"/>
          <a:lstStyle/>
          <a:p>
            <a:pPr indent="0" marL="0">
              <a:buNone/>
            </a:pPr>
            <a:r>
              <a:rPr lang="en-US" sz="2400" dirty="0">
                <a:solidFill>
                  <a:srgbClr val="CBD5E1"/>
                </a:solidFill>
              </a:rPr>
              <a:t>Qué es, cómo funciona por dentro y cuándo no conviene</a:t>
            </a:r>
            <a:endParaRPr lang="en-US" sz="2400" dirty="0"/>
          </a:p>
        </p:txBody>
      </p:sp>
      <p:sp>
        <p:nvSpPr>
          <p:cNvPr id="6" name="Text 3"/>
          <p:cNvSpPr txBox="1"/>
          <p:nvPr/>
        </p:nvSpPr>
        <p:spPr>
          <a:xfrm>
            <a:off x="548640" y="5074920"/>
            <a:ext cx="7772400" cy="365760"/>
          </a:xfrm>
          <a:prstGeom prst="rect">
            <a:avLst/>
          </a:prstGeom>
          <a:noFill/>
          <a:ln/>
        </p:spPr>
        <p:txBody>
          <a:bodyPr wrap="square" lIns="0" tIns="0" rIns="0" bIns="0" rtlCol="0" anchor="t"/>
          <a:lstStyle/>
          <a:p>
            <a:pPr indent="0" marL="0">
              <a:buNone/>
            </a:pPr>
            <a:r>
              <a:rPr lang="en-US" sz="1400" b="1" dirty="0">
                <a:solidFill>
                  <a:srgbClr val="FFFFFF"/>
                </a:solidFill>
              </a:rPr>
              <a:t>Integrantes: </a:t>
            </a:r>
            <a:pPr indent="0" marL="0">
              <a:buNone/>
            </a:pPr>
            <a:r>
              <a:rPr lang="en-US" sz="1400" dirty="0">
                <a:solidFill>
                  <a:srgbClr val="CBD5E1"/>
                </a:solidFill>
              </a:rPr>
              <a:t>Bonadeo, Juan Cruz · [Integrante 2] · [Integrante 3] · [Integrante 4]</a:t>
            </a:r>
            <a:endParaRPr lang="en-US" sz="1400" dirty="0"/>
          </a:p>
        </p:txBody>
      </p:sp>
      <p:sp>
        <p:nvSpPr>
          <p:cNvPr id="7" name="Text 4"/>
          <p:cNvSpPr txBox="1"/>
          <p:nvPr/>
        </p:nvSpPr>
        <p:spPr>
          <a:xfrm>
            <a:off x="548640" y="5486400"/>
            <a:ext cx="7772400" cy="365760"/>
          </a:xfrm>
          <a:prstGeom prst="rect">
            <a:avLst/>
          </a:prstGeom>
          <a:noFill/>
          <a:ln/>
        </p:spPr>
        <p:txBody>
          <a:bodyPr wrap="square" lIns="0" tIns="0" rIns="0" bIns="0" rtlCol="0" anchor="t"/>
          <a:lstStyle/>
          <a:p>
            <a:pPr indent="0" marL="0">
              <a:buNone/>
            </a:pPr>
            <a:r>
              <a:rPr lang="en-US" sz="1300" dirty="0">
                <a:solidFill>
                  <a:srgbClr val="64748B"/>
                </a:solidFill>
              </a:rPr>
              <a:t>UTN — Facultad Regional Rosario · Ingeniería en Sistemas de Información · 2026</a:t>
            </a:r>
            <a:endParaRPr lang="en-US" sz="1300" dirty="0"/>
          </a:p>
        </p:txBody>
      </p:sp>
      <p:sp>
        <p:nvSpPr>
          <p:cNvPr id="8" name="entorno"/>
          <p:cNvSpPr/>
          <p:nvPr/>
        </p:nvSpPr>
        <p:spPr>
          <a:xfrm>
            <a:off x="8229600" y="1097280"/>
            <a:ext cx="640080" cy="640080"/>
          </a:xfrm>
          <a:prstGeom prst="roundRect">
            <a:avLst>
              <a:gd name="adj" fmla="val 11429"/>
            </a:avLst>
          </a:prstGeom>
          <a:solidFill>
            <a:srgbClr val="334155">
              <a:alpha val="45000"/>
            </a:srgbClr>
          </a:solidFill>
          <a:ln/>
        </p:spPr>
      </p:sp>
      <p:sp>
        <p:nvSpPr>
          <p:cNvPr id="9" name="entorno"/>
          <p:cNvSpPr/>
          <p:nvPr/>
        </p:nvSpPr>
        <p:spPr>
          <a:xfrm>
            <a:off x="9052560" y="1097280"/>
            <a:ext cx="640080" cy="640080"/>
          </a:xfrm>
          <a:prstGeom prst="roundRect">
            <a:avLst>
              <a:gd name="adj" fmla="val 11429"/>
            </a:avLst>
          </a:prstGeom>
          <a:solidFill>
            <a:srgbClr val="334155">
              <a:alpha val="45000"/>
            </a:srgbClr>
          </a:solidFill>
          <a:ln/>
        </p:spPr>
      </p:sp>
      <p:sp>
        <p:nvSpPr>
          <p:cNvPr id="10" name="entorno"/>
          <p:cNvSpPr/>
          <p:nvPr/>
        </p:nvSpPr>
        <p:spPr>
          <a:xfrm>
            <a:off x="9875520" y="1097280"/>
            <a:ext cx="640080" cy="640080"/>
          </a:xfrm>
          <a:prstGeom prst="roundRect">
            <a:avLst>
              <a:gd name="adj" fmla="val 11429"/>
            </a:avLst>
          </a:prstGeom>
          <a:solidFill>
            <a:srgbClr val="F59E0B"/>
          </a:solidFill>
          <a:ln/>
        </p:spPr>
      </p:sp>
      <p:sp>
        <p:nvSpPr>
          <p:cNvPr id="11" name="entorno"/>
          <p:cNvSpPr/>
          <p:nvPr/>
        </p:nvSpPr>
        <p:spPr>
          <a:xfrm>
            <a:off x="10698480" y="1097280"/>
            <a:ext cx="640080" cy="640080"/>
          </a:xfrm>
          <a:prstGeom prst="roundRect">
            <a:avLst>
              <a:gd name="adj" fmla="val 11429"/>
            </a:avLst>
          </a:prstGeom>
          <a:solidFill>
            <a:srgbClr val="334155">
              <a:alpha val="45000"/>
            </a:srgbClr>
          </a:solidFill>
          <a:ln/>
        </p:spPr>
      </p:sp>
      <p:sp>
        <p:nvSpPr>
          <p:cNvPr id="12" name="entorno"/>
          <p:cNvSpPr/>
          <p:nvPr/>
        </p:nvSpPr>
        <p:spPr>
          <a:xfrm>
            <a:off x="8229600" y="1920240"/>
            <a:ext cx="640080" cy="640080"/>
          </a:xfrm>
          <a:prstGeom prst="roundRect">
            <a:avLst>
              <a:gd name="adj" fmla="val 11429"/>
            </a:avLst>
          </a:prstGeom>
          <a:solidFill>
            <a:srgbClr val="334155">
              <a:alpha val="45000"/>
            </a:srgbClr>
          </a:solidFill>
          <a:ln/>
        </p:spPr>
      </p:sp>
      <p:sp>
        <p:nvSpPr>
          <p:cNvPr id="13" name="entorno"/>
          <p:cNvSpPr/>
          <p:nvPr/>
        </p:nvSpPr>
        <p:spPr>
          <a:xfrm>
            <a:off x="9052560" y="1920240"/>
            <a:ext cx="640080" cy="640080"/>
          </a:xfrm>
          <a:prstGeom prst="roundRect">
            <a:avLst>
              <a:gd name="adj" fmla="val 11429"/>
            </a:avLst>
          </a:prstGeom>
          <a:solidFill>
            <a:srgbClr val="334155">
              <a:alpha val="45000"/>
            </a:srgbClr>
          </a:solidFill>
          <a:ln/>
        </p:spPr>
      </p:sp>
      <p:sp>
        <p:nvSpPr>
          <p:cNvPr id="14" name="entorno"/>
          <p:cNvSpPr/>
          <p:nvPr/>
        </p:nvSpPr>
        <p:spPr>
          <a:xfrm>
            <a:off x="9875520" y="1920240"/>
            <a:ext cx="640080" cy="640080"/>
          </a:xfrm>
          <a:prstGeom prst="roundRect">
            <a:avLst>
              <a:gd name="adj" fmla="val 11429"/>
            </a:avLst>
          </a:prstGeom>
          <a:solidFill>
            <a:srgbClr val="334155">
              <a:alpha val="45000"/>
            </a:srgbClr>
          </a:solidFill>
          <a:ln/>
        </p:spPr>
      </p:sp>
      <p:sp>
        <p:nvSpPr>
          <p:cNvPr id="15" name="entorno"/>
          <p:cNvSpPr/>
          <p:nvPr/>
        </p:nvSpPr>
        <p:spPr>
          <a:xfrm>
            <a:off x="10698480" y="1920240"/>
            <a:ext cx="640080" cy="640080"/>
          </a:xfrm>
          <a:prstGeom prst="roundRect">
            <a:avLst>
              <a:gd name="adj" fmla="val 11429"/>
            </a:avLst>
          </a:prstGeom>
          <a:solidFill>
            <a:srgbClr val="F59E0B"/>
          </a:solidFill>
          <a:ln/>
        </p:spPr>
      </p:sp>
      <p:sp>
        <p:nvSpPr>
          <p:cNvPr id="16" name="entorno"/>
          <p:cNvSpPr/>
          <p:nvPr/>
        </p:nvSpPr>
        <p:spPr>
          <a:xfrm>
            <a:off x="8229600" y="2743200"/>
            <a:ext cx="640080" cy="640080"/>
          </a:xfrm>
          <a:prstGeom prst="roundRect">
            <a:avLst>
              <a:gd name="adj" fmla="val 11429"/>
            </a:avLst>
          </a:prstGeom>
          <a:solidFill>
            <a:srgbClr val="F59E0B"/>
          </a:solidFill>
          <a:ln/>
        </p:spPr>
      </p:sp>
      <p:sp>
        <p:nvSpPr>
          <p:cNvPr id="17" name="entorno"/>
          <p:cNvSpPr/>
          <p:nvPr/>
        </p:nvSpPr>
        <p:spPr>
          <a:xfrm>
            <a:off x="9052560" y="2743200"/>
            <a:ext cx="640080" cy="640080"/>
          </a:xfrm>
          <a:prstGeom prst="roundRect">
            <a:avLst>
              <a:gd name="adj" fmla="val 11429"/>
            </a:avLst>
          </a:prstGeom>
          <a:solidFill>
            <a:srgbClr val="334155">
              <a:alpha val="45000"/>
            </a:srgbClr>
          </a:solidFill>
          <a:ln/>
        </p:spPr>
      </p:sp>
      <p:sp>
        <p:nvSpPr>
          <p:cNvPr id="18" name="entorno"/>
          <p:cNvSpPr/>
          <p:nvPr/>
        </p:nvSpPr>
        <p:spPr>
          <a:xfrm>
            <a:off x="9875520" y="2743200"/>
            <a:ext cx="640080" cy="640080"/>
          </a:xfrm>
          <a:prstGeom prst="roundRect">
            <a:avLst>
              <a:gd name="adj" fmla="val 11429"/>
            </a:avLst>
          </a:prstGeom>
          <a:solidFill>
            <a:srgbClr val="334155">
              <a:alpha val="45000"/>
            </a:srgbClr>
          </a:solidFill>
          <a:ln/>
        </p:spPr>
      </p:sp>
      <p:sp>
        <p:nvSpPr>
          <p:cNvPr id="19" name="entorno"/>
          <p:cNvSpPr/>
          <p:nvPr/>
        </p:nvSpPr>
        <p:spPr>
          <a:xfrm>
            <a:off x="10698480" y="2743200"/>
            <a:ext cx="640080" cy="640080"/>
          </a:xfrm>
          <a:prstGeom prst="roundRect">
            <a:avLst>
              <a:gd name="adj" fmla="val 11429"/>
            </a:avLst>
          </a:prstGeom>
          <a:solidFill>
            <a:srgbClr val="334155">
              <a:alpha val="45000"/>
            </a:srgbClr>
          </a:solidFill>
          <a:ln/>
        </p:spPr>
      </p:sp>
      <p:sp>
        <p:nvSpPr>
          <p:cNvPr id="20" name="entorno"/>
          <p:cNvSpPr/>
          <p:nvPr/>
        </p:nvSpPr>
        <p:spPr>
          <a:xfrm>
            <a:off x="8229600" y="3566160"/>
            <a:ext cx="640080" cy="640080"/>
          </a:xfrm>
          <a:prstGeom prst="roundRect">
            <a:avLst>
              <a:gd name="adj" fmla="val 11429"/>
            </a:avLst>
          </a:prstGeom>
          <a:solidFill>
            <a:srgbClr val="334155">
              <a:alpha val="45000"/>
            </a:srgbClr>
          </a:solidFill>
          <a:ln/>
        </p:spPr>
      </p:sp>
      <p:sp>
        <p:nvSpPr>
          <p:cNvPr id="21" name="entorno"/>
          <p:cNvSpPr/>
          <p:nvPr/>
        </p:nvSpPr>
        <p:spPr>
          <a:xfrm>
            <a:off x="9052560" y="3566160"/>
            <a:ext cx="640080" cy="640080"/>
          </a:xfrm>
          <a:prstGeom prst="roundRect">
            <a:avLst>
              <a:gd name="adj" fmla="val 11429"/>
            </a:avLst>
          </a:prstGeom>
          <a:solidFill>
            <a:srgbClr val="F59E0B"/>
          </a:solidFill>
          <a:ln/>
        </p:spPr>
      </p:sp>
      <p:sp>
        <p:nvSpPr>
          <p:cNvPr id="22" name="entorno"/>
          <p:cNvSpPr/>
          <p:nvPr/>
        </p:nvSpPr>
        <p:spPr>
          <a:xfrm>
            <a:off x="9875520" y="3566160"/>
            <a:ext cx="640080" cy="640080"/>
          </a:xfrm>
          <a:prstGeom prst="roundRect">
            <a:avLst>
              <a:gd name="adj" fmla="val 11429"/>
            </a:avLst>
          </a:prstGeom>
          <a:solidFill>
            <a:srgbClr val="F59E0B"/>
          </a:solidFill>
          <a:ln/>
        </p:spPr>
      </p:sp>
      <p:sp>
        <p:nvSpPr>
          <p:cNvPr id="23" name="entorno"/>
          <p:cNvSpPr/>
          <p:nvPr/>
        </p:nvSpPr>
        <p:spPr>
          <a:xfrm>
            <a:off x="10698480" y="3566160"/>
            <a:ext cx="640080" cy="640080"/>
          </a:xfrm>
          <a:prstGeom prst="roundRect">
            <a:avLst>
              <a:gd name="adj" fmla="val 11429"/>
            </a:avLst>
          </a:prstGeom>
          <a:solidFill>
            <a:srgbClr val="F59E0B"/>
          </a:solidFill>
          <a:ln/>
        </p:spPr>
      </p:sp>
      <p:sp>
        <p:nvSpPr>
          <p:cNvPr id="24" name="entorno"/>
          <p:cNvSpPr/>
          <p:nvPr/>
        </p:nvSpPr>
        <p:spPr>
          <a:xfrm>
            <a:off x="8229600" y="4389120"/>
            <a:ext cx="640080" cy="640080"/>
          </a:xfrm>
          <a:prstGeom prst="roundRect">
            <a:avLst>
              <a:gd name="adj" fmla="val 11429"/>
            </a:avLst>
          </a:prstGeom>
          <a:solidFill>
            <a:srgbClr val="334155">
              <a:alpha val="45000"/>
            </a:srgbClr>
          </a:solidFill>
          <a:ln/>
        </p:spPr>
      </p:sp>
      <p:sp>
        <p:nvSpPr>
          <p:cNvPr id="25" name="entorno"/>
          <p:cNvSpPr/>
          <p:nvPr/>
        </p:nvSpPr>
        <p:spPr>
          <a:xfrm>
            <a:off x="9052560" y="4389120"/>
            <a:ext cx="640080" cy="640080"/>
          </a:xfrm>
          <a:prstGeom prst="roundRect">
            <a:avLst>
              <a:gd name="adj" fmla="val 11429"/>
            </a:avLst>
          </a:prstGeom>
          <a:solidFill>
            <a:srgbClr val="334155">
              <a:alpha val="45000"/>
            </a:srgbClr>
          </a:solidFill>
          <a:ln/>
        </p:spPr>
      </p:sp>
      <p:sp>
        <p:nvSpPr>
          <p:cNvPr id="26" name="entorno"/>
          <p:cNvSpPr/>
          <p:nvPr/>
        </p:nvSpPr>
        <p:spPr>
          <a:xfrm>
            <a:off x="9875520" y="4389120"/>
            <a:ext cx="640080" cy="640080"/>
          </a:xfrm>
          <a:prstGeom prst="roundRect">
            <a:avLst>
              <a:gd name="adj" fmla="val 11429"/>
            </a:avLst>
          </a:prstGeom>
          <a:solidFill>
            <a:srgbClr val="334155">
              <a:alpha val="45000"/>
            </a:srgbClr>
          </a:solidFill>
          <a:ln/>
        </p:spPr>
      </p:sp>
      <p:sp>
        <p:nvSpPr>
          <p:cNvPr id="27" name="entorno"/>
          <p:cNvSpPr/>
          <p:nvPr/>
        </p:nvSpPr>
        <p:spPr>
          <a:xfrm>
            <a:off x="10698480" y="4389120"/>
            <a:ext cx="640080" cy="640080"/>
          </a:xfrm>
          <a:prstGeom prst="roundRect">
            <a:avLst>
              <a:gd name="adj" fmla="val 11429"/>
            </a:avLst>
          </a:prstGeom>
          <a:solidFill>
            <a:srgbClr val="F59E0B"/>
          </a:solidFill>
          <a:ln/>
        </p:spPr>
      </p:sp>
      <p:sp>
        <p:nvSpPr>
          <p:cNvPr id="28" name="Text 25"/>
          <p:cNvSpPr txBox="1"/>
          <p:nvPr/>
        </p:nvSpPr>
        <p:spPr>
          <a:xfrm>
            <a:off x="8229600" y="5257800"/>
            <a:ext cx="3291840" cy="457200"/>
          </a:xfrm>
          <a:prstGeom prst="rect">
            <a:avLst/>
          </a:prstGeom>
          <a:noFill/>
          <a:ln/>
        </p:spPr>
        <p:txBody>
          <a:bodyPr wrap="square" lIns="0" tIns="0" rIns="0" bIns="0" rtlCol="0" anchor="t"/>
          <a:lstStyle/>
          <a:p>
            <a:pPr indent="0" marL="0">
              <a:buNone/>
            </a:pPr>
            <a:r>
              <a:rPr lang="en-US" sz="1100" i="1" dirty="0">
                <a:solidFill>
                  <a:srgbClr val="64748B"/>
                </a:solidFill>
              </a:rPr>
              <a:t>Entornos que existen sólo mientras hay demanda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F766E"/>
                </a:solidFill>
              </a:rPr>
              <a:t>01 · QUÉ ES</a:t>
            </a:r>
            <a:endParaRPr lang="en-US" sz="1200" dirty="0"/>
          </a:p>
        </p:txBody>
      </p:sp>
      <p:sp>
        <p:nvSpPr>
          <p:cNvPr id="4" name="Text 0"/>
          <p:cNvSpPr/>
          <p:nvPr>
            <p:ph idx="101" type="title" hasCustomPrompt="1"/>
          </p:nvPr>
        </p:nvSpPr>
        <p:spPr>
          <a:xfrm>
            <a:off x="548640" y="640080"/>
            <a:ext cx="11094415" cy="731520"/>
          </a:xfrm>
          <a:prstGeom prst="rect">
            <a:avLst/>
          </a:prstGeom>
          <a:noFill/>
          <a:ln/>
        </p:spPr>
        <p:txBody>
          <a:bodyPr wrap="square" lIns="0" tIns="0" rIns="0" bIns="0" rtlCol="0" anchor="ctr"/>
          <a:lstStyle/>
          <a:p>
            <a:pPr algn="l" indent="0" marL="0">
              <a:buNone/>
            </a:pPr>
            <a:r>
              <a:rPr lang="en-US" sz="3000" b="1" dirty="0">
                <a:solidFill>
                  <a:srgbClr val="0B1220"/>
                </a:solidFill>
                <a:latin typeface="Arial" pitchFamily="34" charset="0"/>
                <a:ea typeface="Arial" pitchFamily="34" charset="-122"/>
                <a:cs typeface="Arial" pitchFamily="34" charset="-120"/>
              </a:rPr>
              <a:t>Serverless no significa «sin servidores»</a:t>
            </a:r>
            <a:endParaRPr lang="en-US" sz="3000" dirty="0"/>
          </a:p>
        </p:txBody>
      </p:sp>
      <p:sp>
        <p:nvSpPr>
          <p:cNvPr id="5" name="tarjeta"/>
          <p:cNvSpPr/>
          <p:nvPr/>
        </p:nvSpPr>
        <p:spPr>
          <a:xfrm>
            <a:off x="548640" y="1600200"/>
            <a:ext cx="11094415" cy="1234440"/>
          </a:xfrm>
          <a:prstGeom prst="roundRect">
            <a:avLst>
              <a:gd name="adj" fmla="val 7407"/>
            </a:avLst>
          </a:prstGeom>
          <a:solidFill>
            <a:srgbClr val="F1F5F9"/>
          </a:solidFill>
          <a:ln/>
        </p:spPr>
      </p:sp>
      <p:sp>
        <p:nvSpPr>
          <p:cNvPr id="6" name="insignia"/>
          <p:cNvSpPr/>
          <p:nvPr/>
        </p:nvSpPr>
        <p:spPr>
          <a:xfrm>
            <a:off x="868680" y="1984248"/>
            <a:ext cx="457200" cy="457200"/>
          </a:xfrm>
          <a:prstGeom prst="ellipse">
            <a:avLst/>
          </a:prstGeom>
          <a:solidFill>
            <a:srgbClr val="F59E0B"/>
          </a:solidFill>
          <a:ln/>
        </p:spPr>
      </p:sp>
      <p:sp>
        <p:nvSpPr>
          <p:cNvPr id="7" name="Text 4"/>
          <p:cNvSpPr txBox="1"/>
          <p:nvPr/>
        </p:nvSpPr>
        <p:spPr>
          <a:xfrm>
            <a:off x="868680" y="1984248"/>
            <a:ext cx="457200" cy="457200"/>
          </a:xfrm>
          <a:prstGeom prst="rect">
            <a:avLst/>
          </a:prstGeom>
          <a:noFill/>
          <a:ln/>
        </p:spPr>
        <p:txBody>
          <a:bodyPr wrap="square" lIns="0" tIns="0" rIns="0" bIns="0" rtlCol="0" anchor="ctr"/>
          <a:lstStyle/>
          <a:p>
            <a:pPr algn="ctr" indent="0" marL="0">
              <a:buNone/>
            </a:pPr>
            <a:r>
              <a:rPr lang="en-US" sz="1600" b="1" dirty="0">
                <a:solidFill>
                  <a:srgbClr val="0B1220"/>
                </a:solidFill>
                <a:latin typeface="Arial" pitchFamily="34" charset="0"/>
                <a:ea typeface="Arial" pitchFamily="34" charset="-122"/>
                <a:cs typeface="Arial" pitchFamily="34" charset="-120"/>
              </a:rPr>
              <a:t>!</a:t>
            </a:r>
            <a:endParaRPr lang="en-US" sz="1600" dirty="0"/>
          </a:p>
        </p:txBody>
      </p:sp>
      <p:sp>
        <p:nvSpPr>
          <p:cNvPr id="8" name="Text 5"/>
          <p:cNvSpPr txBox="1"/>
          <p:nvPr/>
        </p:nvSpPr>
        <p:spPr>
          <a:xfrm>
            <a:off x="1600200" y="1783080"/>
            <a:ext cx="9722815" cy="914400"/>
          </a:xfrm>
          <a:prstGeom prst="rect">
            <a:avLst/>
          </a:prstGeom>
          <a:noFill/>
          <a:ln/>
        </p:spPr>
        <p:txBody>
          <a:bodyPr wrap="square" lIns="0" tIns="0" rIns="0" bIns="0" rtlCol="0" anchor="ctr"/>
          <a:lstStyle/>
          <a:p>
            <a:pPr indent="0" marL="0">
              <a:buNone/>
            </a:pPr>
            <a:r>
              <a:rPr lang="en-US" sz="2200" b="1" dirty="0">
                <a:solidFill>
                  <a:srgbClr val="0B1220"/>
                </a:solidFill>
              </a:rPr>
              <a:t>Los servidores existen: no son tu problema.</a:t>
            </a:r>
            <a:endParaRPr lang="en-US" sz="1500" dirty="0"/>
          </a:p>
          <a:p>
            <a:pPr indent="0" marL="0">
              <a:buNone/>
            </a:pPr>
            <a:r>
              <a:rPr lang="en-US" sz="1600" dirty="0">
                <a:solidFill>
                  <a:srgbClr val="334155"/>
                </a:solidFill>
              </a:rPr>
              <a:t>Como wireless: los cables siguen estando, pero no los tirás vos.</a:t>
            </a:r>
            <a:endParaRPr lang="en-US" sz="1500" dirty="0"/>
          </a:p>
        </p:txBody>
      </p:sp>
      <p:sp>
        <p:nvSpPr>
          <p:cNvPr id="9" name="tarjeta"/>
          <p:cNvSpPr/>
          <p:nvPr/>
        </p:nvSpPr>
        <p:spPr>
          <a:xfrm>
            <a:off x="548640" y="3154680"/>
            <a:ext cx="3454298" cy="2651760"/>
          </a:xfrm>
          <a:prstGeom prst="roundRect">
            <a:avLst>
              <a:gd name="adj" fmla="val 3448"/>
            </a:avLst>
          </a:prstGeom>
          <a:solidFill>
            <a:srgbClr val="FFFFFF"/>
          </a:solidFill>
          <a:ln w="12700">
            <a:solidFill>
              <a:srgbClr val="CBD5E1"/>
            </a:solidFill>
            <a:prstDash val="solid"/>
          </a:ln>
        </p:spPr>
      </p:sp>
      <p:sp>
        <p:nvSpPr>
          <p:cNvPr id="10" name="Text 7"/>
          <p:cNvSpPr txBox="1"/>
          <p:nvPr/>
        </p:nvSpPr>
        <p:spPr>
          <a:xfrm>
            <a:off x="868680" y="3474720"/>
            <a:ext cx="2814218" cy="1097280"/>
          </a:xfrm>
          <a:prstGeom prst="rect">
            <a:avLst/>
          </a:prstGeom>
          <a:noFill/>
          <a:ln/>
        </p:spPr>
        <p:txBody>
          <a:bodyPr wrap="square" lIns="0" tIns="0" rIns="0" bIns="0" rtlCol="0" anchor="ctr"/>
          <a:lstStyle/>
          <a:p>
            <a:pPr indent="0" marL="0">
              <a:buNone/>
            </a:pPr>
            <a:r>
              <a:rPr lang="en-US" sz="4800" b="1" dirty="0">
                <a:solidFill>
                  <a:srgbClr val="0F766E"/>
                </a:solidFill>
                <a:latin typeface="Arial" pitchFamily="34" charset="0"/>
                <a:ea typeface="Arial" pitchFamily="34" charset="-122"/>
                <a:cs typeface="Arial" pitchFamily="34" charset="-120"/>
              </a:rPr>
              <a:t>15</a:t>
            </a:r>
            <a:endParaRPr lang="en-US" sz="4800" dirty="0"/>
          </a:p>
        </p:txBody>
      </p:sp>
      <p:sp>
        <p:nvSpPr>
          <p:cNvPr id="11" name="Text 8"/>
          <p:cNvSpPr txBox="1"/>
          <p:nvPr/>
        </p:nvSpPr>
        <p:spPr>
          <a:xfrm>
            <a:off x="868680" y="4663440"/>
            <a:ext cx="2814218" cy="822960"/>
          </a:xfrm>
          <a:prstGeom prst="rect">
            <a:avLst/>
          </a:prstGeom>
          <a:noFill/>
          <a:ln/>
        </p:spPr>
        <p:txBody>
          <a:bodyPr wrap="square" lIns="0" tIns="0" rIns="0" bIns="0" rtlCol="0" anchor="t"/>
          <a:lstStyle/>
          <a:p>
            <a:pPr indent="0" marL="0">
              <a:buNone/>
            </a:pPr>
            <a:r>
              <a:rPr lang="en-US" sz="1600" dirty="0">
                <a:solidFill>
                  <a:srgbClr val="334155"/>
                </a:solidFill>
              </a:rPr>
              <a:t>billones (10¹²) de invocaciones por mes en AWS Lambda</a:t>
            </a:r>
            <a:endParaRPr lang="en-US" sz="1600" dirty="0"/>
          </a:p>
        </p:txBody>
      </p:sp>
      <p:sp>
        <p:nvSpPr>
          <p:cNvPr id="12" name="tarjeta"/>
          <p:cNvSpPr/>
          <p:nvPr/>
        </p:nvSpPr>
        <p:spPr>
          <a:xfrm>
            <a:off x="4368698" y="3154680"/>
            <a:ext cx="3454298" cy="2651760"/>
          </a:xfrm>
          <a:prstGeom prst="roundRect">
            <a:avLst>
              <a:gd name="adj" fmla="val 3448"/>
            </a:avLst>
          </a:prstGeom>
          <a:solidFill>
            <a:srgbClr val="FFFFFF"/>
          </a:solidFill>
          <a:ln w="12700">
            <a:solidFill>
              <a:srgbClr val="CBD5E1"/>
            </a:solidFill>
            <a:prstDash val="solid"/>
          </a:ln>
        </p:spPr>
      </p:sp>
      <p:sp>
        <p:nvSpPr>
          <p:cNvPr id="13" name="Text 10"/>
          <p:cNvSpPr txBox="1"/>
          <p:nvPr/>
        </p:nvSpPr>
        <p:spPr>
          <a:xfrm>
            <a:off x="4688738" y="3474720"/>
            <a:ext cx="2814218" cy="1097280"/>
          </a:xfrm>
          <a:prstGeom prst="rect">
            <a:avLst/>
          </a:prstGeom>
          <a:noFill/>
          <a:ln/>
        </p:spPr>
        <p:txBody>
          <a:bodyPr wrap="square" lIns="0" tIns="0" rIns="0" bIns="0" rtlCol="0" anchor="ctr"/>
          <a:lstStyle/>
          <a:p>
            <a:pPr indent="0" marL="0">
              <a:buNone/>
            </a:pPr>
            <a:r>
              <a:rPr lang="en-US" sz="4800" b="1" dirty="0">
                <a:solidFill>
                  <a:srgbClr val="0F766E"/>
                </a:solidFill>
                <a:latin typeface="Arial" pitchFamily="34" charset="0"/>
                <a:ea typeface="Arial" pitchFamily="34" charset="-122"/>
                <a:cs typeface="Arial" pitchFamily="34" charset="-120"/>
              </a:rPr>
              <a:t>65 %</a:t>
            </a:r>
            <a:endParaRPr lang="en-US" sz="4800" dirty="0"/>
          </a:p>
        </p:txBody>
      </p:sp>
      <p:sp>
        <p:nvSpPr>
          <p:cNvPr id="14" name="Text 11"/>
          <p:cNvSpPr txBox="1"/>
          <p:nvPr/>
        </p:nvSpPr>
        <p:spPr>
          <a:xfrm>
            <a:off x="4688738" y="4663440"/>
            <a:ext cx="2814218" cy="822960"/>
          </a:xfrm>
          <a:prstGeom prst="rect">
            <a:avLst/>
          </a:prstGeom>
          <a:noFill/>
          <a:ln/>
        </p:spPr>
        <p:txBody>
          <a:bodyPr wrap="square" lIns="0" tIns="0" rIns="0" bIns="0" rtlCol="0" anchor="t"/>
          <a:lstStyle/>
          <a:p>
            <a:pPr indent="0" marL="0">
              <a:buNone/>
            </a:pPr>
            <a:r>
              <a:rPr lang="en-US" sz="1600" dirty="0">
                <a:solidFill>
                  <a:srgbClr val="334155"/>
                </a:solidFill>
              </a:rPr>
              <a:t>de los clientes de AWS usan Lambda</a:t>
            </a:r>
            <a:endParaRPr lang="en-US" sz="1600" dirty="0"/>
          </a:p>
        </p:txBody>
      </p:sp>
      <p:sp>
        <p:nvSpPr>
          <p:cNvPr id="15" name="tarjeta"/>
          <p:cNvSpPr/>
          <p:nvPr/>
        </p:nvSpPr>
        <p:spPr>
          <a:xfrm>
            <a:off x="8188757" y="3154680"/>
            <a:ext cx="3454298" cy="2651760"/>
          </a:xfrm>
          <a:prstGeom prst="roundRect">
            <a:avLst>
              <a:gd name="adj" fmla="val 3448"/>
            </a:avLst>
          </a:prstGeom>
          <a:solidFill>
            <a:srgbClr val="FFFFFF"/>
          </a:solidFill>
          <a:ln w="12700">
            <a:solidFill>
              <a:srgbClr val="CBD5E1"/>
            </a:solidFill>
            <a:prstDash val="solid"/>
          </a:ln>
        </p:spPr>
      </p:sp>
      <p:sp>
        <p:nvSpPr>
          <p:cNvPr id="16" name="Text 13"/>
          <p:cNvSpPr txBox="1"/>
          <p:nvPr/>
        </p:nvSpPr>
        <p:spPr>
          <a:xfrm>
            <a:off x="8508797" y="3474720"/>
            <a:ext cx="2814218" cy="1097280"/>
          </a:xfrm>
          <a:prstGeom prst="rect">
            <a:avLst/>
          </a:prstGeom>
          <a:noFill/>
          <a:ln/>
        </p:spPr>
        <p:txBody>
          <a:bodyPr wrap="square" lIns="0" tIns="0" rIns="0" bIns="0" rtlCol="0" anchor="ctr"/>
          <a:lstStyle/>
          <a:p>
            <a:pPr indent="0" marL="0">
              <a:buNone/>
            </a:pPr>
            <a:r>
              <a:rPr lang="en-US" sz="4800" b="1" dirty="0">
                <a:solidFill>
                  <a:srgbClr val="0F766E"/>
                </a:solidFill>
                <a:latin typeface="Arial" pitchFamily="34" charset="0"/>
                <a:ea typeface="Arial" pitchFamily="34" charset="-122"/>
                <a:cs typeface="Arial" pitchFamily="34" charset="-120"/>
              </a:rPr>
              <a:t>70 %</a:t>
            </a:r>
            <a:endParaRPr lang="en-US" sz="4800" dirty="0"/>
          </a:p>
        </p:txBody>
      </p:sp>
      <p:sp>
        <p:nvSpPr>
          <p:cNvPr id="17" name="Text 14"/>
          <p:cNvSpPr txBox="1"/>
          <p:nvPr/>
        </p:nvSpPr>
        <p:spPr>
          <a:xfrm>
            <a:off x="8508797" y="4663440"/>
            <a:ext cx="2814218" cy="822960"/>
          </a:xfrm>
          <a:prstGeom prst="rect">
            <a:avLst/>
          </a:prstGeom>
          <a:noFill/>
          <a:ln/>
        </p:spPr>
        <p:txBody>
          <a:bodyPr wrap="square" lIns="0" tIns="0" rIns="0" bIns="0" rtlCol="0" anchor="t"/>
          <a:lstStyle/>
          <a:p>
            <a:pPr indent="0" marL="0">
              <a:buNone/>
            </a:pPr>
            <a:r>
              <a:rPr lang="en-US" sz="1600" dirty="0">
                <a:solidFill>
                  <a:srgbClr val="334155"/>
                </a:solidFill>
              </a:rPr>
              <a:t>de los clientes de Google Cloud usan Cloud Run</a:t>
            </a:r>
            <a:endParaRPr lang="en-US" sz="1600" dirty="0"/>
          </a:p>
        </p:txBody>
      </p:sp>
      <p:sp>
        <p:nvSpPr>
          <p:cNvPr id="18" name="Text 15"/>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000" i="1" dirty="0">
                <a:solidFill>
                  <a:srgbClr val="64748B"/>
                </a:solidFill>
              </a:rPr>
              <a:t>Fuentes: AWS (2026); Datadog, State of Serverless (2025).</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ph idx="100" type="body" hasCustomPrompt="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F766E"/>
                </a:solidFill>
              </a:rPr>
              <a:t>01 · QUÉ ES</a:t>
            </a:r>
            <a:endParaRPr lang="en-US" sz="1200" dirty="0"/>
          </a:p>
        </p:txBody>
      </p:sp>
      <p:sp>
        <p:nvSpPr>
          <p:cNvPr id="4" name="Text 0"/>
          <p:cNvSpPr/>
          <p:nvPr>
            <p:ph idx="101" type="title" hasCustomPrompt="1"/>
          </p:nvPr>
        </p:nvSpPr>
        <p:spPr>
          <a:xfrm>
            <a:off x="548640" y="640080"/>
            <a:ext cx="11094415" cy="731520"/>
          </a:xfrm>
          <a:prstGeom prst="rect">
            <a:avLst/>
          </a:prstGeom>
          <a:noFill/>
          <a:ln/>
        </p:spPr>
        <p:txBody>
          <a:bodyPr wrap="square" lIns="0" tIns="0" rIns="0" bIns="0" rtlCol="0" anchor="ctr"/>
          <a:lstStyle/>
          <a:p>
            <a:pPr algn="l" indent="0" marL="0">
              <a:buNone/>
            </a:pPr>
            <a:r>
              <a:rPr lang="en-US" sz="3000" b="1" dirty="0">
                <a:solidFill>
                  <a:srgbClr val="0B1220"/>
                </a:solidFill>
                <a:latin typeface="Arial" pitchFamily="34" charset="0"/>
                <a:ea typeface="Arial" pitchFamily="34" charset="-122"/>
                <a:cs typeface="Arial" pitchFamily="34" charset="-120"/>
              </a:rPr>
              <a:t>Tres propiedades: si falta una, no es serverless</a:t>
            </a:r>
            <a:endParaRPr lang="en-US" sz="3000" dirty="0"/>
          </a:p>
        </p:txBody>
      </p:sp>
      <p:sp>
        <p:nvSpPr>
          <p:cNvPr id="5" name="Text 2"/>
          <p:cNvSpPr txBox="1"/>
          <p:nvPr/>
        </p:nvSpPr>
        <p:spPr>
          <a:xfrm>
            <a:off x="548640" y="1554480"/>
            <a:ext cx="11094415" cy="914400"/>
          </a:xfrm>
          <a:prstGeom prst="rect">
            <a:avLst/>
          </a:prstGeom>
          <a:noFill/>
          <a:ln/>
        </p:spPr>
        <p:txBody>
          <a:bodyPr wrap="square" lIns="0" tIns="0" rIns="0" bIns="0" rtlCol="0" anchor="t"/>
          <a:lstStyle/>
          <a:p>
            <a:pPr indent="0" marL="0">
              <a:buNone/>
            </a:pPr>
            <a:r>
              <a:rPr lang="en-US" sz="1700" i="1" dirty="0">
                <a:solidFill>
                  <a:srgbClr val="334155"/>
                </a:solidFill>
              </a:rPr>
              <a:t>«Construir y correr aplicaciones que no requieren gestión de servidores. Se ejecutan, escalan y facturan en respuesta a la demanda exacta del momento.»</a:t>
            </a:r>
            <a:endParaRPr lang="en-US" sz="1700" dirty="0"/>
          </a:p>
          <a:p>
            <a:pPr indent="0" marL="0">
              <a:buNone/>
            </a:pPr>
            <a:r>
              <a:rPr lang="en-US" sz="1200" dirty="0">
                <a:solidFill>
                  <a:srgbClr val="64748B"/>
                </a:solidFill>
              </a:rPr>
              <a:t>— CNCF, Serverless Whitepaper</a:t>
            </a:r>
            <a:endParaRPr lang="en-US" sz="1700" dirty="0"/>
          </a:p>
        </p:txBody>
      </p:sp>
      <p:sp>
        <p:nvSpPr>
          <p:cNvPr id="6" name="tarjeta"/>
          <p:cNvSpPr/>
          <p:nvPr/>
        </p:nvSpPr>
        <p:spPr>
          <a:xfrm>
            <a:off x="548640" y="2743200"/>
            <a:ext cx="3454298" cy="2514600"/>
          </a:xfrm>
          <a:prstGeom prst="roundRect">
            <a:avLst>
              <a:gd name="adj" fmla="val 3636"/>
            </a:avLst>
          </a:prstGeom>
          <a:solidFill>
            <a:srgbClr val="F1F5F9"/>
          </a:solidFill>
          <a:ln/>
        </p:spPr>
      </p:sp>
      <p:sp>
        <p:nvSpPr>
          <p:cNvPr id="7" name="insignia"/>
          <p:cNvSpPr/>
          <p:nvPr/>
        </p:nvSpPr>
        <p:spPr>
          <a:xfrm>
            <a:off x="868680" y="3017520"/>
            <a:ext cx="548640" cy="548640"/>
          </a:xfrm>
          <a:prstGeom prst="ellipse">
            <a:avLst/>
          </a:prstGeom>
          <a:solidFill>
            <a:srgbClr val="F59E0B"/>
          </a:solidFill>
          <a:ln/>
        </p:spPr>
      </p:sp>
      <p:sp>
        <p:nvSpPr>
          <p:cNvPr id="8" name="Text 5"/>
          <p:cNvSpPr txBox="1"/>
          <p:nvPr/>
        </p:nvSpPr>
        <p:spPr>
          <a:xfrm>
            <a:off x="868680" y="3017520"/>
            <a:ext cx="548640" cy="548640"/>
          </a:xfrm>
          <a:prstGeom prst="rect">
            <a:avLst/>
          </a:prstGeom>
          <a:noFill/>
          <a:ln/>
        </p:spPr>
        <p:txBody>
          <a:bodyPr wrap="square" lIns="0" tIns="0" rIns="0" bIns="0" rtlCol="0" anchor="ctr"/>
          <a:lstStyle/>
          <a:p>
            <a:pPr algn="ctr" indent="0" marL="0">
              <a:buNone/>
            </a:pPr>
            <a:r>
              <a:rPr lang="en-US" sz="1600" b="1" dirty="0">
                <a:solidFill>
                  <a:srgbClr val="0B1220"/>
                </a:solidFill>
                <a:latin typeface="Arial" pitchFamily="34" charset="0"/>
                <a:ea typeface="Arial" pitchFamily="34" charset="-122"/>
                <a:cs typeface="Arial" pitchFamily="34" charset="-120"/>
              </a:rPr>
              <a:t>1</a:t>
            </a:r>
            <a:endParaRPr lang="en-US" sz="1600" dirty="0"/>
          </a:p>
        </p:txBody>
      </p:sp>
      <p:sp>
        <p:nvSpPr>
          <p:cNvPr id="9" name="Text 6"/>
          <p:cNvSpPr txBox="1"/>
          <p:nvPr/>
        </p:nvSpPr>
        <p:spPr>
          <a:xfrm>
            <a:off x="868680" y="3703320"/>
            <a:ext cx="2814218" cy="685800"/>
          </a:xfrm>
          <a:prstGeom prst="rect">
            <a:avLst/>
          </a:prstGeom>
          <a:noFill/>
          <a:ln/>
        </p:spPr>
        <p:txBody>
          <a:bodyPr wrap="square" lIns="0" tIns="0" rIns="0" bIns="0" rtlCol="0" anchor="t"/>
          <a:lstStyle/>
          <a:p>
            <a:pPr indent="0" marL="0">
              <a:buNone/>
            </a:pPr>
            <a:r>
              <a:rPr lang="en-US" sz="1900" b="1" dirty="0">
                <a:solidFill>
                  <a:srgbClr val="0B1220"/>
                </a:solidFill>
              </a:rPr>
              <a:t>Sin gestión de infraestructura</a:t>
            </a:r>
            <a:endParaRPr lang="en-US" sz="1900" dirty="0"/>
          </a:p>
        </p:txBody>
      </p:sp>
      <p:sp>
        <p:nvSpPr>
          <p:cNvPr id="10" name="Text 7"/>
          <p:cNvSpPr txBox="1"/>
          <p:nvPr/>
        </p:nvSpPr>
        <p:spPr>
          <a:xfrm>
            <a:off x="868680" y="4434840"/>
            <a:ext cx="2814218" cy="777240"/>
          </a:xfrm>
          <a:prstGeom prst="rect">
            <a:avLst/>
          </a:prstGeom>
          <a:noFill/>
          <a:ln/>
        </p:spPr>
        <p:txBody>
          <a:bodyPr wrap="square" lIns="0" tIns="0" rIns="0" bIns="0" rtlCol="0" anchor="t"/>
          <a:lstStyle/>
          <a:p>
            <a:pPr indent="0" marL="0">
              <a:buNone/>
            </a:pPr>
            <a:r>
              <a:rPr lang="en-US" sz="1500" dirty="0">
                <a:solidFill>
                  <a:srgbClr val="334155"/>
                </a:solidFill>
              </a:rPr>
              <a:t>No provisionás, no parcheás el sistema operativo, no dimensionás capacidad.</a:t>
            </a:r>
            <a:endParaRPr lang="en-US" sz="1500" dirty="0"/>
          </a:p>
        </p:txBody>
      </p:sp>
      <p:sp>
        <p:nvSpPr>
          <p:cNvPr id="11" name="tarjeta"/>
          <p:cNvSpPr/>
          <p:nvPr/>
        </p:nvSpPr>
        <p:spPr>
          <a:xfrm>
            <a:off x="4368698" y="2743200"/>
            <a:ext cx="3454298" cy="2514600"/>
          </a:xfrm>
          <a:prstGeom prst="roundRect">
            <a:avLst>
              <a:gd name="adj" fmla="val 3636"/>
            </a:avLst>
          </a:prstGeom>
          <a:solidFill>
            <a:srgbClr val="F1F5F9"/>
          </a:solidFill>
          <a:ln/>
        </p:spPr>
      </p:sp>
      <p:sp>
        <p:nvSpPr>
          <p:cNvPr id="12" name="insignia"/>
          <p:cNvSpPr/>
          <p:nvPr/>
        </p:nvSpPr>
        <p:spPr>
          <a:xfrm>
            <a:off x="4688738" y="3017520"/>
            <a:ext cx="548640" cy="548640"/>
          </a:xfrm>
          <a:prstGeom prst="ellipse">
            <a:avLst/>
          </a:prstGeom>
          <a:solidFill>
            <a:srgbClr val="F59E0B"/>
          </a:solidFill>
          <a:ln/>
        </p:spPr>
      </p:sp>
      <p:sp>
        <p:nvSpPr>
          <p:cNvPr id="13" name="Text 10"/>
          <p:cNvSpPr txBox="1"/>
          <p:nvPr/>
        </p:nvSpPr>
        <p:spPr>
          <a:xfrm>
            <a:off x="4688738" y="3017520"/>
            <a:ext cx="548640" cy="548640"/>
          </a:xfrm>
          <a:prstGeom prst="rect">
            <a:avLst/>
          </a:prstGeom>
          <a:noFill/>
          <a:ln/>
        </p:spPr>
        <p:txBody>
          <a:bodyPr wrap="square" lIns="0" tIns="0" rIns="0" bIns="0" rtlCol="0" anchor="ctr"/>
          <a:lstStyle/>
          <a:p>
            <a:pPr algn="ctr" indent="0" marL="0">
              <a:buNone/>
            </a:pPr>
            <a:r>
              <a:rPr lang="en-US" sz="1600" b="1" dirty="0">
                <a:solidFill>
                  <a:srgbClr val="0B1220"/>
                </a:solidFill>
                <a:latin typeface="Arial" pitchFamily="34" charset="0"/>
                <a:ea typeface="Arial" pitchFamily="34" charset="-122"/>
                <a:cs typeface="Arial" pitchFamily="34" charset="-120"/>
              </a:rPr>
              <a:t>2</a:t>
            </a:r>
            <a:endParaRPr lang="en-US" sz="1600" dirty="0"/>
          </a:p>
        </p:txBody>
      </p:sp>
      <p:sp>
        <p:nvSpPr>
          <p:cNvPr id="14" name="Text 11"/>
          <p:cNvSpPr txBox="1"/>
          <p:nvPr/>
        </p:nvSpPr>
        <p:spPr>
          <a:xfrm>
            <a:off x="4688738" y="3703320"/>
            <a:ext cx="2814218" cy="685800"/>
          </a:xfrm>
          <a:prstGeom prst="rect">
            <a:avLst/>
          </a:prstGeom>
          <a:noFill/>
          <a:ln/>
        </p:spPr>
        <p:txBody>
          <a:bodyPr wrap="square" lIns="0" tIns="0" rIns="0" bIns="0" rtlCol="0" anchor="t"/>
          <a:lstStyle/>
          <a:p>
            <a:pPr indent="0" marL="0">
              <a:buNone/>
            </a:pPr>
            <a:r>
              <a:rPr lang="en-US" sz="1900" b="1" dirty="0">
                <a:solidFill>
                  <a:srgbClr val="0B1220"/>
                </a:solidFill>
              </a:rPr>
              <a:t>Escala hasta cero</a:t>
            </a:r>
            <a:endParaRPr lang="en-US" sz="1900" dirty="0"/>
          </a:p>
        </p:txBody>
      </p:sp>
      <p:sp>
        <p:nvSpPr>
          <p:cNvPr id="15" name="Text 12"/>
          <p:cNvSpPr txBox="1"/>
          <p:nvPr/>
        </p:nvSpPr>
        <p:spPr>
          <a:xfrm>
            <a:off x="4688738" y="4434840"/>
            <a:ext cx="2814218" cy="777240"/>
          </a:xfrm>
          <a:prstGeom prst="rect">
            <a:avLst/>
          </a:prstGeom>
          <a:noFill/>
          <a:ln/>
        </p:spPr>
        <p:txBody>
          <a:bodyPr wrap="square" lIns="0" tIns="0" rIns="0" bIns="0" rtlCol="0" anchor="t"/>
          <a:lstStyle/>
          <a:p>
            <a:pPr indent="0" marL="0">
              <a:buNone/>
            </a:pPr>
            <a:r>
              <a:rPr lang="en-US" sz="1500" dirty="0">
                <a:solidFill>
                  <a:srgbClr val="334155"/>
                </a:solidFill>
              </a:rPr>
              <a:t>De 0 a N instancias según la demanda, y de vuelta a 0 cuando no hay tráfico.</a:t>
            </a:r>
            <a:endParaRPr lang="en-US" sz="1500" dirty="0"/>
          </a:p>
        </p:txBody>
      </p:sp>
      <p:sp>
        <p:nvSpPr>
          <p:cNvPr id="16" name="tarjeta"/>
          <p:cNvSpPr/>
          <p:nvPr/>
        </p:nvSpPr>
        <p:spPr>
          <a:xfrm>
            <a:off x="8188757" y="2743200"/>
            <a:ext cx="3454298" cy="2514600"/>
          </a:xfrm>
          <a:prstGeom prst="roundRect">
            <a:avLst>
              <a:gd name="adj" fmla="val 3636"/>
            </a:avLst>
          </a:prstGeom>
          <a:solidFill>
            <a:srgbClr val="F1F5F9"/>
          </a:solidFill>
          <a:ln/>
        </p:spPr>
      </p:sp>
      <p:sp>
        <p:nvSpPr>
          <p:cNvPr id="17" name="insignia"/>
          <p:cNvSpPr/>
          <p:nvPr/>
        </p:nvSpPr>
        <p:spPr>
          <a:xfrm>
            <a:off x="8508797" y="3017520"/>
            <a:ext cx="548640" cy="548640"/>
          </a:xfrm>
          <a:prstGeom prst="ellipse">
            <a:avLst/>
          </a:prstGeom>
          <a:solidFill>
            <a:srgbClr val="F59E0B"/>
          </a:solidFill>
          <a:ln/>
        </p:spPr>
      </p:sp>
      <p:sp>
        <p:nvSpPr>
          <p:cNvPr id="18" name="Text 15"/>
          <p:cNvSpPr txBox="1"/>
          <p:nvPr/>
        </p:nvSpPr>
        <p:spPr>
          <a:xfrm>
            <a:off x="8508797" y="3017520"/>
            <a:ext cx="548640" cy="548640"/>
          </a:xfrm>
          <a:prstGeom prst="rect">
            <a:avLst/>
          </a:prstGeom>
          <a:noFill/>
          <a:ln/>
        </p:spPr>
        <p:txBody>
          <a:bodyPr wrap="square" lIns="0" tIns="0" rIns="0" bIns="0" rtlCol="0" anchor="ctr"/>
          <a:lstStyle/>
          <a:p>
            <a:pPr algn="ctr" indent="0" marL="0">
              <a:buNone/>
            </a:pPr>
            <a:r>
              <a:rPr lang="en-US" sz="1600" b="1" dirty="0">
                <a:solidFill>
                  <a:srgbClr val="0B1220"/>
                </a:solidFill>
                <a:latin typeface="Arial" pitchFamily="34" charset="0"/>
                <a:ea typeface="Arial" pitchFamily="34" charset="-122"/>
                <a:cs typeface="Arial" pitchFamily="34" charset="-120"/>
              </a:rPr>
              <a:t>3</a:t>
            </a:r>
            <a:endParaRPr lang="en-US" sz="1600" dirty="0"/>
          </a:p>
        </p:txBody>
      </p:sp>
      <p:sp>
        <p:nvSpPr>
          <p:cNvPr id="19" name="Text 16"/>
          <p:cNvSpPr txBox="1"/>
          <p:nvPr/>
        </p:nvSpPr>
        <p:spPr>
          <a:xfrm>
            <a:off x="8508797" y="3703320"/>
            <a:ext cx="2814218" cy="685800"/>
          </a:xfrm>
          <a:prstGeom prst="rect">
            <a:avLst/>
          </a:prstGeom>
          <a:noFill/>
          <a:ln/>
        </p:spPr>
        <p:txBody>
          <a:bodyPr wrap="square" lIns="0" tIns="0" rIns="0" bIns="0" rtlCol="0" anchor="t"/>
          <a:lstStyle/>
          <a:p>
            <a:pPr indent="0" marL="0">
              <a:buNone/>
            </a:pPr>
            <a:r>
              <a:rPr lang="en-US" sz="1900" b="1" dirty="0">
                <a:solidFill>
                  <a:srgbClr val="0B1220"/>
                </a:solidFill>
              </a:rPr>
              <a:t>Pago por uso real</a:t>
            </a:r>
            <a:endParaRPr lang="en-US" sz="1900" dirty="0"/>
          </a:p>
        </p:txBody>
      </p:sp>
      <p:sp>
        <p:nvSpPr>
          <p:cNvPr id="20" name="Text 17"/>
          <p:cNvSpPr txBox="1"/>
          <p:nvPr/>
        </p:nvSpPr>
        <p:spPr>
          <a:xfrm>
            <a:off x="8508797" y="4434840"/>
            <a:ext cx="2814218" cy="777240"/>
          </a:xfrm>
          <a:prstGeom prst="rect">
            <a:avLst/>
          </a:prstGeom>
          <a:noFill/>
          <a:ln/>
        </p:spPr>
        <p:txBody>
          <a:bodyPr wrap="square" lIns="0" tIns="0" rIns="0" bIns="0" rtlCol="0" anchor="t"/>
          <a:lstStyle/>
          <a:p>
            <a:pPr indent="0" marL="0">
              <a:buNone/>
            </a:pPr>
            <a:r>
              <a:rPr lang="en-US" sz="1500" dirty="0">
                <a:solidFill>
                  <a:srgbClr val="334155"/>
                </a:solidFill>
              </a:rPr>
              <a:t>Se cobra por ejecución, no por tener un servidor encendido.</a:t>
            </a:r>
            <a:endParaRPr lang="en-US" sz="1500" dirty="0"/>
          </a:p>
        </p:txBody>
      </p:sp>
      <p:sp>
        <p:nvSpPr>
          <p:cNvPr id="21" name="Text 18"/>
          <p:cNvSpPr txBox="1"/>
          <p:nvPr/>
        </p:nvSpPr>
        <p:spPr>
          <a:xfrm>
            <a:off x="548640" y="5486400"/>
            <a:ext cx="11094415" cy="411480"/>
          </a:xfrm>
          <a:prstGeom prst="rect">
            <a:avLst/>
          </a:prstGeom>
          <a:noFill/>
          <a:ln/>
        </p:spPr>
        <p:txBody>
          <a:bodyPr wrap="square" lIns="0" tIns="0" rIns="0" bIns="0" rtlCol="0" anchor="t"/>
          <a:lstStyle/>
          <a:p>
            <a:pPr indent="0" marL="0">
              <a:buNone/>
            </a:pPr>
            <a:r>
              <a:rPr lang="en-US" sz="1500" b="1" dirty="0">
                <a:solidFill>
                  <a:srgbClr val="334155"/>
                </a:solidFill>
              </a:rPr>
              <a:t>Contraejemplo: </a:t>
            </a:r>
            <a:pPr indent="0" marL="0">
              <a:buNone/>
            </a:pPr>
            <a:r>
              <a:rPr lang="en-US" sz="1500" dirty="0">
                <a:solidFill>
                  <a:srgbClr val="334155"/>
                </a:solidFill>
              </a:rPr>
              <a:t>un Kubernetes administrado no cumple la 3: el pod cuesta aunque nadie lo llame.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ph idx="100" type="body" hasCustomPrompt="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F766E"/>
                </a:solidFill>
              </a:rPr>
              <a:t>01 · QUÉ ES</a:t>
            </a:r>
            <a:endParaRPr lang="en-US" sz="1200" dirty="0"/>
          </a:p>
        </p:txBody>
      </p:sp>
      <p:sp>
        <p:nvSpPr>
          <p:cNvPr id="4" name="Text 0"/>
          <p:cNvSpPr/>
          <p:nvPr>
            <p:ph idx="101" type="title" hasCustomPrompt="1"/>
          </p:nvPr>
        </p:nvSpPr>
        <p:spPr>
          <a:xfrm>
            <a:off x="548640" y="640080"/>
            <a:ext cx="11094415" cy="731520"/>
          </a:xfrm>
          <a:prstGeom prst="rect">
            <a:avLst/>
          </a:prstGeom>
          <a:noFill/>
          <a:ln/>
        </p:spPr>
        <p:txBody>
          <a:bodyPr wrap="square" lIns="0" tIns="0" rIns="0" bIns="0" rtlCol="0" anchor="ctr"/>
          <a:lstStyle/>
          <a:p>
            <a:pPr algn="l" indent="0" marL="0">
              <a:buNone/>
            </a:pPr>
            <a:r>
              <a:rPr lang="en-US" sz="3000" b="1" dirty="0">
                <a:solidFill>
                  <a:srgbClr val="0B1220"/>
                </a:solidFill>
                <a:latin typeface="Arial" pitchFamily="34" charset="0"/>
                <a:ea typeface="Arial" pitchFamily="34" charset="-122"/>
                <a:cs typeface="Arial" pitchFamily="34" charset="-120"/>
              </a:rPr>
              <a:t>Cada escalón te saca una capa de encima</a:t>
            </a:r>
            <a:endParaRPr lang="en-US" sz="3000" dirty="0"/>
          </a:p>
        </p:txBody>
      </p:sp>
      <p:sp>
        <p:nvSpPr>
          <p:cNvPr id="5" name="escalon"/>
          <p:cNvSpPr/>
          <p:nvPr/>
        </p:nvSpPr>
        <p:spPr>
          <a:xfrm>
            <a:off x="548640" y="3474720"/>
            <a:ext cx="2011680" cy="1371600"/>
          </a:xfrm>
          <a:prstGeom prst="roundRect">
            <a:avLst>
              <a:gd name="adj" fmla="val 5333"/>
            </a:avLst>
          </a:prstGeom>
          <a:solidFill>
            <a:srgbClr val="F1F5F9"/>
          </a:solidFill>
          <a:ln/>
        </p:spPr>
      </p:sp>
      <p:sp>
        <p:nvSpPr>
          <p:cNvPr id="6" name="Text 3"/>
          <p:cNvSpPr txBox="1"/>
          <p:nvPr/>
        </p:nvSpPr>
        <p:spPr>
          <a:xfrm>
            <a:off x="685800" y="3611880"/>
            <a:ext cx="1737360" cy="1097280"/>
          </a:xfrm>
          <a:prstGeom prst="rect">
            <a:avLst/>
          </a:prstGeom>
          <a:noFill/>
          <a:ln/>
        </p:spPr>
        <p:txBody>
          <a:bodyPr wrap="square" lIns="0" tIns="0" rIns="0" bIns="0" rtlCol="0" anchor="t"/>
          <a:lstStyle/>
          <a:p>
            <a:pPr indent="0" marL="0">
              <a:spcAft>
                <a:spcPts val="300"/>
              </a:spcAft>
              <a:buNone/>
            </a:pPr>
            <a:r>
              <a:rPr lang="en-US" sz="1500" b="1" dirty="0">
                <a:solidFill>
                  <a:srgbClr val="0B1220"/>
                </a:solidFill>
              </a:rPr>
              <a:t>Bare metal</a:t>
            </a:r>
            <a:endParaRPr lang="en-US" sz="1500" dirty="0"/>
          </a:p>
          <a:p>
            <a:pPr indent="0" marL="0">
              <a:spcAft>
                <a:spcPts val="300"/>
              </a:spcAft>
              <a:buNone/>
            </a:pPr>
            <a:r>
              <a:rPr lang="en-US" sz="1200" dirty="0">
                <a:solidFill>
                  <a:srgbClr val="334155"/>
                </a:solidFill>
              </a:rPr>
              <a:t>Desplegás un servidor</a:t>
            </a:r>
            <a:endParaRPr lang="en-US" sz="1500" dirty="0"/>
          </a:p>
          <a:p>
            <a:pPr indent="0" marL="0">
              <a:spcAft>
                <a:spcPts val="300"/>
              </a:spcAft>
              <a:buNone/>
            </a:pPr>
            <a:r>
              <a:rPr lang="en-US" sz="1200" dirty="0">
                <a:solidFill>
                  <a:srgbClr val="334155"/>
                </a:solidFill>
              </a:rPr>
              <a:t>Pagás por compra (CAPEX)</a:t>
            </a:r>
            <a:endParaRPr lang="en-US" sz="1500" dirty="0"/>
          </a:p>
        </p:txBody>
      </p:sp>
      <p:sp>
        <p:nvSpPr>
          <p:cNvPr id="7" name="escalon"/>
          <p:cNvSpPr/>
          <p:nvPr/>
        </p:nvSpPr>
        <p:spPr>
          <a:xfrm>
            <a:off x="2819324" y="3127248"/>
            <a:ext cx="2011680" cy="1719072"/>
          </a:xfrm>
          <a:prstGeom prst="roundRect">
            <a:avLst>
              <a:gd name="adj" fmla="val 4255"/>
            </a:avLst>
          </a:prstGeom>
          <a:solidFill>
            <a:srgbClr val="F1F5F9"/>
          </a:solidFill>
          <a:ln/>
        </p:spPr>
      </p:sp>
      <p:sp>
        <p:nvSpPr>
          <p:cNvPr id="8" name="Text 5"/>
          <p:cNvSpPr txBox="1"/>
          <p:nvPr/>
        </p:nvSpPr>
        <p:spPr>
          <a:xfrm>
            <a:off x="2956484" y="3264408"/>
            <a:ext cx="1737360" cy="1097280"/>
          </a:xfrm>
          <a:prstGeom prst="rect">
            <a:avLst/>
          </a:prstGeom>
          <a:noFill/>
          <a:ln/>
        </p:spPr>
        <p:txBody>
          <a:bodyPr wrap="square" lIns="0" tIns="0" rIns="0" bIns="0" rtlCol="0" anchor="t"/>
          <a:lstStyle/>
          <a:p>
            <a:pPr indent="0" marL="0">
              <a:spcAft>
                <a:spcPts val="300"/>
              </a:spcAft>
              <a:buNone/>
            </a:pPr>
            <a:r>
              <a:rPr lang="en-US" sz="1500" b="1" dirty="0">
                <a:solidFill>
                  <a:srgbClr val="0B1220"/>
                </a:solidFill>
              </a:rPr>
              <a:t>IaaS · EC2</a:t>
            </a:r>
            <a:endParaRPr lang="en-US" sz="1500" dirty="0"/>
          </a:p>
          <a:p>
            <a:pPr indent="0" marL="0">
              <a:spcAft>
                <a:spcPts val="300"/>
              </a:spcAft>
              <a:buNone/>
            </a:pPr>
            <a:r>
              <a:rPr lang="en-US" sz="1200" dirty="0">
                <a:solidFill>
                  <a:srgbClr val="334155"/>
                </a:solidFill>
              </a:rPr>
              <a:t>Desplegás una máquina virtual</a:t>
            </a:r>
            <a:endParaRPr lang="en-US" sz="1500" dirty="0"/>
          </a:p>
          <a:p>
            <a:pPr indent="0" marL="0">
              <a:spcAft>
                <a:spcPts val="300"/>
              </a:spcAft>
              <a:buNone/>
            </a:pPr>
            <a:r>
              <a:rPr lang="en-US" sz="1200" dirty="0">
                <a:solidFill>
                  <a:srgbClr val="334155"/>
                </a:solidFill>
              </a:rPr>
              <a:t>Pagás por hora</a:t>
            </a:r>
            <a:endParaRPr lang="en-US" sz="1500" dirty="0"/>
          </a:p>
        </p:txBody>
      </p:sp>
      <p:sp>
        <p:nvSpPr>
          <p:cNvPr id="9" name="escalon"/>
          <p:cNvSpPr/>
          <p:nvPr/>
        </p:nvSpPr>
        <p:spPr>
          <a:xfrm>
            <a:off x="5090008" y="2779776"/>
            <a:ext cx="2011680" cy="2066544"/>
          </a:xfrm>
          <a:prstGeom prst="roundRect">
            <a:avLst>
              <a:gd name="adj" fmla="val 3636"/>
            </a:avLst>
          </a:prstGeom>
          <a:solidFill>
            <a:srgbClr val="F1F5F9"/>
          </a:solidFill>
          <a:ln/>
        </p:spPr>
      </p:sp>
      <p:sp>
        <p:nvSpPr>
          <p:cNvPr id="10" name="Text 7"/>
          <p:cNvSpPr txBox="1"/>
          <p:nvPr/>
        </p:nvSpPr>
        <p:spPr>
          <a:xfrm>
            <a:off x="5227168" y="2916936"/>
            <a:ext cx="1737360" cy="1097280"/>
          </a:xfrm>
          <a:prstGeom prst="rect">
            <a:avLst/>
          </a:prstGeom>
          <a:noFill/>
          <a:ln/>
        </p:spPr>
        <p:txBody>
          <a:bodyPr wrap="square" lIns="0" tIns="0" rIns="0" bIns="0" rtlCol="0" anchor="t"/>
          <a:lstStyle/>
          <a:p>
            <a:pPr indent="0" marL="0">
              <a:spcAft>
                <a:spcPts val="300"/>
              </a:spcAft>
              <a:buNone/>
            </a:pPr>
            <a:r>
              <a:rPr lang="en-US" sz="1500" b="1" dirty="0">
                <a:solidFill>
                  <a:srgbClr val="0B1220"/>
                </a:solidFill>
              </a:rPr>
              <a:t>PaaS · Heroku</a:t>
            </a:r>
            <a:endParaRPr lang="en-US" sz="1500" dirty="0"/>
          </a:p>
          <a:p>
            <a:pPr indent="0" marL="0">
              <a:spcAft>
                <a:spcPts val="300"/>
              </a:spcAft>
              <a:buNone/>
            </a:pPr>
            <a:r>
              <a:rPr lang="en-US" sz="1200" dirty="0">
                <a:solidFill>
                  <a:srgbClr val="334155"/>
                </a:solidFill>
              </a:rPr>
              <a:t>Desplegás una aplicación</a:t>
            </a:r>
            <a:endParaRPr lang="en-US" sz="1500" dirty="0"/>
          </a:p>
          <a:p>
            <a:pPr indent="0" marL="0">
              <a:spcAft>
                <a:spcPts val="300"/>
              </a:spcAft>
              <a:buNone/>
            </a:pPr>
            <a:r>
              <a:rPr lang="en-US" sz="1200" dirty="0">
                <a:solidFill>
                  <a:srgbClr val="334155"/>
                </a:solidFill>
              </a:rPr>
              <a:t>Pagás por hora</a:t>
            </a:r>
            <a:endParaRPr lang="en-US" sz="1500" dirty="0"/>
          </a:p>
        </p:txBody>
      </p:sp>
      <p:sp>
        <p:nvSpPr>
          <p:cNvPr id="11" name="escalon"/>
          <p:cNvSpPr/>
          <p:nvPr/>
        </p:nvSpPr>
        <p:spPr>
          <a:xfrm>
            <a:off x="7360691" y="2432304"/>
            <a:ext cx="2011680" cy="2414016"/>
          </a:xfrm>
          <a:prstGeom prst="roundRect">
            <a:avLst>
              <a:gd name="adj" fmla="val 3636"/>
            </a:avLst>
          </a:prstGeom>
          <a:solidFill>
            <a:srgbClr val="F1F5F9"/>
          </a:solidFill>
          <a:ln/>
        </p:spPr>
      </p:sp>
      <p:sp>
        <p:nvSpPr>
          <p:cNvPr id="12" name="Text 9"/>
          <p:cNvSpPr txBox="1"/>
          <p:nvPr/>
        </p:nvSpPr>
        <p:spPr>
          <a:xfrm>
            <a:off x="7497851" y="2569464"/>
            <a:ext cx="1737360" cy="1097280"/>
          </a:xfrm>
          <a:prstGeom prst="rect">
            <a:avLst/>
          </a:prstGeom>
          <a:noFill/>
          <a:ln/>
        </p:spPr>
        <p:txBody>
          <a:bodyPr wrap="square" lIns="0" tIns="0" rIns="0" bIns="0" rtlCol="0" anchor="t"/>
          <a:lstStyle/>
          <a:p>
            <a:pPr indent="0" marL="0">
              <a:spcAft>
                <a:spcPts val="300"/>
              </a:spcAft>
              <a:buNone/>
            </a:pPr>
            <a:r>
              <a:rPr lang="en-US" sz="1500" b="1" dirty="0">
                <a:solidFill>
                  <a:srgbClr val="0B1220"/>
                </a:solidFill>
              </a:rPr>
              <a:t>Contenedores · K8s</a:t>
            </a:r>
            <a:endParaRPr lang="en-US" sz="1500" dirty="0"/>
          </a:p>
          <a:p>
            <a:pPr indent="0" marL="0">
              <a:spcAft>
                <a:spcPts val="300"/>
              </a:spcAft>
              <a:buNone/>
            </a:pPr>
            <a:r>
              <a:rPr lang="en-US" sz="1200" dirty="0">
                <a:solidFill>
                  <a:srgbClr val="334155"/>
                </a:solidFill>
              </a:rPr>
              <a:t>Desplegás un contenedor</a:t>
            </a:r>
            <a:endParaRPr lang="en-US" sz="1500" dirty="0"/>
          </a:p>
          <a:p>
            <a:pPr indent="0" marL="0">
              <a:spcAft>
                <a:spcPts val="300"/>
              </a:spcAft>
              <a:buNone/>
            </a:pPr>
            <a:r>
              <a:rPr lang="en-US" sz="1200" dirty="0">
                <a:solidFill>
                  <a:srgbClr val="334155"/>
                </a:solidFill>
              </a:rPr>
              <a:t>Pagás por hora</a:t>
            </a:r>
            <a:endParaRPr lang="en-US" sz="1500" dirty="0"/>
          </a:p>
        </p:txBody>
      </p:sp>
      <p:sp>
        <p:nvSpPr>
          <p:cNvPr id="13" name="escalon"/>
          <p:cNvSpPr/>
          <p:nvPr/>
        </p:nvSpPr>
        <p:spPr>
          <a:xfrm>
            <a:off x="9631375" y="2084832"/>
            <a:ext cx="2011680" cy="2761488"/>
          </a:xfrm>
          <a:prstGeom prst="roundRect">
            <a:avLst>
              <a:gd name="adj" fmla="val 3636"/>
            </a:avLst>
          </a:prstGeom>
          <a:solidFill>
            <a:srgbClr val="F59E0B"/>
          </a:solidFill>
          <a:ln/>
        </p:spPr>
      </p:sp>
      <p:sp>
        <p:nvSpPr>
          <p:cNvPr id="14" name="Text 11"/>
          <p:cNvSpPr txBox="1"/>
          <p:nvPr/>
        </p:nvSpPr>
        <p:spPr>
          <a:xfrm>
            <a:off x="9768535" y="2221992"/>
            <a:ext cx="1737360" cy="1097280"/>
          </a:xfrm>
          <a:prstGeom prst="rect">
            <a:avLst/>
          </a:prstGeom>
          <a:noFill/>
          <a:ln/>
        </p:spPr>
        <p:txBody>
          <a:bodyPr wrap="square" lIns="0" tIns="0" rIns="0" bIns="0" rtlCol="0" anchor="t"/>
          <a:lstStyle/>
          <a:p>
            <a:pPr indent="0" marL="0">
              <a:spcAft>
                <a:spcPts val="300"/>
              </a:spcAft>
              <a:buNone/>
            </a:pPr>
            <a:r>
              <a:rPr lang="en-US" sz="1500" b="1" dirty="0">
                <a:solidFill>
                  <a:srgbClr val="0B1220"/>
                </a:solidFill>
              </a:rPr>
              <a:t>FaaS · Lambda</a:t>
            </a:r>
            <a:endParaRPr lang="en-US" sz="1500" dirty="0"/>
          </a:p>
          <a:p>
            <a:pPr indent="0" marL="0">
              <a:spcAft>
                <a:spcPts val="300"/>
              </a:spcAft>
              <a:buNone/>
            </a:pPr>
            <a:r>
              <a:rPr lang="en-US" sz="1200" dirty="0">
                <a:solidFill>
                  <a:srgbClr val="334155"/>
                </a:solidFill>
              </a:rPr>
              <a:t>Desplegás una función</a:t>
            </a:r>
            <a:endParaRPr lang="en-US" sz="1500" dirty="0"/>
          </a:p>
          <a:p>
            <a:pPr indent="0" marL="0">
              <a:spcAft>
                <a:spcPts val="300"/>
              </a:spcAft>
              <a:buNone/>
            </a:pPr>
            <a:r>
              <a:rPr lang="en-US" sz="1200" b="1" dirty="0">
                <a:solidFill>
                  <a:srgbClr val="0B1220"/>
                </a:solidFill>
              </a:rPr>
              <a:t>Pagás por milisegundo</a:t>
            </a:r>
            <a:endParaRPr lang="en-US" sz="1500" dirty="0"/>
          </a:p>
        </p:txBody>
      </p:sp>
      <p:sp>
        <p:nvSpPr>
          <p:cNvPr id="15" name="tarjeta"/>
          <p:cNvSpPr/>
          <p:nvPr/>
        </p:nvSpPr>
        <p:spPr>
          <a:xfrm>
            <a:off x="548640" y="5074920"/>
            <a:ext cx="5364328" cy="868680"/>
          </a:xfrm>
          <a:prstGeom prst="roundRect">
            <a:avLst>
              <a:gd name="adj" fmla="val 10526"/>
            </a:avLst>
          </a:prstGeom>
          <a:solidFill>
            <a:srgbClr val="FFFFFF"/>
          </a:solidFill>
          <a:ln w="12700">
            <a:solidFill>
              <a:srgbClr val="CBD5E1"/>
            </a:solidFill>
            <a:prstDash val="solid"/>
          </a:ln>
        </p:spPr>
      </p:sp>
      <p:sp>
        <p:nvSpPr>
          <p:cNvPr id="16" name="Text 13"/>
          <p:cNvSpPr txBox="1"/>
          <p:nvPr/>
        </p:nvSpPr>
        <p:spPr>
          <a:xfrm>
            <a:off x="777240" y="5120640"/>
            <a:ext cx="4907128" cy="777240"/>
          </a:xfrm>
          <a:prstGeom prst="rect">
            <a:avLst/>
          </a:prstGeom>
          <a:noFill/>
          <a:ln/>
        </p:spPr>
        <p:txBody>
          <a:bodyPr wrap="square" lIns="0" tIns="0" rIns="0" bIns="0" rtlCol="0" anchor="ctr"/>
          <a:lstStyle/>
          <a:p>
            <a:pPr indent="0" marL="0">
              <a:buNone/>
            </a:pPr>
            <a:r>
              <a:rPr lang="en-US" sz="1400" b="1" dirty="0">
                <a:solidFill>
                  <a:srgbClr val="0B1220"/>
                </a:solidFill>
              </a:rPr>
              <a:t>FaaS — tu código  </a:t>
            </a:r>
            <a:pPr indent="0" marL="0">
              <a:buNone/>
            </a:pPr>
            <a:r>
              <a:rPr lang="en-US" sz="1400" dirty="0">
                <a:solidFill>
                  <a:srgbClr val="334155"/>
                </a:solidFill>
              </a:rPr>
              <a:t>Funciones que se disparan por eventos: Lambda, Cloud Functions, Workers.</a:t>
            </a:r>
            <a:endParaRPr lang="en-US" sz="1400" dirty="0"/>
          </a:p>
        </p:txBody>
      </p:sp>
      <p:sp>
        <p:nvSpPr>
          <p:cNvPr id="17" name="tarjeta"/>
          <p:cNvSpPr/>
          <p:nvPr/>
        </p:nvSpPr>
        <p:spPr>
          <a:xfrm>
            <a:off x="6278728" y="5074920"/>
            <a:ext cx="5364328" cy="868680"/>
          </a:xfrm>
          <a:prstGeom prst="roundRect">
            <a:avLst>
              <a:gd name="adj" fmla="val 10526"/>
            </a:avLst>
          </a:prstGeom>
          <a:solidFill>
            <a:srgbClr val="FFFFFF"/>
          </a:solidFill>
          <a:ln w="12700">
            <a:solidFill>
              <a:srgbClr val="CBD5E1"/>
            </a:solidFill>
            <a:prstDash val="solid"/>
          </a:ln>
        </p:spPr>
      </p:sp>
      <p:sp>
        <p:nvSpPr>
          <p:cNvPr id="18" name="Text 15"/>
          <p:cNvSpPr txBox="1"/>
          <p:nvPr/>
        </p:nvSpPr>
        <p:spPr>
          <a:xfrm>
            <a:off x="6507328" y="5120640"/>
            <a:ext cx="4907128" cy="777240"/>
          </a:xfrm>
          <a:prstGeom prst="rect">
            <a:avLst/>
          </a:prstGeom>
          <a:noFill/>
          <a:ln/>
        </p:spPr>
        <p:txBody>
          <a:bodyPr wrap="square" lIns="0" tIns="0" rIns="0" bIns="0" rtlCol="0" anchor="ctr"/>
          <a:lstStyle/>
          <a:p>
            <a:pPr indent="0" marL="0">
              <a:buNone/>
            </a:pPr>
            <a:r>
              <a:rPr lang="en-US" sz="1400" b="1" dirty="0">
                <a:solidFill>
                  <a:srgbClr val="0B1220"/>
                </a:solidFill>
              </a:rPr>
              <a:t>BaaS — servicios que consumís  </a:t>
            </a:r>
            <a:pPr indent="0" marL="0">
              <a:buNone/>
            </a:pPr>
            <a:r>
              <a:rPr lang="en-US" sz="1400" dirty="0">
                <a:solidFill>
                  <a:srgbClr val="334155"/>
                </a:solidFill>
              </a:rPr>
              <a:t>Base, autenticación, almacenamiento por API: Firebase, Auth0, S3.</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ph idx="100" type="body" hasCustomPrompt="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F766E"/>
                </a:solidFill>
              </a:rPr>
              <a:t>02 · CÓMO FUNCIONA</a:t>
            </a:r>
            <a:endParaRPr lang="en-US" sz="1200" dirty="0"/>
          </a:p>
        </p:txBody>
      </p:sp>
      <p:sp>
        <p:nvSpPr>
          <p:cNvPr id="4" name="Text 0"/>
          <p:cNvSpPr/>
          <p:nvPr>
            <p:ph idx="101" type="title" hasCustomPrompt="1"/>
          </p:nvPr>
        </p:nvSpPr>
        <p:spPr>
          <a:xfrm>
            <a:off x="548640" y="640080"/>
            <a:ext cx="11094415" cy="731520"/>
          </a:xfrm>
          <a:prstGeom prst="rect">
            <a:avLst/>
          </a:prstGeom>
          <a:noFill/>
          <a:ln/>
        </p:spPr>
        <p:txBody>
          <a:bodyPr wrap="square" lIns="0" tIns="0" rIns="0" bIns="0" rtlCol="0" anchor="ctr"/>
          <a:lstStyle/>
          <a:p>
            <a:pPr algn="l" indent="0" marL="0">
              <a:buNone/>
            </a:pPr>
            <a:r>
              <a:rPr lang="en-US" sz="3000" b="1" dirty="0">
                <a:solidFill>
                  <a:srgbClr val="0B1220"/>
                </a:solidFill>
                <a:latin typeface="Arial" pitchFamily="34" charset="0"/>
                <a:ea typeface="Arial" pitchFamily="34" charset="-122"/>
                <a:cs typeface="Arial" pitchFamily="34" charset="-120"/>
              </a:rPr>
              <a:t>Una función no corre: es invocada</a:t>
            </a:r>
            <a:endParaRPr lang="en-US" sz="3000" dirty="0"/>
          </a:p>
        </p:txBody>
      </p:sp>
      <p:sp>
        <p:nvSpPr>
          <p:cNvPr id="5" name="fase"/>
          <p:cNvSpPr/>
          <p:nvPr/>
        </p:nvSpPr>
        <p:spPr>
          <a:xfrm>
            <a:off x="548640" y="1600200"/>
            <a:ext cx="2377440" cy="1783080"/>
          </a:xfrm>
          <a:prstGeom prst="roundRect">
            <a:avLst>
              <a:gd name="adj" fmla="val 5128"/>
            </a:avLst>
          </a:prstGeom>
          <a:solidFill>
            <a:srgbClr val="F1F5F9"/>
          </a:solidFill>
          <a:ln/>
        </p:spPr>
      </p:sp>
      <p:sp>
        <p:nvSpPr>
          <p:cNvPr id="6" name="Text 3"/>
          <p:cNvSpPr txBox="1"/>
          <p:nvPr/>
        </p:nvSpPr>
        <p:spPr>
          <a:xfrm>
            <a:off x="713232" y="1764792"/>
            <a:ext cx="2048256" cy="1508760"/>
          </a:xfrm>
          <a:prstGeom prst="rect">
            <a:avLst/>
          </a:prstGeom>
          <a:noFill/>
          <a:ln/>
        </p:spPr>
        <p:txBody>
          <a:bodyPr wrap="square" lIns="0" tIns="0" rIns="0" bIns="0" rtlCol="0" anchor="t"/>
          <a:lstStyle/>
          <a:p>
            <a:pPr indent="0" marL="0">
              <a:spcAft>
                <a:spcPts val="400"/>
              </a:spcAft>
              <a:buNone/>
            </a:pPr>
            <a:r>
              <a:rPr lang="en-US" sz="1600" b="1" dirty="0">
                <a:solidFill>
                  <a:srgbClr val="0B1220"/>
                </a:solidFill>
                <a:latin typeface="Arial" pitchFamily="34" charset="0"/>
                <a:ea typeface="Arial" pitchFamily="34" charset="-122"/>
                <a:cs typeface="Arial" pitchFamily="34" charset="-120"/>
              </a:rPr>
              <a:t>EVENTO</a:t>
            </a:r>
            <a:endParaRPr lang="en-US" sz="1500" dirty="0"/>
          </a:p>
          <a:p>
            <a:pPr indent="0" marL="0">
              <a:spcAft>
                <a:spcPts val="400"/>
              </a:spcAft>
              <a:buNone/>
            </a:pPr>
            <a:r>
              <a:rPr lang="en-US" sz="1300" dirty="0">
                <a:solidFill>
                  <a:srgbClr val="334155"/>
                </a:solidFill>
              </a:rPr>
              <a:t>Pedido HTTP, archivo subido, mensaje en cola, horario (cron)</a:t>
            </a:r>
            <a:endParaRPr lang="en-US" sz="1500" dirty="0"/>
          </a:p>
        </p:txBody>
      </p:sp>
      <p:sp>
        <p:nvSpPr>
          <p:cNvPr id="7" name="Shape 4"/>
          <p:cNvSpPr/>
          <p:nvPr/>
        </p:nvSpPr>
        <p:spPr>
          <a:xfrm>
            <a:off x="2980944" y="2491740"/>
            <a:ext cx="418490" cy="914"/>
          </a:xfrm>
          <a:prstGeom prst="line">
            <a:avLst/>
          </a:prstGeom>
          <a:noFill/>
          <a:ln w="25400">
            <a:solidFill>
              <a:srgbClr val="64748B"/>
            </a:solidFill>
            <a:prstDash val="solid"/>
            <a:tailEnd type="triangle"/>
          </a:ln>
        </p:spPr>
      </p:sp>
      <p:sp>
        <p:nvSpPr>
          <p:cNvPr id="8" name="fase"/>
          <p:cNvSpPr/>
          <p:nvPr/>
        </p:nvSpPr>
        <p:spPr>
          <a:xfrm>
            <a:off x="3454298" y="1600200"/>
            <a:ext cx="2377440" cy="1783080"/>
          </a:xfrm>
          <a:prstGeom prst="roundRect">
            <a:avLst>
              <a:gd name="adj" fmla="val 5128"/>
            </a:avLst>
          </a:prstGeom>
          <a:solidFill>
            <a:srgbClr val="F59E0B"/>
          </a:solidFill>
          <a:ln/>
        </p:spPr>
      </p:sp>
      <p:sp>
        <p:nvSpPr>
          <p:cNvPr id="9" name="Text 6"/>
          <p:cNvSpPr txBox="1"/>
          <p:nvPr/>
        </p:nvSpPr>
        <p:spPr>
          <a:xfrm>
            <a:off x="3618890" y="1764792"/>
            <a:ext cx="2048256" cy="1508760"/>
          </a:xfrm>
          <a:prstGeom prst="rect">
            <a:avLst/>
          </a:prstGeom>
          <a:noFill/>
          <a:ln/>
        </p:spPr>
        <p:txBody>
          <a:bodyPr wrap="square" lIns="0" tIns="0" rIns="0" bIns="0" rtlCol="0" anchor="t"/>
          <a:lstStyle/>
          <a:p>
            <a:pPr indent="0" marL="0">
              <a:spcAft>
                <a:spcPts val="400"/>
              </a:spcAft>
              <a:buNone/>
            </a:pPr>
            <a:r>
              <a:rPr lang="en-US" sz="1600" b="1" dirty="0">
                <a:solidFill>
                  <a:srgbClr val="0B1220"/>
                </a:solidFill>
                <a:latin typeface="Arial" pitchFamily="34" charset="0"/>
                <a:ea typeface="Arial" pitchFamily="34" charset="-122"/>
                <a:cs typeface="Arial" pitchFamily="34" charset="-120"/>
              </a:rPr>
              <a:t>INIT</a:t>
            </a:r>
            <a:endParaRPr lang="en-US" sz="1500" dirty="0"/>
          </a:p>
          <a:p>
            <a:pPr indent="0" marL="0">
              <a:spcAft>
                <a:spcPts val="400"/>
              </a:spcAft>
              <a:buNone/>
            </a:pPr>
            <a:r>
              <a:rPr lang="en-US" sz="1300" dirty="0">
                <a:solidFill>
                  <a:srgbClr val="334155"/>
                </a:solidFill>
              </a:rPr>
              <a:t>Crea la microVM, baja el código, arranca el runtime, corre tu init (imports, conexión a la base)</a:t>
            </a:r>
            <a:endParaRPr lang="en-US" sz="1500" dirty="0"/>
          </a:p>
        </p:txBody>
      </p:sp>
      <p:sp>
        <p:nvSpPr>
          <p:cNvPr id="10" name="Shape 7"/>
          <p:cNvSpPr/>
          <p:nvPr/>
        </p:nvSpPr>
        <p:spPr>
          <a:xfrm>
            <a:off x="5886602" y="2491740"/>
            <a:ext cx="418490" cy="914"/>
          </a:xfrm>
          <a:prstGeom prst="line">
            <a:avLst/>
          </a:prstGeom>
          <a:noFill/>
          <a:ln w="25400">
            <a:solidFill>
              <a:srgbClr val="64748B"/>
            </a:solidFill>
            <a:prstDash val="solid"/>
            <a:tailEnd type="triangle"/>
          </a:ln>
        </p:spPr>
      </p:sp>
      <p:sp>
        <p:nvSpPr>
          <p:cNvPr id="11" name="fase"/>
          <p:cNvSpPr/>
          <p:nvPr/>
        </p:nvSpPr>
        <p:spPr>
          <a:xfrm>
            <a:off x="6359957" y="1600200"/>
            <a:ext cx="2377440" cy="1783080"/>
          </a:xfrm>
          <a:prstGeom prst="roundRect">
            <a:avLst>
              <a:gd name="adj" fmla="val 5128"/>
            </a:avLst>
          </a:prstGeom>
          <a:solidFill>
            <a:srgbClr val="F1F5F9"/>
          </a:solidFill>
          <a:ln/>
        </p:spPr>
      </p:sp>
      <p:sp>
        <p:nvSpPr>
          <p:cNvPr id="12" name="Text 9"/>
          <p:cNvSpPr txBox="1"/>
          <p:nvPr/>
        </p:nvSpPr>
        <p:spPr>
          <a:xfrm>
            <a:off x="6524549" y="1764792"/>
            <a:ext cx="2048256" cy="1508760"/>
          </a:xfrm>
          <a:prstGeom prst="rect">
            <a:avLst/>
          </a:prstGeom>
          <a:noFill/>
          <a:ln/>
        </p:spPr>
        <p:txBody>
          <a:bodyPr wrap="square" lIns="0" tIns="0" rIns="0" bIns="0" rtlCol="0" anchor="t"/>
          <a:lstStyle/>
          <a:p>
            <a:pPr indent="0" marL="0">
              <a:spcAft>
                <a:spcPts val="400"/>
              </a:spcAft>
              <a:buNone/>
            </a:pPr>
            <a:r>
              <a:rPr lang="en-US" sz="1600" b="1" dirty="0">
                <a:solidFill>
                  <a:srgbClr val="0B1220"/>
                </a:solidFill>
                <a:latin typeface="Arial" pitchFamily="34" charset="0"/>
                <a:ea typeface="Arial" pitchFamily="34" charset="-122"/>
                <a:cs typeface="Arial" pitchFamily="34" charset="-120"/>
              </a:rPr>
              <a:t>INVOKE</a:t>
            </a:r>
            <a:endParaRPr lang="en-US" sz="1500" dirty="0"/>
          </a:p>
          <a:p>
            <a:pPr indent="0" marL="0">
              <a:spcAft>
                <a:spcPts val="400"/>
              </a:spcAft>
              <a:buNone/>
            </a:pPr>
            <a:r>
              <a:rPr lang="en-US" sz="1300" dirty="0">
                <a:solidFill>
                  <a:srgbClr val="334155"/>
                </a:solidFill>
              </a:rPr>
              <a:t>Ejecuta el handler con los datos del evento</a:t>
            </a:r>
            <a:endParaRPr lang="en-US" sz="1500" dirty="0"/>
          </a:p>
        </p:txBody>
      </p:sp>
      <p:sp>
        <p:nvSpPr>
          <p:cNvPr id="13" name="Shape 10"/>
          <p:cNvSpPr/>
          <p:nvPr/>
        </p:nvSpPr>
        <p:spPr>
          <a:xfrm>
            <a:off x="8792261" y="2491740"/>
            <a:ext cx="418490" cy="914"/>
          </a:xfrm>
          <a:prstGeom prst="line">
            <a:avLst/>
          </a:prstGeom>
          <a:noFill/>
          <a:ln w="25400">
            <a:solidFill>
              <a:srgbClr val="64748B"/>
            </a:solidFill>
            <a:prstDash val="solid"/>
            <a:tailEnd type="triangle"/>
          </a:ln>
        </p:spPr>
      </p:sp>
      <p:sp>
        <p:nvSpPr>
          <p:cNvPr id="14" name="fase"/>
          <p:cNvSpPr/>
          <p:nvPr/>
        </p:nvSpPr>
        <p:spPr>
          <a:xfrm>
            <a:off x="9265615" y="1600200"/>
            <a:ext cx="2377440" cy="1783080"/>
          </a:xfrm>
          <a:prstGeom prst="roundRect">
            <a:avLst>
              <a:gd name="adj" fmla="val 5128"/>
            </a:avLst>
          </a:prstGeom>
          <a:solidFill>
            <a:srgbClr val="F1F5F9"/>
          </a:solidFill>
          <a:ln/>
        </p:spPr>
      </p:sp>
      <p:sp>
        <p:nvSpPr>
          <p:cNvPr id="15" name="Text 12"/>
          <p:cNvSpPr txBox="1"/>
          <p:nvPr/>
        </p:nvSpPr>
        <p:spPr>
          <a:xfrm>
            <a:off x="9430207" y="1764792"/>
            <a:ext cx="2048256" cy="1508760"/>
          </a:xfrm>
          <a:prstGeom prst="rect">
            <a:avLst/>
          </a:prstGeom>
          <a:noFill/>
          <a:ln/>
        </p:spPr>
        <p:txBody>
          <a:bodyPr wrap="square" lIns="0" tIns="0" rIns="0" bIns="0" rtlCol="0" anchor="t"/>
          <a:lstStyle/>
          <a:p>
            <a:pPr indent="0" marL="0">
              <a:spcAft>
                <a:spcPts val="400"/>
              </a:spcAft>
              <a:buNone/>
            </a:pPr>
            <a:r>
              <a:rPr lang="en-US" sz="1600" b="1" dirty="0">
                <a:solidFill>
                  <a:srgbClr val="0B1220"/>
                </a:solidFill>
                <a:latin typeface="Arial" pitchFamily="34" charset="0"/>
                <a:ea typeface="Arial" pitchFamily="34" charset="-122"/>
                <a:cs typeface="Arial" pitchFamily="34" charset="-120"/>
              </a:rPr>
              <a:t>FREEZE</a:t>
            </a:r>
            <a:endParaRPr lang="en-US" sz="1500" dirty="0"/>
          </a:p>
          <a:p>
            <a:pPr indent="0" marL="0">
              <a:spcAft>
                <a:spcPts val="400"/>
              </a:spcAft>
              <a:buNone/>
            </a:pPr>
            <a:r>
              <a:rPr lang="en-US" sz="1300" dirty="0">
                <a:solidFill>
                  <a:srgbClr val="334155"/>
                </a:solidFill>
              </a:rPr>
              <a:t>Congela el entorno. Sin eventos en 5–15 min: se apaga</a:t>
            </a:r>
            <a:endParaRPr lang="en-US" sz="1500" dirty="0"/>
          </a:p>
        </p:txBody>
      </p:sp>
      <p:sp>
        <p:nvSpPr>
          <p:cNvPr id="16" name="Text 13"/>
          <p:cNvSpPr txBox="1"/>
          <p:nvPr/>
        </p:nvSpPr>
        <p:spPr>
          <a:xfrm>
            <a:off x="3454298" y="3429000"/>
            <a:ext cx="2377440" cy="274320"/>
          </a:xfrm>
          <a:prstGeom prst="rect">
            <a:avLst/>
          </a:prstGeom>
          <a:noFill/>
          <a:ln/>
        </p:spPr>
        <p:txBody>
          <a:bodyPr wrap="square" lIns="0" tIns="0" rIns="0" bIns="0" rtlCol="0" anchor="t"/>
          <a:lstStyle/>
          <a:p>
            <a:pPr algn="ctr" indent="0" marL="0">
              <a:buNone/>
            </a:pPr>
            <a:r>
              <a:rPr lang="en-US" sz="1100" i="1" dirty="0">
                <a:solidFill>
                  <a:srgbClr val="64748B"/>
                </a:solidFill>
              </a:rPr>
              <a:t>sólo en cold start</a:t>
            </a:r>
            <a:endParaRPr lang="en-US" sz="1100" dirty="0"/>
          </a:p>
        </p:txBody>
      </p:sp>
      <p:sp>
        <p:nvSpPr>
          <p:cNvPr id="17" name="Shape 14"/>
          <p:cNvSpPr/>
          <p:nvPr/>
        </p:nvSpPr>
        <p:spPr>
          <a:xfrm>
            <a:off x="10454335" y="3383280"/>
            <a:ext cx="914" cy="411480"/>
          </a:xfrm>
          <a:prstGeom prst="line">
            <a:avLst/>
          </a:prstGeom>
          <a:noFill/>
          <a:ln w="25400">
            <a:solidFill>
              <a:srgbClr val="64748B"/>
            </a:solidFill>
            <a:prstDash val="solid"/>
          </a:ln>
        </p:spPr>
      </p:sp>
      <p:sp>
        <p:nvSpPr>
          <p:cNvPr id="18" name="Shape 15"/>
          <p:cNvSpPr/>
          <p:nvPr/>
        </p:nvSpPr>
        <p:spPr>
          <a:xfrm>
            <a:off x="7548677" y="3794760"/>
            <a:ext cx="2905658" cy="914"/>
          </a:xfrm>
          <a:prstGeom prst="line">
            <a:avLst/>
          </a:prstGeom>
          <a:noFill/>
          <a:ln w="25400">
            <a:solidFill>
              <a:srgbClr val="64748B"/>
            </a:solidFill>
            <a:prstDash val="solid"/>
          </a:ln>
        </p:spPr>
      </p:sp>
      <p:sp>
        <p:nvSpPr>
          <p:cNvPr id="19" name="Shape 16"/>
          <p:cNvSpPr/>
          <p:nvPr/>
        </p:nvSpPr>
        <p:spPr>
          <a:xfrm flipV="1">
            <a:off x="7548677" y="3410712"/>
            <a:ext cx="914" cy="384048"/>
          </a:xfrm>
          <a:prstGeom prst="line">
            <a:avLst/>
          </a:prstGeom>
          <a:noFill/>
          <a:ln w="25400">
            <a:solidFill>
              <a:srgbClr val="64748B"/>
            </a:solidFill>
            <a:prstDash val="solid"/>
            <a:tailEnd type="triangle"/>
          </a:ln>
        </p:spPr>
      </p:sp>
      <p:sp>
        <p:nvSpPr>
          <p:cNvPr id="20" name="Text 17"/>
          <p:cNvSpPr txBox="1"/>
          <p:nvPr/>
        </p:nvSpPr>
        <p:spPr>
          <a:xfrm>
            <a:off x="7640117" y="3840480"/>
            <a:ext cx="2722778" cy="274320"/>
          </a:xfrm>
          <a:prstGeom prst="rect">
            <a:avLst/>
          </a:prstGeom>
          <a:noFill/>
          <a:ln/>
        </p:spPr>
        <p:txBody>
          <a:bodyPr wrap="square" lIns="0" tIns="0" rIns="0" bIns="0" rtlCol="0" anchor="t"/>
          <a:lstStyle/>
          <a:p>
            <a:pPr algn="ctr" indent="0" marL="0">
              <a:buNone/>
            </a:pPr>
            <a:r>
              <a:rPr lang="en-US" sz="1100" i="1" dirty="0">
                <a:solidFill>
                  <a:srgbClr val="64748B"/>
                </a:solidFill>
              </a:rPr>
              <a:t>warm: reusa el entorno y se saltea INIT</a:t>
            </a:r>
            <a:endParaRPr lang="en-US" sz="1100" dirty="0"/>
          </a:p>
        </p:txBody>
      </p:sp>
      <p:sp>
        <p:nvSpPr>
          <p:cNvPr id="21" name="tarjeta"/>
          <p:cNvSpPr/>
          <p:nvPr/>
        </p:nvSpPr>
        <p:spPr>
          <a:xfrm>
            <a:off x="548640" y="4251960"/>
            <a:ext cx="5364328" cy="1691640"/>
          </a:xfrm>
          <a:prstGeom prst="roundRect">
            <a:avLst>
              <a:gd name="adj" fmla="val 5405"/>
            </a:avLst>
          </a:prstGeom>
          <a:solidFill>
            <a:srgbClr val="F1F5F9"/>
          </a:solidFill>
          <a:ln/>
        </p:spPr>
      </p:sp>
      <p:sp>
        <p:nvSpPr>
          <p:cNvPr id="22" name="Text 19"/>
          <p:cNvSpPr txBox="1"/>
          <p:nvPr/>
        </p:nvSpPr>
        <p:spPr>
          <a:xfrm>
            <a:off x="822960" y="4453128"/>
            <a:ext cx="4815688" cy="1325880"/>
          </a:xfrm>
          <a:prstGeom prst="rect">
            <a:avLst/>
          </a:prstGeom>
          <a:noFill/>
          <a:ln/>
        </p:spPr>
        <p:txBody>
          <a:bodyPr wrap="square" lIns="0" tIns="0" rIns="0" bIns="0" rtlCol="0" anchor="t"/>
          <a:lstStyle/>
          <a:p>
            <a:pPr indent="0" marL="0">
              <a:spcAft>
                <a:spcPts val="600"/>
              </a:spcAft>
              <a:buNone/>
            </a:pPr>
            <a:r>
              <a:rPr lang="en-US" sz="1700" b="1" dirty="0">
                <a:solidFill>
                  <a:srgbClr val="0B1220"/>
                </a:solidFill>
              </a:rPr>
              <a:t>Stateless por contrato</a:t>
            </a:r>
            <a:endParaRPr lang="en-US" sz="1500" dirty="0"/>
          </a:p>
          <a:p>
            <a:pPr indent="0" marL="0">
              <a:spcAft>
                <a:spcPts val="600"/>
              </a:spcAft>
              <a:buNone/>
            </a:pPr>
            <a:r>
              <a:rPr lang="en-US" sz="1400" dirty="0">
                <a:solidFill>
                  <a:srgbClr val="334155"/>
                </a:solidFill>
              </a:rPr>
              <a:t>Dos pedidos no tienen garantía de caer en el mismo entorno: el estado de negocio va a la base, nunca a la memoria de la función.</a:t>
            </a:r>
            <a:endParaRPr lang="en-US" sz="1500" dirty="0"/>
          </a:p>
        </p:txBody>
      </p:sp>
      <p:sp>
        <p:nvSpPr>
          <p:cNvPr id="23" name="tarjeta"/>
          <p:cNvSpPr/>
          <p:nvPr/>
        </p:nvSpPr>
        <p:spPr>
          <a:xfrm>
            <a:off x="6278728" y="4251960"/>
            <a:ext cx="5364328" cy="1691640"/>
          </a:xfrm>
          <a:prstGeom prst="roundRect">
            <a:avLst>
              <a:gd name="adj" fmla="val 5405"/>
            </a:avLst>
          </a:prstGeom>
          <a:solidFill>
            <a:srgbClr val="F1F5F9"/>
          </a:solidFill>
          <a:ln/>
        </p:spPr>
      </p:sp>
      <p:sp>
        <p:nvSpPr>
          <p:cNvPr id="24" name="Text 21"/>
          <p:cNvSpPr txBox="1"/>
          <p:nvPr/>
        </p:nvSpPr>
        <p:spPr>
          <a:xfrm>
            <a:off x="6553048" y="4453128"/>
            <a:ext cx="4815688" cy="1325880"/>
          </a:xfrm>
          <a:prstGeom prst="rect">
            <a:avLst/>
          </a:prstGeom>
          <a:noFill/>
          <a:ln/>
        </p:spPr>
        <p:txBody>
          <a:bodyPr wrap="square" lIns="0" tIns="0" rIns="0" bIns="0" rtlCol="0" anchor="t"/>
          <a:lstStyle/>
          <a:p>
            <a:pPr indent="0" marL="0">
              <a:spcAft>
                <a:spcPts val="400"/>
              </a:spcAft>
              <a:buNone/>
            </a:pPr>
            <a:r>
              <a:rPr lang="en-US" sz="1700" b="1" dirty="0">
                <a:solidFill>
                  <a:srgbClr val="0B1220"/>
                </a:solidFill>
              </a:rPr>
              <a:t>Lambda: un pedido por entorno a la vez</a:t>
            </a:r>
            <a:endParaRPr lang="en-US" sz="1500" dirty="0"/>
          </a:p>
          <a:p>
            <a:pPr indent="0" marL="0">
              <a:spcAft>
                <a:spcPts val="400"/>
              </a:spcAft>
              <a:buNone/>
            </a:pPr>
            <a:r>
              <a:rPr lang="en-US" sz="1400" dirty="0">
                <a:solidFill>
                  <a:srgbClr val="0B1220"/>
                </a:solidFill>
                <a:latin typeface="Courier New" pitchFamily="34" charset="0"/>
                <a:ea typeface="Courier New" pitchFamily="34" charset="-122"/>
                <a:cs typeface="Courier New" pitchFamily="34" charset="-120"/>
              </a:rPr>
              <a:t>concurrencia = pedidos/s × duración</a:t>
            </a:r>
            <a:endParaRPr lang="en-US" sz="1500" dirty="0"/>
          </a:p>
          <a:p>
            <a:pPr indent="0" marL="0">
              <a:spcAft>
                <a:spcPts val="400"/>
              </a:spcAft>
              <a:buNone/>
            </a:pPr>
            <a:r>
              <a:rPr lang="en-US" sz="1400" dirty="0">
                <a:solidFill>
                  <a:srgbClr val="334155"/>
                </a:solidFill>
                <a:latin typeface="Courier New" pitchFamily="34" charset="0"/>
                <a:ea typeface="Courier New" pitchFamily="34" charset="-122"/>
                <a:cs typeface="Courier New" pitchFamily="34" charset="-120"/>
              </a:rPr>
              <a:t>100/s × 0,2 s = 20 entornos</a:t>
            </a:r>
            <a:endParaRPr lang="en-US" sz="1500" dirty="0"/>
          </a:p>
          <a:p>
            <a:pPr indent="0" marL="0">
              <a:spcAft>
                <a:spcPts val="400"/>
              </a:spcAft>
              <a:buNone/>
            </a:pPr>
            <a:r>
              <a:rPr lang="en-US" sz="1400" dirty="0">
                <a:solidFill>
                  <a:srgbClr val="334155"/>
                </a:solidFill>
                <a:latin typeface="Courier New" pitchFamily="34" charset="0"/>
                <a:ea typeface="Courier New" pitchFamily="34" charset="-122"/>
                <a:cs typeface="Courier New" pitchFamily="34" charset="-120"/>
              </a:rPr>
              <a:t>100/s × 2 s  = 200 entornos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ph idx="100" type="body" hasCustomPrompt="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F766E"/>
                </a:solidFill>
              </a:rPr>
              <a:t>02 · CÓMO FUNCIONA</a:t>
            </a:r>
            <a:endParaRPr lang="en-US" sz="1200" dirty="0"/>
          </a:p>
        </p:txBody>
      </p:sp>
      <p:sp>
        <p:nvSpPr>
          <p:cNvPr id="4" name="Text 0"/>
          <p:cNvSpPr/>
          <p:nvPr>
            <p:ph idx="101" type="title" hasCustomPrompt="1"/>
          </p:nvPr>
        </p:nvSpPr>
        <p:spPr>
          <a:xfrm>
            <a:off x="548640" y="640080"/>
            <a:ext cx="11094415" cy="731520"/>
          </a:xfrm>
          <a:prstGeom prst="rect">
            <a:avLst/>
          </a:prstGeom>
          <a:noFill/>
          <a:ln/>
        </p:spPr>
        <p:txBody>
          <a:bodyPr wrap="square" lIns="0" tIns="0" rIns="0" bIns="0" rtlCol="0" anchor="ctr"/>
          <a:lstStyle/>
          <a:p>
            <a:pPr algn="l" indent="0" marL="0">
              <a:buNone/>
            </a:pPr>
            <a:r>
              <a:rPr lang="en-US" sz="3000" b="1" dirty="0">
                <a:solidFill>
                  <a:srgbClr val="0B1220"/>
                </a:solidFill>
                <a:latin typeface="Arial" pitchFamily="34" charset="0"/>
                <a:ea typeface="Arial" pitchFamily="34" charset="-122"/>
                <a:cs typeface="Arial" pitchFamily="34" charset="-120"/>
              </a:rPr>
              <a:t>Cold start: el precio de escalar a cero</a:t>
            </a:r>
            <a:endParaRPr lang="en-US" sz="3000" dirty="0"/>
          </a:p>
        </p:txBody>
      </p:sp>
      <p:sp>
        <p:nvSpPr>
          <p:cNvPr id="5" name="Shape 2"/>
          <p:cNvSpPr/>
          <p:nvPr/>
        </p:nvSpPr>
        <p:spPr>
          <a:xfrm>
            <a:off x="2834640" y="1691640"/>
            <a:ext cx="914" cy="3291840"/>
          </a:xfrm>
          <a:prstGeom prst="line">
            <a:avLst/>
          </a:prstGeom>
          <a:noFill/>
          <a:ln w="9525">
            <a:solidFill>
              <a:srgbClr val="CBD5E1"/>
            </a:solidFill>
            <a:prstDash val="solid"/>
          </a:ln>
        </p:spPr>
      </p:sp>
      <p:sp>
        <p:nvSpPr>
          <p:cNvPr id="6" name="Text 3"/>
          <p:cNvSpPr txBox="1"/>
          <p:nvPr/>
        </p:nvSpPr>
        <p:spPr>
          <a:xfrm>
            <a:off x="2560320" y="5029200"/>
            <a:ext cx="548640" cy="274320"/>
          </a:xfrm>
          <a:prstGeom prst="rect">
            <a:avLst/>
          </a:prstGeom>
          <a:noFill/>
          <a:ln/>
        </p:spPr>
        <p:txBody>
          <a:bodyPr wrap="square" lIns="0" tIns="0" rIns="0" bIns="0" rtlCol="0" anchor="t"/>
          <a:lstStyle/>
          <a:p>
            <a:pPr algn="ctr" indent="0" marL="0">
              <a:buNone/>
            </a:pPr>
            <a:r>
              <a:rPr lang="en-US" sz="1100" dirty="0">
                <a:solidFill>
                  <a:srgbClr val="64748B"/>
                </a:solidFill>
              </a:rPr>
              <a:t>0</a:t>
            </a:r>
            <a:endParaRPr lang="en-US" sz="1100" dirty="0"/>
          </a:p>
        </p:txBody>
      </p:sp>
      <p:sp>
        <p:nvSpPr>
          <p:cNvPr id="7" name="Shape 4"/>
          <p:cNvSpPr/>
          <p:nvPr/>
        </p:nvSpPr>
        <p:spPr>
          <a:xfrm>
            <a:off x="3675888" y="1691640"/>
            <a:ext cx="914" cy="3291840"/>
          </a:xfrm>
          <a:prstGeom prst="line">
            <a:avLst/>
          </a:prstGeom>
          <a:noFill/>
          <a:ln w="9525">
            <a:solidFill>
              <a:srgbClr val="CBD5E1"/>
            </a:solidFill>
            <a:prstDash val="solid"/>
          </a:ln>
        </p:spPr>
      </p:sp>
      <p:sp>
        <p:nvSpPr>
          <p:cNvPr id="8" name="Text 5"/>
          <p:cNvSpPr txBox="1"/>
          <p:nvPr/>
        </p:nvSpPr>
        <p:spPr>
          <a:xfrm>
            <a:off x="3401568" y="5029200"/>
            <a:ext cx="548640" cy="274320"/>
          </a:xfrm>
          <a:prstGeom prst="rect">
            <a:avLst/>
          </a:prstGeom>
          <a:noFill/>
          <a:ln/>
        </p:spPr>
        <p:txBody>
          <a:bodyPr wrap="square" lIns="0" tIns="0" rIns="0" bIns="0" rtlCol="0" anchor="t"/>
          <a:lstStyle/>
          <a:p>
            <a:pPr algn="ctr" indent="0" marL="0">
              <a:buNone/>
            </a:pPr>
            <a:r>
              <a:rPr lang="en-US" sz="1100" dirty="0">
                <a:solidFill>
                  <a:srgbClr val="64748B"/>
                </a:solidFill>
              </a:rPr>
              <a:t>100</a:t>
            </a:r>
            <a:endParaRPr lang="en-US" sz="1100" dirty="0"/>
          </a:p>
        </p:txBody>
      </p:sp>
      <p:sp>
        <p:nvSpPr>
          <p:cNvPr id="9" name="Shape 6"/>
          <p:cNvSpPr/>
          <p:nvPr/>
        </p:nvSpPr>
        <p:spPr>
          <a:xfrm>
            <a:off x="4517136" y="1691640"/>
            <a:ext cx="914" cy="3291840"/>
          </a:xfrm>
          <a:prstGeom prst="line">
            <a:avLst/>
          </a:prstGeom>
          <a:noFill/>
          <a:ln w="9525">
            <a:solidFill>
              <a:srgbClr val="CBD5E1"/>
            </a:solidFill>
            <a:prstDash val="solid"/>
          </a:ln>
        </p:spPr>
      </p:sp>
      <p:sp>
        <p:nvSpPr>
          <p:cNvPr id="10" name="Text 7"/>
          <p:cNvSpPr txBox="1"/>
          <p:nvPr/>
        </p:nvSpPr>
        <p:spPr>
          <a:xfrm>
            <a:off x="4242816" y="5029200"/>
            <a:ext cx="548640" cy="274320"/>
          </a:xfrm>
          <a:prstGeom prst="rect">
            <a:avLst/>
          </a:prstGeom>
          <a:noFill/>
          <a:ln/>
        </p:spPr>
        <p:txBody>
          <a:bodyPr wrap="square" lIns="0" tIns="0" rIns="0" bIns="0" rtlCol="0" anchor="t"/>
          <a:lstStyle/>
          <a:p>
            <a:pPr algn="ctr" indent="0" marL="0">
              <a:buNone/>
            </a:pPr>
            <a:r>
              <a:rPr lang="en-US" sz="1100" dirty="0">
                <a:solidFill>
                  <a:srgbClr val="64748B"/>
                </a:solidFill>
              </a:rPr>
              <a:t>200</a:t>
            </a:r>
            <a:endParaRPr lang="en-US" sz="1100" dirty="0"/>
          </a:p>
        </p:txBody>
      </p:sp>
      <p:sp>
        <p:nvSpPr>
          <p:cNvPr id="11" name="Shape 8"/>
          <p:cNvSpPr/>
          <p:nvPr/>
        </p:nvSpPr>
        <p:spPr>
          <a:xfrm>
            <a:off x="5358384" y="1691640"/>
            <a:ext cx="914" cy="3291840"/>
          </a:xfrm>
          <a:prstGeom prst="line">
            <a:avLst/>
          </a:prstGeom>
          <a:noFill/>
          <a:ln w="9525">
            <a:solidFill>
              <a:srgbClr val="CBD5E1"/>
            </a:solidFill>
            <a:prstDash val="solid"/>
          </a:ln>
        </p:spPr>
      </p:sp>
      <p:sp>
        <p:nvSpPr>
          <p:cNvPr id="12" name="Text 9"/>
          <p:cNvSpPr txBox="1"/>
          <p:nvPr/>
        </p:nvSpPr>
        <p:spPr>
          <a:xfrm>
            <a:off x="5084064" y="5029200"/>
            <a:ext cx="548640" cy="274320"/>
          </a:xfrm>
          <a:prstGeom prst="rect">
            <a:avLst/>
          </a:prstGeom>
          <a:noFill/>
          <a:ln/>
        </p:spPr>
        <p:txBody>
          <a:bodyPr wrap="square" lIns="0" tIns="0" rIns="0" bIns="0" rtlCol="0" anchor="t"/>
          <a:lstStyle/>
          <a:p>
            <a:pPr algn="ctr" indent="0" marL="0">
              <a:buNone/>
            </a:pPr>
            <a:r>
              <a:rPr lang="en-US" sz="1100" dirty="0">
                <a:solidFill>
                  <a:srgbClr val="64748B"/>
                </a:solidFill>
              </a:rPr>
              <a:t>300</a:t>
            </a:r>
            <a:endParaRPr lang="en-US" sz="1100" dirty="0"/>
          </a:p>
        </p:txBody>
      </p:sp>
      <p:sp>
        <p:nvSpPr>
          <p:cNvPr id="13" name="Shape 10"/>
          <p:cNvSpPr/>
          <p:nvPr/>
        </p:nvSpPr>
        <p:spPr>
          <a:xfrm>
            <a:off x="6199632" y="1691640"/>
            <a:ext cx="914" cy="3291840"/>
          </a:xfrm>
          <a:prstGeom prst="line">
            <a:avLst/>
          </a:prstGeom>
          <a:noFill/>
          <a:ln w="9525">
            <a:solidFill>
              <a:srgbClr val="CBD5E1"/>
            </a:solidFill>
            <a:prstDash val="solid"/>
          </a:ln>
        </p:spPr>
      </p:sp>
      <p:sp>
        <p:nvSpPr>
          <p:cNvPr id="14" name="Text 11"/>
          <p:cNvSpPr txBox="1"/>
          <p:nvPr/>
        </p:nvSpPr>
        <p:spPr>
          <a:xfrm>
            <a:off x="5925312" y="5029200"/>
            <a:ext cx="548640" cy="274320"/>
          </a:xfrm>
          <a:prstGeom prst="rect">
            <a:avLst/>
          </a:prstGeom>
          <a:noFill/>
          <a:ln/>
        </p:spPr>
        <p:txBody>
          <a:bodyPr wrap="square" lIns="0" tIns="0" rIns="0" bIns="0" rtlCol="0" anchor="t"/>
          <a:lstStyle/>
          <a:p>
            <a:pPr algn="ctr" indent="0" marL="0">
              <a:buNone/>
            </a:pPr>
            <a:r>
              <a:rPr lang="en-US" sz="1100" dirty="0">
                <a:solidFill>
                  <a:srgbClr val="64748B"/>
                </a:solidFill>
              </a:rPr>
              <a:t>400</a:t>
            </a:r>
            <a:endParaRPr lang="en-US" sz="1100" dirty="0"/>
          </a:p>
        </p:txBody>
      </p:sp>
      <p:sp>
        <p:nvSpPr>
          <p:cNvPr id="15" name="Shape 12"/>
          <p:cNvSpPr/>
          <p:nvPr/>
        </p:nvSpPr>
        <p:spPr>
          <a:xfrm>
            <a:off x="7040880" y="1691640"/>
            <a:ext cx="914" cy="3291840"/>
          </a:xfrm>
          <a:prstGeom prst="line">
            <a:avLst/>
          </a:prstGeom>
          <a:noFill/>
          <a:ln w="9525">
            <a:solidFill>
              <a:srgbClr val="CBD5E1"/>
            </a:solidFill>
            <a:prstDash val="solid"/>
          </a:ln>
        </p:spPr>
      </p:sp>
      <p:sp>
        <p:nvSpPr>
          <p:cNvPr id="16" name="Text 13"/>
          <p:cNvSpPr txBox="1"/>
          <p:nvPr/>
        </p:nvSpPr>
        <p:spPr>
          <a:xfrm>
            <a:off x="6766560" y="5029200"/>
            <a:ext cx="548640" cy="274320"/>
          </a:xfrm>
          <a:prstGeom prst="rect">
            <a:avLst/>
          </a:prstGeom>
          <a:noFill/>
          <a:ln/>
        </p:spPr>
        <p:txBody>
          <a:bodyPr wrap="square" lIns="0" tIns="0" rIns="0" bIns="0" rtlCol="0" anchor="t"/>
          <a:lstStyle/>
          <a:p>
            <a:pPr algn="ctr" indent="0" marL="0">
              <a:buNone/>
            </a:pPr>
            <a:r>
              <a:rPr lang="en-US" sz="1100" dirty="0">
                <a:solidFill>
                  <a:srgbClr val="64748B"/>
                </a:solidFill>
              </a:rPr>
              <a:t>500</a:t>
            </a:r>
            <a:endParaRPr lang="en-US" sz="1100" dirty="0"/>
          </a:p>
        </p:txBody>
      </p:sp>
      <p:sp>
        <p:nvSpPr>
          <p:cNvPr id="17" name="Text 14"/>
          <p:cNvSpPr txBox="1"/>
          <p:nvPr/>
        </p:nvSpPr>
        <p:spPr>
          <a:xfrm>
            <a:off x="2834640" y="5303520"/>
            <a:ext cx="4206240" cy="274320"/>
          </a:xfrm>
          <a:prstGeom prst="rect">
            <a:avLst/>
          </a:prstGeom>
          <a:noFill/>
          <a:ln/>
        </p:spPr>
        <p:txBody>
          <a:bodyPr wrap="square" lIns="0" tIns="0" rIns="0" bIns="0" rtlCol="0" anchor="t"/>
          <a:lstStyle/>
          <a:p>
            <a:pPr algn="ctr" indent="0" marL="0">
              <a:buNone/>
            </a:pPr>
            <a:r>
              <a:rPr lang="en-US" sz="1100" dirty="0">
                <a:solidFill>
                  <a:srgbClr val="64748B"/>
                </a:solidFill>
              </a:rPr>
              <a:t>milisegundos</a:t>
            </a:r>
            <a:endParaRPr lang="en-US" sz="1100" dirty="0"/>
          </a:p>
        </p:txBody>
      </p:sp>
      <p:sp>
        <p:nvSpPr>
          <p:cNvPr id="18" name="Text 15"/>
          <p:cNvSpPr txBox="1"/>
          <p:nvPr/>
        </p:nvSpPr>
        <p:spPr>
          <a:xfrm>
            <a:off x="548640" y="1783080"/>
            <a:ext cx="2148840" cy="411480"/>
          </a:xfrm>
          <a:prstGeom prst="rect">
            <a:avLst/>
          </a:prstGeom>
          <a:noFill/>
          <a:ln/>
        </p:spPr>
        <p:txBody>
          <a:bodyPr wrap="square" lIns="0" tIns="0" rIns="0" bIns="0" rtlCol="0" anchor="ctr"/>
          <a:lstStyle/>
          <a:p>
            <a:pPr algn="r" indent="0" marL="0">
              <a:buNone/>
            </a:pPr>
            <a:r>
              <a:rPr lang="en-US" sz="1400" dirty="0">
                <a:solidFill>
                  <a:srgbClr val="0B1220"/>
                </a:solidFill>
              </a:rPr>
              <a:t>Go / Rust</a:t>
            </a:r>
            <a:endParaRPr lang="en-US" sz="1400" dirty="0"/>
          </a:p>
        </p:txBody>
      </p:sp>
      <p:sp>
        <p:nvSpPr>
          <p:cNvPr id="19" name="rango"/>
          <p:cNvSpPr/>
          <p:nvPr/>
        </p:nvSpPr>
        <p:spPr>
          <a:xfrm>
            <a:off x="2918765" y="1847088"/>
            <a:ext cx="757123" cy="292608"/>
          </a:xfrm>
          <a:prstGeom prst="roundRect">
            <a:avLst>
              <a:gd name="adj" fmla="val 15625"/>
            </a:avLst>
          </a:prstGeom>
          <a:solidFill>
            <a:srgbClr val="F59E0B"/>
          </a:solidFill>
          <a:ln/>
        </p:spPr>
      </p:sp>
      <p:sp>
        <p:nvSpPr>
          <p:cNvPr id="20" name="Text 17"/>
          <p:cNvSpPr txBox="1"/>
          <p:nvPr/>
        </p:nvSpPr>
        <p:spPr>
          <a:xfrm>
            <a:off x="3767328" y="1783080"/>
            <a:ext cx="1188720" cy="411480"/>
          </a:xfrm>
          <a:prstGeom prst="rect">
            <a:avLst/>
          </a:prstGeom>
          <a:noFill/>
          <a:ln/>
        </p:spPr>
        <p:txBody>
          <a:bodyPr wrap="square" lIns="0" tIns="0" rIns="0" bIns="0" rtlCol="0" anchor="ctr"/>
          <a:lstStyle/>
          <a:p>
            <a:pPr indent="0" marL="0">
              <a:buNone/>
            </a:pPr>
            <a:r>
              <a:rPr lang="en-US" sz="1300" b="1" dirty="0">
                <a:solidFill>
                  <a:srgbClr val="334155"/>
                </a:solidFill>
              </a:rPr>
              <a:t>&lt; 100 ms</a:t>
            </a:r>
            <a:endParaRPr lang="en-US" sz="1300" dirty="0"/>
          </a:p>
        </p:txBody>
      </p:sp>
      <p:sp>
        <p:nvSpPr>
          <p:cNvPr id="21" name="Text 18"/>
          <p:cNvSpPr txBox="1"/>
          <p:nvPr/>
        </p:nvSpPr>
        <p:spPr>
          <a:xfrm>
            <a:off x="548640" y="2441448"/>
            <a:ext cx="2148840" cy="411480"/>
          </a:xfrm>
          <a:prstGeom prst="rect">
            <a:avLst/>
          </a:prstGeom>
          <a:noFill/>
          <a:ln/>
        </p:spPr>
        <p:txBody>
          <a:bodyPr wrap="square" lIns="0" tIns="0" rIns="0" bIns="0" rtlCol="0" anchor="ctr"/>
          <a:lstStyle/>
          <a:p>
            <a:pPr algn="r" indent="0" marL="0">
              <a:buNone/>
            </a:pPr>
            <a:r>
              <a:rPr lang="en-US" sz="1400" dirty="0">
                <a:solidFill>
                  <a:srgbClr val="0B1220"/>
                </a:solidFill>
              </a:rPr>
              <a:t>Java + SnapStart</a:t>
            </a:r>
            <a:endParaRPr lang="en-US" sz="1400" dirty="0"/>
          </a:p>
        </p:txBody>
      </p:sp>
      <p:sp>
        <p:nvSpPr>
          <p:cNvPr id="22" name="rango"/>
          <p:cNvSpPr/>
          <p:nvPr/>
        </p:nvSpPr>
        <p:spPr>
          <a:xfrm>
            <a:off x="3591763" y="2505456"/>
            <a:ext cx="420624" cy="292608"/>
          </a:xfrm>
          <a:prstGeom prst="roundRect">
            <a:avLst>
              <a:gd name="adj" fmla="val 15625"/>
            </a:avLst>
          </a:prstGeom>
          <a:solidFill>
            <a:srgbClr val="F59E0B"/>
          </a:solidFill>
          <a:ln/>
        </p:spPr>
      </p:sp>
      <p:sp>
        <p:nvSpPr>
          <p:cNvPr id="23" name="Text 20"/>
          <p:cNvSpPr txBox="1"/>
          <p:nvPr/>
        </p:nvSpPr>
        <p:spPr>
          <a:xfrm>
            <a:off x="4103827" y="2441448"/>
            <a:ext cx="1188720" cy="411480"/>
          </a:xfrm>
          <a:prstGeom prst="rect">
            <a:avLst/>
          </a:prstGeom>
          <a:noFill/>
          <a:ln/>
        </p:spPr>
        <p:txBody>
          <a:bodyPr wrap="square" lIns="0" tIns="0" rIns="0" bIns="0" rtlCol="0" anchor="ctr"/>
          <a:lstStyle/>
          <a:p>
            <a:pPr indent="0" marL="0">
              <a:buNone/>
            </a:pPr>
            <a:r>
              <a:rPr lang="en-US" sz="1300" b="1" dirty="0">
                <a:solidFill>
                  <a:srgbClr val="334155"/>
                </a:solidFill>
              </a:rPr>
              <a:t>90–140 ms</a:t>
            </a:r>
            <a:endParaRPr lang="en-US" sz="1300" dirty="0"/>
          </a:p>
        </p:txBody>
      </p:sp>
      <p:sp>
        <p:nvSpPr>
          <p:cNvPr id="24" name="Text 21"/>
          <p:cNvSpPr txBox="1"/>
          <p:nvPr/>
        </p:nvSpPr>
        <p:spPr>
          <a:xfrm>
            <a:off x="548640" y="3099816"/>
            <a:ext cx="2148840" cy="411480"/>
          </a:xfrm>
          <a:prstGeom prst="rect">
            <a:avLst/>
          </a:prstGeom>
          <a:noFill/>
          <a:ln/>
        </p:spPr>
        <p:txBody>
          <a:bodyPr wrap="square" lIns="0" tIns="0" rIns="0" bIns="0" rtlCol="0" anchor="ctr"/>
          <a:lstStyle/>
          <a:p>
            <a:pPr algn="r" indent="0" marL="0">
              <a:buNone/>
            </a:pPr>
            <a:r>
              <a:rPr lang="en-US" sz="1400" dirty="0">
                <a:solidFill>
                  <a:srgbClr val="0B1220"/>
                </a:solidFill>
              </a:rPr>
              <a:t>Python</a:t>
            </a:r>
            <a:endParaRPr lang="en-US" sz="1400" dirty="0"/>
          </a:p>
        </p:txBody>
      </p:sp>
      <p:sp>
        <p:nvSpPr>
          <p:cNvPr id="25" name="rango"/>
          <p:cNvSpPr/>
          <p:nvPr/>
        </p:nvSpPr>
        <p:spPr>
          <a:xfrm>
            <a:off x="4517136" y="3163824"/>
            <a:ext cx="1682496" cy="292608"/>
          </a:xfrm>
          <a:prstGeom prst="roundRect">
            <a:avLst>
              <a:gd name="adj" fmla="val 15625"/>
            </a:avLst>
          </a:prstGeom>
          <a:solidFill>
            <a:srgbClr val="F59E0B"/>
          </a:solidFill>
          <a:ln/>
        </p:spPr>
      </p:sp>
      <p:sp>
        <p:nvSpPr>
          <p:cNvPr id="26" name="Text 23"/>
          <p:cNvSpPr txBox="1"/>
          <p:nvPr/>
        </p:nvSpPr>
        <p:spPr>
          <a:xfrm>
            <a:off x="6291072" y="3099816"/>
            <a:ext cx="1188720" cy="411480"/>
          </a:xfrm>
          <a:prstGeom prst="rect">
            <a:avLst/>
          </a:prstGeom>
          <a:noFill/>
          <a:ln/>
        </p:spPr>
        <p:txBody>
          <a:bodyPr wrap="square" lIns="0" tIns="0" rIns="0" bIns="0" rtlCol="0" anchor="ctr"/>
          <a:lstStyle/>
          <a:p>
            <a:pPr indent="0" marL="0">
              <a:buNone/>
            </a:pPr>
            <a:r>
              <a:rPr lang="en-US" sz="1300" b="1" dirty="0">
                <a:solidFill>
                  <a:srgbClr val="334155"/>
                </a:solidFill>
              </a:rPr>
              <a:t>200–400 ms</a:t>
            </a:r>
            <a:endParaRPr lang="en-US" sz="1300" dirty="0"/>
          </a:p>
        </p:txBody>
      </p:sp>
      <p:sp>
        <p:nvSpPr>
          <p:cNvPr id="27" name="Text 24"/>
          <p:cNvSpPr txBox="1"/>
          <p:nvPr/>
        </p:nvSpPr>
        <p:spPr>
          <a:xfrm>
            <a:off x="548640" y="3758184"/>
            <a:ext cx="2148840" cy="411480"/>
          </a:xfrm>
          <a:prstGeom prst="rect">
            <a:avLst/>
          </a:prstGeom>
          <a:noFill/>
          <a:ln/>
        </p:spPr>
        <p:txBody>
          <a:bodyPr wrap="square" lIns="0" tIns="0" rIns="0" bIns="0" rtlCol="0" anchor="ctr"/>
          <a:lstStyle/>
          <a:p>
            <a:pPr algn="r" indent="0" marL="0">
              <a:buNone/>
            </a:pPr>
            <a:r>
              <a:rPr lang="en-US" sz="1400" dirty="0">
                <a:solidFill>
                  <a:srgbClr val="0B1220"/>
                </a:solidFill>
              </a:rPr>
              <a:t>Java sin SnapStart</a:t>
            </a:r>
            <a:endParaRPr lang="en-US" sz="1400" dirty="0"/>
          </a:p>
        </p:txBody>
      </p:sp>
      <p:sp>
        <p:nvSpPr>
          <p:cNvPr id="28" name="rango"/>
          <p:cNvSpPr/>
          <p:nvPr/>
        </p:nvSpPr>
        <p:spPr>
          <a:xfrm>
            <a:off x="5358384" y="3822192"/>
            <a:ext cx="1682496" cy="292608"/>
          </a:xfrm>
          <a:prstGeom prst="roundRect">
            <a:avLst>
              <a:gd name="adj" fmla="val 15625"/>
            </a:avLst>
          </a:prstGeom>
          <a:solidFill>
            <a:srgbClr val="F59E0B"/>
          </a:solidFill>
          <a:ln/>
        </p:spPr>
      </p:sp>
      <p:sp>
        <p:nvSpPr>
          <p:cNvPr id="29" name="Shape 26"/>
          <p:cNvSpPr/>
          <p:nvPr/>
        </p:nvSpPr>
        <p:spPr>
          <a:xfrm>
            <a:off x="7040880" y="3968496"/>
            <a:ext cx="320040" cy="914"/>
          </a:xfrm>
          <a:prstGeom prst="line">
            <a:avLst/>
          </a:prstGeom>
          <a:noFill/>
          <a:ln w="25400">
            <a:solidFill>
              <a:srgbClr val="F59E0B"/>
            </a:solidFill>
            <a:prstDash val="solid"/>
            <a:tailEnd type="triangle"/>
          </a:ln>
        </p:spPr>
      </p:sp>
      <p:sp>
        <p:nvSpPr>
          <p:cNvPr id="30" name="Text 27"/>
          <p:cNvSpPr txBox="1"/>
          <p:nvPr/>
        </p:nvSpPr>
        <p:spPr>
          <a:xfrm>
            <a:off x="7424928" y="3758184"/>
            <a:ext cx="1188720" cy="411480"/>
          </a:xfrm>
          <a:prstGeom prst="rect">
            <a:avLst/>
          </a:prstGeom>
          <a:noFill/>
          <a:ln/>
        </p:spPr>
        <p:txBody>
          <a:bodyPr wrap="square" lIns="0" tIns="0" rIns="0" bIns="0" rtlCol="0" anchor="ctr"/>
          <a:lstStyle/>
          <a:p>
            <a:pPr indent="0" marL="0">
              <a:buNone/>
            </a:pPr>
            <a:r>
              <a:rPr lang="en-US" sz="1300" b="1" dirty="0">
                <a:solidFill>
                  <a:srgbClr val="334155"/>
                </a:solidFill>
              </a:rPr>
              <a:t>segundos</a:t>
            </a:r>
            <a:endParaRPr lang="en-US" sz="1300" dirty="0"/>
          </a:p>
        </p:txBody>
      </p:sp>
      <p:sp>
        <p:nvSpPr>
          <p:cNvPr id="31" name="Text 28"/>
          <p:cNvSpPr txBox="1"/>
          <p:nvPr/>
        </p:nvSpPr>
        <p:spPr>
          <a:xfrm>
            <a:off x="548640" y="4416552"/>
            <a:ext cx="2148840" cy="411480"/>
          </a:xfrm>
          <a:prstGeom prst="rect">
            <a:avLst/>
          </a:prstGeom>
          <a:noFill/>
          <a:ln/>
        </p:spPr>
        <p:txBody>
          <a:bodyPr wrap="square" lIns="0" tIns="0" rIns="0" bIns="0" rtlCol="0" anchor="ctr"/>
          <a:lstStyle/>
          <a:p>
            <a:pPr algn="r" indent="0" marL="0">
              <a:buNone/>
            </a:pPr>
            <a:r>
              <a:rPr lang="en-US" sz="1400" i="1" dirty="0">
                <a:solidFill>
                  <a:srgbClr val="64748B"/>
                </a:solidFill>
              </a:rPr>
              <a:t>Extra si está en VPC</a:t>
            </a:r>
            <a:endParaRPr lang="en-US" sz="1400" dirty="0"/>
          </a:p>
        </p:txBody>
      </p:sp>
      <p:sp>
        <p:nvSpPr>
          <p:cNvPr id="32" name="rango"/>
          <p:cNvSpPr/>
          <p:nvPr/>
        </p:nvSpPr>
        <p:spPr>
          <a:xfrm>
            <a:off x="4517136" y="4480560"/>
            <a:ext cx="2523744" cy="292608"/>
          </a:xfrm>
          <a:prstGeom prst="roundRect">
            <a:avLst>
              <a:gd name="adj" fmla="val 15625"/>
            </a:avLst>
          </a:prstGeom>
          <a:solidFill>
            <a:srgbClr val="64748B">
              <a:alpha val="60000"/>
            </a:srgbClr>
          </a:solidFill>
          <a:ln/>
        </p:spPr>
      </p:sp>
      <p:sp>
        <p:nvSpPr>
          <p:cNvPr id="33" name="Text 30"/>
          <p:cNvSpPr txBox="1"/>
          <p:nvPr/>
        </p:nvSpPr>
        <p:spPr>
          <a:xfrm>
            <a:off x="7132320" y="4416552"/>
            <a:ext cx="1188720" cy="411480"/>
          </a:xfrm>
          <a:prstGeom prst="rect">
            <a:avLst/>
          </a:prstGeom>
          <a:noFill/>
          <a:ln/>
        </p:spPr>
        <p:txBody>
          <a:bodyPr wrap="square" lIns="0" tIns="0" rIns="0" bIns="0" rtlCol="0" anchor="ctr"/>
          <a:lstStyle/>
          <a:p>
            <a:pPr indent="0" marL="0">
              <a:buNone/>
            </a:pPr>
            <a:r>
              <a:rPr lang="en-US" sz="1300" b="1" dirty="0">
                <a:solidFill>
                  <a:srgbClr val="334155"/>
                </a:solidFill>
              </a:rPr>
              <a:t>+200–500 ms</a:t>
            </a:r>
            <a:endParaRPr lang="en-US" sz="1300" dirty="0"/>
          </a:p>
        </p:txBody>
      </p:sp>
      <p:sp>
        <p:nvSpPr>
          <p:cNvPr id="34" name="Text 31"/>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000" i="1" dirty="0">
                <a:solidFill>
                  <a:srgbClr val="64748B"/>
                </a:solidFill>
              </a:rPr>
              <a:t>Órdenes de magnitud reportados en 2026 (fuentes secundarias), no mediciones propias.</a:t>
            </a:r>
            <a:endParaRPr lang="en-US" sz="1000" dirty="0"/>
          </a:p>
        </p:txBody>
      </p:sp>
      <p:sp>
        <p:nvSpPr>
          <p:cNvPr id="35" name="tarjeta"/>
          <p:cNvSpPr/>
          <p:nvPr/>
        </p:nvSpPr>
        <p:spPr>
          <a:xfrm>
            <a:off x="8092440" y="1600200"/>
            <a:ext cx="3550615" cy="4251960"/>
          </a:xfrm>
          <a:prstGeom prst="roundRect">
            <a:avLst>
              <a:gd name="adj" fmla="val 2575"/>
            </a:avLst>
          </a:prstGeom>
          <a:solidFill>
            <a:srgbClr val="F1F5F9"/>
          </a:solidFill>
          <a:ln/>
        </p:spPr>
      </p:sp>
      <p:sp>
        <p:nvSpPr>
          <p:cNvPr id="36" name="Text 33"/>
          <p:cNvSpPr txBox="1"/>
          <p:nvPr/>
        </p:nvSpPr>
        <p:spPr>
          <a:xfrm>
            <a:off x="8366760" y="1783080"/>
            <a:ext cx="3001975" cy="365760"/>
          </a:xfrm>
          <a:prstGeom prst="rect">
            <a:avLst/>
          </a:prstGeom>
          <a:noFill/>
          <a:ln/>
        </p:spPr>
        <p:txBody>
          <a:bodyPr wrap="square" lIns="0" tIns="0" rIns="0" bIns="0" rtlCol="0" anchor="t"/>
          <a:lstStyle/>
          <a:p>
            <a:pPr indent="0" marL="0">
              <a:buNone/>
            </a:pPr>
            <a:r>
              <a:rPr lang="en-US" sz="1700" b="1" dirty="0">
                <a:solidFill>
                  <a:srgbClr val="0B1220"/>
                </a:solidFill>
              </a:rPr>
              <a:t>Cómo se mitiga</a:t>
            </a:r>
            <a:endParaRPr lang="en-US" sz="1700" dirty="0"/>
          </a:p>
        </p:txBody>
      </p:sp>
      <p:sp>
        <p:nvSpPr>
          <p:cNvPr id="37" name="Text 34"/>
          <p:cNvSpPr txBox="1"/>
          <p:nvPr/>
        </p:nvSpPr>
        <p:spPr>
          <a:xfrm>
            <a:off x="8366760" y="2286000"/>
            <a:ext cx="3001975" cy="3383280"/>
          </a:xfrm>
          <a:prstGeom prst="rect">
            <a:avLst/>
          </a:prstGeom>
          <a:noFill/>
          <a:ln/>
        </p:spPr>
        <p:txBody>
          <a:bodyPr wrap="square" lIns="0" tIns="0" rIns="0" bIns="0" rtlCol="0" anchor="t"/>
          <a:lstStyle/>
          <a:p>
            <a:pPr indent="0" marL="0">
              <a:spcAft>
                <a:spcPts val="1200"/>
              </a:spcAft>
              <a:buNone/>
            </a:pPr>
            <a:r>
              <a:rPr lang="en-US" sz="1400" b="1" dirty="0">
                <a:solidFill>
                  <a:srgbClr val="0B1220"/>
                </a:solidFill>
              </a:rPr>
              <a:t>Provisioned Concurrency: </a:t>
            </a:r>
            <a:pPr indent="0" marL="0">
              <a:spcAft>
                <a:spcPts val="1200"/>
              </a:spcAft>
              <a:buNone/>
            </a:pPr>
            <a:r>
              <a:rPr lang="en-US" sz="1400" dirty="0">
                <a:solidFill>
                  <a:srgbClr val="334155"/>
                </a:solidFill>
              </a:rPr>
              <a:t>entornos precalentados, pero se pagan por hora.</a:t>
            </a:r>
            <a:endParaRPr lang="en-US" sz="1400" dirty="0"/>
          </a:p>
          <a:p>
            <a:pPr indent="0" marL="0">
              <a:spcAft>
                <a:spcPts val="1200"/>
              </a:spcAft>
              <a:buNone/>
            </a:pPr>
            <a:r>
              <a:rPr lang="en-US" sz="1400" b="1" dirty="0">
                <a:solidFill>
                  <a:srgbClr val="0B1220"/>
                </a:solidFill>
              </a:rPr>
              <a:t>SnapStart: </a:t>
            </a:r>
            <a:pPr indent="0" marL="0">
              <a:spcAft>
                <a:spcPts val="1200"/>
              </a:spcAft>
              <a:buNone/>
            </a:pPr>
            <a:r>
              <a:rPr lang="en-US" sz="1400" dirty="0">
                <a:solidFill>
                  <a:srgbClr val="334155"/>
                </a:solidFill>
              </a:rPr>
              <a:t>restaura una foto de un entorno ya inicializado.</a:t>
            </a:r>
            <a:endParaRPr lang="en-US" sz="1400" dirty="0"/>
          </a:p>
          <a:p>
            <a:pPr indent="0" marL="0">
              <a:spcAft>
                <a:spcPts val="1200"/>
              </a:spcAft>
              <a:buNone/>
            </a:pPr>
            <a:r>
              <a:rPr lang="en-US" sz="1400" b="1" dirty="0">
                <a:solidFill>
                  <a:srgbClr val="0B1220"/>
                </a:solidFill>
              </a:rPr>
              <a:t>Runtime compilado y paquete liviano: </a:t>
            </a:r>
            <a:pPr indent="0" marL="0">
              <a:spcAft>
                <a:spcPts val="1200"/>
              </a:spcAft>
              <a:buNone/>
            </a:pPr>
            <a:r>
              <a:rPr lang="en-US" sz="1400" dirty="0">
                <a:solidFill>
                  <a:srgbClr val="334155"/>
                </a:solidFill>
              </a:rPr>
              <a:t>menos que bajar y arrancar.</a:t>
            </a:r>
            <a:endParaRPr lang="en-US" sz="1400" dirty="0"/>
          </a:p>
          <a:p>
            <a:pPr indent="0" marL="0">
              <a:spcAft>
                <a:spcPts val="1200"/>
              </a:spcAft>
              <a:buNone/>
            </a:pPr>
            <a:r>
              <a:rPr lang="en-US" sz="1400" b="1" dirty="0">
                <a:solidFill>
                  <a:srgbClr val="0B1220"/>
                </a:solidFill>
              </a:rPr>
              <a:t>Isolates (Cloudflare): </a:t>
            </a:r>
            <a:pPr indent="0" marL="0">
              <a:spcAft>
                <a:spcPts val="1200"/>
              </a:spcAft>
              <a:buNone/>
            </a:pPr>
            <a:r>
              <a:rPr lang="en-US" sz="1400" dirty="0">
                <a:solidFill>
                  <a:srgbClr val="334155"/>
                </a:solidFill>
              </a:rPr>
              <a:t>evitan el problema de raíz.</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ph idx="100" type="body" hasCustomPrompt="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F766E"/>
                </a:solidFill>
              </a:rPr>
              <a:t>02 · CÓMO FUNCIONA</a:t>
            </a:r>
            <a:endParaRPr lang="en-US" sz="1200" dirty="0"/>
          </a:p>
        </p:txBody>
      </p:sp>
      <p:sp>
        <p:nvSpPr>
          <p:cNvPr id="4" name="Text 0"/>
          <p:cNvSpPr/>
          <p:nvPr>
            <p:ph idx="101" type="title" hasCustomPrompt="1"/>
          </p:nvPr>
        </p:nvSpPr>
        <p:spPr>
          <a:xfrm>
            <a:off x="548640" y="640080"/>
            <a:ext cx="11094415" cy="731520"/>
          </a:xfrm>
          <a:prstGeom prst="rect">
            <a:avLst/>
          </a:prstGeom>
          <a:noFill/>
          <a:ln/>
        </p:spPr>
        <p:txBody>
          <a:bodyPr wrap="square" lIns="0" tIns="0" rIns="0" bIns="0" rtlCol="0" anchor="ctr"/>
          <a:lstStyle/>
          <a:p>
            <a:pPr algn="l" indent="0" marL="0">
              <a:buNone/>
            </a:pPr>
            <a:r>
              <a:rPr lang="en-US" sz="3000" b="1" dirty="0">
                <a:solidFill>
                  <a:srgbClr val="0B1220"/>
                </a:solidFill>
                <a:latin typeface="Arial" pitchFamily="34" charset="0"/>
                <a:ea typeface="Arial" pitchFamily="34" charset="-122"/>
                <a:cs typeface="Arial" pitchFamily="34" charset="-120"/>
              </a:rPr>
              <a:t>Por dentro: aislar el código de miles de clientes</a:t>
            </a:r>
            <a:endParaRPr lang="en-US" sz="3000" dirty="0"/>
          </a:p>
        </p:txBody>
      </p:sp>
      <p:sp>
        <p:nvSpPr>
          <p:cNvPr id="5" name="Text 2"/>
          <p:cNvSpPr txBox="1"/>
          <p:nvPr/>
        </p:nvSpPr>
        <p:spPr>
          <a:xfrm>
            <a:off x="548640" y="1554480"/>
            <a:ext cx="5318608" cy="365760"/>
          </a:xfrm>
          <a:prstGeom prst="rect">
            <a:avLst/>
          </a:prstGeom>
          <a:noFill/>
          <a:ln/>
        </p:spPr>
        <p:txBody>
          <a:bodyPr wrap="square" lIns="0" tIns="0" rIns="0" bIns="0" rtlCol="0" anchor="t"/>
          <a:lstStyle/>
          <a:p>
            <a:pPr indent="0" marL="0">
              <a:buNone/>
            </a:pPr>
            <a:r>
              <a:rPr lang="en-US" sz="1800" b="1" dirty="0">
                <a:solidFill>
                  <a:srgbClr val="0B1220"/>
                </a:solidFill>
              </a:rPr>
              <a:t>AWS Lambda · </a:t>
            </a:r>
            <a:pPr indent="0" marL="0">
              <a:buNone/>
            </a:pPr>
            <a:r>
              <a:rPr lang="en-US" sz="1800" b="1" dirty="0">
                <a:solidFill>
                  <a:srgbClr val="0F766E"/>
                </a:solidFill>
              </a:rPr>
              <a:t>Firecracker microVM</a:t>
            </a:r>
            <a:endParaRPr lang="en-US" sz="1800" dirty="0"/>
          </a:p>
        </p:txBody>
      </p:sp>
      <p:sp>
        <p:nvSpPr>
          <p:cNvPr id="6" name="microvm"/>
          <p:cNvSpPr/>
          <p:nvPr/>
        </p:nvSpPr>
        <p:spPr>
          <a:xfrm>
            <a:off x="548640" y="2057400"/>
            <a:ext cx="1600200" cy="1417320"/>
          </a:xfrm>
          <a:prstGeom prst="roundRect">
            <a:avLst>
              <a:gd name="adj" fmla="val 5161"/>
            </a:avLst>
          </a:prstGeom>
          <a:solidFill>
            <a:srgbClr val="F1F5F9"/>
          </a:solidFill>
          <a:ln w="12700">
            <a:solidFill>
              <a:srgbClr val="CBD5E1"/>
            </a:solidFill>
            <a:prstDash val="solid"/>
          </a:ln>
        </p:spPr>
      </p:sp>
      <p:sp>
        <p:nvSpPr>
          <p:cNvPr id="7" name="Text 4"/>
          <p:cNvSpPr txBox="1"/>
          <p:nvPr/>
        </p:nvSpPr>
        <p:spPr>
          <a:xfrm>
            <a:off x="548640" y="2130552"/>
            <a:ext cx="1600200" cy="274320"/>
          </a:xfrm>
          <a:prstGeom prst="rect">
            <a:avLst/>
          </a:prstGeom>
          <a:noFill/>
          <a:ln/>
        </p:spPr>
        <p:txBody>
          <a:bodyPr wrap="square" lIns="0" tIns="0" rIns="0" bIns="0" rtlCol="0" anchor="t"/>
          <a:lstStyle/>
          <a:p>
            <a:pPr algn="ctr" indent="0" marL="0">
              <a:buNone/>
            </a:pPr>
            <a:r>
              <a:rPr lang="en-US" sz="1100" dirty="0">
                <a:solidFill>
                  <a:srgbClr val="64748B"/>
                </a:solidFill>
              </a:rPr>
              <a:t>microVM</a:t>
            </a:r>
            <a:endParaRPr lang="en-US" sz="1100" dirty="0"/>
          </a:p>
        </p:txBody>
      </p:sp>
      <p:sp>
        <p:nvSpPr>
          <p:cNvPr id="8" name="funcion"/>
          <p:cNvSpPr/>
          <p:nvPr/>
        </p:nvSpPr>
        <p:spPr>
          <a:xfrm>
            <a:off x="777240" y="2468880"/>
            <a:ext cx="1143000" cy="457200"/>
          </a:xfrm>
          <a:prstGeom prst="roundRect">
            <a:avLst>
              <a:gd name="adj" fmla="val 12000"/>
            </a:avLst>
          </a:prstGeom>
          <a:solidFill>
            <a:srgbClr val="F59E0B"/>
          </a:solidFill>
          <a:ln/>
        </p:spPr>
      </p:sp>
      <p:sp>
        <p:nvSpPr>
          <p:cNvPr id="9" name="Text 6"/>
          <p:cNvSpPr txBox="1"/>
          <p:nvPr/>
        </p:nvSpPr>
        <p:spPr>
          <a:xfrm>
            <a:off x="777240" y="2468880"/>
            <a:ext cx="1143000" cy="457200"/>
          </a:xfrm>
          <a:prstGeom prst="rect">
            <a:avLst/>
          </a:prstGeom>
          <a:noFill/>
          <a:ln/>
        </p:spPr>
        <p:txBody>
          <a:bodyPr wrap="square" lIns="0" tIns="0" rIns="0" bIns="0" rtlCol="0" anchor="ctr"/>
          <a:lstStyle/>
          <a:p>
            <a:pPr algn="ctr" indent="0" marL="0">
              <a:buNone/>
            </a:pPr>
            <a:r>
              <a:rPr lang="en-US" sz="1200" b="1" dirty="0">
                <a:solidFill>
                  <a:srgbClr val="0B1220"/>
                </a:solidFill>
              </a:rPr>
              <a:t>función</a:t>
            </a:r>
            <a:endParaRPr lang="en-US" sz="1200" dirty="0"/>
          </a:p>
        </p:txBody>
      </p:sp>
      <p:sp>
        <p:nvSpPr>
          <p:cNvPr id="10" name="Text 7"/>
          <p:cNvSpPr txBox="1"/>
          <p:nvPr/>
        </p:nvSpPr>
        <p:spPr>
          <a:xfrm>
            <a:off x="548640" y="3044952"/>
            <a:ext cx="1600200" cy="274320"/>
          </a:xfrm>
          <a:prstGeom prst="rect">
            <a:avLst/>
          </a:prstGeom>
          <a:noFill/>
          <a:ln/>
        </p:spPr>
        <p:txBody>
          <a:bodyPr wrap="square" lIns="0" tIns="0" rIns="0" bIns="0" rtlCol="0" anchor="t"/>
          <a:lstStyle/>
          <a:p>
            <a:pPr algn="ctr" indent="0" marL="0">
              <a:buNone/>
            </a:pPr>
            <a:r>
              <a:rPr lang="en-US" sz="1100" dirty="0">
                <a:solidFill>
                  <a:srgbClr val="334155"/>
                </a:solidFill>
              </a:rPr>
              <a:t>kernel invitado</a:t>
            </a:r>
            <a:endParaRPr lang="en-US" sz="1100" dirty="0"/>
          </a:p>
        </p:txBody>
      </p:sp>
      <p:sp>
        <p:nvSpPr>
          <p:cNvPr id="11" name="microvm"/>
          <p:cNvSpPr/>
          <p:nvPr/>
        </p:nvSpPr>
        <p:spPr>
          <a:xfrm>
            <a:off x="2331720" y="2057400"/>
            <a:ext cx="1600200" cy="1417320"/>
          </a:xfrm>
          <a:prstGeom prst="roundRect">
            <a:avLst>
              <a:gd name="adj" fmla="val 5161"/>
            </a:avLst>
          </a:prstGeom>
          <a:solidFill>
            <a:srgbClr val="F1F5F9"/>
          </a:solidFill>
          <a:ln w="12700">
            <a:solidFill>
              <a:srgbClr val="CBD5E1"/>
            </a:solidFill>
            <a:prstDash val="solid"/>
          </a:ln>
        </p:spPr>
      </p:sp>
      <p:sp>
        <p:nvSpPr>
          <p:cNvPr id="12" name="Text 9"/>
          <p:cNvSpPr txBox="1"/>
          <p:nvPr/>
        </p:nvSpPr>
        <p:spPr>
          <a:xfrm>
            <a:off x="2331720" y="2130552"/>
            <a:ext cx="1600200" cy="274320"/>
          </a:xfrm>
          <a:prstGeom prst="rect">
            <a:avLst/>
          </a:prstGeom>
          <a:noFill/>
          <a:ln/>
        </p:spPr>
        <p:txBody>
          <a:bodyPr wrap="square" lIns="0" tIns="0" rIns="0" bIns="0" rtlCol="0" anchor="t"/>
          <a:lstStyle/>
          <a:p>
            <a:pPr algn="ctr" indent="0" marL="0">
              <a:buNone/>
            </a:pPr>
            <a:r>
              <a:rPr lang="en-US" sz="1100" dirty="0">
                <a:solidFill>
                  <a:srgbClr val="64748B"/>
                </a:solidFill>
              </a:rPr>
              <a:t>microVM</a:t>
            </a:r>
            <a:endParaRPr lang="en-US" sz="1100" dirty="0"/>
          </a:p>
        </p:txBody>
      </p:sp>
      <p:sp>
        <p:nvSpPr>
          <p:cNvPr id="13" name="funcion"/>
          <p:cNvSpPr/>
          <p:nvPr/>
        </p:nvSpPr>
        <p:spPr>
          <a:xfrm>
            <a:off x="2560320" y="2468880"/>
            <a:ext cx="1143000" cy="457200"/>
          </a:xfrm>
          <a:prstGeom prst="roundRect">
            <a:avLst>
              <a:gd name="adj" fmla="val 12000"/>
            </a:avLst>
          </a:prstGeom>
          <a:solidFill>
            <a:srgbClr val="F59E0B"/>
          </a:solidFill>
          <a:ln/>
        </p:spPr>
      </p:sp>
      <p:sp>
        <p:nvSpPr>
          <p:cNvPr id="14" name="Text 11"/>
          <p:cNvSpPr txBox="1"/>
          <p:nvPr/>
        </p:nvSpPr>
        <p:spPr>
          <a:xfrm>
            <a:off x="2560320" y="2468880"/>
            <a:ext cx="1143000" cy="457200"/>
          </a:xfrm>
          <a:prstGeom prst="rect">
            <a:avLst/>
          </a:prstGeom>
          <a:noFill/>
          <a:ln/>
        </p:spPr>
        <p:txBody>
          <a:bodyPr wrap="square" lIns="0" tIns="0" rIns="0" bIns="0" rtlCol="0" anchor="ctr"/>
          <a:lstStyle/>
          <a:p>
            <a:pPr algn="ctr" indent="0" marL="0">
              <a:buNone/>
            </a:pPr>
            <a:r>
              <a:rPr lang="en-US" sz="1200" b="1" dirty="0">
                <a:solidFill>
                  <a:srgbClr val="0B1220"/>
                </a:solidFill>
              </a:rPr>
              <a:t>función</a:t>
            </a:r>
            <a:endParaRPr lang="en-US" sz="1200" dirty="0"/>
          </a:p>
        </p:txBody>
      </p:sp>
      <p:sp>
        <p:nvSpPr>
          <p:cNvPr id="15" name="Text 12"/>
          <p:cNvSpPr txBox="1"/>
          <p:nvPr/>
        </p:nvSpPr>
        <p:spPr>
          <a:xfrm>
            <a:off x="2331720" y="3044952"/>
            <a:ext cx="1600200" cy="274320"/>
          </a:xfrm>
          <a:prstGeom prst="rect">
            <a:avLst/>
          </a:prstGeom>
          <a:noFill/>
          <a:ln/>
        </p:spPr>
        <p:txBody>
          <a:bodyPr wrap="square" lIns="0" tIns="0" rIns="0" bIns="0" rtlCol="0" anchor="t"/>
          <a:lstStyle/>
          <a:p>
            <a:pPr algn="ctr" indent="0" marL="0">
              <a:buNone/>
            </a:pPr>
            <a:r>
              <a:rPr lang="en-US" sz="1100" dirty="0">
                <a:solidFill>
                  <a:srgbClr val="334155"/>
                </a:solidFill>
              </a:rPr>
              <a:t>kernel invitado</a:t>
            </a:r>
            <a:endParaRPr lang="en-US" sz="1100" dirty="0"/>
          </a:p>
        </p:txBody>
      </p:sp>
      <p:sp>
        <p:nvSpPr>
          <p:cNvPr id="16" name="microvm"/>
          <p:cNvSpPr/>
          <p:nvPr/>
        </p:nvSpPr>
        <p:spPr>
          <a:xfrm>
            <a:off x="4114800" y="2057400"/>
            <a:ext cx="1600200" cy="1417320"/>
          </a:xfrm>
          <a:prstGeom prst="roundRect">
            <a:avLst>
              <a:gd name="adj" fmla="val 5161"/>
            </a:avLst>
          </a:prstGeom>
          <a:solidFill>
            <a:srgbClr val="F1F5F9"/>
          </a:solidFill>
          <a:ln w="12700">
            <a:solidFill>
              <a:srgbClr val="CBD5E1"/>
            </a:solidFill>
            <a:prstDash val="solid"/>
          </a:ln>
        </p:spPr>
      </p:sp>
      <p:sp>
        <p:nvSpPr>
          <p:cNvPr id="17" name="Text 14"/>
          <p:cNvSpPr txBox="1"/>
          <p:nvPr/>
        </p:nvSpPr>
        <p:spPr>
          <a:xfrm>
            <a:off x="4114800" y="2130552"/>
            <a:ext cx="1600200" cy="274320"/>
          </a:xfrm>
          <a:prstGeom prst="rect">
            <a:avLst/>
          </a:prstGeom>
          <a:noFill/>
          <a:ln/>
        </p:spPr>
        <p:txBody>
          <a:bodyPr wrap="square" lIns="0" tIns="0" rIns="0" bIns="0" rtlCol="0" anchor="t"/>
          <a:lstStyle/>
          <a:p>
            <a:pPr algn="ctr" indent="0" marL="0">
              <a:buNone/>
            </a:pPr>
            <a:r>
              <a:rPr lang="en-US" sz="1100" dirty="0">
                <a:solidFill>
                  <a:srgbClr val="64748B"/>
                </a:solidFill>
              </a:rPr>
              <a:t>microVM</a:t>
            </a:r>
            <a:endParaRPr lang="en-US" sz="1100" dirty="0"/>
          </a:p>
        </p:txBody>
      </p:sp>
      <p:sp>
        <p:nvSpPr>
          <p:cNvPr id="18" name="funcion"/>
          <p:cNvSpPr/>
          <p:nvPr/>
        </p:nvSpPr>
        <p:spPr>
          <a:xfrm>
            <a:off x="4343400" y="2468880"/>
            <a:ext cx="1143000" cy="457200"/>
          </a:xfrm>
          <a:prstGeom prst="roundRect">
            <a:avLst>
              <a:gd name="adj" fmla="val 12000"/>
            </a:avLst>
          </a:prstGeom>
          <a:solidFill>
            <a:srgbClr val="F59E0B"/>
          </a:solidFill>
          <a:ln/>
        </p:spPr>
      </p:sp>
      <p:sp>
        <p:nvSpPr>
          <p:cNvPr id="19" name="Text 16"/>
          <p:cNvSpPr txBox="1"/>
          <p:nvPr/>
        </p:nvSpPr>
        <p:spPr>
          <a:xfrm>
            <a:off x="4343400" y="2468880"/>
            <a:ext cx="1143000" cy="457200"/>
          </a:xfrm>
          <a:prstGeom prst="rect">
            <a:avLst/>
          </a:prstGeom>
          <a:noFill/>
          <a:ln/>
        </p:spPr>
        <p:txBody>
          <a:bodyPr wrap="square" lIns="0" tIns="0" rIns="0" bIns="0" rtlCol="0" anchor="ctr"/>
          <a:lstStyle/>
          <a:p>
            <a:pPr algn="ctr" indent="0" marL="0">
              <a:buNone/>
            </a:pPr>
            <a:r>
              <a:rPr lang="en-US" sz="1200" b="1" dirty="0">
                <a:solidFill>
                  <a:srgbClr val="0B1220"/>
                </a:solidFill>
              </a:rPr>
              <a:t>función</a:t>
            </a:r>
            <a:endParaRPr lang="en-US" sz="1200" dirty="0"/>
          </a:p>
        </p:txBody>
      </p:sp>
      <p:sp>
        <p:nvSpPr>
          <p:cNvPr id="20" name="Text 17"/>
          <p:cNvSpPr txBox="1"/>
          <p:nvPr/>
        </p:nvSpPr>
        <p:spPr>
          <a:xfrm>
            <a:off x="4114800" y="3044952"/>
            <a:ext cx="1600200" cy="274320"/>
          </a:xfrm>
          <a:prstGeom prst="rect">
            <a:avLst/>
          </a:prstGeom>
          <a:noFill/>
          <a:ln/>
        </p:spPr>
        <p:txBody>
          <a:bodyPr wrap="square" lIns="0" tIns="0" rIns="0" bIns="0" rtlCol="0" anchor="t"/>
          <a:lstStyle/>
          <a:p>
            <a:pPr algn="ctr" indent="0" marL="0">
              <a:buNone/>
            </a:pPr>
            <a:r>
              <a:rPr lang="en-US" sz="1100" dirty="0">
                <a:solidFill>
                  <a:srgbClr val="334155"/>
                </a:solidFill>
              </a:rPr>
              <a:t>kernel invitado</a:t>
            </a:r>
            <a:endParaRPr lang="en-US" sz="1100" dirty="0"/>
          </a:p>
        </p:txBody>
      </p:sp>
      <p:sp>
        <p:nvSpPr>
          <p:cNvPr id="21" name="Text 18"/>
          <p:cNvSpPr txBox="1"/>
          <p:nvPr/>
        </p:nvSpPr>
        <p:spPr>
          <a:xfrm>
            <a:off x="548640" y="3703320"/>
            <a:ext cx="2560320" cy="548640"/>
          </a:xfrm>
          <a:prstGeom prst="rect">
            <a:avLst/>
          </a:prstGeom>
          <a:noFill/>
          <a:ln/>
        </p:spPr>
        <p:txBody>
          <a:bodyPr wrap="square" lIns="0" tIns="0" rIns="0" bIns="0" rtlCol="0" anchor="t"/>
          <a:lstStyle/>
          <a:p>
            <a:pPr indent="0" marL="0">
              <a:buNone/>
            </a:pPr>
            <a:r>
              <a:rPr lang="en-US" sz="3200" b="1" dirty="0">
                <a:solidFill>
                  <a:srgbClr val="0F766E"/>
                </a:solidFill>
                <a:latin typeface="Arial" pitchFamily="34" charset="0"/>
                <a:ea typeface="Arial" pitchFamily="34" charset="-122"/>
                <a:cs typeface="Arial" pitchFamily="34" charset="-120"/>
              </a:rPr>
              <a:t>&lt; 125 ms</a:t>
            </a:r>
            <a:endParaRPr lang="en-US" sz="3200" dirty="0"/>
          </a:p>
        </p:txBody>
      </p:sp>
      <p:sp>
        <p:nvSpPr>
          <p:cNvPr id="22" name="Text 19"/>
          <p:cNvSpPr txBox="1"/>
          <p:nvPr/>
        </p:nvSpPr>
        <p:spPr>
          <a:xfrm>
            <a:off x="548640" y="4251960"/>
            <a:ext cx="2560320" cy="320040"/>
          </a:xfrm>
          <a:prstGeom prst="rect">
            <a:avLst/>
          </a:prstGeom>
          <a:noFill/>
          <a:ln/>
        </p:spPr>
        <p:txBody>
          <a:bodyPr wrap="square" lIns="0" tIns="0" rIns="0" bIns="0" rtlCol="0" anchor="t"/>
          <a:lstStyle/>
          <a:p>
            <a:pPr indent="0" marL="0">
              <a:buNone/>
            </a:pPr>
            <a:r>
              <a:rPr lang="en-US" sz="1300" dirty="0">
                <a:solidFill>
                  <a:srgbClr val="334155"/>
                </a:solidFill>
              </a:rPr>
              <a:t>en arrancar una microVM</a:t>
            </a:r>
            <a:endParaRPr lang="en-US" sz="1300" dirty="0"/>
          </a:p>
        </p:txBody>
      </p:sp>
      <p:sp>
        <p:nvSpPr>
          <p:cNvPr id="23" name="Text 20"/>
          <p:cNvSpPr txBox="1"/>
          <p:nvPr/>
        </p:nvSpPr>
        <p:spPr>
          <a:xfrm>
            <a:off x="3200400" y="3703320"/>
            <a:ext cx="2560320" cy="548640"/>
          </a:xfrm>
          <a:prstGeom prst="rect">
            <a:avLst/>
          </a:prstGeom>
          <a:noFill/>
          <a:ln/>
        </p:spPr>
        <p:txBody>
          <a:bodyPr wrap="square" lIns="0" tIns="0" rIns="0" bIns="0" rtlCol="0" anchor="t"/>
          <a:lstStyle/>
          <a:p>
            <a:pPr indent="0" marL="0">
              <a:buNone/>
            </a:pPr>
            <a:r>
              <a:rPr lang="en-US" sz="3200" b="1" dirty="0">
                <a:solidFill>
                  <a:srgbClr val="0F766E"/>
                </a:solidFill>
                <a:latin typeface="Arial" pitchFamily="34" charset="0"/>
                <a:ea typeface="Arial" pitchFamily="34" charset="-122"/>
                <a:cs typeface="Arial" pitchFamily="34" charset="-120"/>
              </a:rPr>
              <a:t>~5 MiB</a:t>
            </a:r>
            <a:endParaRPr lang="en-US" sz="3200" dirty="0"/>
          </a:p>
        </p:txBody>
      </p:sp>
      <p:sp>
        <p:nvSpPr>
          <p:cNvPr id="24" name="Text 21"/>
          <p:cNvSpPr txBox="1"/>
          <p:nvPr/>
        </p:nvSpPr>
        <p:spPr>
          <a:xfrm>
            <a:off x="3200400" y="4251960"/>
            <a:ext cx="2560320" cy="320040"/>
          </a:xfrm>
          <a:prstGeom prst="rect">
            <a:avLst/>
          </a:prstGeom>
          <a:noFill/>
          <a:ln/>
        </p:spPr>
        <p:txBody>
          <a:bodyPr wrap="square" lIns="0" tIns="0" rIns="0" bIns="0" rtlCol="0" anchor="t"/>
          <a:lstStyle/>
          <a:p>
            <a:pPr indent="0" marL="0">
              <a:buNone/>
            </a:pPr>
            <a:r>
              <a:rPr lang="en-US" sz="1300" dirty="0">
                <a:solidFill>
                  <a:srgbClr val="334155"/>
                </a:solidFill>
              </a:rPr>
              <a:t>de memoria extra por microVM</a:t>
            </a:r>
            <a:endParaRPr lang="en-US" sz="1300" dirty="0"/>
          </a:p>
        </p:txBody>
      </p:sp>
      <p:sp>
        <p:nvSpPr>
          <p:cNvPr id="25" name="Text 22"/>
          <p:cNvSpPr txBox="1"/>
          <p:nvPr/>
        </p:nvSpPr>
        <p:spPr>
          <a:xfrm>
            <a:off x="548640" y="4800600"/>
            <a:ext cx="5318608" cy="365760"/>
          </a:xfrm>
          <a:prstGeom prst="rect">
            <a:avLst/>
          </a:prstGeom>
          <a:noFill/>
          <a:ln/>
        </p:spPr>
        <p:txBody>
          <a:bodyPr wrap="square" lIns="0" tIns="0" rIns="0" bIns="0" rtlCol="0" anchor="t"/>
          <a:lstStyle/>
          <a:p>
            <a:pPr indent="0" marL="0">
              <a:buNone/>
            </a:pPr>
            <a:r>
              <a:rPr lang="en-US" sz="1400" dirty="0">
                <a:solidFill>
                  <a:srgbClr val="0B1220"/>
                </a:solidFill>
              </a:rPr>
              <a:t>Aislamiento por hardware (KVM) · corre cualquier binario</a:t>
            </a:r>
            <a:endParaRPr lang="en-US" sz="1400" dirty="0"/>
          </a:p>
        </p:txBody>
      </p:sp>
      <p:sp>
        <p:nvSpPr>
          <p:cNvPr id="26" name="Text 23"/>
          <p:cNvSpPr txBox="1"/>
          <p:nvPr/>
        </p:nvSpPr>
        <p:spPr>
          <a:xfrm>
            <a:off x="6324448" y="1554480"/>
            <a:ext cx="5318608" cy="365760"/>
          </a:xfrm>
          <a:prstGeom prst="rect">
            <a:avLst/>
          </a:prstGeom>
          <a:noFill/>
          <a:ln/>
        </p:spPr>
        <p:txBody>
          <a:bodyPr wrap="square" lIns="0" tIns="0" rIns="0" bIns="0" rtlCol="0" anchor="t"/>
          <a:lstStyle/>
          <a:p>
            <a:pPr indent="0" marL="0">
              <a:buNone/>
            </a:pPr>
            <a:r>
              <a:rPr lang="en-US" sz="1800" b="1" dirty="0">
                <a:solidFill>
                  <a:srgbClr val="0B1220"/>
                </a:solidFill>
              </a:rPr>
              <a:t>Cloudflare Workers · </a:t>
            </a:r>
            <a:pPr indent="0" marL="0">
              <a:buNone/>
            </a:pPr>
            <a:r>
              <a:rPr lang="en-US" sz="1800" b="1" dirty="0">
                <a:solidFill>
                  <a:srgbClr val="0F766E"/>
                </a:solidFill>
              </a:rPr>
              <a:t>isolates de V8</a:t>
            </a:r>
            <a:endParaRPr lang="en-US" sz="1800" dirty="0"/>
          </a:p>
        </p:txBody>
      </p:sp>
      <p:sp>
        <p:nvSpPr>
          <p:cNvPr id="27" name="procesoV8"/>
          <p:cNvSpPr/>
          <p:nvPr/>
        </p:nvSpPr>
        <p:spPr>
          <a:xfrm>
            <a:off x="6324448" y="2057400"/>
            <a:ext cx="5318608" cy="1417320"/>
          </a:xfrm>
          <a:prstGeom prst="roundRect">
            <a:avLst>
              <a:gd name="adj" fmla="val 5161"/>
            </a:avLst>
          </a:prstGeom>
          <a:solidFill>
            <a:srgbClr val="F1F5F9"/>
          </a:solidFill>
          <a:ln w="12700">
            <a:solidFill>
              <a:srgbClr val="CBD5E1"/>
            </a:solidFill>
            <a:prstDash val="solid"/>
          </a:ln>
        </p:spPr>
      </p:sp>
      <p:sp>
        <p:nvSpPr>
          <p:cNvPr id="28" name="Text 25"/>
          <p:cNvSpPr txBox="1"/>
          <p:nvPr/>
        </p:nvSpPr>
        <p:spPr>
          <a:xfrm>
            <a:off x="6324448" y="2130552"/>
            <a:ext cx="5318608" cy="274320"/>
          </a:xfrm>
          <a:prstGeom prst="rect">
            <a:avLst/>
          </a:prstGeom>
          <a:noFill/>
          <a:ln/>
        </p:spPr>
        <p:txBody>
          <a:bodyPr wrap="square" lIns="0" tIns="0" rIns="0" bIns="0" rtlCol="0" anchor="t"/>
          <a:lstStyle/>
          <a:p>
            <a:pPr algn="ctr" indent="0" marL="0">
              <a:buNone/>
            </a:pPr>
            <a:r>
              <a:rPr lang="en-US" sz="1100" dirty="0">
                <a:solidFill>
                  <a:srgbClr val="64748B"/>
                </a:solidFill>
              </a:rPr>
              <a:t>un solo proceso del motor V8</a:t>
            </a:r>
            <a:endParaRPr lang="en-US" sz="1100" dirty="0"/>
          </a:p>
        </p:txBody>
      </p:sp>
      <p:sp>
        <p:nvSpPr>
          <p:cNvPr id="29" name="isolate"/>
          <p:cNvSpPr/>
          <p:nvPr/>
        </p:nvSpPr>
        <p:spPr>
          <a:xfrm>
            <a:off x="6553048" y="2514600"/>
            <a:ext cx="566928" cy="457200"/>
          </a:xfrm>
          <a:prstGeom prst="roundRect">
            <a:avLst>
              <a:gd name="adj" fmla="val 12000"/>
            </a:avLst>
          </a:prstGeom>
          <a:solidFill>
            <a:srgbClr val="F59E0B"/>
          </a:solidFill>
          <a:ln/>
        </p:spPr>
      </p:sp>
      <p:sp>
        <p:nvSpPr>
          <p:cNvPr id="30" name="Text 27"/>
          <p:cNvSpPr txBox="1"/>
          <p:nvPr/>
        </p:nvSpPr>
        <p:spPr>
          <a:xfrm>
            <a:off x="6553048" y="2514600"/>
            <a:ext cx="566928" cy="457200"/>
          </a:xfrm>
          <a:prstGeom prst="rect">
            <a:avLst/>
          </a:prstGeom>
          <a:noFill/>
          <a:ln/>
        </p:spPr>
        <p:txBody>
          <a:bodyPr wrap="square" lIns="0" tIns="0" rIns="0" bIns="0" rtlCol="0" anchor="ctr"/>
          <a:lstStyle/>
          <a:p>
            <a:pPr algn="ctr" indent="0" marL="0">
              <a:buNone/>
            </a:pPr>
            <a:r>
              <a:rPr lang="en-US" sz="1200" b="1" dirty="0">
                <a:solidFill>
                  <a:srgbClr val="0B1220"/>
                </a:solidFill>
              </a:rPr>
              <a:t>f1</a:t>
            </a:r>
            <a:endParaRPr lang="en-US" sz="1200" dirty="0"/>
          </a:p>
        </p:txBody>
      </p:sp>
      <p:sp>
        <p:nvSpPr>
          <p:cNvPr id="31" name="isolate"/>
          <p:cNvSpPr/>
          <p:nvPr/>
        </p:nvSpPr>
        <p:spPr>
          <a:xfrm>
            <a:off x="7268794" y="2514600"/>
            <a:ext cx="566928" cy="457200"/>
          </a:xfrm>
          <a:prstGeom prst="roundRect">
            <a:avLst>
              <a:gd name="adj" fmla="val 12000"/>
            </a:avLst>
          </a:prstGeom>
          <a:solidFill>
            <a:srgbClr val="F59E0B"/>
          </a:solidFill>
          <a:ln/>
        </p:spPr>
      </p:sp>
      <p:sp>
        <p:nvSpPr>
          <p:cNvPr id="32" name="Text 29"/>
          <p:cNvSpPr txBox="1"/>
          <p:nvPr/>
        </p:nvSpPr>
        <p:spPr>
          <a:xfrm>
            <a:off x="7268794" y="2514600"/>
            <a:ext cx="566928" cy="457200"/>
          </a:xfrm>
          <a:prstGeom prst="rect">
            <a:avLst/>
          </a:prstGeom>
          <a:noFill/>
          <a:ln/>
        </p:spPr>
        <p:txBody>
          <a:bodyPr wrap="square" lIns="0" tIns="0" rIns="0" bIns="0" rtlCol="0" anchor="ctr"/>
          <a:lstStyle/>
          <a:p>
            <a:pPr algn="ctr" indent="0" marL="0">
              <a:buNone/>
            </a:pPr>
            <a:r>
              <a:rPr lang="en-US" sz="1200" b="1" dirty="0">
                <a:solidFill>
                  <a:srgbClr val="0B1220"/>
                </a:solidFill>
              </a:rPr>
              <a:t>f2</a:t>
            </a:r>
            <a:endParaRPr lang="en-US" sz="1200" dirty="0"/>
          </a:p>
        </p:txBody>
      </p:sp>
      <p:sp>
        <p:nvSpPr>
          <p:cNvPr id="33" name="isolate"/>
          <p:cNvSpPr/>
          <p:nvPr/>
        </p:nvSpPr>
        <p:spPr>
          <a:xfrm>
            <a:off x="7984541" y="2514600"/>
            <a:ext cx="566928" cy="457200"/>
          </a:xfrm>
          <a:prstGeom prst="roundRect">
            <a:avLst>
              <a:gd name="adj" fmla="val 12000"/>
            </a:avLst>
          </a:prstGeom>
          <a:solidFill>
            <a:srgbClr val="F59E0B"/>
          </a:solidFill>
          <a:ln/>
        </p:spPr>
      </p:sp>
      <p:sp>
        <p:nvSpPr>
          <p:cNvPr id="34" name="Text 31"/>
          <p:cNvSpPr txBox="1"/>
          <p:nvPr/>
        </p:nvSpPr>
        <p:spPr>
          <a:xfrm>
            <a:off x="7984541" y="2514600"/>
            <a:ext cx="566928" cy="457200"/>
          </a:xfrm>
          <a:prstGeom prst="rect">
            <a:avLst/>
          </a:prstGeom>
          <a:noFill/>
          <a:ln/>
        </p:spPr>
        <p:txBody>
          <a:bodyPr wrap="square" lIns="0" tIns="0" rIns="0" bIns="0" rtlCol="0" anchor="ctr"/>
          <a:lstStyle/>
          <a:p>
            <a:pPr algn="ctr" indent="0" marL="0">
              <a:buNone/>
            </a:pPr>
            <a:r>
              <a:rPr lang="en-US" sz="1200" b="1" dirty="0">
                <a:solidFill>
                  <a:srgbClr val="0B1220"/>
                </a:solidFill>
              </a:rPr>
              <a:t>f3</a:t>
            </a:r>
            <a:endParaRPr lang="en-US" sz="1200" dirty="0"/>
          </a:p>
        </p:txBody>
      </p:sp>
      <p:sp>
        <p:nvSpPr>
          <p:cNvPr id="35" name="isolate"/>
          <p:cNvSpPr/>
          <p:nvPr/>
        </p:nvSpPr>
        <p:spPr>
          <a:xfrm>
            <a:off x="8700287" y="2514600"/>
            <a:ext cx="566928" cy="457200"/>
          </a:xfrm>
          <a:prstGeom prst="roundRect">
            <a:avLst>
              <a:gd name="adj" fmla="val 12000"/>
            </a:avLst>
          </a:prstGeom>
          <a:solidFill>
            <a:srgbClr val="F59E0B"/>
          </a:solidFill>
          <a:ln/>
        </p:spPr>
      </p:sp>
      <p:sp>
        <p:nvSpPr>
          <p:cNvPr id="36" name="Text 33"/>
          <p:cNvSpPr txBox="1"/>
          <p:nvPr/>
        </p:nvSpPr>
        <p:spPr>
          <a:xfrm>
            <a:off x="8700287" y="2514600"/>
            <a:ext cx="566928" cy="457200"/>
          </a:xfrm>
          <a:prstGeom prst="rect">
            <a:avLst/>
          </a:prstGeom>
          <a:noFill/>
          <a:ln/>
        </p:spPr>
        <p:txBody>
          <a:bodyPr wrap="square" lIns="0" tIns="0" rIns="0" bIns="0" rtlCol="0" anchor="ctr"/>
          <a:lstStyle/>
          <a:p>
            <a:pPr algn="ctr" indent="0" marL="0">
              <a:buNone/>
            </a:pPr>
            <a:r>
              <a:rPr lang="en-US" sz="1200" b="1" dirty="0">
                <a:solidFill>
                  <a:srgbClr val="0B1220"/>
                </a:solidFill>
              </a:rPr>
              <a:t>f4</a:t>
            </a:r>
            <a:endParaRPr lang="en-US" sz="1200" dirty="0"/>
          </a:p>
        </p:txBody>
      </p:sp>
      <p:sp>
        <p:nvSpPr>
          <p:cNvPr id="37" name="isolate"/>
          <p:cNvSpPr/>
          <p:nvPr/>
        </p:nvSpPr>
        <p:spPr>
          <a:xfrm>
            <a:off x="9416034" y="2514600"/>
            <a:ext cx="566928" cy="457200"/>
          </a:xfrm>
          <a:prstGeom prst="roundRect">
            <a:avLst>
              <a:gd name="adj" fmla="val 12000"/>
            </a:avLst>
          </a:prstGeom>
          <a:solidFill>
            <a:srgbClr val="F59E0B"/>
          </a:solidFill>
          <a:ln/>
        </p:spPr>
      </p:sp>
      <p:sp>
        <p:nvSpPr>
          <p:cNvPr id="38" name="Text 35"/>
          <p:cNvSpPr txBox="1"/>
          <p:nvPr/>
        </p:nvSpPr>
        <p:spPr>
          <a:xfrm>
            <a:off x="9416034" y="2514600"/>
            <a:ext cx="566928" cy="457200"/>
          </a:xfrm>
          <a:prstGeom prst="rect">
            <a:avLst/>
          </a:prstGeom>
          <a:noFill/>
          <a:ln/>
        </p:spPr>
        <p:txBody>
          <a:bodyPr wrap="square" lIns="0" tIns="0" rIns="0" bIns="0" rtlCol="0" anchor="ctr"/>
          <a:lstStyle/>
          <a:p>
            <a:pPr algn="ctr" indent="0" marL="0">
              <a:buNone/>
            </a:pPr>
            <a:r>
              <a:rPr lang="en-US" sz="1200" b="1" dirty="0">
                <a:solidFill>
                  <a:srgbClr val="0B1220"/>
                </a:solidFill>
              </a:rPr>
              <a:t>f5</a:t>
            </a:r>
            <a:endParaRPr lang="en-US" sz="1200" dirty="0"/>
          </a:p>
        </p:txBody>
      </p:sp>
      <p:sp>
        <p:nvSpPr>
          <p:cNvPr id="39" name="isolate"/>
          <p:cNvSpPr/>
          <p:nvPr/>
        </p:nvSpPr>
        <p:spPr>
          <a:xfrm>
            <a:off x="10131781" y="2514600"/>
            <a:ext cx="566928" cy="457200"/>
          </a:xfrm>
          <a:prstGeom prst="roundRect">
            <a:avLst>
              <a:gd name="adj" fmla="val 12000"/>
            </a:avLst>
          </a:prstGeom>
          <a:solidFill>
            <a:srgbClr val="F59E0B"/>
          </a:solidFill>
          <a:ln/>
        </p:spPr>
      </p:sp>
      <p:sp>
        <p:nvSpPr>
          <p:cNvPr id="40" name="Text 37"/>
          <p:cNvSpPr txBox="1"/>
          <p:nvPr/>
        </p:nvSpPr>
        <p:spPr>
          <a:xfrm>
            <a:off x="10131781" y="2514600"/>
            <a:ext cx="566928" cy="457200"/>
          </a:xfrm>
          <a:prstGeom prst="rect">
            <a:avLst/>
          </a:prstGeom>
          <a:noFill/>
          <a:ln/>
        </p:spPr>
        <p:txBody>
          <a:bodyPr wrap="square" lIns="0" tIns="0" rIns="0" bIns="0" rtlCol="0" anchor="ctr"/>
          <a:lstStyle/>
          <a:p>
            <a:pPr algn="ctr" indent="0" marL="0">
              <a:buNone/>
            </a:pPr>
            <a:r>
              <a:rPr lang="en-US" sz="1200" b="1" dirty="0">
                <a:solidFill>
                  <a:srgbClr val="0B1220"/>
                </a:solidFill>
              </a:rPr>
              <a:t>f6</a:t>
            </a:r>
            <a:endParaRPr lang="en-US" sz="1200" dirty="0"/>
          </a:p>
        </p:txBody>
      </p:sp>
      <p:sp>
        <p:nvSpPr>
          <p:cNvPr id="41" name="isolate"/>
          <p:cNvSpPr/>
          <p:nvPr/>
        </p:nvSpPr>
        <p:spPr>
          <a:xfrm>
            <a:off x="10847527" y="2514600"/>
            <a:ext cx="566928" cy="457200"/>
          </a:xfrm>
          <a:prstGeom prst="roundRect">
            <a:avLst>
              <a:gd name="adj" fmla="val 12000"/>
            </a:avLst>
          </a:prstGeom>
          <a:solidFill>
            <a:srgbClr val="F59E0B"/>
          </a:solidFill>
          <a:ln/>
        </p:spPr>
      </p:sp>
      <p:sp>
        <p:nvSpPr>
          <p:cNvPr id="42" name="Text 39"/>
          <p:cNvSpPr txBox="1"/>
          <p:nvPr/>
        </p:nvSpPr>
        <p:spPr>
          <a:xfrm>
            <a:off x="10847527" y="2514600"/>
            <a:ext cx="566928" cy="457200"/>
          </a:xfrm>
          <a:prstGeom prst="rect">
            <a:avLst/>
          </a:prstGeom>
          <a:noFill/>
          <a:ln/>
        </p:spPr>
        <p:txBody>
          <a:bodyPr wrap="square" lIns="0" tIns="0" rIns="0" bIns="0" rtlCol="0" anchor="ctr"/>
          <a:lstStyle/>
          <a:p>
            <a:pPr algn="ctr" indent="0" marL="0">
              <a:buNone/>
            </a:pPr>
            <a:r>
              <a:rPr lang="en-US" sz="1200" b="1" dirty="0">
                <a:solidFill>
                  <a:srgbClr val="0B1220"/>
                </a:solidFill>
              </a:rPr>
              <a:t>f7</a:t>
            </a:r>
            <a:endParaRPr lang="en-US" sz="1200" dirty="0"/>
          </a:p>
        </p:txBody>
      </p:sp>
      <p:sp>
        <p:nvSpPr>
          <p:cNvPr id="43" name="Text 40"/>
          <p:cNvSpPr txBox="1"/>
          <p:nvPr/>
        </p:nvSpPr>
        <p:spPr>
          <a:xfrm>
            <a:off x="6324448" y="3044952"/>
            <a:ext cx="5318608" cy="274320"/>
          </a:xfrm>
          <a:prstGeom prst="rect">
            <a:avLst/>
          </a:prstGeom>
          <a:noFill/>
          <a:ln/>
        </p:spPr>
        <p:txBody>
          <a:bodyPr wrap="square" lIns="0" tIns="0" rIns="0" bIns="0" rtlCol="0" anchor="t"/>
          <a:lstStyle/>
          <a:p>
            <a:pPr algn="ctr" indent="0" marL="0">
              <a:buNone/>
            </a:pPr>
            <a:r>
              <a:rPr lang="en-US" sz="1100" dirty="0">
                <a:solidFill>
                  <a:srgbClr val="334155"/>
                </a:solidFill>
              </a:rPr>
              <a:t>miles de isolates por proceso</a:t>
            </a:r>
            <a:endParaRPr lang="en-US" sz="1100" dirty="0"/>
          </a:p>
        </p:txBody>
      </p:sp>
      <p:sp>
        <p:nvSpPr>
          <p:cNvPr id="44" name="Text 41"/>
          <p:cNvSpPr txBox="1"/>
          <p:nvPr/>
        </p:nvSpPr>
        <p:spPr>
          <a:xfrm>
            <a:off x="6324448" y="3703320"/>
            <a:ext cx="2560320" cy="548640"/>
          </a:xfrm>
          <a:prstGeom prst="rect">
            <a:avLst/>
          </a:prstGeom>
          <a:noFill/>
          <a:ln/>
        </p:spPr>
        <p:txBody>
          <a:bodyPr wrap="square" lIns="0" tIns="0" rIns="0" bIns="0" rtlCol="0" anchor="t"/>
          <a:lstStyle/>
          <a:p>
            <a:pPr indent="0" marL="0">
              <a:buNone/>
            </a:pPr>
            <a:r>
              <a:rPr lang="en-US" sz="3200" b="1" dirty="0">
                <a:solidFill>
                  <a:srgbClr val="0F766E"/>
                </a:solidFill>
                <a:latin typeface="Arial" pitchFamily="34" charset="0"/>
                <a:ea typeface="Arial" pitchFamily="34" charset="-122"/>
                <a:cs typeface="Arial" pitchFamily="34" charset="-120"/>
              </a:rPr>
              <a:t>~100×</a:t>
            </a:r>
            <a:endParaRPr lang="en-US" sz="3200" dirty="0"/>
          </a:p>
        </p:txBody>
      </p:sp>
      <p:sp>
        <p:nvSpPr>
          <p:cNvPr id="45" name="Text 42"/>
          <p:cNvSpPr txBox="1"/>
          <p:nvPr/>
        </p:nvSpPr>
        <p:spPr>
          <a:xfrm>
            <a:off x="6324448" y="4251960"/>
            <a:ext cx="2560320" cy="320040"/>
          </a:xfrm>
          <a:prstGeom prst="rect">
            <a:avLst/>
          </a:prstGeom>
          <a:noFill/>
          <a:ln/>
        </p:spPr>
        <p:txBody>
          <a:bodyPr wrap="square" lIns="0" tIns="0" rIns="0" bIns="0" rtlCol="0" anchor="t"/>
          <a:lstStyle/>
          <a:p>
            <a:pPr indent="0" marL="0">
              <a:buNone/>
            </a:pPr>
            <a:r>
              <a:rPr lang="en-US" sz="1300" dirty="0">
                <a:solidFill>
                  <a:srgbClr val="334155"/>
                </a:solidFill>
              </a:rPr>
              <a:t>más rápido que un proceso Node</a:t>
            </a:r>
            <a:endParaRPr lang="en-US" sz="1300" dirty="0"/>
          </a:p>
        </p:txBody>
      </p:sp>
      <p:sp>
        <p:nvSpPr>
          <p:cNvPr id="46" name="Text 43"/>
          <p:cNvSpPr txBox="1"/>
          <p:nvPr/>
        </p:nvSpPr>
        <p:spPr>
          <a:xfrm>
            <a:off x="8976208" y="3703320"/>
            <a:ext cx="2560320" cy="548640"/>
          </a:xfrm>
          <a:prstGeom prst="rect">
            <a:avLst/>
          </a:prstGeom>
          <a:noFill/>
          <a:ln/>
        </p:spPr>
        <p:txBody>
          <a:bodyPr wrap="square" lIns="0" tIns="0" rIns="0" bIns="0" rtlCol="0" anchor="t"/>
          <a:lstStyle/>
          <a:p>
            <a:pPr indent="0" marL="0">
              <a:buNone/>
            </a:pPr>
            <a:r>
              <a:rPr lang="en-US" sz="3200" b="1" dirty="0">
                <a:solidFill>
                  <a:srgbClr val="0F766E"/>
                </a:solidFill>
                <a:latin typeface="Arial" pitchFamily="34" charset="0"/>
                <a:ea typeface="Arial" pitchFamily="34" charset="-122"/>
                <a:cs typeface="Arial" pitchFamily="34" charset="-120"/>
              </a:rPr>
              <a:t>~10×</a:t>
            </a:r>
            <a:endParaRPr lang="en-US" sz="3200" dirty="0"/>
          </a:p>
        </p:txBody>
      </p:sp>
      <p:sp>
        <p:nvSpPr>
          <p:cNvPr id="47" name="Text 44"/>
          <p:cNvSpPr txBox="1"/>
          <p:nvPr/>
        </p:nvSpPr>
        <p:spPr>
          <a:xfrm>
            <a:off x="8976208" y="4251960"/>
            <a:ext cx="2560320" cy="320040"/>
          </a:xfrm>
          <a:prstGeom prst="rect">
            <a:avLst/>
          </a:prstGeom>
          <a:noFill/>
          <a:ln/>
        </p:spPr>
        <p:txBody>
          <a:bodyPr wrap="square" lIns="0" tIns="0" rIns="0" bIns="0" rtlCol="0" anchor="t"/>
          <a:lstStyle/>
          <a:p>
            <a:pPr indent="0" marL="0">
              <a:buNone/>
            </a:pPr>
            <a:r>
              <a:rPr lang="en-US" sz="1300" dirty="0">
                <a:solidFill>
                  <a:srgbClr val="334155"/>
                </a:solidFill>
              </a:rPr>
              <a:t>menos memoria al arrancar</a:t>
            </a:r>
            <a:endParaRPr lang="en-US" sz="1300" dirty="0"/>
          </a:p>
        </p:txBody>
      </p:sp>
      <p:sp>
        <p:nvSpPr>
          <p:cNvPr id="48" name="Text 45"/>
          <p:cNvSpPr txBox="1"/>
          <p:nvPr/>
        </p:nvSpPr>
        <p:spPr>
          <a:xfrm>
            <a:off x="6324448" y="4800600"/>
            <a:ext cx="5318608" cy="365760"/>
          </a:xfrm>
          <a:prstGeom prst="rect">
            <a:avLst/>
          </a:prstGeom>
          <a:noFill/>
          <a:ln/>
        </p:spPr>
        <p:txBody>
          <a:bodyPr wrap="square" lIns="0" tIns="0" rIns="0" bIns="0" rtlCol="0" anchor="t"/>
          <a:lstStyle/>
          <a:p>
            <a:pPr indent="0" marL="0">
              <a:buNone/>
            </a:pPr>
            <a:r>
              <a:rPr lang="en-US" sz="1400" dirty="0">
                <a:solidFill>
                  <a:srgbClr val="0B1220"/>
                </a:solidFill>
              </a:rPr>
              <a:t>Aislamiento por el motor (software) · sólo JS, TS o WASM</a:t>
            </a:r>
            <a:endParaRPr lang="en-US" sz="1400" dirty="0"/>
          </a:p>
        </p:txBody>
      </p:sp>
      <p:sp>
        <p:nvSpPr>
          <p:cNvPr id="49" name="tarjeta"/>
          <p:cNvSpPr/>
          <p:nvPr/>
        </p:nvSpPr>
        <p:spPr>
          <a:xfrm>
            <a:off x="548640" y="5349240"/>
            <a:ext cx="11094415" cy="594360"/>
          </a:xfrm>
          <a:prstGeom prst="roundRect">
            <a:avLst>
              <a:gd name="adj" fmla="val 15385"/>
            </a:avLst>
          </a:prstGeom>
          <a:solidFill>
            <a:srgbClr val="F1F5F9"/>
          </a:solidFill>
          <a:ln/>
        </p:spPr>
      </p:sp>
      <p:sp>
        <p:nvSpPr>
          <p:cNvPr id="50" name="Text 47"/>
          <p:cNvSpPr txBox="1"/>
          <p:nvPr/>
        </p:nvSpPr>
        <p:spPr>
          <a:xfrm>
            <a:off x="822960" y="5349240"/>
            <a:ext cx="10545775" cy="594360"/>
          </a:xfrm>
          <a:prstGeom prst="rect">
            <a:avLst/>
          </a:prstGeom>
          <a:noFill/>
          <a:ln/>
        </p:spPr>
        <p:txBody>
          <a:bodyPr wrap="square" lIns="0" tIns="0" rIns="0" bIns="0" rtlCol="0" anchor="ctr"/>
          <a:lstStyle/>
          <a:p>
            <a:pPr indent="0" marL="0">
              <a:buNone/>
            </a:pPr>
            <a:r>
              <a:rPr lang="en-US" sz="1400" dirty="0">
                <a:solidFill>
                  <a:srgbClr val="334155"/>
                </a:solidFill>
              </a:rPr>
              <a:t>Firecracker: monitor de máquinas virtuales en Rust, open source. Es la base de Lambda y de Fargate.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ph idx="100" type="body" hasCustomPrompt="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F766E"/>
                </a:solidFill>
              </a:rPr>
              <a:t>03 · ECONOMÍA Y DATOS</a:t>
            </a:r>
            <a:endParaRPr lang="en-US" sz="1200" dirty="0"/>
          </a:p>
        </p:txBody>
      </p:sp>
      <p:sp>
        <p:nvSpPr>
          <p:cNvPr id="4" name="Text 0"/>
          <p:cNvSpPr/>
          <p:nvPr>
            <p:ph idx="101" type="title" hasCustomPrompt="1"/>
          </p:nvPr>
        </p:nvSpPr>
        <p:spPr>
          <a:xfrm>
            <a:off x="548640" y="640080"/>
            <a:ext cx="11094415" cy="731520"/>
          </a:xfrm>
          <a:prstGeom prst="rect">
            <a:avLst/>
          </a:prstGeom>
          <a:noFill/>
          <a:ln/>
        </p:spPr>
        <p:txBody>
          <a:bodyPr wrap="square" lIns="0" tIns="0" rIns="0" bIns="0" rtlCol="0" anchor="ctr"/>
          <a:lstStyle/>
          <a:p>
            <a:pPr algn="l" indent="0" marL="0">
              <a:buNone/>
            </a:pPr>
            <a:r>
              <a:rPr lang="en-US" sz="3000" b="1" dirty="0">
                <a:solidFill>
                  <a:srgbClr val="0B1220"/>
                </a:solidFill>
                <a:latin typeface="Arial" pitchFamily="34" charset="0"/>
                <a:ea typeface="Arial" pitchFamily="34" charset="-122"/>
                <a:cs typeface="Arial" pitchFamily="34" charset="-120"/>
              </a:rPr>
              <a:t>Se paga por milisegundo de ejecución</a:t>
            </a:r>
            <a:endParaRPr lang="en-US" sz="3000" dirty="0"/>
          </a:p>
        </p:txBody>
      </p:sp>
      <p:sp>
        <p:nvSpPr>
          <p:cNvPr id="5" name="tarjeta"/>
          <p:cNvSpPr/>
          <p:nvPr/>
        </p:nvSpPr>
        <p:spPr>
          <a:xfrm>
            <a:off x="548640" y="1600200"/>
            <a:ext cx="5486400" cy="1188720"/>
          </a:xfrm>
          <a:prstGeom prst="roundRect">
            <a:avLst>
              <a:gd name="adj" fmla="val 7692"/>
            </a:avLst>
          </a:prstGeom>
          <a:solidFill>
            <a:srgbClr val="0B1220"/>
          </a:solidFill>
          <a:ln/>
        </p:spPr>
      </p:sp>
      <p:sp>
        <p:nvSpPr>
          <p:cNvPr id="6" name="Text 3"/>
          <p:cNvSpPr txBox="1"/>
          <p:nvPr/>
        </p:nvSpPr>
        <p:spPr>
          <a:xfrm>
            <a:off x="822960" y="1600200"/>
            <a:ext cx="4937760" cy="1188720"/>
          </a:xfrm>
          <a:prstGeom prst="rect">
            <a:avLst/>
          </a:prstGeom>
          <a:noFill/>
          <a:ln/>
        </p:spPr>
        <p:txBody>
          <a:bodyPr wrap="square" lIns="0" tIns="0" rIns="0" bIns="0" rtlCol="0" anchor="ctr"/>
          <a:lstStyle/>
          <a:p>
            <a:pPr indent="0" marL="0">
              <a:buNone/>
            </a:pPr>
            <a:r>
              <a:rPr lang="en-US" sz="1600" b="1" dirty="0">
                <a:solidFill>
                  <a:srgbClr val="FFFFFF"/>
                </a:solidFill>
                <a:latin typeface="Courier New" pitchFamily="34" charset="0"/>
                <a:ea typeface="Courier New" pitchFamily="34" charset="-122"/>
                <a:cs typeface="Courier New" pitchFamily="34" charset="-120"/>
              </a:rPr>
              <a:t>costo = pedidos × USD 0,20 / millón</a:t>
            </a:r>
            <a:endParaRPr lang="en-US" sz="1600" dirty="0"/>
          </a:p>
          <a:p>
            <a:pPr indent="0" marL="0">
              <a:buNone/>
            </a:pPr>
            <a:r>
              <a:rPr lang="en-US" sz="1600" b="1" dirty="0">
                <a:solidFill>
                  <a:srgbClr val="FFFFFF"/>
                </a:solidFill>
                <a:latin typeface="Courier New" pitchFamily="34" charset="0"/>
                <a:ea typeface="Courier New" pitchFamily="34" charset="-122"/>
                <a:cs typeface="Courier New" pitchFamily="34" charset="-120"/>
              </a:rPr>
              <a:t>      + GB-s × USD 0,0000167</a:t>
            </a:r>
            <a:endParaRPr lang="en-US" sz="1600" dirty="0"/>
          </a:p>
        </p:txBody>
      </p:sp>
      <p:sp>
        <p:nvSpPr>
          <p:cNvPr id="7" name="Text 4"/>
          <p:cNvSpPr txBox="1"/>
          <p:nvPr/>
        </p:nvSpPr>
        <p:spPr>
          <a:xfrm>
            <a:off x="548640" y="3017520"/>
            <a:ext cx="5486400" cy="23774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334155"/>
                </a:solidFill>
              </a:rPr>
              <a:t>GB-segundo = memoria configurada × tiempo de ejecución</a:t>
            </a:r>
            <a:endParaRPr lang="en-US" sz="1500" dirty="0"/>
          </a:p>
          <a:p>
            <a:pPr marL="342900" indent="-342900">
              <a:spcAft>
                <a:spcPts val="1000"/>
              </a:spcAft>
              <a:buSzPct val="100000"/>
              <a:buChar char="•"/>
            </a:pPr>
            <a:r>
              <a:rPr lang="en-US" sz="1500" dirty="0">
                <a:solidFill>
                  <a:srgbClr val="334155"/>
                </a:solidFill>
              </a:rPr>
              <a:t>Capa gratuita: 1 M de pedidos + 400.000 GB-s por mes</a:t>
            </a:r>
            <a:endParaRPr lang="en-US" sz="1500" dirty="0"/>
          </a:p>
          <a:p>
            <a:pPr marL="342900" indent="-342900">
              <a:spcAft>
                <a:spcPts val="1000"/>
              </a:spcAft>
              <a:buSzPct val="100000"/>
              <a:buChar char="•"/>
            </a:pPr>
            <a:r>
              <a:rPr lang="en-US" sz="1500" dirty="0">
                <a:solidFill>
                  <a:srgbClr val="334155"/>
                </a:solidFill>
              </a:rPr>
              <a:t>Memoria de 128 MB a 10 GB; la CPU crece en proporción</a:t>
            </a:r>
            <a:endParaRPr lang="en-US" sz="1500" dirty="0"/>
          </a:p>
          <a:p>
            <a:pPr marL="342900" indent="-342900">
              <a:spcAft>
                <a:spcPts val="1000"/>
              </a:spcAft>
              <a:buSzPct val="100000"/>
              <a:buChar char="•"/>
            </a:pPr>
            <a:r>
              <a:rPr lang="en-US" sz="1500" b="1" dirty="0">
                <a:solidFill>
                  <a:srgbClr val="334155"/>
                </a:solidFill>
              </a:rPr>
              <a:t>Sin tráfico, el costo de cómputo es cero</a:t>
            </a:r>
            <a:endParaRPr lang="en-US" sz="1500" dirty="0"/>
          </a:p>
        </p:txBody>
      </p:sp>
      <p:sp>
        <p:nvSpPr>
          <p:cNvPr id="8" name="Text 5"/>
          <p:cNvSpPr txBox="1"/>
          <p:nvPr/>
        </p:nvSpPr>
        <p:spPr>
          <a:xfrm>
            <a:off x="6492240" y="1600200"/>
            <a:ext cx="5150815" cy="365760"/>
          </a:xfrm>
          <a:prstGeom prst="rect">
            <a:avLst/>
          </a:prstGeom>
          <a:noFill/>
          <a:ln/>
        </p:spPr>
        <p:txBody>
          <a:bodyPr wrap="square" lIns="0" tIns="0" rIns="0" bIns="0" rtlCol="0" anchor="t"/>
          <a:lstStyle/>
          <a:p>
            <a:pPr indent="0" marL="0">
              <a:buNone/>
            </a:pPr>
            <a:r>
              <a:rPr lang="en-US" sz="1600" b="1" dirty="0">
                <a:solidFill>
                  <a:srgbClr val="0B1220"/>
                </a:solidFill>
              </a:rPr>
              <a:t>Ejemplo: API con 5 M de pedidos/mes, 200 ms y 512 MB</a:t>
            </a:r>
            <a:endParaRPr lang="en-US" sz="1600" dirty="0"/>
          </a:p>
        </p:txBody>
      </p:sp>
      <p:graphicFrame>
        <p:nvGraphicFramePr>
          <p:cNvPr id="9" name="Chart 0" descr=""/>
          <p:cNvGraphicFramePr/>
          <p:nvPr/>
        </p:nvGraphicFramePr>
        <p:xfrm>
          <a:off x="6492240" y="2057400"/>
          <a:ext cx="5150815" cy="3017520"/>
        </p:xfrm>
        <a:graphic xmlns:a="http://schemas.openxmlformats.org/drawingml/2006/main">
          <a:graphicData uri="http://schemas.openxmlformats.org/drawingml/2006/chart">
            <c:chart xmlns:c="http://schemas.openxmlformats.org/drawingml/2006/chart" r:id="rId1"/>
          </a:graphicData>
        </a:graphic>
      </p:graphicFrame>
      <p:sp>
        <p:nvSpPr>
          <p:cNvPr id="10" name="Text 6"/>
          <p:cNvSpPr txBox="1"/>
          <p:nvPr/>
        </p:nvSpPr>
        <p:spPr>
          <a:xfrm>
            <a:off x="6492240" y="5120640"/>
            <a:ext cx="5150815" cy="411480"/>
          </a:xfrm>
          <a:prstGeom prst="rect">
            <a:avLst/>
          </a:prstGeom>
          <a:noFill/>
          <a:ln/>
        </p:spPr>
        <p:txBody>
          <a:bodyPr wrap="square" lIns="0" tIns="0" rIns="0" bIns="0" rtlCol="0" anchor="t"/>
          <a:lstStyle/>
          <a:p>
            <a:pPr indent="0" marL="0">
              <a:buNone/>
            </a:pPr>
            <a:r>
              <a:rPr lang="en-US" sz="2000" b="1" dirty="0">
                <a:solidFill>
                  <a:srgbClr val="0F766E"/>
                </a:solidFill>
              </a:rPr>
              <a:t>≈ 6 veces más barato</a:t>
            </a:r>
            <a:endParaRPr lang="en-US" sz="2000" dirty="0"/>
          </a:p>
        </p:txBody>
      </p:sp>
      <p:sp>
        <p:nvSpPr>
          <p:cNvPr id="11" name="Text 7"/>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000" i="1" dirty="0">
                <a:solidFill>
                  <a:srgbClr val="64748B"/>
                </a:solidFill>
              </a:rPr>
              <a:t>Precios oficiales de AWS Lambda (US East, x86). Cálculo propio.</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ph idx="100" type="body" hasCustomPrompt="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F766E"/>
                </a:solidFill>
              </a:rPr>
              <a:t>03 · ECONOMÍA Y DATOS</a:t>
            </a:r>
            <a:endParaRPr lang="en-US" sz="1200" dirty="0"/>
          </a:p>
        </p:txBody>
      </p:sp>
      <p:sp>
        <p:nvSpPr>
          <p:cNvPr id="4" name="Text 0"/>
          <p:cNvSpPr/>
          <p:nvPr>
            <p:ph idx="101" type="title" hasCustomPrompt="1"/>
          </p:nvPr>
        </p:nvSpPr>
        <p:spPr>
          <a:xfrm>
            <a:off x="548640" y="640080"/>
            <a:ext cx="11094415" cy="731520"/>
          </a:xfrm>
          <a:prstGeom prst="rect">
            <a:avLst/>
          </a:prstGeom>
          <a:noFill/>
          <a:ln/>
        </p:spPr>
        <p:txBody>
          <a:bodyPr wrap="square" lIns="0" tIns="0" rIns="0" bIns="0" rtlCol="0" anchor="ctr"/>
          <a:lstStyle/>
          <a:p>
            <a:pPr algn="l" indent="0" marL="0">
              <a:buNone/>
            </a:pPr>
            <a:r>
              <a:rPr lang="en-US" sz="3000" b="1" dirty="0">
                <a:solidFill>
                  <a:srgbClr val="0B1220"/>
                </a:solidFill>
                <a:latin typeface="Arial" pitchFamily="34" charset="0"/>
                <a:ea typeface="Arial" pitchFamily="34" charset="-122"/>
                <a:cs typeface="Arial" pitchFamily="34" charset="-120"/>
              </a:rPr>
              <a:t>Arriba de un tercio de uso, conviene un servidor</a:t>
            </a:r>
            <a:endParaRPr lang="en-US" sz="3000" dirty="0"/>
          </a:p>
        </p:txBody>
      </p:sp>
      <p:graphicFrame>
        <p:nvGraphicFramePr>
          <p:cNvPr id="5" name="Chart 0" descr=""/>
          <p:cNvGraphicFramePr/>
          <p:nvPr/>
        </p:nvGraphicFramePr>
        <p:xfrm>
          <a:off x="548640" y="1508760"/>
          <a:ext cx="6949440" cy="44348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7909560" y="1600200"/>
            <a:ext cx="3733495" cy="822960"/>
          </a:xfrm>
          <a:prstGeom prst="rect">
            <a:avLst/>
          </a:prstGeom>
          <a:noFill/>
          <a:ln/>
        </p:spPr>
        <p:txBody>
          <a:bodyPr wrap="square" lIns="0" tIns="0" rIns="0" bIns="0" rtlCol="0" anchor="t"/>
          <a:lstStyle/>
          <a:p>
            <a:pPr indent="0" marL="0">
              <a:buNone/>
            </a:pPr>
            <a:r>
              <a:rPr lang="en-US" sz="4800" b="1" dirty="0">
                <a:solidFill>
                  <a:srgbClr val="0F766E"/>
                </a:solidFill>
                <a:latin typeface="Arial" pitchFamily="34" charset="0"/>
                <a:ea typeface="Arial" pitchFamily="34" charset="-122"/>
                <a:cs typeface="Arial" pitchFamily="34" charset="-120"/>
              </a:rPr>
              <a:t>≈ 34 %</a:t>
            </a:r>
            <a:endParaRPr lang="en-US" sz="4800" dirty="0"/>
          </a:p>
        </p:txBody>
      </p:sp>
      <p:sp>
        <p:nvSpPr>
          <p:cNvPr id="7" name="Text 3"/>
          <p:cNvSpPr txBox="1"/>
          <p:nvPr/>
        </p:nvSpPr>
        <p:spPr>
          <a:xfrm>
            <a:off x="7909560" y="2423160"/>
            <a:ext cx="3733495" cy="365760"/>
          </a:xfrm>
          <a:prstGeom prst="rect">
            <a:avLst/>
          </a:prstGeom>
          <a:noFill/>
          <a:ln/>
        </p:spPr>
        <p:txBody>
          <a:bodyPr wrap="square" lIns="0" tIns="0" rIns="0" bIns="0" rtlCol="0" anchor="t"/>
          <a:lstStyle/>
          <a:p>
            <a:pPr indent="0" marL="0">
              <a:buNone/>
            </a:pPr>
            <a:r>
              <a:rPr lang="en-US" sz="1400" dirty="0">
                <a:solidFill>
                  <a:srgbClr val="334155"/>
                </a:solidFill>
              </a:rPr>
              <a:t>punto donde las dos líneas se cruzan</a:t>
            </a:r>
            <a:endParaRPr lang="en-US" sz="1400" dirty="0"/>
          </a:p>
        </p:txBody>
      </p:sp>
      <p:sp>
        <p:nvSpPr>
          <p:cNvPr id="8" name="Text 4"/>
          <p:cNvSpPr txBox="1"/>
          <p:nvPr/>
        </p:nvSpPr>
        <p:spPr>
          <a:xfrm>
            <a:off x="7909560" y="3017520"/>
            <a:ext cx="3733495" cy="28346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334155"/>
                </a:solidFill>
              </a:rPr>
              <a:t>Lambda: cero en reposo, crece lineal con el uso</a:t>
            </a:r>
            <a:endParaRPr lang="en-US" sz="1500" dirty="0"/>
          </a:p>
          <a:p>
            <a:pPr marL="342900" indent="-342900">
              <a:spcAft>
                <a:spcPts val="1000"/>
              </a:spcAft>
              <a:buSzPct val="100000"/>
              <a:buChar char="•"/>
            </a:pPr>
            <a:r>
              <a:rPr lang="en-US" sz="1500" dirty="0">
                <a:solidFill>
                  <a:srgbClr val="334155"/>
                </a:solidFill>
              </a:rPr>
              <a:t>Servidor: costo fijo aunque esté ocioso</a:t>
            </a:r>
            <a:endParaRPr lang="en-US" sz="1500" dirty="0"/>
          </a:p>
          <a:p>
            <a:pPr marL="342900" indent="-342900">
              <a:spcAft>
                <a:spcPts val="1000"/>
              </a:spcAft>
              <a:buSzPct val="100000"/>
              <a:buChar char="•"/>
            </a:pPr>
            <a:r>
              <a:rPr lang="en-US" sz="1500" dirty="0">
                <a:solidFill>
                  <a:srgbClr val="334155"/>
                </a:solidFill>
              </a:rPr>
              <a:t>El vCPU-hora de Lambda cuesta ~3× el de una instancia</a:t>
            </a:r>
            <a:endParaRPr lang="en-US" sz="1500" dirty="0"/>
          </a:p>
          <a:p>
            <a:pPr marL="342900" indent="-342900">
              <a:spcAft>
                <a:spcPts val="1000"/>
              </a:spcAft>
              <a:buSzPct val="100000"/>
              <a:buChar char="•"/>
            </a:pPr>
            <a:r>
              <a:rPr lang="en-US" sz="1500" b="1" dirty="0">
                <a:solidFill>
                  <a:srgbClr val="334155"/>
                </a:solidFill>
              </a:rPr>
              <a:t>Gana en cargas espigadas; pierde en cargas constantes</a:t>
            </a:r>
            <a:endParaRPr lang="en-US" sz="1500" dirty="0"/>
          </a:p>
        </p:txBody>
      </p:sp>
      <p:sp>
        <p:nvSpPr>
          <p:cNvPr id="9" name="Text 5"/>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000" i="1" dirty="0">
                <a:solidFill>
                  <a:srgbClr val="64748B"/>
                </a:solidFill>
              </a:rPr>
              <a:t>Cálculo propio con precios oficiales: Lambda ≈ USD 0,106 / vCPU-h; EC2 c7g.large ≈ USD 0,036 / vCPU-h.</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ph idx="100" type="body" hasCustomPrompt="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F766E"/>
                </a:solidFill>
              </a:rPr>
              <a:t>03 · ECONOMÍA Y DATOS</a:t>
            </a:r>
            <a:endParaRPr lang="en-US" sz="1200" dirty="0"/>
          </a:p>
        </p:txBody>
      </p:sp>
      <p:sp>
        <p:nvSpPr>
          <p:cNvPr id="4" name="Text 0"/>
          <p:cNvSpPr/>
          <p:nvPr>
            <p:ph idx="101" type="title" hasCustomPrompt="1"/>
          </p:nvPr>
        </p:nvSpPr>
        <p:spPr>
          <a:xfrm>
            <a:off x="548640" y="640080"/>
            <a:ext cx="11094415" cy="731520"/>
          </a:xfrm>
          <a:prstGeom prst="rect">
            <a:avLst/>
          </a:prstGeom>
          <a:noFill/>
          <a:ln/>
        </p:spPr>
        <p:txBody>
          <a:bodyPr wrap="square" lIns="0" tIns="0" rIns="0" bIns="0" rtlCol="0" anchor="ctr"/>
          <a:lstStyle/>
          <a:p>
            <a:pPr algn="l" indent="0" marL="0">
              <a:buNone/>
            </a:pPr>
            <a:r>
              <a:rPr lang="en-US" sz="3000" b="1" dirty="0">
                <a:solidFill>
                  <a:srgbClr val="0B1220"/>
                </a:solidFill>
                <a:latin typeface="Arial" pitchFamily="34" charset="0"/>
                <a:ea typeface="Arial" pitchFamily="34" charset="-122"/>
                <a:cs typeface="Arial" pitchFamily="34" charset="-120"/>
              </a:rPr>
              <a:t>Datos: apagar el cómputo sin perder la base</a:t>
            </a:r>
            <a:endParaRPr lang="en-US" sz="3000" dirty="0"/>
          </a:p>
        </p:txBody>
      </p:sp>
      <p:sp>
        <p:nvSpPr>
          <p:cNvPr id="5" name="Text 2"/>
          <p:cNvSpPr txBox="1"/>
          <p:nvPr/>
        </p:nvSpPr>
        <p:spPr>
          <a:xfrm>
            <a:off x="548640" y="1554480"/>
            <a:ext cx="4846320" cy="365760"/>
          </a:xfrm>
          <a:prstGeom prst="rect">
            <a:avLst/>
          </a:prstGeom>
          <a:noFill/>
          <a:ln/>
        </p:spPr>
        <p:txBody>
          <a:bodyPr wrap="square" lIns="0" tIns="0" rIns="0" bIns="0" rtlCol="0" anchor="t"/>
          <a:lstStyle/>
          <a:p>
            <a:pPr indent="0" marL="0">
              <a:buNone/>
            </a:pPr>
            <a:r>
              <a:rPr lang="en-US" sz="1800" b="1" dirty="0">
                <a:solidFill>
                  <a:srgbClr val="0B1220"/>
                </a:solidFill>
              </a:rPr>
              <a:t>Separar cómputo de almacenamiento</a:t>
            </a:r>
            <a:endParaRPr lang="en-US" sz="1800" dirty="0"/>
          </a:p>
        </p:txBody>
      </p:sp>
      <p:sp>
        <p:nvSpPr>
          <p:cNvPr id="6" name="nodo"/>
          <p:cNvSpPr/>
          <p:nvPr/>
        </p:nvSpPr>
        <p:spPr>
          <a:xfrm>
            <a:off x="822960" y="2103120"/>
            <a:ext cx="1234440" cy="685800"/>
          </a:xfrm>
          <a:prstGeom prst="roundRect">
            <a:avLst>
              <a:gd name="adj" fmla="val 10667"/>
            </a:avLst>
          </a:prstGeom>
          <a:solidFill>
            <a:srgbClr val="F1F5F9"/>
          </a:solidFill>
          <a:ln w="12700">
            <a:solidFill>
              <a:srgbClr val="CBD5E1"/>
            </a:solidFill>
            <a:prstDash val="dash"/>
          </a:ln>
        </p:spPr>
      </p:sp>
      <p:sp>
        <p:nvSpPr>
          <p:cNvPr id="7" name="Text 4"/>
          <p:cNvSpPr txBox="1"/>
          <p:nvPr/>
        </p:nvSpPr>
        <p:spPr>
          <a:xfrm>
            <a:off x="822960" y="2103120"/>
            <a:ext cx="1234440" cy="685800"/>
          </a:xfrm>
          <a:prstGeom prst="rect">
            <a:avLst/>
          </a:prstGeom>
          <a:noFill/>
          <a:ln/>
        </p:spPr>
        <p:txBody>
          <a:bodyPr wrap="square" lIns="0" tIns="0" rIns="0" bIns="0" rtlCol="0" anchor="ctr"/>
          <a:lstStyle/>
          <a:p>
            <a:pPr algn="ctr" indent="0" marL="0">
              <a:buNone/>
            </a:pPr>
            <a:r>
              <a:rPr lang="en-US" sz="1200" dirty="0">
                <a:solidFill>
                  <a:srgbClr val="64748B"/>
                </a:solidFill>
              </a:rPr>
              <a:t>apagado</a:t>
            </a:r>
            <a:endParaRPr lang="en-US" sz="1200" dirty="0"/>
          </a:p>
        </p:txBody>
      </p:sp>
      <p:sp>
        <p:nvSpPr>
          <p:cNvPr id="8" name="nodo"/>
          <p:cNvSpPr/>
          <p:nvPr/>
        </p:nvSpPr>
        <p:spPr>
          <a:xfrm>
            <a:off x="2286000" y="2103120"/>
            <a:ext cx="1234440" cy="685800"/>
          </a:xfrm>
          <a:prstGeom prst="roundRect">
            <a:avLst>
              <a:gd name="adj" fmla="val 10667"/>
            </a:avLst>
          </a:prstGeom>
          <a:solidFill>
            <a:srgbClr val="F59E0B"/>
          </a:solidFill>
          <a:ln w="12700">
            <a:solidFill>
              <a:srgbClr val="F59E0B"/>
            </a:solidFill>
            <a:prstDash val="solid"/>
          </a:ln>
        </p:spPr>
      </p:sp>
      <p:sp>
        <p:nvSpPr>
          <p:cNvPr id="9" name="Text 6"/>
          <p:cNvSpPr txBox="1"/>
          <p:nvPr/>
        </p:nvSpPr>
        <p:spPr>
          <a:xfrm>
            <a:off x="2286000" y="2103120"/>
            <a:ext cx="1234440" cy="685800"/>
          </a:xfrm>
          <a:prstGeom prst="rect">
            <a:avLst/>
          </a:prstGeom>
          <a:noFill/>
          <a:ln/>
        </p:spPr>
        <p:txBody>
          <a:bodyPr wrap="square" lIns="0" tIns="0" rIns="0" bIns="0" rtlCol="0" anchor="ctr"/>
          <a:lstStyle/>
          <a:p>
            <a:pPr algn="ctr" indent="0" marL="0">
              <a:buNone/>
            </a:pPr>
            <a:r>
              <a:rPr lang="en-US" sz="1200" b="1" dirty="0">
                <a:solidFill>
                  <a:srgbClr val="0B1220"/>
                </a:solidFill>
              </a:rPr>
              <a:t>cómputo activo</a:t>
            </a:r>
            <a:endParaRPr lang="en-US" sz="1200" dirty="0"/>
          </a:p>
        </p:txBody>
      </p:sp>
      <p:sp>
        <p:nvSpPr>
          <p:cNvPr id="10" name="nodo"/>
          <p:cNvSpPr/>
          <p:nvPr/>
        </p:nvSpPr>
        <p:spPr>
          <a:xfrm>
            <a:off x="3749040" y="2103120"/>
            <a:ext cx="1234440" cy="685800"/>
          </a:xfrm>
          <a:prstGeom prst="roundRect">
            <a:avLst>
              <a:gd name="adj" fmla="val 10667"/>
            </a:avLst>
          </a:prstGeom>
          <a:solidFill>
            <a:srgbClr val="F1F5F9"/>
          </a:solidFill>
          <a:ln w="12700">
            <a:solidFill>
              <a:srgbClr val="CBD5E1"/>
            </a:solidFill>
            <a:prstDash val="dash"/>
          </a:ln>
        </p:spPr>
      </p:sp>
      <p:sp>
        <p:nvSpPr>
          <p:cNvPr id="11" name="Text 8"/>
          <p:cNvSpPr txBox="1"/>
          <p:nvPr/>
        </p:nvSpPr>
        <p:spPr>
          <a:xfrm>
            <a:off x="3749040" y="2103120"/>
            <a:ext cx="1234440" cy="685800"/>
          </a:xfrm>
          <a:prstGeom prst="rect">
            <a:avLst/>
          </a:prstGeom>
          <a:noFill/>
          <a:ln/>
        </p:spPr>
        <p:txBody>
          <a:bodyPr wrap="square" lIns="0" tIns="0" rIns="0" bIns="0" rtlCol="0" anchor="ctr"/>
          <a:lstStyle/>
          <a:p>
            <a:pPr algn="ctr" indent="0" marL="0">
              <a:buNone/>
            </a:pPr>
            <a:r>
              <a:rPr lang="en-US" sz="1200" dirty="0">
                <a:solidFill>
                  <a:srgbClr val="64748B"/>
                </a:solidFill>
              </a:rPr>
              <a:t>apagado</a:t>
            </a:r>
            <a:endParaRPr lang="en-US" sz="1200" dirty="0"/>
          </a:p>
        </p:txBody>
      </p:sp>
      <p:sp>
        <p:nvSpPr>
          <p:cNvPr id="12" name="Shape 9"/>
          <p:cNvSpPr/>
          <p:nvPr/>
        </p:nvSpPr>
        <p:spPr>
          <a:xfrm>
            <a:off x="2903220" y="2834640"/>
            <a:ext cx="914" cy="411480"/>
          </a:xfrm>
          <a:prstGeom prst="line">
            <a:avLst/>
          </a:prstGeom>
          <a:noFill/>
          <a:ln w="25400">
            <a:solidFill>
              <a:srgbClr val="64748B"/>
            </a:solidFill>
            <a:prstDash val="solid"/>
            <a:tailEnd type="triangle"/>
          </a:ln>
        </p:spPr>
      </p:sp>
      <p:sp>
        <p:nvSpPr>
          <p:cNvPr id="13" name="storage"/>
          <p:cNvSpPr/>
          <p:nvPr/>
        </p:nvSpPr>
        <p:spPr>
          <a:xfrm>
            <a:off x="822960" y="3291840"/>
            <a:ext cx="4160520" cy="731520"/>
          </a:xfrm>
          <a:prstGeom prst="roundRect">
            <a:avLst>
              <a:gd name="adj" fmla="val 10000"/>
            </a:avLst>
          </a:prstGeom>
          <a:solidFill>
            <a:srgbClr val="334155"/>
          </a:solidFill>
          <a:ln/>
        </p:spPr>
      </p:sp>
      <p:sp>
        <p:nvSpPr>
          <p:cNvPr id="14" name="Text 11"/>
          <p:cNvSpPr txBox="1"/>
          <p:nvPr/>
        </p:nvSpPr>
        <p:spPr>
          <a:xfrm>
            <a:off x="822960" y="3291840"/>
            <a:ext cx="4160520" cy="731520"/>
          </a:xfrm>
          <a:prstGeom prst="rect">
            <a:avLst/>
          </a:prstGeom>
          <a:noFill/>
          <a:ln/>
        </p:spPr>
        <p:txBody>
          <a:bodyPr wrap="square" lIns="0" tIns="0" rIns="0" bIns="0" rtlCol="0" anchor="ctr"/>
          <a:lstStyle/>
          <a:p>
            <a:pPr algn="ctr" indent="0" marL="0">
              <a:buNone/>
            </a:pPr>
            <a:r>
              <a:rPr lang="en-US" sz="1500" b="1" dirty="0">
                <a:solidFill>
                  <a:srgbClr val="FFFFFF"/>
                </a:solidFill>
              </a:rPr>
              <a:t>almacenamiento persistente</a:t>
            </a:r>
            <a:endParaRPr lang="en-US" sz="1500" dirty="0"/>
          </a:p>
        </p:txBody>
      </p:sp>
      <p:sp>
        <p:nvSpPr>
          <p:cNvPr id="15" name="Text 12"/>
          <p:cNvSpPr txBox="1"/>
          <p:nvPr/>
        </p:nvSpPr>
        <p:spPr>
          <a:xfrm>
            <a:off x="548640" y="4251960"/>
            <a:ext cx="4846320" cy="1463040"/>
          </a:xfrm>
          <a:prstGeom prst="rect">
            <a:avLst/>
          </a:prstGeom>
          <a:noFill/>
          <a:ln/>
        </p:spPr>
        <p:txBody>
          <a:bodyPr wrap="square" lIns="0" tIns="0" rIns="0" bIns="0" rtlCol="0" anchor="t"/>
          <a:lstStyle/>
          <a:p>
            <a:pPr indent="0" marL="0">
              <a:spcAft>
                <a:spcPts val="600"/>
              </a:spcAft>
              <a:buNone/>
            </a:pPr>
            <a:r>
              <a:rPr lang="en-US" sz="1400" b="1" dirty="0">
                <a:solidFill>
                  <a:srgbClr val="0B1220"/>
                </a:solidFill>
              </a:rPr>
              <a:t>Neon: </a:t>
            </a:r>
            <a:pPr indent="0" marL="0">
              <a:spcAft>
                <a:spcPts val="600"/>
              </a:spcAft>
              <a:buNone/>
            </a:pPr>
            <a:r>
              <a:rPr lang="en-US" sz="1400" dirty="0">
                <a:solidFill>
                  <a:srgbClr val="334155"/>
                </a:solidFill>
              </a:rPr>
              <a:t>Postgres que escala el cómputo a cero</a:t>
            </a:r>
            <a:endParaRPr lang="en-US" sz="1400" dirty="0"/>
          </a:p>
          <a:p>
            <a:pPr indent="0" marL="0">
              <a:spcAft>
                <a:spcPts val="600"/>
              </a:spcAft>
              <a:buNone/>
            </a:pPr>
            <a:r>
              <a:rPr lang="en-US" sz="1400" b="1" dirty="0">
                <a:solidFill>
                  <a:srgbClr val="0B1220"/>
                </a:solidFill>
              </a:rPr>
              <a:t>Aurora Serverless v2: </a:t>
            </a:r>
            <a:pPr indent="0" marL="0">
              <a:spcAft>
                <a:spcPts val="600"/>
              </a:spcAft>
              <a:buNone/>
            </a:pPr>
            <a:r>
              <a:rPr lang="en-US" sz="1400" dirty="0">
                <a:solidFill>
                  <a:srgbClr val="334155"/>
                </a:solidFill>
              </a:rPr>
              <a:t>MySQL / Postgres elástico</a:t>
            </a:r>
            <a:endParaRPr lang="en-US" sz="1400" dirty="0"/>
          </a:p>
          <a:p>
            <a:pPr indent="0" marL="0">
              <a:spcAft>
                <a:spcPts val="600"/>
              </a:spcAft>
              <a:buNone/>
            </a:pPr>
            <a:r>
              <a:rPr lang="en-US" sz="1400" b="1" dirty="0">
                <a:solidFill>
                  <a:srgbClr val="0B1220"/>
                </a:solidFill>
              </a:rPr>
              <a:t>DynamoDB on-demand: </a:t>
            </a:r>
            <a:pPr indent="0" marL="0">
              <a:spcAft>
                <a:spcPts val="600"/>
              </a:spcAft>
              <a:buNone/>
            </a:pPr>
            <a:r>
              <a:rPr lang="en-US" sz="1400" dirty="0">
                <a:solidFill>
                  <a:srgbClr val="334155"/>
                </a:solidFill>
              </a:rPr>
              <a:t>NoSQL sin capacidad fija</a:t>
            </a:r>
            <a:endParaRPr lang="en-US" sz="1400" dirty="0"/>
          </a:p>
        </p:txBody>
      </p:sp>
      <p:sp>
        <p:nvSpPr>
          <p:cNvPr id="16" name="tarjeta"/>
          <p:cNvSpPr/>
          <p:nvPr/>
        </p:nvSpPr>
        <p:spPr>
          <a:xfrm>
            <a:off x="5943600" y="1554480"/>
            <a:ext cx="5699455" cy="4343400"/>
          </a:xfrm>
          <a:prstGeom prst="roundRect">
            <a:avLst>
              <a:gd name="adj" fmla="val 2105"/>
            </a:avLst>
          </a:prstGeom>
          <a:solidFill>
            <a:srgbClr val="F1F5F9"/>
          </a:solidFill>
          <a:ln/>
        </p:spPr>
      </p:sp>
      <p:sp>
        <p:nvSpPr>
          <p:cNvPr id="17" name="Text 14"/>
          <p:cNvSpPr txBox="1"/>
          <p:nvPr/>
        </p:nvSpPr>
        <p:spPr>
          <a:xfrm>
            <a:off x="6217920" y="1737360"/>
            <a:ext cx="5150815" cy="365760"/>
          </a:xfrm>
          <a:prstGeom prst="rect">
            <a:avLst/>
          </a:prstGeom>
          <a:noFill/>
          <a:ln/>
        </p:spPr>
        <p:txBody>
          <a:bodyPr wrap="square" lIns="0" tIns="0" rIns="0" bIns="0" rtlCol="0" anchor="t"/>
          <a:lstStyle/>
          <a:p>
            <a:pPr indent="0" marL="0">
              <a:buNone/>
            </a:pPr>
            <a:r>
              <a:rPr lang="en-US" sz="1800" b="1" dirty="0">
                <a:solidFill>
                  <a:srgbClr val="0B1220"/>
                </a:solidFill>
              </a:rPr>
              <a:t>El choque: conexiones</a:t>
            </a:r>
            <a:endParaRPr lang="en-US" sz="1800" dirty="0"/>
          </a:p>
        </p:txBody>
      </p:sp>
      <p:sp>
        <p:nvSpPr>
          <p:cNvPr id="18" name="Text 15"/>
          <p:cNvSpPr txBox="1"/>
          <p:nvPr/>
        </p:nvSpPr>
        <p:spPr>
          <a:xfrm>
            <a:off x="6217920" y="2148840"/>
            <a:ext cx="5150815" cy="640080"/>
          </a:xfrm>
          <a:prstGeom prst="rect">
            <a:avLst/>
          </a:prstGeom>
          <a:noFill/>
          <a:ln/>
        </p:spPr>
        <p:txBody>
          <a:bodyPr wrap="square" lIns="0" tIns="0" rIns="0" bIns="0" rtlCol="0" anchor="t"/>
          <a:lstStyle/>
          <a:p>
            <a:pPr indent="0" marL="0">
              <a:buNone/>
            </a:pPr>
            <a:r>
              <a:rPr lang="en-US" sz="1400" dirty="0">
                <a:solidFill>
                  <a:srgbClr val="334155"/>
                </a:solidFill>
              </a:rPr>
              <a:t>500 funciones a la vez × 1 conexión cada una. Postgres soporta cientos.</a:t>
            </a:r>
            <a:endParaRPr lang="en-US" sz="1400" dirty="0"/>
          </a:p>
        </p:txBody>
      </p:sp>
      <p:sp>
        <p:nvSpPr>
          <p:cNvPr id="19" name="funcion"/>
          <p:cNvSpPr/>
          <p:nvPr/>
        </p:nvSpPr>
        <p:spPr>
          <a:xfrm>
            <a:off x="6309360" y="2880360"/>
            <a:ext cx="777240" cy="292608"/>
          </a:xfrm>
          <a:prstGeom prst="roundRect">
            <a:avLst>
              <a:gd name="adj" fmla="val 15625"/>
            </a:avLst>
          </a:prstGeom>
          <a:solidFill>
            <a:srgbClr val="F59E0B"/>
          </a:solidFill>
          <a:ln/>
        </p:spPr>
      </p:sp>
      <p:sp>
        <p:nvSpPr>
          <p:cNvPr id="20" name="Text 17"/>
          <p:cNvSpPr txBox="1"/>
          <p:nvPr/>
        </p:nvSpPr>
        <p:spPr>
          <a:xfrm>
            <a:off x="6309360" y="2880360"/>
            <a:ext cx="777240" cy="292608"/>
          </a:xfrm>
          <a:prstGeom prst="rect">
            <a:avLst/>
          </a:prstGeom>
          <a:noFill/>
          <a:ln/>
        </p:spPr>
        <p:txBody>
          <a:bodyPr wrap="square" lIns="0" tIns="0" rIns="0" bIns="0" rtlCol="0" anchor="ctr"/>
          <a:lstStyle/>
          <a:p>
            <a:pPr algn="ctr" indent="0" marL="0">
              <a:buNone/>
            </a:pPr>
            <a:r>
              <a:rPr lang="en-US" sz="1300" b="1" dirty="0">
                <a:solidFill>
                  <a:srgbClr val="0B1220"/>
                </a:solidFill>
              </a:rPr>
              <a:t>λ</a:t>
            </a:r>
            <a:endParaRPr lang="en-US" sz="1300" dirty="0"/>
          </a:p>
        </p:txBody>
      </p:sp>
      <p:sp>
        <p:nvSpPr>
          <p:cNvPr id="21" name="Shape 18"/>
          <p:cNvSpPr/>
          <p:nvPr/>
        </p:nvSpPr>
        <p:spPr>
          <a:xfrm>
            <a:off x="7132320" y="3026664"/>
            <a:ext cx="1143000" cy="749808"/>
          </a:xfrm>
          <a:prstGeom prst="line">
            <a:avLst/>
          </a:prstGeom>
          <a:noFill/>
          <a:ln w="25400">
            <a:solidFill>
              <a:srgbClr val="64748B"/>
            </a:solidFill>
            <a:prstDash val="solid"/>
            <a:tailEnd type="triangle"/>
          </a:ln>
        </p:spPr>
      </p:sp>
      <p:sp>
        <p:nvSpPr>
          <p:cNvPr id="22" name="funcion"/>
          <p:cNvSpPr/>
          <p:nvPr/>
        </p:nvSpPr>
        <p:spPr>
          <a:xfrm>
            <a:off x="6309360" y="3264408"/>
            <a:ext cx="777240" cy="292608"/>
          </a:xfrm>
          <a:prstGeom prst="roundRect">
            <a:avLst>
              <a:gd name="adj" fmla="val 15625"/>
            </a:avLst>
          </a:prstGeom>
          <a:solidFill>
            <a:srgbClr val="F59E0B"/>
          </a:solidFill>
          <a:ln/>
        </p:spPr>
      </p:sp>
      <p:sp>
        <p:nvSpPr>
          <p:cNvPr id="23" name="Text 20"/>
          <p:cNvSpPr txBox="1"/>
          <p:nvPr/>
        </p:nvSpPr>
        <p:spPr>
          <a:xfrm>
            <a:off x="6309360" y="3264408"/>
            <a:ext cx="777240" cy="292608"/>
          </a:xfrm>
          <a:prstGeom prst="rect">
            <a:avLst/>
          </a:prstGeom>
          <a:noFill/>
          <a:ln/>
        </p:spPr>
        <p:txBody>
          <a:bodyPr wrap="square" lIns="0" tIns="0" rIns="0" bIns="0" rtlCol="0" anchor="ctr"/>
          <a:lstStyle/>
          <a:p>
            <a:pPr algn="ctr" indent="0" marL="0">
              <a:buNone/>
            </a:pPr>
            <a:r>
              <a:rPr lang="en-US" sz="1300" b="1" dirty="0">
                <a:solidFill>
                  <a:srgbClr val="0B1220"/>
                </a:solidFill>
              </a:rPr>
              <a:t>λ</a:t>
            </a:r>
            <a:endParaRPr lang="en-US" sz="1300" dirty="0"/>
          </a:p>
        </p:txBody>
      </p:sp>
      <p:sp>
        <p:nvSpPr>
          <p:cNvPr id="24" name="Shape 21"/>
          <p:cNvSpPr/>
          <p:nvPr/>
        </p:nvSpPr>
        <p:spPr>
          <a:xfrm>
            <a:off x="7132320" y="3410712"/>
            <a:ext cx="1143000" cy="365760"/>
          </a:xfrm>
          <a:prstGeom prst="line">
            <a:avLst/>
          </a:prstGeom>
          <a:noFill/>
          <a:ln w="25400">
            <a:solidFill>
              <a:srgbClr val="64748B"/>
            </a:solidFill>
            <a:prstDash val="solid"/>
            <a:tailEnd type="triangle"/>
          </a:ln>
        </p:spPr>
      </p:sp>
      <p:sp>
        <p:nvSpPr>
          <p:cNvPr id="25" name="funcion"/>
          <p:cNvSpPr/>
          <p:nvPr/>
        </p:nvSpPr>
        <p:spPr>
          <a:xfrm>
            <a:off x="6309360" y="3648456"/>
            <a:ext cx="777240" cy="292608"/>
          </a:xfrm>
          <a:prstGeom prst="roundRect">
            <a:avLst>
              <a:gd name="adj" fmla="val 15625"/>
            </a:avLst>
          </a:prstGeom>
          <a:solidFill>
            <a:srgbClr val="F59E0B"/>
          </a:solidFill>
          <a:ln/>
        </p:spPr>
      </p:sp>
      <p:sp>
        <p:nvSpPr>
          <p:cNvPr id="26" name="Text 23"/>
          <p:cNvSpPr txBox="1"/>
          <p:nvPr/>
        </p:nvSpPr>
        <p:spPr>
          <a:xfrm>
            <a:off x="6309360" y="3648456"/>
            <a:ext cx="777240" cy="292608"/>
          </a:xfrm>
          <a:prstGeom prst="rect">
            <a:avLst/>
          </a:prstGeom>
          <a:noFill/>
          <a:ln/>
        </p:spPr>
        <p:txBody>
          <a:bodyPr wrap="square" lIns="0" tIns="0" rIns="0" bIns="0" rtlCol="0" anchor="ctr"/>
          <a:lstStyle/>
          <a:p>
            <a:pPr algn="ctr" indent="0" marL="0">
              <a:buNone/>
            </a:pPr>
            <a:r>
              <a:rPr lang="en-US" sz="1300" b="1" dirty="0">
                <a:solidFill>
                  <a:srgbClr val="0B1220"/>
                </a:solidFill>
              </a:rPr>
              <a:t>λ</a:t>
            </a:r>
            <a:endParaRPr lang="en-US" sz="1300" dirty="0"/>
          </a:p>
        </p:txBody>
      </p:sp>
      <p:sp>
        <p:nvSpPr>
          <p:cNvPr id="27" name="Shape 24"/>
          <p:cNvSpPr/>
          <p:nvPr/>
        </p:nvSpPr>
        <p:spPr>
          <a:xfrm flipV="1">
            <a:off x="7132320" y="3776472"/>
            <a:ext cx="1143000" cy="18288"/>
          </a:xfrm>
          <a:prstGeom prst="line">
            <a:avLst/>
          </a:prstGeom>
          <a:noFill/>
          <a:ln w="25400">
            <a:solidFill>
              <a:srgbClr val="64748B"/>
            </a:solidFill>
            <a:prstDash val="solid"/>
            <a:tailEnd type="triangle"/>
          </a:ln>
        </p:spPr>
      </p:sp>
      <p:sp>
        <p:nvSpPr>
          <p:cNvPr id="28" name="funcion"/>
          <p:cNvSpPr/>
          <p:nvPr/>
        </p:nvSpPr>
        <p:spPr>
          <a:xfrm>
            <a:off x="6309360" y="4032504"/>
            <a:ext cx="777240" cy="292608"/>
          </a:xfrm>
          <a:prstGeom prst="roundRect">
            <a:avLst>
              <a:gd name="adj" fmla="val 15625"/>
            </a:avLst>
          </a:prstGeom>
          <a:solidFill>
            <a:srgbClr val="F59E0B"/>
          </a:solidFill>
          <a:ln/>
        </p:spPr>
      </p:sp>
      <p:sp>
        <p:nvSpPr>
          <p:cNvPr id="29" name="Text 26"/>
          <p:cNvSpPr txBox="1"/>
          <p:nvPr/>
        </p:nvSpPr>
        <p:spPr>
          <a:xfrm>
            <a:off x="6309360" y="4032504"/>
            <a:ext cx="777240" cy="292608"/>
          </a:xfrm>
          <a:prstGeom prst="rect">
            <a:avLst/>
          </a:prstGeom>
          <a:noFill/>
          <a:ln/>
        </p:spPr>
        <p:txBody>
          <a:bodyPr wrap="square" lIns="0" tIns="0" rIns="0" bIns="0" rtlCol="0" anchor="ctr"/>
          <a:lstStyle/>
          <a:p>
            <a:pPr algn="ctr" indent="0" marL="0">
              <a:buNone/>
            </a:pPr>
            <a:r>
              <a:rPr lang="en-US" sz="1300" b="1" dirty="0">
                <a:solidFill>
                  <a:srgbClr val="0B1220"/>
                </a:solidFill>
              </a:rPr>
              <a:t>λ</a:t>
            </a:r>
            <a:endParaRPr lang="en-US" sz="1300" dirty="0"/>
          </a:p>
        </p:txBody>
      </p:sp>
      <p:sp>
        <p:nvSpPr>
          <p:cNvPr id="30" name="Shape 27"/>
          <p:cNvSpPr/>
          <p:nvPr/>
        </p:nvSpPr>
        <p:spPr>
          <a:xfrm flipV="1">
            <a:off x="7132320" y="3776472"/>
            <a:ext cx="1143000" cy="402336"/>
          </a:xfrm>
          <a:prstGeom prst="line">
            <a:avLst/>
          </a:prstGeom>
          <a:noFill/>
          <a:ln w="25400">
            <a:solidFill>
              <a:srgbClr val="64748B"/>
            </a:solidFill>
            <a:prstDash val="solid"/>
            <a:tailEnd type="triangle"/>
          </a:ln>
        </p:spPr>
      </p:sp>
      <p:sp>
        <p:nvSpPr>
          <p:cNvPr id="31" name="funcion"/>
          <p:cNvSpPr/>
          <p:nvPr/>
        </p:nvSpPr>
        <p:spPr>
          <a:xfrm>
            <a:off x="6309360" y="4416552"/>
            <a:ext cx="777240" cy="292608"/>
          </a:xfrm>
          <a:prstGeom prst="roundRect">
            <a:avLst>
              <a:gd name="adj" fmla="val 15625"/>
            </a:avLst>
          </a:prstGeom>
          <a:solidFill>
            <a:srgbClr val="F59E0B"/>
          </a:solidFill>
          <a:ln/>
        </p:spPr>
      </p:sp>
      <p:sp>
        <p:nvSpPr>
          <p:cNvPr id="32" name="Text 29"/>
          <p:cNvSpPr txBox="1"/>
          <p:nvPr/>
        </p:nvSpPr>
        <p:spPr>
          <a:xfrm>
            <a:off x="6309360" y="4416552"/>
            <a:ext cx="777240" cy="292608"/>
          </a:xfrm>
          <a:prstGeom prst="rect">
            <a:avLst/>
          </a:prstGeom>
          <a:noFill/>
          <a:ln/>
        </p:spPr>
        <p:txBody>
          <a:bodyPr wrap="square" lIns="0" tIns="0" rIns="0" bIns="0" rtlCol="0" anchor="ctr"/>
          <a:lstStyle/>
          <a:p>
            <a:pPr algn="ctr" indent="0" marL="0">
              <a:buNone/>
            </a:pPr>
            <a:r>
              <a:rPr lang="en-US" sz="1300" b="1" dirty="0">
                <a:solidFill>
                  <a:srgbClr val="0B1220"/>
                </a:solidFill>
              </a:rPr>
              <a:t>λ</a:t>
            </a:r>
            <a:endParaRPr lang="en-US" sz="1300" dirty="0"/>
          </a:p>
        </p:txBody>
      </p:sp>
      <p:sp>
        <p:nvSpPr>
          <p:cNvPr id="33" name="Shape 30"/>
          <p:cNvSpPr/>
          <p:nvPr/>
        </p:nvSpPr>
        <p:spPr>
          <a:xfrm flipV="1">
            <a:off x="7132320" y="3776472"/>
            <a:ext cx="1143000" cy="786384"/>
          </a:xfrm>
          <a:prstGeom prst="line">
            <a:avLst/>
          </a:prstGeom>
          <a:noFill/>
          <a:ln w="25400">
            <a:solidFill>
              <a:srgbClr val="64748B"/>
            </a:solidFill>
            <a:prstDash val="solid"/>
            <a:tailEnd type="triangle"/>
          </a:ln>
        </p:spPr>
      </p:sp>
      <p:sp>
        <p:nvSpPr>
          <p:cNvPr id="34" name="pooler"/>
          <p:cNvSpPr/>
          <p:nvPr/>
        </p:nvSpPr>
        <p:spPr>
          <a:xfrm>
            <a:off x="8321040" y="3456432"/>
            <a:ext cx="1234440" cy="640080"/>
          </a:xfrm>
          <a:prstGeom prst="roundRect">
            <a:avLst>
              <a:gd name="adj" fmla="val 11429"/>
            </a:avLst>
          </a:prstGeom>
          <a:solidFill>
            <a:srgbClr val="0F766E"/>
          </a:solidFill>
          <a:ln/>
        </p:spPr>
      </p:sp>
      <p:sp>
        <p:nvSpPr>
          <p:cNvPr id="35" name="Text 32"/>
          <p:cNvSpPr txBox="1"/>
          <p:nvPr/>
        </p:nvSpPr>
        <p:spPr>
          <a:xfrm>
            <a:off x="8321040" y="3456432"/>
            <a:ext cx="1234440" cy="640080"/>
          </a:xfrm>
          <a:prstGeom prst="rect">
            <a:avLst/>
          </a:prstGeom>
          <a:noFill/>
          <a:ln/>
        </p:spPr>
        <p:txBody>
          <a:bodyPr wrap="square" lIns="0" tIns="0" rIns="0" bIns="0" rtlCol="0" anchor="ctr"/>
          <a:lstStyle/>
          <a:p>
            <a:pPr algn="ctr" indent="0" marL="0">
              <a:buNone/>
            </a:pPr>
            <a:r>
              <a:rPr lang="en-US" sz="1400" b="1" dirty="0">
                <a:solidFill>
                  <a:srgbClr val="FFFFFF"/>
                </a:solidFill>
              </a:rPr>
              <a:t>pooler</a:t>
            </a:r>
            <a:endParaRPr lang="en-US" sz="1400" dirty="0"/>
          </a:p>
        </p:txBody>
      </p:sp>
      <p:sp>
        <p:nvSpPr>
          <p:cNvPr id="36" name="Shape 33"/>
          <p:cNvSpPr/>
          <p:nvPr/>
        </p:nvSpPr>
        <p:spPr>
          <a:xfrm>
            <a:off x="9601200" y="3776472"/>
            <a:ext cx="624535" cy="914"/>
          </a:xfrm>
          <a:prstGeom prst="line">
            <a:avLst/>
          </a:prstGeom>
          <a:noFill/>
          <a:ln w="25400">
            <a:solidFill>
              <a:srgbClr val="64748B"/>
            </a:solidFill>
            <a:prstDash val="solid"/>
            <a:tailEnd type="triangle"/>
          </a:ln>
        </p:spPr>
      </p:sp>
      <p:sp>
        <p:nvSpPr>
          <p:cNvPr id="37" name="base"/>
          <p:cNvSpPr/>
          <p:nvPr/>
        </p:nvSpPr>
        <p:spPr>
          <a:xfrm>
            <a:off x="10271455" y="3291840"/>
            <a:ext cx="1005840" cy="960120"/>
          </a:xfrm>
          <a:prstGeom prst="can">
            <a:avLst/>
          </a:prstGeom>
          <a:solidFill>
            <a:srgbClr val="334155"/>
          </a:solidFill>
          <a:ln/>
        </p:spPr>
      </p:sp>
      <p:sp>
        <p:nvSpPr>
          <p:cNvPr id="38" name="Text 35"/>
          <p:cNvSpPr txBox="1"/>
          <p:nvPr/>
        </p:nvSpPr>
        <p:spPr>
          <a:xfrm>
            <a:off x="10180015" y="4297680"/>
            <a:ext cx="1188720" cy="274320"/>
          </a:xfrm>
          <a:prstGeom prst="rect">
            <a:avLst/>
          </a:prstGeom>
          <a:noFill/>
          <a:ln/>
        </p:spPr>
        <p:txBody>
          <a:bodyPr wrap="square" lIns="0" tIns="0" rIns="0" bIns="0" rtlCol="0" anchor="t"/>
          <a:lstStyle/>
          <a:p>
            <a:pPr algn="ctr" indent="0" marL="0">
              <a:buNone/>
            </a:pPr>
            <a:r>
              <a:rPr lang="en-US" sz="1200" dirty="0">
                <a:solidFill>
                  <a:srgbClr val="334155"/>
                </a:solidFill>
              </a:rPr>
              <a:t>Postgres</a:t>
            </a:r>
            <a:endParaRPr lang="en-US" sz="1200" dirty="0"/>
          </a:p>
        </p:txBody>
      </p:sp>
      <p:sp>
        <p:nvSpPr>
          <p:cNvPr id="39" name="Text 36"/>
          <p:cNvSpPr txBox="1"/>
          <p:nvPr/>
        </p:nvSpPr>
        <p:spPr>
          <a:xfrm>
            <a:off x="6217920" y="4892040"/>
            <a:ext cx="5150815" cy="868680"/>
          </a:xfrm>
          <a:prstGeom prst="rect">
            <a:avLst/>
          </a:prstGeom>
          <a:noFill/>
          <a:ln/>
        </p:spPr>
        <p:txBody>
          <a:bodyPr wrap="square" lIns="0" tIns="0" rIns="0" bIns="0" rtlCol="0" anchor="t"/>
          <a:lstStyle/>
          <a:p>
            <a:pPr indent="0" marL="0">
              <a:spcAft>
                <a:spcPts val="400"/>
              </a:spcAft>
              <a:buNone/>
            </a:pPr>
            <a:r>
              <a:rPr lang="en-US" sz="1400" b="1" dirty="0">
                <a:solidFill>
                  <a:srgbClr val="0B1220"/>
                </a:solidFill>
              </a:rPr>
              <a:t>Pooler: </a:t>
            </a:r>
            <a:pPr indent="0" marL="0">
              <a:spcAft>
                <a:spcPts val="400"/>
              </a:spcAft>
              <a:buNone/>
            </a:pPr>
            <a:r>
              <a:rPr lang="en-US" sz="1400" dirty="0">
                <a:solidFill>
                  <a:srgbClr val="334155"/>
                </a:solidFill>
              </a:rPr>
              <a:t>RDS Proxy, PgBouncer reutilizan pocas conexiones</a:t>
            </a:r>
            <a:endParaRPr lang="en-US" sz="1400" dirty="0"/>
          </a:p>
          <a:p>
            <a:pPr indent="0" marL="0">
              <a:spcAft>
                <a:spcPts val="400"/>
              </a:spcAft>
              <a:buNone/>
            </a:pPr>
            <a:r>
              <a:rPr lang="en-US" sz="1400" b="1" dirty="0">
                <a:solidFill>
                  <a:srgbClr val="0B1220"/>
                </a:solidFill>
              </a:rPr>
              <a:t>API HTTP: </a:t>
            </a:r>
            <a:pPr indent="0" marL="0">
              <a:spcAft>
                <a:spcPts val="400"/>
              </a:spcAft>
              <a:buNone/>
            </a:pPr>
            <a:r>
              <a:rPr lang="en-US" sz="1400" dirty="0">
                <a:solidFill>
                  <a:srgbClr val="334155"/>
                </a:solidFill>
              </a:rPr>
              <a:t>DynamoDB, driver serverless de Neon</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ph idx="100" type="body" hasCustomPrompt="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F766E"/>
                </a:solidFill>
              </a:rPr>
              <a:t>04 · LÍMITES Y FUTURO</a:t>
            </a:r>
            <a:endParaRPr lang="en-US" sz="1200" dirty="0"/>
          </a:p>
        </p:txBody>
      </p:sp>
      <p:sp>
        <p:nvSpPr>
          <p:cNvPr id="4" name="Text 0"/>
          <p:cNvSpPr/>
          <p:nvPr>
            <p:ph idx="101" type="title" hasCustomPrompt="1"/>
          </p:nvPr>
        </p:nvSpPr>
        <p:spPr>
          <a:xfrm>
            <a:off x="548640" y="640080"/>
            <a:ext cx="11094415" cy="731520"/>
          </a:xfrm>
          <a:prstGeom prst="rect">
            <a:avLst/>
          </a:prstGeom>
          <a:noFill/>
          <a:ln/>
        </p:spPr>
        <p:txBody>
          <a:bodyPr wrap="square" lIns="0" tIns="0" rIns="0" bIns="0" rtlCol="0" anchor="ctr"/>
          <a:lstStyle/>
          <a:p>
            <a:pPr algn="l" indent="0" marL="0">
              <a:buNone/>
            </a:pPr>
            <a:r>
              <a:rPr lang="en-US" sz="3000" b="1" dirty="0">
                <a:solidFill>
                  <a:srgbClr val="0B1220"/>
                </a:solidFill>
                <a:latin typeface="Arial" pitchFamily="34" charset="0"/>
                <a:ea typeface="Arial" pitchFamily="34" charset="-122"/>
                <a:cs typeface="Arial" pitchFamily="34" charset="-120"/>
              </a:rPr>
              <a:t>Cuándo sí y cuándo no</a:t>
            </a:r>
            <a:endParaRPr lang="en-US" sz="3000" dirty="0"/>
          </a:p>
        </p:txBody>
      </p:sp>
      <p:sp>
        <p:nvSpPr>
          <p:cNvPr id="5" name="tarjeta"/>
          <p:cNvSpPr/>
          <p:nvPr/>
        </p:nvSpPr>
        <p:spPr>
          <a:xfrm>
            <a:off x="548640" y="1600200"/>
            <a:ext cx="5364328" cy="3429000"/>
          </a:xfrm>
          <a:prstGeom prst="roundRect">
            <a:avLst>
              <a:gd name="adj" fmla="val 2667"/>
            </a:avLst>
          </a:prstGeom>
          <a:solidFill>
            <a:srgbClr val="15803D">
              <a:alpha val="10000"/>
            </a:srgbClr>
          </a:solidFill>
          <a:ln/>
        </p:spPr>
      </p:sp>
      <p:sp>
        <p:nvSpPr>
          <p:cNvPr id="6" name="insignia"/>
          <p:cNvSpPr/>
          <p:nvPr/>
        </p:nvSpPr>
        <p:spPr>
          <a:xfrm>
            <a:off x="822960" y="1856232"/>
            <a:ext cx="502920" cy="502920"/>
          </a:xfrm>
          <a:prstGeom prst="ellipse">
            <a:avLst/>
          </a:prstGeom>
          <a:solidFill>
            <a:srgbClr val="15803D"/>
          </a:solidFill>
          <a:ln/>
        </p:spPr>
      </p:sp>
      <p:sp>
        <p:nvSpPr>
          <p:cNvPr id="7" name="Text 4"/>
          <p:cNvSpPr txBox="1"/>
          <p:nvPr/>
        </p:nvSpPr>
        <p:spPr>
          <a:xfrm>
            <a:off x="822960" y="185623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8" name="Text 5"/>
          <p:cNvSpPr txBox="1"/>
          <p:nvPr/>
        </p:nvSpPr>
        <p:spPr>
          <a:xfrm>
            <a:off x="1463040" y="1856232"/>
            <a:ext cx="4175608" cy="502920"/>
          </a:xfrm>
          <a:prstGeom prst="rect">
            <a:avLst/>
          </a:prstGeom>
          <a:noFill/>
          <a:ln/>
        </p:spPr>
        <p:txBody>
          <a:bodyPr wrap="square" lIns="0" tIns="0" rIns="0" bIns="0" rtlCol="0" anchor="ctr"/>
          <a:lstStyle/>
          <a:p>
            <a:pPr indent="0" marL="0">
              <a:buNone/>
            </a:pPr>
            <a:r>
              <a:rPr lang="en-US" sz="2200" b="1" dirty="0">
                <a:solidFill>
                  <a:srgbClr val="0B1220"/>
                </a:solidFill>
              </a:rPr>
              <a:t>Encaja</a:t>
            </a:r>
            <a:endParaRPr lang="en-US" sz="2200" dirty="0"/>
          </a:p>
        </p:txBody>
      </p:sp>
      <p:sp>
        <p:nvSpPr>
          <p:cNvPr id="9" name="Text 6"/>
          <p:cNvSpPr txBox="1"/>
          <p:nvPr/>
        </p:nvSpPr>
        <p:spPr>
          <a:xfrm>
            <a:off x="868680" y="2560320"/>
            <a:ext cx="4724248" cy="182880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0B1220"/>
                </a:solidFill>
              </a:rPr>
              <a:t>Carga espigada o impredecible</a:t>
            </a:r>
            <a:endParaRPr lang="en-US" sz="1500" dirty="0"/>
          </a:p>
          <a:p>
            <a:pPr marL="342900" indent="-342900">
              <a:spcAft>
                <a:spcPts val="700"/>
              </a:spcAft>
              <a:buSzPct val="100000"/>
              <a:buChar char="•"/>
            </a:pPr>
            <a:r>
              <a:rPr lang="en-US" sz="1500" dirty="0">
                <a:solidFill>
                  <a:srgbClr val="0B1220"/>
                </a:solidFill>
              </a:rPr>
              <a:t>Disparada por eventos y asíncrona</a:t>
            </a:r>
            <a:endParaRPr lang="en-US" sz="1500" dirty="0"/>
          </a:p>
          <a:p>
            <a:pPr marL="342900" indent="-342900">
              <a:spcAft>
                <a:spcPts val="700"/>
              </a:spcAft>
              <a:buSzPct val="100000"/>
              <a:buChar char="•"/>
            </a:pPr>
            <a:r>
              <a:rPr lang="en-US" sz="1500" dirty="0">
                <a:solidFill>
                  <a:srgbClr val="0B1220"/>
                </a:solidFill>
              </a:rPr>
              <a:t>Sin estado y paralelizable</a:t>
            </a:r>
            <a:endParaRPr lang="en-US" sz="1500" dirty="0"/>
          </a:p>
          <a:p>
            <a:pPr marL="342900" indent="-342900">
              <a:spcAft>
                <a:spcPts val="700"/>
              </a:spcAft>
              <a:buSzPct val="100000"/>
              <a:buChar char="•"/>
            </a:pPr>
            <a:r>
              <a:rPr lang="en-US" sz="1500" i="1" dirty="0">
                <a:solidFill>
                  <a:srgbClr val="334155"/>
                </a:solidFill>
              </a:rPr>
              <a:t>Ej.: miniaturas al subir una foto, sensores IoT, tareas programadas</a:t>
            </a:r>
            <a:endParaRPr lang="en-US" sz="1500" dirty="0"/>
          </a:p>
        </p:txBody>
      </p:sp>
      <p:sp>
        <p:nvSpPr>
          <p:cNvPr id="10" name="Text 7"/>
          <p:cNvSpPr txBox="1"/>
          <p:nvPr/>
        </p:nvSpPr>
        <p:spPr>
          <a:xfrm>
            <a:off x="868680" y="4389120"/>
            <a:ext cx="4724248" cy="548640"/>
          </a:xfrm>
          <a:prstGeom prst="rect">
            <a:avLst/>
          </a:prstGeom>
          <a:noFill/>
          <a:ln/>
        </p:spPr>
        <p:txBody>
          <a:bodyPr wrap="square" lIns="0" tIns="0" rIns="0" bIns="0" rtlCol="0" anchor="t"/>
          <a:lstStyle/>
          <a:p>
            <a:pPr indent="0" marL="0">
              <a:buNone/>
            </a:pPr>
            <a:r>
              <a:rPr lang="en-US" sz="1300" b="1" dirty="0">
                <a:solidFill>
                  <a:srgbClr val="334155"/>
                </a:solidFill>
              </a:rPr>
              <a:t>iRobot (Roomba): más de 20 M de eventos IoT por día, −30 % de costo cloud</a:t>
            </a:r>
            <a:endParaRPr lang="en-US" sz="1300" dirty="0"/>
          </a:p>
        </p:txBody>
      </p:sp>
      <p:sp>
        <p:nvSpPr>
          <p:cNvPr id="11" name="tarjeta"/>
          <p:cNvSpPr/>
          <p:nvPr/>
        </p:nvSpPr>
        <p:spPr>
          <a:xfrm>
            <a:off x="6278728" y="1600200"/>
            <a:ext cx="5364328" cy="3429000"/>
          </a:xfrm>
          <a:prstGeom prst="roundRect">
            <a:avLst>
              <a:gd name="adj" fmla="val 2667"/>
            </a:avLst>
          </a:prstGeom>
          <a:solidFill>
            <a:srgbClr val="B91C1C">
              <a:alpha val="10000"/>
            </a:srgbClr>
          </a:solidFill>
          <a:ln/>
        </p:spPr>
      </p:sp>
      <p:sp>
        <p:nvSpPr>
          <p:cNvPr id="12" name="insignia"/>
          <p:cNvSpPr/>
          <p:nvPr/>
        </p:nvSpPr>
        <p:spPr>
          <a:xfrm>
            <a:off x="6553048" y="1856232"/>
            <a:ext cx="502920" cy="502920"/>
          </a:xfrm>
          <a:prstGeom prst="ellipse">
            <a:avLst/>
          </a:prstGeom>
          <a:solidFill>
            <a:srgbClr val="B91C1C"/>
          </a:solidFill>
          <a:ln/>
        </p:spPr>
      </p:sp>
      <p:sp>
        <p:nvSpPr>
          <p:cNvPr id="13" name="Text 10"/>
          <p:cNvSpPr txBox="1"/>
          <p:nvPr/>
        </p:nvSpPr>
        <p:spPr>
          <a:xfrm>
            <a:off x="6553048" y="185623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4" name="Text 11"/>
          <p:cNvSpPr txBox="1"/>
          <p:nvPr/>
        </p:nvSpPr>
        <p:spPr>
          <a:xfrm>
            <a:off x="7193128" y="1856232"/>
            <a:ext cx="4175608" cy="502920"/>
          </a:xfrm>
          <a:prstGeom prst="rect">
            <a:avLst/>
          </a:prstGeom>
          <a:noFill/>
          <a:ln/>
        </p:spPr>
        <p:txBody>
          <a:bodyPr wrap="square" lIns="0" tIns="0" rIns="0" bIns="0" rtlCol="0" anchor="ctr"/>
          <a:lstStyle/>
          <a:p>
            <a:pPr indent="0" marL="0">
              <a:buNone/>
            </a:pPr>
            <a:r>
              <a:rPr lang="en-US" sz="2200" b="1" dirty="0">
                <a:solidFill>
                  <a:srgbClr val="0B1220"/>
                </a:solidFill>
              </a:rPr>
              <a:t>No encaja</a:t>
            </a:r>
            <a:endParaRPr lang="en-US" sz="2200" dirty="0"/>
          </a:p>
        </p:txBody>
      </p:sp>
      <p:sp>
        <p:nvSpPr>
          <p:cNvPr id="15" name="Text 12"/>
          <p:cNvSpPr txBox="1"/>
          <p:nvPr/>
        </p:nvSpPr>
        <p:spPr>
          <a:xfrm>
            <a:off x="6598768" y="2560320"/>
            <a:ext cx="4724248" cy="182880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0B1220"/>
                </a:solidFill>
              </a:rPr>
              <a:t>Carga constante: arriba de ~1/3 de uso pierde</a:t>
            </a:r>
            <a:endParaRPr lang="en-US" sz="1500" dirty="0"/>
          </a:p>
          <a:p>
            <a:pPr marL="342900" indent="-342900">
              <a:spcAft>
                <a:spcPts val="700"/>
              </a:spcAft>
              <a:buSzPct val="100000"/>
              <a:buChar char="•"/>
            </a:pPr>
            <a:r>
              <a:rPr lang="en-US" sz="1500" dirty="0">
                <a:solidFill>
                  <a:srgbClr val="0B1220"/>
                </a:solidFill>
              </a:rPr>
              <a:t>Latencia crítica: el cold start no se tolera</a:t>
            </a:r>
            <a:endParaRPr lang="en-US" sz="1500" dirty="0"/>
          </a:p>
          <a:p>
            <a:pPr marL="342900" indent="-342900">
              <a:spcAft>
                <a:spcPts val="700"/>
              </a:spcAft>
              <a:buSzPct val="100000"/>
              <a:buChar char="•"/>
            </a:pPr>
            <a:r>
              <a:rPr lang="en-US" sz="1500" dirty="0">
                <a:solidFill>
                  <a:srgbClr val="0B1220"/>
                </a:solidFill>
              </a:rPr>
              <a:t>Estado o conexiones persistentes</a:t>
            </a:r>
            <a:endParaRPr lang="en-US" sz="1500" dirty="0"/>
          </a:p>
          <a:p>
            <a:pPr marL="342900" indent="-342900">
              <a:spcAft>
                <a:spcPts val="700"/>
              </a:spcAft>
              <a:buSzPct val="100000"/>
              <a:buChar char="•"/>
            </a:pPr>
            <a:r>
              <a:rPr lang="en-US" sz="1500" dirty="0">
                <a:solidFill>
                  <a:srgbClr val="0B1220"/>
                </a:solidFill>
              </a:rPr>
              <a:t>Cadenas largas de funciones acopladas</a:t>
            </a:r>
            <a:endParaRPr lang="en-US" sz="1500" dirty="0"/>
          </a:p>
        </p:txBody>
      </p:sp>
      <p:sp>
        <p:nvSpPr>
          <p:cNvPr id="16" name="Text 13"/>
          <p:cNvSpPr txBox="1"/>
          <p:nvPr/>
        </p:nvSpPr>
        <p:spPr>
          <a:xfrm>
            <a:off x="6598768" y="4389120"/>
            <a:ext cx="4724248" cy="548640"/>
          </a:xfrm>
          <a:prstGeom prst="rect">
            <a:avLst/>
          </a:prstGeom>
          <a:noFill/>
          <a:ln/>
        </p:spPr>
        <p:txBody>
          <a:bodyPr wrap="square" lIns="0" tIns="0" rIns="0" bIns="0" rtlCol="0" anchor="t"/>
          <a:lstStyle/>
          <a:p>
            <a:pPr indent="0" marL="0">
              <a:buNone/>
            </a:pPr>
            <a:r>
              <a:rPr lang="en-US" sz="1300" b="1" dirty="0">
                <a:solidFill>
                  <a:srgbClr val="334155"/>
                </a:solidFill>
              </a:rPr>
              <a:t>Prime Video: −90 % de costo saliendo de serverless (lámina siguiente)</a:t>
            </a:r>
            <a:endParaRPr lang="en-US" sz="1300" dirty="0"/>
          </a:p>
        </p:txBody>
      </p:sp>
      <p:sp>
        <p:nvSpPr>
          <p:cNvPr id="17" name="tarjeta"/>
          <p:cNvSpPr/>
          <p:nvPr/>
        </p:nvSpPr>
        <p:spPr>
          <a:xfrm>
            <a:off x="548640" y="5257800"/>
            <a:ext cx="11094415" cy="685800"/>
          </a:xfrm>
          <a:prstGeom prst="roundRect">
            <a:avLst>
              <a:gd name="adj" fmla="val 13333"/>
            </a:avLst>
          </a:prstGeom>
          <a:solidFill>
            <a:srgbClr val="0B1220"/>
          </a:solidFill>
          <a:ln/>
        </p:spPr>
      </p:sp>
      <p:sp>
        <p:nvSpPr>
          <p:cNvPr id="18" name="Text 15"/>
          <p:cNvSpPr txBox="1"/>
          <p:nvPr/>
        </p:nvSpPr>
        <p:spPr>
          <a:xfrm>
            <a:off x="822960" y="5257800"/>
            <a:ext cx="10545775" cy="685800"/>
          </a:xfrm>
          <a:prstGeom prst="rect">
            <a:avLst/>
          </a:prstGeom>
          <a:noFill/>
          <a:ln/>
        </p:spPr>
        <p:txBody>
          <a:bodyPr wrap="square" lIns="0" tIns="0" rIns="0" bIns="0" rtlCol="0" anchor="ctr"/>
          <a:lstStyle/>
          <a:p>
            <a:pPr indent="0" marL="0">
              <a:buNone/>
            </a:pPr>
            <a:r>
              <a:rPr lang="en-US" sz="1600" b="1" dirty="0">
                <a:solidFill>
                  <a:srgbClr val="F59E0B"/>
                </a:solidFill>
              </a:rPr>
              <a:t>Espigada, por eventos y sin estado → serverless.   </a:t>
            </a:r>
            <a:pPr indent="0" marL="0">
              <a:buNone/>
            </a:pPr>
            <a:r>
              <a:rPr lang="en-US" sz="1600" b="1" dirty="0">
                <a:solidFill>
                  <a:srgbClr val="FFFFFF"/>
                </a:solidFill>
              </a:rPr>
              <a:t>Constante, de baja latencia o con estado → contenedores o VMs.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ph idx="100" type="body" hasCustomPrompt="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F766E"/>
                </a:solidFill>
              </a:rPr>
              <a:t>04 · LÍMITES Y FUTURO</a:t>
            </a:r>
            <a:endParaRPr lang="en-US" sz="1200" dirty="0"/>
          </a:p>
        </p:txBody>
      </p:sp>
      <p:sp>
        <p:nvSpPr>
          <p:cNvPr id="4" name="Text 0"/>
          <p:cNvSpPr/>
          <p:nvPr>
            <p:ph idx="101" type="title" hasCustomPrompt="1"/>
          </p:nvPr>
        </p:nvSpPr>
        <p:spPr>
          <a:xfrm>
            <a:off x="548640" y="640080"/>
            <a:ext cx="11094415" cy="731520"/>
          </a:xfrm>
          <a:prstGeom prst="rect">
            <a:avLst/>
          </a:prstGeom>
          <a:noFill/>
          <a:ln/>
        </p:spPr>
        <p:txBody>
          <a:bodyPr wrap="square" lIns="0" tIns="0" rIns="0" bIns="0" rtlCol="0" anchor="ctr"/>
          <a:lstStyle/>
          <a:p>
            <a:pPr algn="l" indent="0" marL="0">
              <a:buNone/>
            </a:pPr>
            <a:r>
              <a:rPr lang="en-US" sz="3000" b="1" dirty="0">
                <a:solidFill>
                  <a:srgbClr val="0B1220"/>
                </a:solidFill>
                <a:latin typeface="Arial" pitchFamily="34" charset="0"/>
                <a:ea typeface="Arial" pitchFamily="34" charset="-122"/>
                <a:cs typeface="Arial" pitchFamily="34" charset="-120"/>
              </a:rPr>
              <a:t>Prime Video: el contraejemplo de Amazon</a:t>
            </a:r>
            <a:endParaRPr lang="en-US" sz="3000" dirty="0"/>
          </a:p>
        </p:txBody>
      </p:sp>
      <p:sp>
        <p:nvSpPr>
          <p:cNvPr id="5" name="tarjeta"/>
          <p:cNvSpPr/>
          <p:nvPr/>
        </p:nvSpPr>
        <p:spPr>
          <a:xfrm>
            <a:off x="548640" y="1600200"/>
            <a:ext cx="3291840" cy="3108960"/>
          </a:xfrm>
          <a:prstGeom prst="roundRect">
            <a:avLst>
              <a:gd name="adj" fmla="val 2941"/>
            </a:avLst>
          </a:prstGeom>
          <a:solidFill>
            <a:srgbClr val="0B1220"/>
          </a:solidFill>
          <a:ln/>
        </p:spPr>
      </p:sp>
      <p:sp>
        <p:nvSpPr>
          <p:cNvPr id="6" name="Text 3"/>
          <p:cNvSpPr txBox="1"/>
          <p:nvPr/>
        </p:nvSpPr>
        <p:spPr>
          <a:xfrm>
            <a:off x="822960" y="1874520"/>
            <a:ext cx="2743200" cy="1280160"/>
          </a:xfrm>
          <a:prstGeom prst="rect">
            <a:avLst/>
          </a:prstGeom>
          <a:noFill/>
          <a:ln/>
        </p:spPr>
        <p:txBody>
          <a:bodyPr wrap="square" lIns="0" tIns="0" rIns="0" bIns="0" rtlCol="0" anchor="ctr"/>
          <a:lstStyle/>
          <a:p>
            <a:pPr indent="0" marL="0">
              <a:buNone/>
            </a:pPr>
            <a:r>
              <a:rPr lang="en-US" sz="6400" b="1" dirty="0">
                <a:solidFill>
                  <a:srgbClr val="F59E0B"/>
                </a:solidFill>
                <a:latin typeface="Arial" pitchFamily="34" charset="0"/>
                <a:ea typeface="Arial" pitchFamily="34" charset="-122"/>
                <a:cs typeface="Arial" pitchFamily="34" charset="-120"/>
              </a:rPr>
              <a:t>−90 %</a:t>
            </a:r>
            <a:endParaRPr lang="en-US" sz="6400" dirty="0"/>
          </a:p>
        </p:txBody>
      </p:sp>
      <p:sp>
        <p:nvSpPr>
          <p:cNvPr id="7" name="Text 4"/>
          <p:cNvSpPr txBox="1"/>
          <p:nvPr/>
        </p:nvSpPr>
        <p:spPr>
          <a:xfrm>
            <a:off x="822960" y="3200400"/>
            <a:ext cx="2743200" cy="1280160"/>
          </a:xfrm>
          <a:prstGeom prst="rect">
            <a:avLst/>
          </a:prstGeom>
          <a:noFill/>
          <a:ln/>
        </p:spPr>
        <p:txBody>
          <a:bodyPr wrap="square" lIns="0" tIns="0" rIns="0" bIns="0" rtlCol="0" anchor="t"/>
          <a:lstStyle/>
          <a:p>
            <a:pPr indent="0" marL="0">
              <a:buNone/>
            </a:pPr>
            <a:r>
              <a:rPr lang="en-US" sz="1500" dirty="0">
                <a:solidFill>
                  <a:srgbClr val="CBD5E1"/>
                </a:solidFill>
              </a:rPr>
              <a:t>de costo en el sistema de monitoreo de calidad de streams (Amazon, 2023)</a:t>
            </a:r>
            <a:endParaRPr lang="en-US" sz="1500" dirty="0"/>
          </a:p>
        </p:txBody>
      </p:sp>
      <p:sp>
        <p:nvSpPr>
          <p:cNvPr id="8" name="tarjeta"/>
          <p:cNvSpPr/>
          <p:nvPr/>
        </p:nvSpPr>
        <p:spPr>
          <a:xfrm>
            <a:off x="4206240" y="1600200"/>
            <a:ext cx="3337560" cy="3108960"/>
          </a:xfrm>
          <a:prstGeom prst="roundRect">
            <a:avLst>
              <a:gd name="adj" fmla="val 2941"/>
            </a:avLst>
          </a:prstGeom>
          <a:solidFill>
            <a:srgbClr val="F1F5F9"/>
          </a:solidFill>
          <a:ln/>
        </p:spPr>
      </p:sp>
      <p:sp>
        <p:nvSpPr>
          <p:cNvPr id="9" name="Text 6"/>
          <p:cNvSpPr txBox="1"/>
          <p:nvPr/>
        </p:nvSpPr>
        <p:spPr>
          <a:xfrm>
            <a:off x="4480560" y="1783080"/>
            <a:ext cx="2788920" cy="411480"/>
          </a:xfrm>
          <a:prstGeom prst="rect">
            <a:avLst/>
          </a:prstGeom>
          <a:noFill/>
          <a:ln/>
        </p:spPr>
        <p:txBody>
          <a:bodyPr wrap="square" lIns="0" tIns="0" rIns="0" bIns="0" rtlCol="0" anchor="t"/>
          <a:lstStyle/>
          <a:p>
            <a:pPr indent="0" marL="0">
              <a:buNone/>
            </a:pPr>
            <a:r>
              <a:rPr lang="en-US" sz="1900" b="1" dirty="0">
                <a:solidFill>
                  <a:srgbClr val="0B1220"/>
                </a:solidFill>
              </a:rPr>
              <a:t>Antes</a:t>
            </a:r>
            <a:endParaRPr lang="en-US" sz="1900" dirty="0"/>
          </a:p>
        </p:txBody>
      </p:sp>
      <p:sp>
        <p:nvSpPr>
          <p:cNvPr id="10" name="Text 7"/>
          <p:cNvSpPr txBox="1"/>
          <p:nvPr/>
        </p:nvSpPr>
        <p:spPr>
          <a:xfrm>
            <a:off x="4480560" y="2331720"/>
            <a:ext cx="2788920" cy="224028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334155"/>
                </a:solidFill>
              </a:rPr>
              <a:t>Funciones encadenadas (Step Functions + Lambda)</a:t>
            </a:r>
            <a:endParaRPr lang="en-US" sz="1500" dirty="0"/>
          </a:p>
          <a:p>
            <a:pPr marL="342900" indent="-342900">
              <a:spcAft>
                <a:spcPts val="900"/>
              </a:spcAft>
              <a:buSzPct val="100000"/>
              <a:buChar char="•"/>
            </a:pPr>
            <a:r>
              <a:rPr lang="en-US" sz="1500" dirty="0">
                <a:solidFill>
                  <a:srgbClr val="334155"/>
                </a:solidFill>
              </a:rPr>
              <a:t>Varias transiciones por cada segundo de video</a:t>
            </a:r>
            <a:endParaRPr lang="en-US" sz="1500" dirty="0"/>
          </a:p>
          <a:p>
            <a:pPr marL="342900" indent="-342900">
              <a:spcAft>
                <a:spcPts val="900"/>
              </a:spcAft>
              <a:buSzPct val="100000"/>
              <a:buChar char="•"/>
            </a:pPr>
            <a:r>
              <a:rPr lang="en-US" sz="1500" dirty="0">
                <a:solidFill>
                  <a:srgbClr val="334155"/>
                </a:solidFill>
              </a:rPr>
              <a:t>Los datos viajaban entre etapas por la red y S3</a:t>
            </a:r>
            <a:endParaRPr lang="en-US" sz="1500" dirty="0"/>
          </a:p>
        </p:txBody>
      </p:sp>
      <p:sp>
        <p:nvSpPr>
          <p:cNvPr id="11" name="tarjeta"/>
          <p:cNvSpPr/>
          <p:nvPr/>
        </p:nvSpPr>
        <p:spPr>
          <a:xfrm>
            <a:off x="8229600" y="1600200"/>
            <a:ext cx="3337560" cy="3108960"/>
          </a:xfrm>
          <a:prstGeom prst="roundRect">
            <a:avLst>
              <a:gd name="adj" fmla="val 2941"/>
            </a:avLst>
          </a:prstGeom>
          <a:solidFill>
            <a:srgbClr val="0F766E">
              <a:alpha val="12000"/>
            </a:srgbClr>
          </a:solidFill>
          <a:ln/>
        </p:spPr>
      </p:sp>
      <p:sp>
        <p:nvSpPr>
          <p:cNvPr id="12" name="Text 9"/>
          <p:cNvSpPr txBox="1"/>
          <p:nvPr/>
        </p:nvSpPr>
        <p:spPr>
          <a:xfrm>
            <a:off x="8503920" y="1783080"/>
            <a:ext cx="2788920" cy="411480"/>
          </a:xfrm>
          <a:prstGeom prst="rect">
            <a:avLst/>
          </a:prstGeom>
          <a:noFill/>
          <a:ln/>
        </p:spPr>
        <p:txBody>
          <a:bodyPr wrap="square" lIns="0" tIns="0" rIns="0" bIns="0" rtlCol="0" anchor="t"/>
          <a:lstStyle/>
          <a:p>
            <a:pPr indent="0" marL="0">
              <a:buNone/>
            </a:pPr>
            <a:r>
              <a:rPr lang="en-US" sz="1900" b="1" dirty="0">
                <a:solidFill>
                  <a:srgbClr val="0B1220"/>
                </a:solidFill>
              </a:rPr>
              <a:t>Después</a:t>
            </a:r>
            <a:endParaRPr lang="en-US" sz="1900" dirty="0"/>
          </a:p>
        </p:txBody>
      </p:sp>
      <p:sp>
        <p:nvSpPr>
          <p:cNvPr id="13" name="Text 10"/>
          <p:cNvSpPr txBox="1"/>
          <p:nvPr/>
        </p:nvSpPr>
        <p:spPr>
          <a:xfrm>
            <a:off x="8503920" y="2331720"/>
            <a:ext cx="2788920" cy="224028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334155"/>
                </a:solidFill>
              </a:rPr>
              <a:t>Un solo proceso en contenedores (ECS)</a:t>
            </a:r>
            <a:endParaRPr lang="en-US" sz="1500" dirty="0"/>
          </a:p>
          <a:p>
            <a:pPr marL="342900" indent="-342900">
              <a:spcAft>
                <a:spcPts val="900"/>
              </a:spcAft>
              <a:buSzPct val="100000"/>
              <a:buChar char="•"/>
            </a:pPr>
            <a:r>
              <a:rPr lang="en-US" sz="1500" dirty="0">
                <a:solidFill>
                  <a:srgbClr val="334155"/>
                </a:solidFill>
              </a:rPr>
              <a:t>Conversión y detección juntas, en memoria</a:t>
            </a:r>
            <a:endParaRPr lang="en-US" sz="1500" dirty="0"/>
          </a:p>
          <a:p>
            <a:pPr marL="342900" indent="-342900">
              <a:spcAft>
                <a:spcPts val="900"/>
              </a:spcAft>
              <a:buSzPct val="100000"/>
              <a:buChar char="•"/>
            </a:pPr>
            <a:r>
              <a:rPr lang="en-US" sz="1500" dirty="0">
                <a:solidFill>
                  <a:srgbClr val="334155"/>
                </a:solidFill>
              </a:rPr>
              <a:t>Sin mover datos entre etapas</a:t>
            </a:r>
            <a:endParaRPr lang="en-US" sz="1500" dirty="0"/>
          </a:p>
        </p:txBody>
      </p:sp>
      <p:sp>
        <p:nvSpPr>
          <p:cNvPr id="14" name="Shape 11"/>
          <p:cNvSpPr/>
          <p:nvPr/>
        </p:nvSpPr>
        <p:spPr>
          <a:xfrm>
            <a:off x="7635240" y="3154680"/>
            <a:ext cx="502920" cy="914"/>
          </a:xfrm>
          <a:prstGeom prst="line">
            <a:avLst/>
          </a:prstGeom>
          <a:noFill/>
          <a:ln w="25400">
            <a:solidFill>
              <a:srgbClr val="F59E0B"/>
            </a:solidFill>
            <a:prstDash val="solid"/>
            <a:tailEnd type="triangle"/>
          </a:ln>
        </p:spPr>
      </p:sp>
      <p:sp>
        <p:nvSpPr>
          <p:cNvPr id="15" name="tarjeta"/>
          <p:cNvSpPr/>
          <p:nvPr/>
        </p:nvSpPr>
        <p:spPr>
          <a:xfrm>
            <a:off x="548640" y="4983480"/>
            <a:ext cx="11094415" cy="960120"/>
          </a:xfrm>
          <a:prstGeom prst="roundRect">
            <a:avLst>
              <a:gd name="adj" fmla="val 9524"/>
            </a:avLst>
          </a:prstGeom>
          <a:solidFill>
            <a:srgbClr val="F1F5F9"/>
          </a:solidFill>
          <a:ln/>
        </p:spPr>
      </p:sp>
      <p:sp>
        <p:nvSpPr>
          <p:cNvPr id="16" name="insignia"/>
          <p:cNvSpPr/>
          <p:nvPr/>
        </p:nvSpPr>
        <p:spPr>
          <a:xfrm>
            <a:off x="822960" y="5230368"/>
            <a:ext cx="457200" cy="457200"/>
          </a:xfrm>
          <a:prstGeom prst="ellipse">
            <a:avLst/>
          </a:prstGeom>
          <a:solidFill>
            <a:srgbClr val="F59E0B"/>
          </a:solidFill>
          <a:ln/>
        </p:spPr>
      </p:sp>
      <p:sp>
        <p:nvSpPr>
          <p:cNvPr id="17" name="Text 14"/>
          <p:cNvSpPr txBox="1"/>
          <p:nvPr/>
        </p:nvSpPr>
        <p:spPr>
          <a:xfrm>
            <a:off x="822960" y="5230368"/>
            <a:ext cx="457200" cy="457200"/>
          </a:xfrm>
          <a:prstGeom prst="rect">
            <a:avLst/>
          </a:prstGeom>
          <a:noFill/>
          <a:ln/>
        </p:spPr>
        <p:txBody>
          <a:bodyPr wrap="square" lIns="0" tIns="0" rIns="0" bIns="0" rtlCol="0" anchor="ctr"/>
          <a:lstStyle/>
          <a:p>
            <a:pPr algn="ctr" indent="0" marL="0">
              <a:buNone/>
            </a:pPr>
            <a:r>
              <a:rPr lang="en-US" sz="1600" b="1" dirty="0">
                <a:solidFill>
                  <a:srgbClr val="0B1220"/>
                </a:solidFill>
                <a:latin typeface="Arial" pitchFamily="34" charset="0"/>
                <a:ea typeface="Arial" pitchFamily="34" charset="-122"/>
                <a:cs typeface="Arial" pitchFamily="34" charset="-120"/>
              </a:rPr>
              <a:t>→</a:t>
            </a:r>
            <a:endParaRPr lang="en-US" sz="1600" dirty="0"/>
          </a:p>
        </p:txBody>
      </p:sp>
      <p:sp>
        <p:nvSpPr>
          <p:cNvPr id="18" name="Text 15"/>
          <p:cNvSpPr txBox="1"/>
          <p:nvPr/>
        </p:nvSpPr>
        <p:spPr>
          <a:xfrm>
            <a:off x="1508760" y="4983480"/>
            <a:ext cx="9859975" cy="960120"/>
          </a:xfrm>
          <a:prstGeom prst="rect">
            <a:avLst/>
          </a:prstGeom>
          <a:noFill/>
          <a:ln/>
        </p:spPr>
        <p:txBody>
          <a:bodyPr wrap="square" lIns="0" tIns="0" rIns="0" bIns="0" rtlCol="0" anchor="ctr"/>
          <a:lstStyle/>
          <a:p>
            <a:pPr indent="0" marL="0">
              <a:buNone/>
            </a:pPr>
            <a:r>
              <a:rPr lang="en-US" sz="1600" b="1" dirty="0">
                <a:solidFill>
                  <a:srgbClr val="0B1220"/>
                </a:solidFill>
              </a:rPr>
              <a:t>La lección no es «serverless es malo»: </a:t>
            </a:r>
            <a:pPr indent="0" marL="0">
              <a:buNone/>
            </a:pPr>
            <a:r>
              <a:rPr lang="en-US" sz="1600" dirty="0">
                <a:solidFill>
                  <a:srgbClr val="334155"/>
                </a:solidFill>
              </a:rPr>
              <a:t>cuando comunicar cuesta más que computar, hay que juntar los componentes, no separarlos.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p:nvPr>
            <p:ph idx="100" type="body" hasCustomPrompt="1"/>
          </p:nvPr>
        </p:nvSpPr>
        <p:spPr>
          <a:xfrm>
            <a:off x="548640" y="320040"/>
            <a:ext cx="7315200" cy="320040"/>
          </a:xfrm>
          <a:prstGeom prst="rect">
            <a:avLst/>
          </a:prstGeom>
          <a:noFill/>
          <a:ln/>
        </p:spPr>
        <p:txBody>
          <a:bodyPr wrap="square" lIns="0" tIns="0" rIns="0" bIns="0" rtlCol="0" anchor="ctr"/>
          <a:lstStyle/>
          <a:p>
            <a:pPr indent="0" marL="0">
              <a:buNone/>
            </a:pPr>
            <a:r>
              <a:rPr lang="en-US" sz="1200" b="1" spc="200" kern="0" dirty="0">
                <a:solidFill>
                  <a:srgbClr val="0F766E"/>
                </a:solidFill>
              </a:rPr>
              <a:t>04 · LÍMITES Y FUTURO</a:t>
            </a:r>
            <a:endParaRPr lang="en-US" sz="1200" dirty="0"/>
          </a:p>
        </p:txBody>
      </p:sp>
      <p:sp>
        <p:nvSpPr>
          <p:cNvPr id="4" name="Text 0"/>
          <p:cNvSpPr/>
          <p:nvPr>
            <p:ph idx="101" type="title" hasCustomPrompt="1"/>
          </p:nvPr>
        </p:nvSpPr>
        <p:spPr>
          <a:xfrm>
            <a:off x="548640" y="640080"/>
            <a:ext cx="11094415" cy="731520"/>
          </a:xfrm>
          <a:prstGeom prst="rect">
            <a:avLst/>
          </a:prstGeom>
          <a:noFill/>
          <a:ln/>
        </p:spPr>
        <p:txBody>
          <a:bodyPr wrap="square" lIns="0" tIns="0" rIns="0" bIns="0" rtlCol="0" anchor="ctr"/>
          <a:lstStyle/>
          <a:p>
            <a:pPr algn="l" indent="0" marL="0">
              <a:buNone/>
            </a:pPr>
            <a:r>
              <a:rPr lang="en-US" sz="3000" b="1" dirty="0">
                <a:solidFill>
                  <a:srgbClr val="0B1220"/>
                </a:solidFill>
                <a:latin typeface="Arial" pitchFamily="34" charset="0"/>
                <a:ea typeface="Arial" pitchFamily="34" charset="-122"/>
                <a:cs typeface="Arial" pitchFamily="34" charset="-120"/>
              </a:rPr>
              <a:t>2026: el serverless «puro» se flexibiliza</a:t>
            </a:r>
            <a:endParaRPr lang="en-US" sz="3000" dirty="0"/>
          </a:p>
        </p:txBody>
      </p:sp>
      <p:sp>
        <p:nvSpPr>
          <p:cNvPr id="5" name="tarjeta"/>
          <p:cNvSpPr/>
          <p:nvPr/>
        </p:nvSpPr>
        <p:spPr>
          <a:xfrm>
            <a:off x="548640" y="1600200"/>
            <a:ext cx="5364328" cy="1965960"/>
          </a:xfrm>
          <a:prstGeom prst="roundRect">
            <a:avLst>
              <a:gd name="adj" fmla="val 4651"/>
            </a:avLst>
          </a:prstGeom>
          <a:solidFill>
            <a:srgbClr val="F1F5F9"/>
          </a:solidFill>
          <a:ln/>
        </p:spPr>
      </p:sp>
      <p:sp>
        <p:nvSpPr>
          <p:cNvPr id="6" name="insignia"/>
          <p:cNvSpPr/>
          <p:nvPr/>
        </p:nvSpPr>
        <p:spPr>
          <a:xfrm>
            <a:off x="822960" y="1874520"/>
            <a:ext cx="457200" cy="457200"/>
          </a:xfrm>
          <a:prstGeom prst="ellipse">
            <a:avLst/>
          </a:prstGeom>
          <a:solidFill>
            <a:srgbClr val="F59E0B"/>
          </a:solidFill>
          <a:ln/>
        </p:spPr>
      </p:sp>
      <p:sp>
        <p:nvSpPr>
          <p:cNvPr id="7" name="Text 4"/>
          <p:cNvSpPr txBox="1"/>
          <p:nvPr/>
        </p:nvSpPr>
        <p:spPr>
          <a:xfrm>
            <a:off x="822960" y="1874520"/>
            <a:ext cx="457200" cy="457200"/>
          </a:xfrm>
          <a:prstGeom prst="rect">
            <a:avLst/>
          </a:prstGeom>
          <a:noFill/>
          <a:ln/>
        </p:spPr>
        <p:txBody>
          <a:bodyPr wrap="square" lIns="0" tIns="0" rIns="0" bIns="0" rtlCol="0" anchor="ctr"/>
          <a:lstStyle/>
          <a:p>
            <a:pPr algn="ctr" indent="0" marL="0">
              <a:buNone/>
            </a:pPr>
            <a:r>
              <a:rPr lang="en-US" sz="1600" b="1" dirty="0">
                <a:solidFill>
                  <a:srgbClr val="0B1220"/>
                </a:solidFill>
                <a:latin typeface="Arial" pitchFamily="34" charset="0"/>
                <a:ea typeface="Arial" pitchFamily="34" charset="-122"/>
                <a:cs typeface="Arial" pitchFamily="34" charset="-120"/>
              </a:rPr>
              <a:t>1</a:t>
            </a:r>
            <a:endParaRPr lang="en-US" sz="1600" dirty="0"/>
          </a:p>
        </p:txBody>
      </p:sp>
      <p:sp>
        <p:nvSpPr>
          <p:cNvPr id="8" name="Text 5"/>
          <p:cNvSpPr txBox="1"/>
          <p:nvPr/>
        </p:nvSpPr>
        <p:spPr>
          <a:xfrm>
            <a:off x="1463040" y="1874520"/>
            <a:ext cx="4175608" cy="457200"/>
          </a:xfrm>
          <a:prstGeom prst="rect">
            <a:avLst/>
          </a:prstGeom>
          <a:noFill/>
          <a:ln/>
        </p:spPr>
        <p:txBody>
          <a:bodyPr wrap="square" lIns="0" tIns="0" rIns="0" bIns="0" rtlCol="0" anchor="ctr"/>
          <a:lstStyle/>
          <a:p>
            <a:pPr indent="0" marL="0">
              <a:buNone/>
            </a:pPr>
            <a:r>
              <a:rPr lang="en-US" sz="1900" b="1" dirty="0">
                <a:solidFill>
                  <a:srgbClr val="0B1220"/>
                </a:solidFill>
              </a:rPr>
              <a:t>Lambda Managed Instances</a:t>
            </a:r>
            <a:endParaRPr lang="en-US" sz="1900" dirty="0"/>
          </a:p>
        </p:txBody>
      </p:sp>
      <p:sp>
        <p:nvSpPr>
          <p:cNvPr id="9" name="Text 6"/>
          <p:cNvSpPr txBox="1"/>
          <p:nvPr/>
        </p:nvSpPr>
        <p:spPr>
          <a:xfrm>
            <a:off x="1463040" y="2423160"/>
            <a:ext cx="4175608" cy="1005840"/>
          </a:xfrm>
          <a:prstGeom prst="rect">
            <a:avLst/>
          </a:prstGeom>
          <a:noFill/>
          <a:ln/>
        </p:spPr>
        <p:txBody>
          <a:bodyPr wrap="square" lIns="0" tIns="0" rIns="0" bIns="0" rtlCol="0" anchor="t"/>
          <a:lstStyle/>
          <a:p>
            <a:pPr indent="0" marL="0">
              <a:buNone/>
            </a:pPr>
            <a:r>
              <a:rPr lang="en-US" sz="1500" dirty="0">
                <a:solidFill>
                  <a:srgbClr val="334155"/>
                </a:solidFill>
              </a:rPr>
              <a:t>Funciones sobre servidores EC2 para cargas estables, con varios pedidos por entorno. AWS admite el punto de cruce.</a:t>
            </a:r>
            <a:endParaRPr lang="en-US" sz="1500" dirty="0"/>
          </a:p>
        </p:txBody>
      </p:sp>
      <p:sp>
        <p:nvSpPr>
          <p:cNvPr id="10" name="tarjeta"/>
          <p:cNvSpPr/>
          <p:nvPr/>
        </p:nvSpPr>
        <p:spPr>
          <a:xfrm>
            <a:off x="6278728" y="1600200"/>
            <a:ext cx="5364328" cy="1965960"/>
          </a:xfrm>
          <a:prstGeom prst="roundRect">
            <a:avLst>
              <a:gd name="adj" fmla="val 4651"/>
            </a:avLst>
          </a:prstGeom>
          <a:solidFill>
            <a:srgbClr val="F1F5F9"/>
          </a:solidFill>
          <a:ln/>
        </p:spPr>
      </p:sp>
      <p:sp>
        <p:nvSpPr>
          <p:cNvPr id="11" name="insignia"/>
          <p:cNvSpPr/>
          <p:nvPr/>
        </p:nvSpPr>
        <p:spPr>
          <a:xfrm>
            <a:off x="6553048" y="1874520"/>
            <a:ext cx="457200" cy="457200"/>
          </a:xfrm>
          <a:prstGeom prst="ellipse">
            <a:avLst/>
          </a:prstGeom>
          <a:solidFill>
            <a:srgbClr val="F59E0B"/>
          </a:solidFill>
          <a:ln/>
        </p:spPr>
      </p:sp>
      <p:sp>
        <p:nvSpPr>
          <p:cNvPr id="12" name="Text 9"/>
          <p:cNvSpPr txBox="1"/>
          <p:nvPr/>
        </p:nvSpPr>
        <p:spPr>
          <a:xfrm>
            <a:off x="6553048" y="1874520"/>
            <a:ext cx="457200" cy="457200"/>
          </a:xfrm>
          <a:prstGeom prst="rect">
            <a:avLst/>
          </a:prstGeom>
          <a:noFill/>
          <a:ln/>
        </p:spPr>
        <p:txBody>
          <a:bodyPr wrap="square" lIns="0" tIns="0" rIns="0" bIns="0" rtlCol="0" anchor="ctr"/>
          <a:lstStyle/>
          <a:p>
            <a:pPr algn="ctr" indent="0" marL="0">
              <a:buNone/>
            </a:pPr>
            <a:r>
              <a:rPr lang="en-US" sz="1600" b="1" dirty="0">
                <a:solidFill>
                  <a:srgbClr val="0B1220"/>
                </a:solidFill>
                <a:latin typeface="Arial" pitchFamily="34" charset="0"/>
                <a:ea typeface="Arial" pitchFamily="34" charset="-122"/>
                <a:cs typeface="Arial" pitchFamily="34" charset="-120"/>
              </a:rPr>
              <a:t>2</a:t>
            </a:r>
            <a:endParaRPr lang="en-US" sz="1600" dirty="0"/>
          </a:p>
        </p:txBody>
      </p:sp>
      <p:sp>
        <p:nvSpPr>
          <p:cNvPr id="13" name="Text 10"/>
          <p:cNvSpPr txBox="1"/>
          <p:nvPr/>
        </p:nvSpPr>
        <p:spPr>
          <a:xfrm>
            <a:off x="7193128" y="1874520"/>
            <a:ext cx="4175608" cy="457200"/>
          </a:xfrm>
          <a:prstGeom prst="rect">
            <a:avLst/>
          </a:prstGeom>
          <a:noFill/>
          <a:ln/>
        </p:spPr>
        <p:txBody>
          <a:bodyPr wrap="square" lIns="0" tIns="0" rIns="0" bIns="0" rtlCol="0" anchor="ctr"/>
          <a:lstStyle/>
          <a:p>
            <a:pPr indent="0" marL="0">
              <a:buNone/>
            </a:pPr>
            <a:r>
              <a:rPr lang="en-US" sz="1900" b="1" dirty="0">
                <a:solidFill>
                  <a:srgbClr val="0B1220"/>
                </a:solidFill>
              </a:rPr>
              <a:t>Lambda MicroVMs</a:t>
            </a:r>
            <a:endParaRPr lang="en-US" sz="1900" dirty="0"/>
          </a:p>
        </p:txBody>
      </p:sp>
      <p:sp>
        <p:nvSpPr>
          <p:cNvPr id="14" name="Text 11"/>
          <p:cNvSpPr txBox="1"/>
          <p:nvPr/>
        </p:nvSpPr>
        <p:spPr>
          <a:xfrm>
            <a:off x="7193128" y="2423160"/>
            <a:ext cx="4175608" cy="1005840"/>
          </a:xfrm>
          <a:prstGeom prst="rect">
            <a:avLst/>
          </a:prstGeom>
          <a:noFill/>
          <a:ln/>
        </p:spPr>
        <p:txBody>
          <a:bodyPr wrap="square" lIns="0" tIns="0" rIns="0" bIns="0" rtlCol="0" anchor="t"/>
          <a:lstStyle/>
          <a:p>
            <a:pPr indent="0" marL="0">
              <a:buNone/>
            </a:pPr>
            <a:r>
              <a:rPr lang="en-US" sz="1500" dirty="0">
                <a:solidFill>
                  <a:srgbClr val="334155"/>
                </a:solidFill>
              </a:rPr>
              <a:t>Sesiones de hasta 8 h que conservan estado (anunciado en julio de 2026). Rompe «efímero» y «sin estado».</a:t>
            </a:r>
            <a:endParaRPr lang="en-US" sz="1500" dirty="0"/>
          </a:p>
        </p:txBody>
      </p:sp>
      <p:sp>
        <p:nvSpPr>
          <p:cNvPr id="15" name="tarjeta"/>
          <p:cNvSpPr/>
          <p:nvPr/>
        </p:nvSpPr>
        <p:spPr>
          <a:xfrm>
            <a:off x="548640" y="3886200"/>
            <a:ext cx="5364328" cy="1965960"/>
          </a:xfrm>
          <a:prstGeom prst="roundRect">
            <a:avLst>
              <a:gd name="adj" fmla="val 4651"/>
            </a:avLst>
          </a:prstGeom>
          <a:solidFill>
            <a:srgbClr val="F1F5F9"/>
          </a:solidFill>
          <a:ln/>
        </p:spPr>
      </p:sp>
      <p:sp>
        <p:nvSpPr>
          <p:cNvPr id="16" name="insignia"/>
          <p:cNvSpPr/>
          <p:nvPr/>
        </p:nvSpPr>
        <p:spPr>
          <a:xfrm>
            <a:off x="822960" y="4160520"/>
            <a:ext cx="457200" cy="457200"/>
          </a:xfrm>
          <a:prstGeom prst="ellipse">
            <a:avLst/>
          </a:prstGeom>
          <a:solidFill>
            <a:srgbClr val="F59E0B"/>
          </a:solidFill>
          <a:ln/>
        </p:spPr>
      </p:sp>
      <p:sp>
        <p:nvSpPr>
          <p:cNvPr id="17" name="Text 14"/>
          <p:cNvSpPr txBox="1"/>
          <p:nvPr/>
        </p:nvSpPr>
        <p:spPr>
          <a:xfrm>
            <a:off x="822960" y="4160520"/>
            <a:ext cx="457200" cy="457200"/>
          </a:xfrm>
          <a:prstGeom prst="rect">
            <a:avLst/>
          </a:prstGeom>
          <a:noFill/>
          <a:ln/>
        </p:spPr>
        <p:txBody>
          <a:bodyPr wrap="square" lIns="0" tIns="0" rIns="0" bIns="0" rtlCol="0" anchor="ctr"/>
          <a:lstStyle/>
          <a:p>
            <a:pPr algn="ctr" indent="0" marL="0">
              <a:buNone/>
            </a:pPr>
            <a:r>
              <a:rPr lang="en-US" sz="1600" b="1" dirty="0">
                <a:solidFill>
                  <a:srgbClr val="0B1220"/>
                </a:solidFill>
                <a:latin typeface="Arial" pitchFamily="34" charset="0"/>
                <a:ea typeface="Arial" pitchFamily="34" charset="-122"/>
                <a:cs typeface="Arial" pitchFamily="34" charset="-120"/>
              </a:rPr>
              <a:t>3</a:t>
            </a:r>
            <a:endParaRPr lang="en-US" sz="1600" dirty="0"/>
          </a:p>
        </p:txBody>
      </p:sp>
      <p:sp>
        <p:nvSpPr>
          <p:cNvPr id="18" name="Text 15"/>
          <p:cNvSpPr txBox="1"/>
          <p:nvPr/>
        </p:nvSpPr>
        <p:spPr>
          <a:xfrm>
            <a:off x="1463040" y="4160520"/>
            <a:ext cx="4175608" cy="457200"/>
          </a:xfrm>
          <a:prstGeom prst="rect">
            <a:avLst/>
          </a:prstGeom>
          <a:noFill/>
          <a:ln/>
        </p:spPr>
        <p:txBody>
          <a:bodyPr wrap="square" lIns="0" tIns="0" rIns="0" bIns="0" rtlCol="0" anchor="ctr"/>
          <a:lstStyle/>
          <a:p>
            <a:pPr indent="0" marL="0">
              <a:buNone/>
            </a:pPr>
            <a:r>
              <a:rPr lang="en-US" sz="1900" b="1" dirty="0">
                <a:solidFill>
                  <a:srgbClr val="0B1220"/>
                </a:solidFill>
              </a:rPr>
              <a:t>IA en el edge</a:t>
            </a:r>
            <a:endParaRPr lang="en-US" sz="1900" dirty="0"/>
          </a:p>
        </p:txBody>
      </p:sp>
      <p:sp>
        <p:nvSpPr>
          <p:cNvPr id="19" name="Text 16"/>
          <p:cNvSpPr txBox="1"/>
          <p:nvPr/>
        </p:nvSpPr>
        <p:spPr>
          <a:xfrm>
            <a:off x="1463040" y="4709160"/>
            <a:ext cx="4175608" cy="1005840"/>
          </a:xfrm>
          <a:prstGeom prst="rect">
            <a:avLst/>
          </a:prstGeom>
          <a:noFill/>
          <a:ln/>
        </p:spPr>
        <p:txBody>
          <a:bodyPr wrap="square" lIns="0" tIns="0" rIns="0" bIns="0" rtlCol="0" anchor="t"/>
          <a:lstStyle/>
          <a:p>
            <a:pPr indent="0" marL="0">
              <a:buNone/>
            </a:pPr>
            <a:r>
              <a:rPr lang="en-US" sz="1500" dirty="0">
                <a:solidFill>
                  <a:srgbClr val="334155"/>
                </a:solidFill>
              </a:rPr>
              <a:t>Inferencia en 300+ datacenters cerca del usuario; WebAssembly con arranques por debajo del milisegundo.</a:t>
            </a:r>
            <a:endParaRPr lang="en-US" sz="1500" dirty="0"/>
          </a:p>
        </p:txBody>
      </p:sp>
      <p:sp>
        <p:nvSpPr>
          <p:cNvPr id="20" name="tarjeta"/>
          <p:cNvSpPr/>
          <p:nvPr/>
        </p:nvSpPr>
        <p:spPr>
          <a:xfrm>
            <a:off x="6278728" y="3886200"/>
            <a:ext cx="5364328" cy="1965960"/>
          </a:xfrm>
          <a:prstGeom prst="roundRect">
            <a:avLst>
              <a:gd name="adj" fmla="val 4651"/>
            </a:avLst>
          </a:prstGeom>
          <a:solidFill>
            <a:srgbClr val="F1F5F9"/>
          </a:solidFill>
          <a:ln/>
        </p:spPr>
      </p:sp>
      <p:sp>
        <p:nvSpPr>
          <p:cNvPr id="21" name="insignia"/>
          <p:cNvSpPr/>
          <p:nvPr/>
        </p:nvSpPr>
        <p:spPr>
          <a:xfrm>
            <a:off x="6553048" y="4160520"/>
            <a:ext cx="457200" cy="457200"/>
          </a:xfrm>
          <a:prstGeom prst="ellipse">
            <a:avLst/>
          </a:prstGeom>
          <a:solidFill>
            <a:srgbClr val="F59E0B"/>
          </a:solidFill>
          <a:ln/>
        </p:spPr>
      </p:sp>
      <p:sp>
        <p:nvSpPr>
          <p:cNvPr id="22" name="Text 19"/>
          <p:cNvSpPr txBox="1"/>
          <p:nvPr/>
        </p:nvSpPr>
        <p:spPr>
          <a:xfrm>
            <a:off x="6553048" y="4160520"/>
            <a:ext cx="457200" cy="457200"/>
          </a:xfrm>
          <a:prstGeom prst="rect">
            <a:avLst/>
          </a:prstGeom>
          <a:noFill/>
          <a:ln/>
        </p:spPr>
        <p:txBody>
          <a:bodyPr wrap="square" lIns="0" tIns="0" rIns="0" bIns="0" rtlCol="0" anchor="ctr"/>
          <a:lstStyle/>
          <a:p>
            <a:pPr algn="ctr" indent="0" marL="0">
              <a:buNone/>
            </a:pPr>
            <a:r>
              <a:rPr lang="en-US" sz="1600" b="1" dirty="0">
                <a:solidFill>
                  <a:srgbClr val="0B1220"/>
                </a:solidFill>
                <a:latin typeface="Arial" pitchFamily="34" charset="0"/>
                <a:ea typeface="Arial" pitchFamily="34" charset="-122"/>
                <a:cs typeface="Arial" pitchFamily="34" charset="-120"/>
              </a:rPr>
              <a:t>4</a:t>
            </a:r>
            <a:endParaRPr lang="en-US" sz="1600" dirty="0"/>
          </a:p>
        </p:txBody>
      </p:sp>
      <p:sp>
        <p:nvSpPr>
          <p:cNvPr id="23" name="Text 20"/>
          <p:cNvSpPr txBox="1"/>
          <p:nvPr/>
        </p:nvSpPr>
        <p:spPr>
          <a:xfrm>
            <a:off x="7193128" y="4160520"/>
            <a:ext cx="4175608" cy="457200"/>
          </a:xfrm>
          <a:prstGeom prst="rect">
            <a:avLst/>
          </a:prstGeom>
          <a:noFill/>
          <a:ln/>
        </p:spPr>
        <p:txBody>
          <a:bodyPr wrap="square" lIns="0" tIns="0" rIns="0" bIns="0" rtlCol="0" anchor="ctr"/>
          <a:lstStyle/>
          <a:p>
            <a:pPr indent="0" marL="0">
              <a:buNone/>
            </a:pPr>
            <a:r>
              <a:rPr lang="en-US" sz="1900" b="1" dirty="0">
                <a:solidFill>
                  <a:srgbClr val="0B1220"/>
                </a:solidFill>
              </a:rPr>
              <a:t>Arquitecturas híbridas</a:t>
            </a:r>
            <a:endParaRPr lang="en-US" sz="1900" dirty="0"/>
          </a:p>
        </p:txBody>
      </p:sp>
      <p:sp>
        <p:nvSpPr>
          <p:cNvPr id="24" name="Text 21"/>
          <p:cNvSpPr txBox="1"/>
          <p:nvPr/>
        </p:nvSpPr>
        <p:spPr>
          <a:xfrm>
            <a:off x="7193128" y="4709160"/>
            <a:ext cx="4175608" cy="1005840"/>
          </a:xfrm>
          <a:prstGeom prst="rect">
            <a:avLst/>
          </a:prstGeom>
          <a:noFill/>
          <a:ln/>
        </p:spPr>
        <p:txBody>
          <a:bodyPr wrap="square" lIns="0" tIns="0" rIns="0" bIns="0" rtlCol="0" anchor="t"/>
          <a:lstStyle/>
          <a:p>
            <a:pPr indent="0" marL="0">
              <a:buNone/>
            </a:pPr>
            <a:r>
              <a:rPr lang="en-US" sz="1500" dirty="0">
                <a:solidFill>
                  <a:srgbClr val="334155"/>
                </a:solidFill>
              </a:rPr>
              <a:t>66 % de quienes usan funciones también usan contenedores. Cada carga va donde le conviene.</a:t>
            </a:r>
            <a:endParaRPr lang="en-US" sz="1500" dirty="0"/>
          </a:p>
        </p:txBody>
      </p:sp>
      <p:sp>
        <p:nvSpPr>
          <p:cNvPr id="25" name="Text 22"/>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000" i="1" dirty="0">
                <a:solidFill>
                  <a:srgbClr val="64748B"/>
                </a:solidFill>
              </a:rPr>
              <a:t>Fuentes: AWS (2026); Datadog, State of Serverless (2025); Cloudflare.</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txBox="1"/>
          <p:nvPr/>
        </p:nvSpPr>
        <p:spPr>
          <a:xfrm>
            <a:off x="548640" y="822960"/>
            <a:ext cx="7315200" cy="365760"/>
          </a:xfrm>
          <a:prstGeom prst="rect">
            <a:avLst/>
          </a:prstGeom>
          <a:noFill/>
          <a:ln/>
        </p:spPr>
        <p:txBody>
          <a:bodyPr wrap="square" lIns="0" tIns="0" rIns="0" bIns="0" rtlCol="0" anchor="t"/>
          <a:lstStyle/>
          <a:p>
            <a:pPr indent="0" marL="0">
              <a:buNone/>
            </a:pPr>
            <a:r>
              <a:rPr lang="en-US" sz="1300" b="1" spc="200" kern="0" dirty="0">
                <a:solidFill>
                  <a:srgbClr val="F59E0B"/>
                </a:solidFill>
              </a:rPr>
              <a:t>TRES IDEAS PARA LLEVARSE</a:t>
            </a:r>
            <a:endParaRPr lang="en-US" sz="1300" dirty="0"/>
          </a:p>
        </p:txBody>
      </p:sp>
      <p:sp>
        <p:nvSpPr>
          <p:cNvPr id="4" name="insignia"/>
          <p:cNvSpPr/>
          <p:nvPr/>
        </p:nvSpPr>
        <p:spPr>
          <a:xfrm>
            <a:off x="548640" y="1554480"/>
            <a:ext cx="594360" cy="594360"/>
          </a:xfrm>
          <a:prstGeom prst="ellipse">
            <a:avLst/>
          </a:prstGeom>
          <a:solidFill>
            <a:srgbClr val="F59E0B"/>
          </a:solidFill>
          <a:ln/>
        </p:spPr>
      </p:sp>
      <p:sp>
        <p:nvSpPr>
          <p:cNvPr id="5" name="Text 2"/>
          <p:cNvSpPr txBox="1"/>
          <p:nvPr/>
        </p:nvSpPr>
        <p:spPr>
          <a:xfrm>
            <a:off x="548640" y="1554480"/>
            <a:ext cx="594360" cy="594360"/>
          </a:xfrm>
          <a:prstGeom prst="rect">
            <a:avLst/>
          </a:prstGeom>
          <a:noFill/>
          <a:ln/>
        </p:spPr>
        <p:txBody>
          <a:bodyPr wrap="square" lIns="0" tIns="0" rIns="0" bIns="0" rtlCol="0" anchor="ctr"/>
          <a:lstStyle/>
          <a:p>
            <a:pPr algn="ctr" indent="0" marL="0">
              <a:buNone/>
            </a:pPr>
            <a:r>
              <a:rPr lang="en-US" sz="1600" b="1" dirty="0">
                <a:solidFill>
                  <a:srgbClr val="0B1220"/>
                </a:solidFill>
                <a:latin typeface="Arial" pitchFamily="34" charset="0"/>
                <a:ea typeface="Arial" pitchFamily="34" charset="-122"/>
                <a:cs typeface="Arial" pitchFamily="34" charset="-120"/>
              </a:rPr>
              <a:t>1</a:t>
            </a:r>
            <a:endParaRPr lang="en-US" sz="1600" dirty="0"/>
          </a:p>
        </p:txBody>
      </p:sp>
      <p:sp>
        <p:nvSpPr>
          <p:cNvPr id="6" name="Text 3"/>
          <p:cNvSpPr txBox="1"/>
          <p:nvPr/>
        </p:nvSpPr>
        <p:spPr>
          <a:xfrm>
            <a:off x="1463040" y="1463040"/>
            <a:ext cx="6309360" cy="777240"/>
          </a:xfrm>
          <a:prstGeom prst="rect">
            <a:avLst/>
          </a:prstGeom>
          <a:noFill/>
          <a:ln/>
        </p:spPr>
        <p:txBody>
          <a:bodyPr wrap="square" lIns="0" tIns="0" rIns="0" bIns="0" rtlCol="0" anchor="ctr"/>
          <a:lstStyle/>
          <a:p>
            <a:pPr indent="0" marL="0">
              <a:buNone/>
            </a:pPr>
            <a:r>
              <a:rPr lang="en-US" sz="2000" b="1" dirty="0">
                <a:solidFill>
                  <a:srgbClr val="FFFFFF"/>
                </a:solidFill>
              </a:rPr>
              <a:t>No es «sin servidores»: </a:t>
            </a:r>
            <a:pPr indent="0" marL="0">
              <a:buNone/>
            </a:pPr>
            <a:r>
              <a:rPr lang="en-US" sz="2000" dirty="0">
                <a:solidFill>
                  <a:srgbClr val="CBD5E1"/>
                </a:solidFill>
              </a:rPr>
              <a:t>es no tener que administrarlos.</a:t>
            </a:r>
            <a:endParaRPr lang="en-US" sz="2000" dirty="0"/>
          </a:p>
        </p:txBody>
      </p:sp>
      <p:sp>
        <p:nvSpPr>
          <p:cNvPr id="7" name="insignia"/>
          <p:cNvSpPr/>
          <p:nvPr/>
        </p:nvSpPr>
        <p:spPr>
          <a:xfrm>
            <a:off x="548640" y="2743200"/>
            <a:ext cx="594360" cy="594360"/>
          </a:xfrm>
          <a:prstGeom prst="ellipse">
            <a:avLst/>
          </a:prstGeom>
          <a:solidFill>
            <a:srgbClr val="F59E0B"/>
          </a:solidFill>
          <a:ln/>
        </p:spPr>
      </p:sp>
      <p:sp>
        <p:nvSpPr>
          <p:cNvPr id="8" name="Text 5"/>
          <p:cNvSpPr txBox="1"/>
          <p:nvPr/>
        </p:nvSpPr>
        <p:spPr>
          <a:xfrm>
            <a:off x="548640" y="2743200"/>
            <a:ext cx="594360" cy="594360"/>
          </a:xfrm>
          <a:prstGeom prst="rect">
            <a:avLst/>
          </a:prstGeom>
          <a:noFill/>
          <a:ln/>
        </p:spPr>
        <p:txBody>
          <a:bodyPr wrap="square" lIns="0" tIns="0" rIns="0" bIns="0" rtlCol="0" anchor="ctr"/>
          <a:lstStyle/>
          <a:p>
            <a:pPr algn="ctr" indent="0" marL="0">
              <a:buNone/>
            </a:pPr>
            <a:r>
              <a:rPr lang="en-US" sz="1600" b="1" dirty="0">
                <a:solidFill>
                  <a:srgbClr val="0B1220"/>
                </a:solidFill>
                <a:latin typeface="Arial" pitchFamily="34" charset="0"/>
                <a:ea typeface="Arial" pitchFamily="34" charset="-122"/>
                <a:cs typeface="Arial" pitchFamily="34" charset="-120"/>
              </a:rPr>
              <a:t>2</a:t>
            </a:r>
            <a:endParaRPr lang="en-US" sz="1600" dirty="0"/>
          </a:p>
        </p:txBody>
      </p:sp>
      <p:sp>
        <p:nvSpPr>
          <p:cNvPr id="9" name="Text 6"/>
          <p:cNvSpPr txBox="1"/>
          <p:nvPr/>
        </p:nvSpPr>
        <p:spPr>
          <a:xfrm>
            <a:off x="1463040" y="2651760"/>
            <a:ext cx="6309360" cy="777240"/>
          </a:xfrm>
          <a:prstGeom prst="rect">
            <a:avLst/>
          </a:prstGeom>
          <a:noFill/>
          <a:ln/>
        </p:spPr>
        <p:txBody>
          <a:bodyPr wrap="square" lIns="0" tIns="0" rIns="0" bIns="0" rtlCol="0" anchor="ctr"/>
          <a:lstStyle/>
          <a:p>
            <a:pPr indent="0" marL="0">
              <a:buNone/>
            </a:pPr>
            <a:r>
              <a:rPr lang="en-US" sz="2000" b="1" dirty="0">
                <a:solidFill>
                  <a:srgbClr val="FFFFFF"/>
                </a:solidFill>
              </a:rPr>
              <a:t>Se paga por uso: </a:t>
            </a:r>
            <a:pPr indent="0" marL="0">
              <a:buNone/>
            </a:pPr>
            <a:r>
              <a:rPr lang="en-US" sz="2000" dirty="0">
                <a:solidFill>
                  <a:srgbClr val="CBD5E1"/>
                </a:solidFill>
              </a:rPr>
              <a:t>gana en cargas espigadas y pierde arriba de un tercio de uso.</a:t>
            </a:r>
            <a:endParaRPr lang="en-US" sz="2000" dirty="0"/>
          </a:p>
        </p:txBody>
      </p:sp>
      <p:sp>
        <p:nvSpPr>
          <p:cNvPr id="10" name="insignia"/>
          <p:cNvSpPr/>
          <p:nvPr/>
        </p:nvSpPr>
        <p:spPr>
          <a:xfrm>
            <a:off x="548640" y="3931920"/>
            <a:ext cx="594360" cy="594360"/>
          </a:xfrm>
          <a:prstGeom prst="ellipse">
            <a:avLst/>
          </a:prstGeom>
          <a:solidFill>
            <a:srgbClr val="F59E0B"/>
          </a:solidFill>
          <a:ln/>
        </p:spPr>
      </p:sp>
      <p:sp>
        <p:nvSpPr>
          <p:cNvPr id="11" name="Text 8"/>
          <p:cNvSpPr txBox="1"/>
          <p:nvPr/>
        </p:nvSpPr>
        <p:spPr>
          <a:xfrm>
            <a:off x="548640" y="3931920"/>
            <a:ext cx="594360" cy="594360"/>
          </a:xfrm>
          <a:prstGeom prst="rect">
            <a:avLst/>
          </a:prstGeom>
          <a:noFill/>
          <a:ln/>
        </p:spPr>
        <p:txBody>
          <a:bodyPr wrap="square" lIns="0" tIns="0" rIns="0" bIns="0" rtlCol="0" anchor="ctr"/>
          <a:lstStyle/>
          <a:p>
            <a:pPr algn="ctr" indent="0" marL="0">
              <a:buNone/>
            </a:pPr>
            <a:r>
              <a:rPr lang="en-US" sz="1600" b="1" dirty="0">
                <a:solidFill>
                  <a:srgbClr val="0B1220"/>
                </a:solidFill>
                <a:latin typeface="Arial" pitchFamily="34" charset="0"/>
                <a:ea typeface="Arial" pitchFamily="34" charset="-122"/>
                <a:cs typeface="Arial" pitchFamily="34" charset="-120"/>
              </a:rPr>
              <a:t>3</a:t>
            </a:r>
            <a:endParaRPr lang="en-US" sz="1600" dirty="0"/>
          </a:p>
        </p:txBody>
      </p:sp>
      <p:sp>
        <p:nvSpPr>
          <p:cNvPr id="12" name="Text 9"/>
          <p:cNvSpPr txBox="1"/>
          <p:nvPr/>
        </p:nvSpPr>
        <p:spPr>
          <a:xfrm>
            <a:off x="1463040" y="3840480"/>
            <a:ext cx="6309360" cy="777240"/>
          </a:xfrm>
          <a:prstGeom prst="rect">
            <a:avLst/>
          </a:prstGeom>
          <a:noFill/>
          <a:ln/>
        </p:spPr>
        <p:txBody>
          <a:bodyPr wrap="square" lIns="0" tIns="0" rIns="0" bIns="0" rtlCol="0" anchor="ctr"/>
          <a:lstStyle/>
          <a:p>
            <a:pPr indent="0" marL="0">
              <a:buNone/>
            </a:pPr>
            <a:r>
              <a:rPr lang="en-US" sz="2000" b="1" dirty="0">
                <a:solidFill>
                  <a:srgbClr val="FFFFFF"/>
                </a:solidFill>
              </a:rPr>
              <a:t>Es un trade-off: </a:t>
            </a:r>
            <a:pPr indent="0" marL="0">
              <a:buNone/>
            </a:pPr>
            <a:r>
              <a:rPr lang="en-US" sz="2000" dirty="0">
                <a:solidFill>
                  <a:srgbClr val="CBD5E1"/>
                </a:solidFill>
              </a:rPr>
              <a:t>se elige por encaje con el problema, no por moda.</a:t>
            </a:r>
            <a:endParaRPr lang="en-US" sz="2000" dirty="0"/>
          </a:p>
        </p:txBody>
      </p:sp>
      <p:sp>
        <p:nvSpPr>
          <p:cNvPr id="13" name="Text 10"/>
          <p:cNvSpPr txBox="1"/>
          <p:nvPr/>
        </p:nvSpPr>
        <p:spPr>
          <a:xfrm>
            <a:off x="8183880" y="2103120"/>
            <a:ext cx="3474720" cy="1280160"/>
          </a:xfrm>
          <a:prstGeom prst="rect">
            <a:avLst/>
          </a:prstGeom>
          <a:noFill/>
          <a:ln/>
        </p:spPr>
        <p:txBody>
          <a:bodyPr wrap="square" lIns="0" tIns="0" rIns="0" bIns="0" rtlCol="0" anchor="ctr"/>
          <a:lstStyle/>
          <a:p>
            <a:pPr indent="0" marL="0">
              <a:buNone/>
            </a:pPr>
            <a:r>
              <a:rPr lang="en-US" sz="4000" b="1" dirty="0">
                <a:solidFill>
                  <a:srgbClr val="F59E0B"/>
                </a:solidFill>
                <a:latin typeface="Arial" pitchFamily="34" charset="0"/>
                <a:ea typeface="Arial" pitchFamily="34" charset="-122"/>
                <a:cs typeface="Arial" pitchFamily="34" charset="-120"/>
              </a:rPr>
              <a:t>¿Preguntas?</a:t>
            </a:r>
            <a:endParaRPr lang="en-US" sz="4000" dirty="0"/>
          </a:p>
        </p:txBody>
      </p:sp>
      <p:sp>
        <p:nvSpPr>
          <p:cNvPr id="14" name="Text 11"/>
          <p:cNvSpPr txBox="1"/>
          <p:nvPr/>
        </p:nvSpPr>
        <p:spPr>
          <a:xfrm>
            <a:off x="8183880" y="3291840"/>
            <a:ext cx="3566160" cy="548640"/>
          </a:xfrm>
          <a:prstGeom prst="rect">
            <a:avLst/>
          </a:prstGeom>
          <a:noFill/>
          <a:ln/>
        </p:spPr>
        <p:txBody>
          <a:bodyPr wrap="square" lIns="0" tIns="0" rIns="0" bIns="0" rtlCol="0" anchor="t"/>
          <a:lstStyle/>
          <a:p>
            <a:pPr indent="0" marL="0">
              <a:buNone/>
            </a:pPr>
            <a:r>
              <a:rPr lang="en-US" sz="2200" dirty="0">
                <a:solidFill>
                  <a:srgbClr val="CBD5E1"/>
                </a:solidFill>
              </a:rPr>
              <a:t>Gracias</a:t>
            </a:r>
            <a:endParaRPr lang="en-US" sz="2200" dirty="0"/>
          </a:p>
        </p:txBody>
      </p:sp>
      <p:sp>
        <p:nvSpPr>
          <p:cNvPr id="15" name="Text 12"/>
          <p:cNvSpPr txBox="1"/>
          <p:nvPr/>
        </p:nvSpPr>
        <p:spPr>
          <a:xfrm>
            <a:off x="548640" y="5394960"/>
            <a:ext cx="11094415" cy="640080"/>
          </a:xfrm>
          <a:prstGeom prst="rect">
            <a:avLst/>
          </a:prstGeom>
          <a:noFill/>
          <a:ln/>
        </p:spPr>
        <p:txBody>
          <a:bodyPr wrap="square" lIns="0" tIns="0" rIns="0" bIns="0" rtlCol="0" anchor="t"/>
          <a:lstStyle/>
          <a:p>
            <a:pPr indent="0" marL="0">
              <a:buNone/>
            </a:pPr>
            <a:r>
              <a:rPr lang="en-US" sz="1100" dirty="0">
                <a:solidFill>
                  <a:srgbClr val="64748B"/>
                </a:solidFill>
              </a:rPr>
              <a:t>Fuentes principales: CNCF Serverless Whitepaper · AWS Lambda (documentación y precios) · Firecracker (NSDI 2020) · Cloudflare Workers · Datadog State of Serverless 2025 · Amazon Prime Video Tech Blog (2023).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Serverless — SGD</dc:title>
  <dc:subject>Soporte a la Gestión de Datos con P. Visual</dc:subject>
  <dc:creator>Bonadeo, Juan Cruz y grupo</dc:creator>
  <cp:lastModifiedBy>Bonadeo, Juan Cruz y grupo</cp:lastModifiedBy>
  <cp:revision>1</cp:revision>
  <dcterms:created xsi:type="dcterms:W3CDTF">2026-10-10T01:28:43Z</dcterms:created>
  <dcterms:modified xsi:type="dcterms:W3CDTF">2026-10-10T01:28:43Z</dcterms:modified>
</cp:coreProperties>
</file>