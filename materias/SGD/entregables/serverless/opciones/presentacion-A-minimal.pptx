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positor 1 — Qué es" id="{e88debef-0237-6922-d243-3caac02817af}">
          <p14:sldIdLst>
            <p14:sldId id="256"/>
            <p14:sldId id="257"/>
            <p14:sldId id="258"/>
            <p14:sldId id="259"/>
            <p14:sldId id="260"/>
          </p14:sldIdLst>
        </p14:section>
        <p14:section name="Expositor 2 — Cómo funciona" id="{eca4a234-f34f-6b16-c243-c5783dd4ab0b}">
          <p14:sldIdLst>
            <p14:sldId id="261"/>
            <p14:sldId id="262"/>
            <p14:sldId id="263"/>
            <p14:sldId id="264"/>
            <p14:sldId id="265"/>
          </p14:sldIdLst>
        </p14:section>
        <p14:section name="Expositor 3 — Economía y datos" id="{845e5d78-c233-4d57-707f-c82ba758b425}">
          <p14:sldIdLst>
            <p14:sldId id="266"/>
            <p14:sldId id="267"/>
            <p14:sldId id="268"/>
            <p14:sldId id="269"/>
          </p14:sldIdLst>
        </p14:section>
        <p14:section name="Expositor 4 — Límites y futuro" id="{60d865b3-5d11-0521-e4b2-9bd74d3961de}">
          <p14:sldIdLst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por mes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&quot;USD &quot;0.0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1111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282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VM t3.small 24×7</c:v>
                  </c:pt>
                  <c:pt idx="1">
                    <c:v>Lambda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2.47</c:v>
                </c:pt>
              </c:numCache>
            </c:numRef>
          </c:val>
        </c:ser>
        <c:dLbls>
          <c:numFmt formatCode="&quot;USD &quot;0.00" sourceLinked="0"/>
          <c:txPr>
            <a:bodyPr/>
            <a:lstStyle/>
            <a:p>
              <a:pPr>
                <a:defRPr b="1" i="0" strike="noStrike" sz="1600" u="none">
                  <a:solidFill>
                    <a:srgbClr val="11111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1111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Lambda</c:v>
                </c:pt>
              </c:strCache>
            </c:strRef>
          </c:tx>
          <c:spPr>
            <a:solidFill>
              <a:srgbClr val="D62828"/>
            </a:solidFill>
            <a:ln w="50800" cap="flat">
              <a:solidFill>
                <a:srgbClr val="D628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2828"/>
              </a:solidFill>
              <a:ln w="9525" cap="flat">
                <a:solidFill>
                  <a:srgbClr val="D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0 %</c:v>
                  </c:pt>
                  <c:pt idx="1">
                    <c:v>10 %</c:v>
                  </c:pt>
                  <c:pt idx="2">
                    <c:v>20 %</c:v>
                  </c:pt>
                  <c:pt idx="3">
                    <c:v>30 %</c:v>
                  </c:pt>
                  <c:pt idx="4">
                    <c:v>40 %</c:v>
                  </c:pt>
                  <c:pt idx="5">
                    <c:v>50 %</c:v>
                  </c:pt>
                  <c:pt idx="6">
                    <c:v>60 %</c:v>
                  </c:pt>
                  <c:pt idx="7">
                    <c:v>70 %</c:v>
                  </c:pt>
                  <c:pt idx="8">
                    <c:v>80 %</c:v>
                  </c:pt>
                  <c:pt idx="9">
                    <c:v>90 %</c:v>
                  </c:pt>
                  <c:pt idx="10">
                    <c:v>100 %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0.0106</c:v>
                </c:pt>
                <c:pt idx="2">
                  <c:v>0.0212</c:v>
                </c:pt>
                <c:pt idx="3">
                  <c:v>0.0318</c:v>
                </c:pt>
                <c:pt idx="4">
                  <c:v>0.0424</c:v>
                </c:pt>
                <c:pt idx="5">
                  <c:v>0.053</c:v>
                </c:pt>
                <c:pt idx="6">
                  <c:v>0.0636</c:v>
                </c:pt>
                <c:pt idx="7">
                  <c:v>0.0742</c:v>
                </c:pt>
                <c:pt idx="8">
                  <c:v>0.0848</c:v>
                </c:pt>
                <c:pt idx="9">
                  <c:v>0.0954</c:v>
                </c:pt>
                <c:pt idx="10">
                  <c:v>0.106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Servidor encendido 24/7</c:v>
                </c:pt>
              </c:strCache>
            </c:strRef>
          </c:tx>
          <c:spPr>
            <a:solidFill>
              <a:srgbClr val="111111"/>
            </a:solidFill>
            <a:ln w="50800" cap="flat">
              <a:solidFill>
                <a:srgbClr val="1111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0 %</c:v>
                  </c:pt>
                  <c:pt idx="1">
                    <c:v>10 %</c:v>
                  </c:pt>
                  <c:pt idx="2">
                    <c:v>20 %</c:v>
                  </c:pt>
                  <c:pt idx="3">
                    <c:v>30 %</c:v>
                  </c:pt>
                  <c:pt idx="4">
                    <c:v>40 %</c:v>
                  </c:pt>
                  <c:pt idx="5">
                    <c:v>50 %</c:v>
                  </c:pt>
                  <c:pt idx="6">
                    <c:v>60 %</c:v>
                  </c:pt>
                  <c:pt idx="7">
                    <c:v>70 %</c:v>
                  </c:pt>
                  <c:pt idx="8">
                    <c:v>80 %</c:v>
                  </c:pt>
                  <c:pt idx="9">
                    <c:v>90 %</c:v>
                  </c:pt>
                  <c:pt idx="10">
                    <c:v>100 %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0.036</c:v>
                </c:pt>
                <c:pt idx="1">
                  <c:v>0.036</c:v>
                </c:pt>
                <c:pt idx="2">
                  <c:v>0.036</c:v>
                </c:pt>
                <c:pt idx="3">
                  <c:v>0.036</c:v>
                </c:pt>
                <c:pt idx="4">
                  <c:v>0.036</c:v>
                </c:pt>
                <c:pt idx="5">
                  <c:v>0.036</c:v>
                </c:pt>
                <c:pt idx="6">
                  <c:v>0.036</c:v>
                </c:pt>
                <c:pt idx="7">
                  <c:v>0.036</c:v>
                </c:pt>
                <c:pt idx="8">
                  <c:v>0.036</c:v>
                </c:pt>
                <c:pt idx="9">
                  <c:v>0.036</c:v>
                </c:pt>
                <c:pt idx="10">
                  <c:v>0.036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6B6B6B"/>
                    </a:solidFill>
                    <a:latin typeface="Calibri"/>
                  </a:defRPr>
                </a:pPr>
                <a:r>
                  <a:rPr sz="1300" b="0" i="0" u="none" strike="noStrike">
                    <a:solidFill>
                      <a:srgbClr val="6B6B6B"/>
                    </a:solidFill>
                    <a:latin typeface="Calibri"/>
                  </a:rPr>
                  <a:t>utilización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2"/>
          <c:min val="0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6B6B6B"/>
                    </a:solidFill>
                    <a:latin typeface="Calibri"/>
                  </a:defRPr>
                </a:pPr>
                <a:r>
                  <a:rPr sz="1300" b="0" i="0" u="none" strike="noStrike">
                    <a:solidFill>
                      <a:srgbClr val="6B6B6B"/>
                    </a:solidFill>
                    <a:latin typeface="Calibri"/>
                  </a:rPr>
                  <a:t>USD por vCPU-hora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1111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1] Buenas, somos el grupo que presenta serverless. Vamos a contar qué es, cómo funciona por dentro, cuánto cuesta de verdad y cuándo no conviene. Somos cuatro y nos pasamos la palabra por bloques.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1] Lo primero que confunde es el nombre. Serverless no significa que no haya servidores: existen, están en un datacenter y alguien los mantiene. La diferencia es que ese alguien es el proveedor, no vos. Como wireless: los cables siguen estando, pero no los tirás 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1] Y no es algo de nicho. Lambda, el servicio serverless de Amazon, ejecuta más de quince billones de invocaciones por mes, billones de los nuestros: diez a la doce. Según Datadog, el 65 % de los clientes de AWS usa Lambda y el 70 % de los de Google Cloud usa Cloud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1] Tomamos la definición de la CNCF, que deja tres propiedades. No administrás infraestructura; escala hasta cero cuando no hay tráfico; y pagás por ejecución, no por tener algo encendido. Si falta una, no es serverless: un Kubernetes administrado cuesta aunque nadie lo llame.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1] Serverless es el último escalón de una escalera: en cada paso te desentendés de una capa más. Pasamos de comprar el servidor a alquilar una VM, a subir una app, a un contenedor y finalmente a una función. Lo clave es la unidad de cobro: del año a la hora y de la hora al milisegundo. Pase al expositor 2: veamos qué pasa por 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2] Una función no está corriendo: se invoca cuando pasa algo, un pedido HTTP, un archivo, un mensaje, un horario. La primera vez hay que preparar el entorno, la fase INIT; después se ejecuta y el entorno queda congelado. Si llega otro pedido se reutiliza y se saltea INIT; si pasan 5 a 15 minutos sin pedidos, se apaga.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2] El proveedor tiene que correr código de miles de clientes en la misma máquina, aislados y en milisegundos. Amazon lo resolvió con Firecracker, un monitor de máquinas virtuales escrito en Rust: levanta una microVM en menos de 125 milisegundos con unos 5 megas de memoria extra. Es menos de lo que dura un parpadeo.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2] Esa primera invocación, la que pasa por INIT, es más lenta: es el cold start, el precio de poder escalar a cero. Depende del lenguaje: Go o Rust menos de 100 ms, Python entre 200 y 400, Java sin optimizar puede tardar segundos. Se mitiga con entornos precalentados, que se pagan por hora, o con SnapStart, que restaura una foto de un entorno ya inicializado.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2] En Lambda cada entorno atiende un pedido a la vez. La cuenta es pedidos por segundo por duración: cien pedidos por segundo que tardan dos décimas son 20 entornos simultáneos; si tardan dos segundos, son 200. El límite por defecto es mil por cuenta y región, y es la causa número uno de throttling.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2] Consecuencia directa: dos pedidos no tienen garantía de caer en el mismo entorno. Por eso el estado de negocio nunca se guarda en la memoria de la función: va a la base. Serverless es stateless por contrato, no por casualidad. Pase al expositor 3: todo esto tiene un costo.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3] Se cobra por pedido, veinte centavos de dólar por millón, y por gigabyte-segundo: memoria por tiempo de ejecución, al milisegundo. Una API con cinco millones de pedidos al mes, de 200 ms y medio giga cada uno, cuesta unos 2,47 dólares descontando la capa gratuita. Una VM chica encendida todo el mes cuesta unos 15: seis veces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3] Pero esa API está ociosa casi todo el tiempo. Normalizado por procesador, el vCPU-hora de Lambda cuesta unas tres veces el de una instancia equivalente. El servidor es una línea plana; Lambda arranca en cero y sube con el uso. Se cruzan cerca del 34 %, un tercio: debajo gana serverless, arriba conviene el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3] Esto es lo más cercano a la materia. Para que una base sea serverless tiene que poder apagar el cómputo sin perder los datos: los datos viven en un almacenamiento persistente y los nodos que procesan consultas se prenden y apagan según la demanda. Así funcionan Neon, Aurora Serverless v2 y DynamoDB on-demand.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3] Pero hay un choque clásico: Postgres soporta cientos de conexiones, no miles. Si quinientas funciones corren a la vez y cada una abre su conexión, la base se cae. Se resuelve con un pooler en el medio, como RDS Proxy o PgBouncer, o con bases que se consultan por HTTP. Pase al expositor 4: cuándo conviene y cuándo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4] Juntando todo: serverless encaja cuando la carga es espigada, disparada por eventos y sin estado, como generar una miniatura al subir una foto o procesar sensores. iRobot procesa así más de veinte millones de eventos por día. No encaja cuando la carga es constante, la latencia es crítica, hay estado o conexiones persistentes, o el sistema es una cadena larga de funciones acopladas.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4] El caso más famoso lo contó el propio Amazon. En 2023, Prime Video sacó de serverless su sistema de monitoreo de calidad de streams: eran funciones encadenadas con varias transiciones por cada segundo de video y los datos viajaban por la red. Lo pasaron a un solo proceso en contenedores y el costo bajó un 90 %.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4] La lección no es que serverless sea malo. Lo que más costaba no era procesar: era mover datos entre etapas. Cuando comunicar cuesta más que computar, hay que juntar los componentes, no separarlos.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4] Y la industria tomó nota. En 2026 AWS lanzó Lambda Managed Instances, funciones sobre servidores dedicados para cargas estables: el propio proveedor admite el punto de cruce. También anunció microVMs con sesiones de hasta ocho horas que conservan estado. Y dos de cada tres que usan funciones también usan contenedores: el futuro es híbrido.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[Expositor 4] Para cerrar, tres ideas. Serverless no es sin servidores: es no administrarlos. Se paga por uso, así que gana en cargas espigadas y pierde arriba de un tercio de utilización. Y es un trade-off: se elige por encaje con el problema, no por moda. Gracias, ¿preguntas?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A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unto"/>
          <p:cNvSpPr/>
          <p:nvPr/>
        </p:nvSpPr>
        <p:spPr>
          <a:xfrm>
            <a:off x="731520" y="1234440"/>
            <a:ext cx="384048" cy="384048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325880" y="123444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· SOPORTE A LA GESTIÓN DE DATOS CON P. VISUAL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783080"/>
            <a:ext cx="107286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</a:t>
            </a:r>
            <a:endParaRPr lang="en-US" sz="1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6118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cómo funciona y cuándo no conviene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2578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 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Bonadeo, Juan Cruz · [Integrante 2] · [Integrante 3] · [Integrante 4]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66928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UTN — Facultad Regional Rosario · Ingeniería en Sistemas de Información ·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no significa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28600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«sin servidores».</a:t>
            </a:r>
            <a:endParaRPr lang="en-US" sz="5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42900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 que no son tu problema.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548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wireless: los cables existen, pero no los tirás vos.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Qué 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no es nicho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600200"/>
            <a:ext cx="107286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billones</a:t>
            </a:r>
            <a:endParaRPr lang="en-US" sz="1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3832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invocaciones por mes en AWS Lambda (10¹²)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97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2788920" y="4297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clientes de AWS usan Lambda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297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70 %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4297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de Google Cloud usan Cloud Run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89788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AWS (2026); Datadog, State of Serverless (2025).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Qué 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falta una, no es serverless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600200"/>
            <a:ext cx="32104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38328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administrás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02336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el tamaño de la máquina, ni los parches, ni la capacidad.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490618" y="1600200"/>
            <a:ext cx="32104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0" dirty="0"/>
          </a:p>
        </p:txBody>
      </p:sp>
      <p:sp>
        <p:nvSpPr>
          <p:cNvPr id="8" name="Text 5"/>
          <p:cNvSpPr txBox="1"/>
          <p:nvPr/>
        </p:nvSpPr>
        <p:spPr>
          <a:xfrm>
            <a:off x="4490618" y="338328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a cero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4490618" y="402336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 a N instancias según la demanda, y de vuelta a 0.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49717" y="1600200"/>
            <a:ext cx="32104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0" dirty="0"/>
          </a:p>
        </p:txBody>
      </p:sp>
      <p:sp>
        <p:nvSpPr>
          <p:cNvPr id="11" name="Text 8"/>
          <p:cNvSpPr txBox="1"/>
          <p:nvPr/>
        </p:nvSpPr>
        <p:spPr>
          <a:xfrm>
            <a:off x="8249717" y="338328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Pagás por uso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249717" y="402336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ejecución, no por tener un servidor encendido.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89788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 CNCF, Serverless Whitepaper.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Qué 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unidad de cobro: del año al milisegundo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463040" y="3657600"/>
            <a:ext cx="9265615" cy="914"/>
          </a:xfrm>
          <a:prstGeom prst="line">
            <a:avLst/>
          </a:prstGeom>
          <a:noFill/>
          <a:ln w="25400">
            <a:solidFill>
              <a:srgbClr val="CFCFCF"/>
            </a:solidFill>
            <a:prstDash val="solid"/>
          </a:ln>
        </p:spPr>
      </p:sp>
      <p:sp>
        <p:nvSpPr>
          <p:cNvPr id="5" name="punto"/>
          <p:cNvSpPr/>
          <p:nvPr/>
        </p:nvSpPr>
        <p:spPr>
          <a:xfrm>
            <a:off x="1325880" y="3520440"/>
            <a:ext cx="274320" cy="2743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65760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 metal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desplegás un servidor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069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</a:t>
            </a:r>
            <a:endParaRPr lang="en-US" sz="3200" dirty="0"/>
          </a:p>
        </p:txBody>
      </p:sp>
      <p:sp>
        <p:nvSpPr>
          <p:cNvPr id="8" name="punto"/>
          <p:cNvSpPr/>
          <p:nvPr/>
        </p:nvSpPr>
        <p:spPr>
          <a:xfrm>
            <a:off x="3642284" y="3520440"/>
            <a:ext cx="274320" cy="2743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682164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desplegás una VM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682164" y="4069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</a:t>
            </a:r>
            <a:endParaRPr lang="en-US" sz="3200" dirty="0"/>
          </a:p>
        </p:txBody>
      </p:sp>
      <p:sp>
        <p:nvSpPr>
          <p:cNvPr id="11" name="punto"/>
          <p:cNvSpPr/>
          <p:nvPr/>
        </p:nvSpPr>
        <p:spPr>
          <a:xfrm>
            <a:off x="5958688" y="3520440"/>
            <a:ext cx="274320" cy="2743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998568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desplegás una app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998568" y="4069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</a:t>
            </a:r>
            <a:endParaRPr lang="en-US" sz="3200" dirty="0"/>
          </a:p>
        </p:txBody>
      </p:sp>
      <p:sp>
        <p:nvSpPr>
          <p:cNvPr id="14" name="punto"/>
          <p:cNvSpPr/>
          <p:nvPr/>
        </p:nvSpPr>
        <p:spPr>
          <a:xfrm>
            <a:off x="8275091" y="3520440"/>
            <a:ext cx="274320" cy="2743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4971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Contenedores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desplegás un contenedor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314971" y="4069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</a:t>
            </a:r>
            <a:endParaRPr lang="en-US" sz="3200" dirty="0"/>
          </a:p>
        </p:txBody>
      </p:sp>
      <p:sp>
        <p:nvSpPr>
          <p:cNvPr id="17" name="punto"/>
          <p:cNvSpPr/>
          <p:nvPr/>
        </p:nvSpPr>
        <p:spPr>
          <a:xfrm>
            <a:off x="10477195" y="3406140"/>
            <a:ext cx="502920" cy="50292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631375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FaaS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desplegás una función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9631375" y="4069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48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52578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primera vez, si nadie usa el sistema, el costo de cómputo es cero.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Qué 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función no corre: es invocada</a:t>
            </a:r>
            <a:endParaRPr lang="en-US" sz="4000" dirty="0"/>
          </a:p>
        </p:txBody>
      </p:sp>
      <p:sp>
        <p:nvSpPr>
          <p:cNvPr id="4" name="fase"/>
          <p:cNvSpPr/>
          <p:nvPr/>
        </p:nvSpPr>
        <p:spPr>
          <a:xfrm>
            <a:off x="1051560" y="2377440"/>
            <a:ext cx="1600200" cy="1600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51560" y="237744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62940" y="4160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archivo, cola o cron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0" y="3177540"/>
            <a:ext cx="1046378" cy="914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8" name="fase"/>
          <p:cNvSpPr/>
          <p:nvPr/>
        </p:nvSpPr>
        <p:spPr>
          <a:xfrm>
            <a:off x="3881018" y="2377440"/>
            <a:ext cx="1600200" cy="1600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881018" y="237744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492398" y="4160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microVM, código, runtime, tus imports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572658" y="3177540"/>
            <a:ext cx="1046378" cy="914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2" name="fase"/>
          <p:cNvSpPr/>
          <p:nvPr/>
        </p:nvSpPr>
        <p:spPr>
          <a:xfrm>
            <a:off x="6710477" y="2377440"/>
            <a:ext cx="1600200" cy="1600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10477" y="237744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321857" y="4160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handler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402117" y="3177540"/>
            <a:ext cx="1046378" cy="914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6" name="fase"/>
          <p:cNvSpPr/>
          <p:nvPr/>
        </p:nvSpPr>
        <p:spPr>
          <a:xfrm>
            <a:off x="9539935" y="2377440"/>
            <a:ext cx="1600200" cy="1600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539935" y="237744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151315" y="4160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congela; sin eventos en 5–15 min, se apaga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 flipV="1">
            <a:off x="10340035" y="2011680"/>
            <a:ext cx="914" cy="347472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H="1">
            <a:off x="7510577" y="2011680"/>
            <a:ext cx="2829458" cy="914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10577" y="2011680"/>
            <a:ext cx="914" cy="32004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7510577" y="1645920"/>
            <a:ext cx="2829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warm: reusa el entorno, sin INIT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492398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en cold start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Cómo funciona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VM en menos de un parpadeo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600200"/>
            <a:ext cx="107286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125 ms</a:t>
            </a:r>
            <a:endParaRPr lang="en-US" sz="1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3832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tarda Firecracker en arrancar una microVM con Linux: la base de AWS Lambda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3434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MiB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029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memoria extra por microVM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43434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KVM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4343400" y="5029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hardware, no por confianza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3434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100–150 ms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5029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 un parpadeo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Cómo funciona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start: el precio de escalar a cero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474720" y="1600200"/>
            <a:ext cx="914" cy="301752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20040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663440" y="1600200"/>
            <a:ext cx="914" cy="301752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38912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1600200"/>
            <a:ext cx="914" cy="301752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40880" y="1600200"/>
            <a:ext cx="914" cy="301752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0" y="1600200"/>
            <a:ext cx="914" cy="301752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5528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418320" y="1600200"/>
            <a:ext cx="914" cy="301752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4956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milisegundos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16459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Rust</a:t>
            </a:r>
            <a:endParaRPr lang="en-US" sz="1800" dirty="0"/>
          </a:p>
        </p:txBody>
      </p:sp>
      <p:sp>
        <p:nvSpPr>
          <p:cNvPr id="18" name="rango"/>
          <p:cNvSpPr/>
          <p:nvPr/>
        </p:nvSpPr>
        <p:spPr>
          <a:xfrm>
            <a:off x="3593592" y="1737360"/>
            <a:ext cx="1069848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773168" y="16459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224942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SnapStart</a:t>
            </a:r>
            <a:endParaRPr lang="en-US" sz="1800" dirty="0"/>
          </a:p>
        </p:txBody>
      </p:sp>
      <p:sp>
        <p:nvSpPr>
          <p:cNvPr id="21" name="rango"/>
          <p:cNvSpPr/>
          <p:nvPr/>
        </p:nvSpPr>
        <p:spPr>
          <a:xfrm>
            <a:off x="4544568" y="2340864"/>
            <a:ext cx="59436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248656" y="224942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90–140 ms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2852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</p:txBody>
      </p:sp>
      <p:sp>
        <p:nvSpPr>
          <p:cNvPr id="24" name="rango"/>
          <p:cNvSpPr/>
          <p:nvPr/>
        </p:nvSpPr>
        <p:spPr>
          <a:xfrm>
            <a:off x="5852160" y="2944368"/>
            <a:ext cx="2377440" cy="2743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339328" y="28529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200–400 ms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3456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sin SnapStart</a:t>
            </a:r>
            <a:endParaRPr lang="en-US" sz="1800" dirty="0"/>
          </a:p>
        </p:txBody>
      </p:sp>
      <p:sp>
        <p:nvSpPr>
          <p:cNvPr id="27" name="rango"/>
          <p:cNvSpPr/>
          <p:nvPr/>
        </p:nvSpPr>
        <p:spPr>
          <a:xfrm>
            <a:off x="7040880" y="3547872"/>
            <a:ext cx="237744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8" name="Shape 25"/>
          <p:cNvSpPr/>
          <p:nvPr/>
        </p:nvSpPr>
        <p:spPr>
          <a:xfrm>
            <a:off x="9418320" y="3685032"/>
            <a:ext cx="274320" cy="914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9784080" y="34564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405993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en VPC</a:t>
            </a:r>
            <a:endParaRPr lang="en-US" sz="1800" dirty="0"/>
          </a:p>
        </p:txBody>
      </p:sp>
      <p:sp>
        <p:nvSpPr>
          <p:cNvPr id="31" name="rango"/>
          <p:cNvSpPr/>
          <p:nvPr/>
        </p:nvSpPr>
        <p:spPr>
          <a:xfrm>
            <a:off x="5852160" y="4151376"/>
            <a:ext cx="3566160" cy="274320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528048" y="405993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+200–500 ms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" y="544068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mitiga 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entornos precalentados (se pagan por hora) o con SnapStart (restaura un entorno ya inicializado).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" y="589788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de magnitud reportados en 2026 (fuentes secundarias), no mediciones propias.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Cómo funciona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pedido por entorno a la vez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691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pedidos/s × 0,2 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20 entornos</a:t>
            </a:r>
            <a:endParaRPr lang="en-US" sz="2800" dirty="0"/>
          </a:p>
        </p:txBody>
      </p:sp>
      <p:sp>
        <p:nvSpPr>
          <p:cNvPr id="5" name="entorno"/>
          <p:cNvSpPr/>
          <p:nvPr/>
        </p:nvSpPr>
        <p:spPr>
          <a:xfrm>
            <a:off x="6766560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entorno"/>
          <p:cNvSpPr/>
          <p:nvPr/>
        </p:nvSpPr>
        <p:spPr>
          <a:xfrm>
            <a:off x="6967728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entorno"/>
          <p:cNvSpPr/>
          <p:nvPr/>
        </p:nvSpPr>
        <p:spPr>
          <a:xfrm>
            <a:off x="7168896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entorno"/>
          <p:cNvSpPr/>
          <p:nvPr/>
        </p:nvSpPr>
        <p:spPr>
          <a:xfrm>
            <a:off x="7370064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entorno"/>
          <p:cNvSpPr/>
          <p:nvPr/>
        </p:nvSpPr>
        <p:spPr>
          <a:xfrm>
            <a:off x="7571232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entorno"/>
          <p:cNvSpPr/>
          <p:nvPr/>
        </p:nvSpPr>
        <p:spPr>
          <a:xfrm>
            <a:off x="7772400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entorno"/>
          <p:cNvSpPr/>
          <p:nvPr/>
        </p:nvSpPr>
        <p:spPr>
          <a:xfrm>
            <a:off x="7973568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entorno"/>
          <p:cNvSpPr/>
          <p:nvPr/>
        </p:nvSpPr>
        <p:spPr>
          <a:xfrm>
            <a:off x="8174736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entorno"/>
          <p:cNvSpPr/>
          <p:nvPr/>
        </p:nvSpPr>
        <p:spPr>
          <a:xfrm>
            <a:off x="8375904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entorno"/>
          <p:cNvSpPr/>
          <p:nvPr/>
        </p:nvSpPr>
        <p:spPr>
          <a:xfrm>
            <a:off x="8577072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entorno"/>
          <p:cNvSpPr/>
          <p:nvPr/>
        </p:nvSpPr>
        <p:spPr>
          <a:xfrm>
            <a:off x="8778240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entorno"/>
          <p:cNvSpPr/>
          <p:nvPr/>
        </p:nvSpPr>
        <p:spPr>
          <a:xfrm>
            <a:off x="8979408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entorno"/>
          <p:cNvSpPr/>
          <p:nvPr/>
        </p:nvSpPr>
        <p:spPr>
          <a:xfrm>
            <a:off x="9180576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entorno"/>
          <p:cNvSpPr/>
          <p:nvPr/>
        </p:nvSpPr>
        <p:spPr>
          <a:xfrm>
            <a:off x="9381744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entorno"/>
          <p:cNvSpPr/>
          <p:nvPr/>
        </p:nvSpPr>
        <p:spPr>
          <a:xfrm>
            <a:off x="9582912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entorno"/>
          <p:cNvSpPr/>
          <p:nvPr/>
        </p:nvSpPr>
        <p:spPr>
          <a:xfrm>
            <a:off x="9784080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entorno"/>
          <p:cNvSpPr/>
          <p:nvPr/>
        </p:nvSpPr>
        <p:spPr>
          <a:xfrm>
            <a:off x="9985248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entorno"/>
          <p:cNvSpPr/>
          <p:nvPr/>
        </p:nvSpPr>
        <p:spPr>
          <a:xfrm>
            <a:off x="10186416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entorno"/>
          <p:cNvSpPr/>
          <p:nvPr/>
        </p:nvSpPr>
        <p:spPr>
          <a:xfrm>
            <a:off x="10387584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entorno"/>
          <p:cNvSpPr/>
          <p:nvPr/>
        </p:nvSpPr>
        <p:spPr>
          <a:xfrm>
            <a:off x="10588752" y="2057400"/>
            <a:ext cx="146304" cy="14630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31520" y="3246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pedidos/s × 2 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200 entornos</a:t>
            </a:r>
            <a:endParaRPr lang="en-US" sz="2800" dirty="0"/>
          </a:p>
        </p:txBody>
      </p:sp>
      <p:sp>
        <p:nvSpPr>
          <p:cNvPr id="26" name="entorno"/>
          <p:cNvSpPr/>
          <p:nvPr/>
        </p:nvSpPr>
        <p:spPr>
          <a:xfrm>
            <a:off x="6766560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7" name="entorno"/>
          <p:cNvSpPr/>
          <p:nvPr/>
        </p:nvSpPr>
        <p:spPr>
          <a:xfrm>
            <a:off x="6967728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8" name="entorno"/>
          <p:cNvSpPr/>
          <p:nvPr/>
        </p:nvSpPr>
        <p:spPr>
          <a:xfrm>
            <a:off x="7168896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9" name="entorno"/>
          <p:cNvSpPr/>
          <p:nvPr/>
        </p:nvSpPr>
        <p:spPr>
          <a:xfrm>
            <a:off x="7370064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0" name="entorno"/>
          <p:cNvSpPr/>
          <p:nvPr/>
        </p:nvSpPr>
        <p:spPr>
          <a:xfrm>
            <a:off x="7571232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1" name="entorno"/>
          <p:cNvSpPr/>
          <p:nvPr/>
        </p:nvSpPr>
        <p:spPr>
          <a:xfrm>
            <a:off x="7772400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2" name="entorno"/>
          <p:cNvSpPr/>
          <p:nvPr/>
        </p:nvSpPr>
        <p:spPr>
          <a:xfrm>
            <a:off x="7973568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3" name="entorno"/>
          <p:cNvSpPr/>
          <p:nvPr/>
        </p:nvSpPr>
        <p:spPr>
          <a:xfrm>
            <a:off x="8174736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4" name="entorno"/>
          <p:cNvSpPr/>
          <p:nvPr/>
        </p:nvSpPr>
        <p:spPr>
          <a:xfrm>
            <a:off x="8375904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5" name="entorno"/>
          <p:cNvSpPr/>
          <p:nvPr/>
        </p:nvSpPr>
        <p:spPr>
          <a:xfrm>
            <a:off x="8577072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6" name="entorno"/>
          <p:cNvSpPr/>
          <p:nvPr/>
        </p:nvSpPr>
        <p:spPr>
          <a:xfrm>
            <a:off x="8778240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7" name="entorno"/>
          <p:cNvSpPr/>
          <p:nvPr/>
        </p:nvSpPr>
        <p:spPr>
          <a:xfrm>
            <a:off x="8979408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8" name="entorno"/>
          <p:cNvSpPr/>
          <p:nvPr/>
        </p:nvSpPr>
        <p:spPr>
          <a:xfrm>
            <a:off x="9180576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9" name="entorno"/>
          <p:cNvSpPr/>
          <p:nvPr/>
        </p:nvSpPr>
        <p:spPr>
          <a:xfrm>
            <a:off x="9381744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0" name="entorno"/>
          <p:cNvSpPr/>
          <p:nvPr/>
        </p:nvSpPr>
        <p:spPr>
          <a:xfrm>
            <a:off x="9582912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1" name="entorno"/>
          <p:cNvSpPr/>
          <p:nvPr/>
        </p:nvSpPr>
        <p:spPr>
          <a:xfrm>
            <a:off x="9784080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2" name="entorno"/>
          <p:cNvSpPr/>
          <p:nvPr/>
        </p:nvSpPr>
        <p:spPr>
          <a:xfrm>
            <a:off x="9985248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3" name="entorno"/>
          <p:cNvSpPr/>
          <p:nvPr/>
        </p:nvSpPr>
        <p:spPr>
          <a:xfrm>
            <a:off x="10186416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4" name="entorno"/>
          <p:cNvSpPr/>
          <p:nvPr/>
        </p:nvSpPr>
        <p:spPr>
          <a:xfrm>
            <a:off x="10387584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5" name="entorno"/>
          <p:cNvSpPr/>
          <p:nvPr/>
        </p:nvSpPr>
        <p:spPr>
          <a:xfrm>
            <a:off x="10588752" y="306324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6" name="entorno"/>
          <p:cNvSpPr/>
          <p:nvPr/>
        </p:nvSpPr>
        <p:spPr>
          <a:xfrm>
            <a:off x="6766560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7" name="entorno"/>
          <p:cNvSpPr/>
          <p:nvPr/>
        </p:nvSpPr>
        <p:spPr>
          <a:xfrm>
            <a:off x="6967728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8" name="entorno"/>
          <p:cNvSpPr/>
          <p:nvPr/>
        </p:nvSpPr>
        <p:spPr>
          <a:xfrm>
            <a:off x="7168896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9" name="entorno"/>
          <p:cNvSpPr/>
          <p:nvPr/>
        </p:nvSpPr>
        <p:spPr>
          <a:xfrm>
            <a:off x="7370064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0" name="entorno"/>
          <p:cNvSpPr/>
          <p:nvPr/>
        </p:nvSpPr>
        <p:spPr>
          <a:xfrm>
            <a:off x="7571232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1" name="entorno"/>
          <p:cNvSpPr/>
          <p:nvPr/>
        </p:nvSpPr>
        <p:spPr>
          <a:xfrm>
            <a:off x="7772400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2" name="entorno"/>
          <p:cNvSpPr/>
          <p:nvPr/>
        </p:nvSpPr>
        <p:spPr>
          <a:xfrm>
            <a:off x="7973568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3" name="entorno"/>
          <p:cNvSpPr/>
          <p:nvPr/>
        </p:nvSpPr>
        <p:spPr>
          <a:xfrm>
            <a:off x="8174736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4" name="entorno"/>
          <p:cNvSpPr/>
          <p:nvPr/>
        </p:nvSpPr>
        <p:spPr>
          <a:xfrm>
            <a:off x="8375904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5" name="entorno"/>
          <p:cNvSpPr/>
          <p:nvPr/>
        </p:nvSpPr>
        <p:spPr>
          <a:xfrm>
            <a:off x="8577072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6" name="entorno"/>
          <p:cNvSpPr/>
          <p:nvPr/>
        </p:nvSpPr>
        <p:spPr>
          <a:xfrm>
            <a:off x="8778240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7" name="entorno"/>
          <p:cNvSpPr/>
          <p:nvPr/>
        </p:nvSpPr>
        <p:spPr>
          <a:xfrm>
            <a:off x="8979408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8" name="entorno"/>
          <p:cNvSpPr/>
          <p:nvPr/>
        </p:nvSpPr>
        <p:spPr>
          <a:xfrm>
            <a:off x="9180576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9" name="entorno"/>
          <p:cNvSpPr/>
          <p:nvPr/>
        </p:nvSpPr>
        <p:spPr>
          <a:xfrm>
            <a:off x="9381744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0" name="entorno"/>
          <p:cNvSpPr/>
          <p:nvPr/>
        </p:nvSpPr>
        <p:spPr>
          <a:xfrm>
            <a:off x="9582912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1" name="entorno"/>
          <p:cNvSpPr/>
          <p:nvPr/>
        </p:nvSpPr>
        <p:spPr>
          <a:xfrm>
            <a:off x="9784080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2" name="entorno"/>
          <p:cNvSpPr/>
          <p:nvPr/>
        </p:nvSpPr>
        <p:spPr>
          <a:xfrm>
            <a:off x="9985248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3" name="entorno"/>
          <p:cNvSpPr/>
          <p:nvPr/>
        </p:nvSpPr>
        <p:spPr>
          <a:xfrm>
            <a:off x="10186416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4" name="entorno"/>
          <p:cNvSpPr/>
          <p:nvPr/>
        </p:nvSpPr>
        <p:spPr>
          <a:xfrm>
            <a:off x="10387584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5" name="entorno"/>
          <p:cNvSpPr/>
          <p:nvPr/>
        </p:nvSpPr>
        <p:spPr>
          <a:xfrm>
            <a:off x="10588752" y="326440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6" name="entorno"/>
          <p:cNvSpPr/>
          <p:nvPr/>
        </p:nvSpPr>
        <p:spPr>
          <a:xfrm>
            <a:off x="6766560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7" name="entorno"/>
          <p:cNvSpPr/>
          <p:nvPr/>
        </p:nvSpPr>
        <p:spPr>
          <a:xfrm>
            <a:off x="6967728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8" name="entorno"/>
          <p:cNvSpPr/>
          <p:nvPr/>
        </p:nvSpPr>
        <p:spPr>
          <a:xfrm>
            <a:off x="7168896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9" name="entorno"/>
          <p:cNvSpPr/>
          <p:nvPr/>
        </p:nvSpPr>
        <p:spPr>
          <a:xfrm>
            <a:off x="7370064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0" name="entorno"/>
          <p:cNvSpPr/>
          <p:nvPr/>
        </p:nvSpPr>
        <p:spPr>
          <a:xfrm>
            <a:off x="7571232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1" name="entorno"/>
          <p:cNvSpPr/>
          <p:nvPr/>
        </p:nvSpPr>
        <p:spPr>
          <a:xfrm>
            <a:off x="7772400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2" name="entorno"/>
          <p:cNvSpPr/>
          <p:nvPr/>
        </p:nvSpPr>
        <p:spPr>
          <a:xfrm>
            <a:off x="7973568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3" name="entorno"/>
          <p:cNvSpPr/>
          <p:nvPr/>
        </p:nvSpPr>
        <p:spPr>
          <a:xfrm>
            <a:off x="8174736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4" name="entorno"/>
          <p:cNvSpPr/>
          <p:nvPr/>
        </p:nvSpPr>
        <p:spPr>
          <a:xfrm>
            <a:off x="8375904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5" name="entorno"/>
          <p:cNvSpPr/>
          <p:nvPr/>
        </p:nvSpPr>
        <p:spPr>
          <a:xfrm>
            <a:off x="8577072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6" name="entorno"/>
          <p:cNvSpPr/>
          <p:nvPr/>
        </p:nvSpPr>
        <p:spPr>
          <a:xfrm>
            <a:off x="8778240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7" name="entorno"/>
          <p:cNvSpPr/>
          <p:nvPr/>
        </p:nvSpPr>
        <p:spPr>
          <a:xfrm>
            <a:off x="8979408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8" name="entorno"/>
          <p:cNvSpPr/>
          <p:nvPr/>
        </p:nvSpPr>
        <p:spPr>
          <a:xfrm>
            <a:off x="9180576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9" name="entorno"/>
          <p:cNvSpPr/>
          <p:nvPr/>
        </p:nvSpPr>
        <p:spPr>
          <a:xfrm>
            <a:off x="9381744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0" name="entorno"/>
          <p:cNvSpPr/>
          <p:nvPr/>
        </p:nvSpPr>
        <p:spPr>
          <a:xfrm>
            <a:off x="9582912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1" name="entorno"/>
          <p:cNvSpPr/>
          <p:nvPr/>
        </p:nvSpPr>
        <p:spPr>
          <a:xfrm>
            <a:off x="9784080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2" name="entorno"/>
          <p:cNvSpPr/>
          <p:nvPr/>
        </p:nvSpPr>
        <p:spPr>
          <a:xfrm>
            <a:off x="9985248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3" name="entorno"/>
          <p:cNvSpPr/>
          <p:nvPr/>
        </p:nvSpPr>
        <p:spPr>
          <a:xfrm>
            <a:off x="10186416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4" name="entorno"/>
          <p:cNvSpPr/>
          <p:nvPr/>
        </p:nvSpPr>
        <p:spPr>
          <a:xfrm>
            <a:off x="10387584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5" name="entorno"/>
          <p:cNvSpPr/>
          <p:nvPr/>
        </p:nvSpPr>
        <p:spPr>
          <a:xfrm>
            <a:off x="10588752" y="346557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6" name="entorno"/>
          <p:cNvSpPr/>
          <p:nvPr/>
        </p:nvSpPr>
        <p:spPr>
          <a:xfrm>
            <a:off x="6766560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7" name="entorno"/>
          <p:cNvSpPr/>
          <p:nvPr/>
        </p:nvSpPr>
        <p:spPr>
          <a:xfrm>
            <a:off x="6967728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8" name="entorno"/>
          <p:cNvSpPr/>
          <p:nvPr/>
        </p:nvSpPr>
        <p:spPr>
          <a:xfrm>
            <a:off x="7168896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9" name="entorno"/>
          <p:cNvSpPr/>
          <p:nvPr/>
        </p:nvSpPr>
        <p:spPr>
          <a:xfrm>
            <a:off x="7370064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90" name="entorno"/>
          <p:cNvSpPr/>
          <p:nvPr/>
        </p:nvSpPr>
        <p:spPr>
          <a:xfrm>
            <a:off x="7571232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91" name="entorno"/>
          <p:cNvSpPr/>
          <p:nvPr/>
        </p:nvSpPr>
        <p:spPr>
          <a:xfrm>
            <a:off x="7772400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92" name="entorno"/>
          <p:cNvSpPr/>
          <p:nvPr/>
        </p:nvSpPr>
        <p:spPr>
          <a:xfrm>
            <a:off x="7973568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93" name="entorno"/>
          <p:cNvSpPr/>
          <p:nvPr/>
        </p:nvSpPr>
        <p:spPr>
          <a:xfrm>
            <a:off x="8174736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94" name="entorno"/>
          <p:cNvSpPr/>
          <p:nvPr/>
        </p:nvSpPr>
        <p:spPr>
          <a:xfrm>
            <a:off x="8375904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95" name="entorno"/>
          <p:cNvSpPr/>
          <p:nvPr/>
        </p:nvSpPr>
        <p:spPr>
          <a:xfrm>
            <a:off x="8577072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96" name="entorno"/>
          <p:cNvSpPr/>
          <p:nvPr/>
        </p:nvSpPr>
        <p:spPr>
          <a:xfrm>
            <a:off x="8778240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97" name="entorno"/>
          <p:cNvSpPr/>
          <p:nvPr/>
        </p:nvSpPr>
        <p:spPr>
          <a:xfrm>
            <a:off x="8979408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98" name="entorno"/>
          <p:cNvSpPr/>
          <p:nvPr/>
        </p:nvSpPr>
        <p:spPr>
          <a:xfrm>
            <a:off x="9180576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99" name="entorno"/>
          <p:cNvSpPr/>
          <p:nvPr/>
        </p:nvSpPr>
        <p:spPr>
          <a:xfrm>
            <a:off x="9381744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0" name="entorno"/>
          <p:cNvSpPr/>
          <p:nvPr/>
        </p:nvSpPr>
        <p:spPr>
          <a:xfrm>
            <a:off x="9582912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1" name="entorno"/>
          <p:cNvSpPr/>
          <p:nvPr/>
        </p:nvSpPr>
        <p:spPr>
          <a:xfrm>
            <a:off x="9784080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2" name="entorno"/>
          <p:cNvSpPr/>
          <p:nvPr/>
        </p:nvSpPr>
        <p:spPr>
          <a:xfrm>
            <a:off x="9985248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3" name="entorno"/>
          <p:cNvSpPr/>
          <p:nvPr/>
        </p:nvSpPr>
        <p:spPr>
          <a:xfrm>
            <a:off x="10186416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4" name="entorno"/>
          <p:cNvSpPr/>
          <p:nvPr/>
        </p:nvSpPr>
        <p:spPr>
          <a:xfrm>
            <a:off x="10387584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5" name="entorno"/>
          <p:cNvSpPr/>
          <p:nvPr/>
        </p:nvSpPr>
        <p:spPr>
          <a:xfrm>
            <a:off x="10588752" y="366674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6" name="entorno"/>
          <p:cNvSpPr/>
          <p:nvPr/>
        </p:nvSpPr>
        <p:spPr>
          <a:xfrm>
            <a:off x="6766560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7" name="entorno"/>
          <p:cNvSpPr/>
          <p:nvPr/>
        </p:nvSpPr>
        <p:spPr>
          <a:xfrm>
            <a:off x="6967728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8" name="entorno"/>
          <p:cNvSpPr/>
          <p:nvPr/>
        </p:nvSpPr>
        <p:spPr>
          <a:xfrm>
            <a:off x="7168896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9" name="entorno"/>
          <p:cNvSpPr/>
          <p:nvPr/>
        </p:nvSpPr>
        <p:spPr>
          <a:xfrm>
            <a:off x="7370064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0" name="entorno"/>
          <p:cNvSpPr/>
          <p:nvPr/>
        </p:nvSpPr>
        <p:spPr>
          <a:xfrm>
            <a:off x="7571232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1" name="entorno"/>
          <p:cNvSpPr/>
          <p:nvPr/>
        </p:nvSpPr>
        <p:spPr>
          <a:xfrm>
            <a:off x="7772400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2" name="entorno"/>
          <p:cNvSpPr/>
          <p:nvPr/>
        </p:nvSpPr>
        <p:spPr>
          <a:xfrm>
            <a:off x="7973568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3" name="entorno"/>
          <p:cNvSpPr/>
          <p:nvPr/>
        </p:nvSpPr>
        <p:spPr>
          <a:xfrm>
            <a:off x="8174736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4" name="entorno"/>
          <p:cNvSpPr/>
          <p:nvPr/>
        </p:nvSpPr>
        <p:spPr>
          <a:xfrm>
            <a:off x="8375904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5" name="entorno"/>
          <p:cNvSpPr/>
          <p:nvPr/>
        </p:nvSpPr>
        <p:spPr>
          <a:xfrm>
            <a:off x="8577072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6" name="entorno"/>
          <p:cNvSpPr/>
          <p:nvPr/>
        </p:nvSpPr>
        <p:spPr>
          <a:xfrm>
            <a:off x="8778240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7" name="entorno"/>
          <p:cNvSpPr/>
          <p:nvPr/>
        </p:nvSpPr>
        <p:spPr>
          <a:xfrm>
            <a:off x="8979408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8" name="entorno"/>
          <p:cNvSpPr/>
          <p:nvPr/>
        </p:nvSpPr>
        <p:spPr>
          <a:xfrm>
            <a:off x="9180576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9" name="entorno"/>
          <p:cNvSpPr/>
          <p:nvPr/>
        </p:nvSpPr>
        <p:spPr>
          <a:xfrm>
            <a:off x="9381744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20" name="entorno"/>
          <p:cNvSpPr/>
          <p:nvPr/>
        </p:nvSpPr>
        <p:spPr>
          <a:xfrm>
            <a:off x="9582912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21" name="entorno"/>
          <p:cNvSpPr/>
          <p:nvPr/>
        </p:nvSpPr>
        <p:spPr>
          <a:xfrm>
            <a:off x="9784080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22" name="entorno"/>
          <p:cNvSpPr/>
          <p:nvPr/>
        </p:nvSpPr>
        <p:spPr>
          <a:xfrm>
            <a:off x="9985248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23" name="entorno"/>
          <p:cNvSpPr/>
          <p:nvPr/>
        </p:nvSpPr>
        <p:spPr>
          <a:xfrm>
            <a:off x="10186416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24" name="entorno"/>
          <p:cNvSpPr/>
          <p:nvPr/>
        </p:nvSpPr>
        <p:spPr>
          <a:xfrm>
            <a:off x="10387584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25" name="entorno"/>
          <p:cNvSpPr/>
          <p:nvPr/>
        </p:nvSpPr>
        <p:spPr>
          <a:xfrm>
            <a:off x="10588752" y="386791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26" name="entorno"/>
          <p:cNvSpPr/>
          <p:nvPr/>
        </p:nvSpPr>
        <p:spPr>
          <a:xfrm>
            <a:off x="6766560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27" name="entorno"/>
          <p:cNvSpPr/>
          <p:nvPr/>
        </p:nvSpPr>
        <p:spPr>
          <a:xfrm>
            <a:off x="6967728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28" name="entorno"/>
          <p:cNvSpPr/>
          <p:nvPr/>
        </p:nvSpPr>
        <p:spPr>
          <a:xfrm>
            <a:off x="7168896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29" name="entorno"/>
          <p:cNvSpPr/>
          <p:nvPr/>
        </p:nvSpPr>
        <p:spPr>
          <a:xfrm>
            <a:off x="7370064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30" name="entorno"/>
          <p:cNvSpPr/>
          <p:nvPr/>
        </p:nvSpPr>
        <p:spPr>
          <a:xfrm>
            <a:off x="7571232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31" name="entorno"/>
          <p:cNvSpPr/>
          <p:nvPr/>
        </p:nvSpPr>
        <p:spPr>
          <a:xfrm>
            <a:off x="7772400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32" name="entorno"/>
          <p:cNvSpPr/>
          <p:nvPr/>
        </p:nvSpPr>
        <p:spPr>
          <a:xfrm>
            <a:off x="7973568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33" name="entorno"/>
          <p:cNvSpPr/>
          <p:nvPr/>
        </p:nvSpPr>
        <p:spPr>
          <a:xfrm>
            <a:off x="8174736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34" name="entorno"/>
          <p:cNvSpPr/>
          <p:nvPr/>
        </p:nvSpPr>
        <p:spPr>
          <a:xfrm>
            <a:off x="8375904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35" name="entorno"/>
          <p:cNvSpPr/>
          <p:nvPr/>
        </p:nvSpPr>
        <p:spPr>
          <a:xfrm>
            <a:off x="8577072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36" name="entorno"/>
          <p:cNvSpPr/>
          <p:nvPr/>
        </p:nvSpPr>
        <p:spPr>
          <a:xfrm>
            <a:off x="8778240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37" name="entorno"/>
          <p:cNvSpPr/>
          <p:nvPr/>
        </p:nvSpPr>
        <p:spPr>
          <a:xfrm>
            <a:off x="8979408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38" name="entorno"/>
          <p:cNvSpPr/>
          <p:nvPr/>
        </p:nvSpPr>
        <p:spPr>
          <a:xfrm>
            <a:off x="9180576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39" name="entorno"/>
          <p:cNvSpPr/>
          <p:nvPr/>
        </p:nvSpPr>
        <p:spPr>
          <a:xfrm>
            <a:off x="9381744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0" name="entorno"/>
          <p:cNvSpPr/>
          <p:nvPr/>
        </p:nvSpPr>
        <p:spPr>
          <a:xfrm>
            <a:off x="9582912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1" name="entorno"/>
          <p:cNvSpPr/>
          <p:nvPr/>
        </p:nvSpPr>
        <p:spPr>
          <a:xfrm>
            <a:off x="9784080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2" name="entorno"/>
          <p:cNvSpPr/>
          <p:nvPr/>
        </p:nvSpPr>
        <p:spPr>
          <a:xfrm>
            <a:off x="9985248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3" name="entorno"/>
          <p:cNvSpPr/>
          <p:nvPr/>
        </p:nvSpPr>
        <p:spPr>
          <a:xfrm>
            <a:off x="10186416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4" name="entorno"/>
          <p:cNvSpPr/>
          <p:nvPr/>
        </p:nvSpPr>
        <p:spPr>
          <a:xfrm>
            <a:off x="10387584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5" name="entorno"/>
          <p:cNvSpPr/>
          <p:nvPr/>
        </p:nvSpPr>
        <p:spPr>
          <a:xfrm>
            <a:off x="10588752" y="4069080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6" name="entorno"/>
          <p:cNvSpPr/>
          <p:nvPr/>
        </p:nvSpPr>
        <p:spPr>
          <a:xfrm>
            <a:off x="6766560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7" name="entorno"/>
          <p:cNvSpPr/>
          <p:nvPr/>
        </p:nvSpPr>
        <p:spPr>
          <a:xfrm>
            <a:off x="6967728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8" name="entorno"/>
          <p:cNvSpPr/>
          <p:nvPr/>
        </p:nvSpPr>
        <p:spPr>
          <a:xfrm>
            <a:off x="7168896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9" name="entorno"/>
          <p:cNvSpPr/>
          <p:nvPr/>
        </p:nvSpPr>
        <p:spPr>
          <a:xfrm>
            <a:off x="7370064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50" name="entorno"/>
          <p:cNvSpPr/>
          <p:nvPr/>
        </p:nvSpPr>
        <p:spPr>
          <a:xfrm>
            <a:off x="7571232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51" name="entorno"/>
          <p:cNvSpPr/>
          <p:nvPr/>
        </p:nvSpPr>
        <p:spPr>
          <a:xfrm>
            <a:off x="7772400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52" name="entorno"/>
          <p:cNvSpPr/>
          <p:nvPr/>
        </p:nvSpPr>
        <p:spPr>
          <a:xfrm>
            <a:off x="7973568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53" name="entorno"/>
          <p:cNvSpPr/>
          <p:nvPr/>
        </p:nvSpPr>
        <p:spPr>
          <a:xfrm>
            <a:off x="8174736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54" name="entorno"/>
          <p:cNvSpPr/>
          <p:nvPr/>
        </p:nvSpPr>
        <p:spPr>
          <a:xfrm>
            <a:off x="8375904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55" name="entorno"/>
          <p:cNvSpPr/>
          <p:nvPr/>
        </p:nvSpPr>
        <p:spPr>
          <a:xfrm>
            <a:off x="8577072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56" name="entorno"/>
          <p:cNvSpPr/>
          <p:nvPr/>
        </p:nvSpPr>
        <p:spPr>
          <a:xfrm>
            <a:off x="8778240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57" name="entorno"/>
          <p:cNvSpPr/>
          <p:nvPr/>
        </p:nvSpPr>
        <p:spPr>
          <a:xfrm>
            <a:off x="8979408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58" name="entorno"/>
          <p:cNvSpPr/>
          <p:nvPr/>
        </p:nvSpPr>
        <p:spPr>
          <a:xfrm>
            <a:off x="9180576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59" name="entorno"/>
          <p:cNvSpPr/>
          <p:nvPr/>
        </p:nvSpPr>
        <p:spPr>
          <a:xfrm>
            <a:off x="9381744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60" name="entorno"/>
          <p:cNvSpPr/>
          <p:nvPr/>
        </p:nvSpPr>
        <p:spPr>
          <a:xfrm>
            <a:off x="9582912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61" name="entorno"/>
          <p:cNvSpPr/>
          <p:nvPr/>
        </p:nvSpPr>
        <p:spPr>
          <a:xfrm>
            <a:off x="9784080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62" name="entorno"/>
          <p:cNvSpPr/>
          <p:nvPr/>
        </p:nvSpPr>
        <p:spPr>
          <a:xfrm>
            <a:off x="9985248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63" name="entorno"/>
          <p:cNvSpPr/>
          <p:nvPr/>
        </p:nvSpPr>
        <p:spPr>
          <a:xfrm>
            <a:off x="10186416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64" name="entorno"/>
          <p:cNvSpPr/>
          <p:nvPr/>
        </p:nvSpPr>
        <p:spPr>
          <a:xfrm>
            <a:off x="10387584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65" name="entorno"/>
          <p:cNvSpPr/>
          <p:nvPr/>
        </p:nvSpPr>
        <p:spPr>
          <a:xfrm>
            <a:off x="10588752" y="4270248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66" name="entorno"/>
          <p:cNvSpPr/>
          <p:nvPr/>
        </p:nvSpPr>
        <p:spPr>
          <a:xfrm>
            <a:off x="6766560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67" name="entorno"/>
          <p:cNvSpPr/>
          <p:nvPr/>
        </p:nvSpPr>
        <p:spPr>
          <a:xfrm>
            <a:off x="6967728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68" name="entorno"/>
          <p:cNvSpPr/>
          <p:nvPr/>
        </p:nvSpPr>
        <p:spPr>
          <a:xfrm>
            <a:off x="7168896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69" name="entorno"/>
          <p:cNvSpPr/>
          <p:nvPr/>
        </p:nvSpPr>
        <p:spPr>
          <a:xfrm>
            <a:off x="7370064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70" name="entorno"/>
          <p:cNvSpPr/>
          <p:nvPr/>
        </p:nvSpPr>
        <p:spPr>
          <a:xfrm>
            <a:off x="7571232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71" name="entorno"/>
          <p:cNvSpPr/>
          <p:nvPr/>
        </p:nvSpPr>
        <p:spPr>
          <a:xfrm>
            <a:off x="7772400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72" name="entorno"/>
          <p:cNvSpPr/>
          <p:nvPr/>
        </p:nvSpPr>
        <p:spPr>
          <a:xfrm>
            <a:off x="7973568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73" name="entorno"/>
          <p:cNvSpPr/>
          <p:nvPr/>
        </p:nvSpPr>
        <p:spPr>
          <a:xfrm>
            <a:off x="8174736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74" name="entorno"/>
          <p:cNvSpPr/>
          <p:nvPr/>
        </p:nvSpPr>
        <p:spPr>
          <a:xfrm>
            <a:off x="8375904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75" name="entorno"/>
          <p:cNvSpPr/>
          <p:nvPr/>
        </p:nvSpPr>
        <p:spPr>
          <a:xfrm>
            <a:off x="8577072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76" name="entorno"/>
          <p:cNvSpPr/>
          <p:nvPr/>
        </p:nvSpPr>
        <p:spPr>
          <a:xfrm>
            <a:off x="8778240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77" name="entorno"/>
          <p:cNvSpPr/>
          <p:nvPr/>
        </p:nvSpPr>
        <p:spPr>
          <a:xfrm>
            <a:off x="8979408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78" name="entorno"/>
          <p:cNvSpPr/>
          <p:nvPr/>
        </p:nvSpPr>
        <p:spPr>
          <a:xfrm>
            <a:off x="9180576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79" name="entorno"/>
          <p:cNvSpPr/>
          <p:nvPr/>
        </p:nvSpPr>
        <p:spPr>
          <a:xfrm>
            <a:off x="9381744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0" name="entorno"/>
          <p:cNvSpPr/>
          <p:nvPr/>
        </p:nvSpPr>
        <p:spPr>
          <a:xfrm>
            <a:off x="9582912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1" name="entorno"/>
          <p:cNvSpPr/>
          <p:nvPr/>
        </p:nvSpPr>
        <p:spPr>
          <a:xfrm>
            <a:off x="9784080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2" name="entorno"/>
          <p:cNvSpPr/>
          <p:nvPr/>
        </p:nvSpPr>
        <p:spPr>
          <a:xfrm>
            <a:off x="9985248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3" name="entorno"/>
          <p:cNvSpPr/>
          <p:nvPr/>
        </p:nvSpPr>
        <p:spPr>
          <a:xfrm>
            <a:off x="10186416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4" name="entorno"/>
          <p:cNvSpPr/>
          <p:nvPr/>
        </p:nvSpPr>
        <p:spPr>
          <a:xfrm>
            <a:off x="10387584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5" name="entorno"/>
          <p:cNvSpPr/>
          <p:nvPr/>
        </p:nvSpPr>
        <p:spPr>
          <a:xfrm>
            <a:off x="10588752" y="4471416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6" name="entorno"/>
          <p:cNvSpPr/>
          <p:nvPr/>
        </p:nvSpPr>
        <p:spPr>
          <a:xfrm>
            <a:off x="6766560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7" name="entorno"/>
          <p:cNvSpPr/>
          <p:nvPr/>
        </p:nvSpPr>
        <p:spPr>
          <a:xfrm>
            <a:off x="6967728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8" name="entorno"/>
          <p:cNvSpPr/>
          <p:nvPr/>
        </p:nvSpPr>
        <p:spPr>
          <a:xfrm>
            <a:off x="7168896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9" name="entorno"/>
          <p:cNvSpPr/>
          <p:nvPr/>
        </p:nvSpPr>
        <p:spPr>
          <a:xfrm>
            <a:off x="7370064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90" name="entorno"/>
          <p:cNvSpPr/>
          <p:nvPr/>
        </p:nvSpPr>
        <p:spPr>
          <a:xfrm>
            <a:off x="7571232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91" name="entorno"/>
          <p:cNvSpPr/>
          <p:nvPr/>
        </p:nvSpPr>
        <p:spPr>
          <a:xfrm>
            <a:off x="7772400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92" name="entorno"/>
          <p:cNvSpPr/>
          <p:nvPr/>
        </p:nvSpPr>
        <p:spPr>
          <a:xfrm>
            <a:off x="7973568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93" name="entorno"/>
          <p:cNvSpPr/>
          <p:nvPr/>
        </p:nvSpPr>
        <p:spPr>
          <a:xfrm>
            <a:off x="8174736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94" name="entorno"/>
          <p:cNvSpPr/>
          <p:nvPr/>
        </p:nvSpPr>
        <p:spPr>
          <a:xfrm>
            <a:off x="8375904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95" name="entorno"/>
          <p:cNvSpPr/>
          <p:nvPr/>
        </p:nvSpPr>
        <p:spPr>
          <a:xfrm>
            <a:off x="8577072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96" name="entorno"/>
          <p:cNvSpPr/>
          <p:nvPr/>
        </p:nvSpPr>
        <p:spPr>
          <a:xfrm>
            <a:off x="8778240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97" name="entorno"/>
          <p:cNvSpPr/>
          <p:nvPr/>
        </p:nvSpPr>
        <p:spPr>
          <a:xfrm>
            <a:off x="8979408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98" name="entorno"/>
          <p:cNvSpPr/>
          <p:nvPr/>
        </p:nvSpPr>
        <p:spPr>
          <a:xfrm>
            <a:off x="9180576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99" name="entorno"/>
          <p:cNvSpPr/>
          <p:nvPr/>
        </p:nvSpPr>
        <p:spPr>
          <a:xfrm>
            <a:off x="9381744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00" name="entorno"/>
          <p:cNvSpPr/>
          <p:nvPr/>
        </p:nvSpPr>
        <p:spPr>
          <a:xfrm>
            <a:off x="9582912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01" name="entorno"/>
          <p:cNvSpPr/>
          <p:nvPr/>
        </p:nvSpPr>
        <p:spPr>
          <a:xfrm>
            <a:off x="9784080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02" name="entorno"/>
          <p:cNvSpPr/>
          <p:nvPr/>
        </p:nvSpPr>
        <p:spPr>
          <a:xfrm>
            <a:off x="9985248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03" name="entorno"/>
          <p:cNvSpPr/>
          <p:nvPr/>
        </p:nvSpPr>
        <p:spPr>
          <a:xfrm>
            <a:off x="10186416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04" name="entorno"/>
          <p:cNvSpPr/>
          <p:nvPr/>
        </p:nvSpPr>
        <p:spPr>
          <a:xfrm>
            <a:off x="10387584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05" name="entorno"/>
          <p:cNvSpPr/>
          <p:nvPr/>
        </p:nvSpPr>
        <p:spPr>
          <a:xfrm>
            <a:off x="10588752" y="4672584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06" name="entorno"/>
          <p:cNvSpPr/>
          <p:nvPr/>
        </p:nvSpPr>
        <p:spPr>
          <a:xfrm>
            <a:off x="6766560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07" name="entorno"/>
          <p:cNvSpPr/>
          <p:nvPr/>
        </p:nvSpPr>
        <p:spPr>
          <a:xfrm>
            <a:off x="6967728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08" name="entorno"/>
          <p:cNvSpPr/>
          <p:nvPr/>
        </p:nvSpPr>
        <p:spPr>
          <a:xfrm>
            <a:off x="7168896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09" name="entorno"/>
          <p:cNvSpPr/>
          <p:nvPr/>
        </p:nvSpPr>
        <p:spPr>
          <a:xfrm>
            <a:off x="7370064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10" name="entorno"/>
          <p:cNvSpPr/>
          <p:nvPr/>
        </p:nvSpPr>
        <p:spPr>
          <a:xfrm>
            <a:off x="7571232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11" name="entorno"/>
          <p:cNvSpPr/>
          <p:nvPr/>
        </p:nvSpPr>
        <p:spPr>
          <a:xfrm>
            <a:off x="7772400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12" name="entorno"/>
          <p:cNvSpPr/>
          <p:nvPr/>
        </p:nvSpPr>
        <p:spPr>
          <a:xfrm>
            <a:off x="7973568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13" name="entorno"/>
          <p:cNvSpPr/>
          <p:nvPr/>
        </p:nvSpPr>
        <p:spPr>
          <a:xfrm>
            <a:off x="8174736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14" name="entorno"/>
          <p:cNvSpPr/>
          <p:nvPr/>
        </p:nvSpPr>
        <p:spPr>
          <a:xfrm>
            <a:off x="8375904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15" name="entorno"/>
          <p:cNvSpPr/>
          <p:nvPr/>
        </p:nvSpPr>
        <p:spPr>
          <a:xfrm>
            <a:off x="8577072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16" name="entorno"/>
          <p:cNvSpPr/>
          <p:nvPr/>
        </p:nvSpPr>
        <p:spPr>
          <a:xfrm>
            <a:off x="8778240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17" name="entorno"/>
          <p:cNvSpPr/>
          <p:nvPr/>
        </p:nvSpPr>
        <p:spPr>
          <a:xfrm>
            <a:off x="8979408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18" name="entorno"/>
          <p:cNvSpPr/>
          <p:nvPr/>
        </p:nvSpPr>
        <p:spPr>
          <a:xfrm>
            <a:off x="9180576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19" name="entorno"/>
          <p:cNvSpPr/>
          <p:nvPr/>
        </p:nvSpPr>
        <p:spPr>
          <a:xfrm>
            <a:off x="9381744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20" name="entorno"/>
          <p:cNvSpPr/>
          <p:nvPr/>
        </p:nvSpPr>
        <p:spPr>
          <a:xfrm>
            <a:off x="9582912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21" name="entorno"/>
          <p:cNvSpPr/>
          <p:nvPr/>
        </p:nvSpPr>
        <p:spPr>
          <a:xfrm>
            <a:off x="9784080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22" name="entorno"/>
          <p:cNvSpPr/>
          <p:nvPr/>
        </p:nvSpPr>
        <p:spPr>
          <a:xfrm>
            <a:off x="9985248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23" name="entorno"/>
          <p:cNvSpPr/>
          <p:nvPr/>
        </p:nvSpPr>
        <p:spPr>
          <a:xfrm>
            <a:off x="10186416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24" name="entorno"/>
          <p:cNvSpPr/>
          <p:nvPr/>
        </p:nvSpPr>
        <p:spPr>
          <a:xfrm>
            <a:off x="10387584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25" name="entorno"/>
          <p:cNvSpPr/>
          <p:nvPr/>
        </p:nvSpPr>
        <p:spPr>
          <a:xfrm>
            <a:off x="10588752" y="4873752"/>
            <a:ext cx="146304" cy="14630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26" name="Text 223"/>
          <p:cNvSpPr txBox="1"/>
          <p:nvPr/>
        </p:nvSpPr>
        <p:spPr>
          <a:xfrm>
            <a:off x="731520" y="534924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 = pedidos por segundo × duración · límite por defecto: 1000 por cuenta y región</a:t>
            </a:r>
            <a:endParaRPr lang="en-US" sz="1800" dirty="0"/>
          </a:p>
        </p:txBody>
      </p:sp>
      <p:sp>
        <p:nvSpPr>
          <p:cNvPr id="227" name="Text 224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Cómo funciona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por contrato</a:t>
            </a:r>
            <a:endParaRPr lang="en-US" sz="4000" dirty="0"/>
          </a:p>
        </p:txBody>
      </p:sp>
      <p:sp>
        <p:nvSpPr>
          <p:cNvPr id="4" name="caja"/>
          <p:cNvSpPr/>
          <p:nvPr/>
        </p:nvSpPr>
        <p:spPr>
          <a:xfrm>
            <a:off x="731520" y="2377440"/>
            <a:ext cx="1737360" cy="685800"/>
          </a:xfrm>
          <a:prstGeom prst="roundRect">
            <a:avLst>
              <a:gd name="adj" fmla="val 49333"/>
            </a:avLst>
          </a:prstGeom>
          <a:solidFill>
            <a:srgbClr val="F2F2F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23774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560320" y="2720340"/>
            <a:ext cx="914400" cy="914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7" name="caja"/>
          <p:cNvSpPr/>
          <p:nvPr/>
        </p:nvSpPr>
        <p:spPr>
          <a:xfrm>
            <a:off x="3566160" y="23774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760720" y="2720340"/>
            <a:ext cx="1005840" cy="66294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  <a:tailEnd type="triangle"/>
          </a:ln>
        </p:spPr>
      </p:sp>
      <p:sp>
        <p:nvSpPr>
          <p:cNvPr id="10" name="caja"/>
          <p:cNvSpPr/>
          <p:nvPr/>
        </p:nvSpPr>
        <p:spPr>
          <a:xfrm>
            <a:off x="731520" y="3657600"/>
            <a:ext cx="1737360" cy="685800"/>
          </a:xfrm>
          <a:prstGeom prst="roundRect">
            <a:avLst>
              <a:gd name="adj" fmla="val 49333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3657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2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560320" y="4000500"/>
            <a:ext cx="914400" cy="914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" name="caja"/>
          <p:cNvSpPr/>
          <p:nvPr/>
        </p:nvSpPr>
        <p:spPr>
          <a:xfrm>
            <a:off x="3566160" y="365760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B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 flipV="1">
            <a:off x="5760720" y="3383280"/>
            <a:ext cx="1005840" cy="61722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  <a:tailEnd type="triangle"/>
          </a:ln>
        </p:spPr>
      </p:sp>
      <p:sp>
        <p:nvSpPr>
          <p:cNvPr id="16" name="base"/>
          <p:cNvSpPr/>
          <p:nvPr/>
        </p:nvSpPr>
        <p:spPr>
          <a:xfrm>
            <a:off x="6858000" y="2697480"/>
            <a:ext cx="1280160" cy="1371600"/>
          </a:xfrm>
          <a:prstGeom prst="can">
            <a:avLst/>
          </a:prstGeom>
          <a:solidFill>
            <a:srgbClr val="D6282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9224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869680" y="23774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garantía de caer en el mismo entorno.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3657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va a la base, nunca a la memoria de la función.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Cómo funciona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millones de pedidos al mes: USD 2,47</a:t>
            </a:r>
            <a:endParaRPr lang="en-US" sz="4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45920"/>
          <a:ext cx="6583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772400" y="16459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</a:t>
            </a:r>
            <a:endParaRPr lang="en-US" sz="13000" dirty="0"/>
          </a:p>
        </p:txBody>
      </p:sp>
      <p:sp>
        <p:nvSpPr>
          <p:cNvPr id="6" name="Text 2"/>
          <p:cNvSpPr txBox="1"/>
          <p:nvPr/>
        </p:nvSpPr>
        <p:spPr>
          <a:xfrm>
            <a:off x="781812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barato que una máquina virtual chica encendida todo el mes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25780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200 ms y 512 MB por pedido. Precios oficiales de AWS Lambda (US East, x86); cálculo propio.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Economía y datos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de cruce: un tercio de uso</a:t>
            </a:r>
            <a:endParaRPr lang="en-US" sz="4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554480"/>
          <a:ext cx="7132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229600" y="17373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34 %</a:t>
            </a:r>
            <a:endParaRPr lang="en-US" sz="8000" dirty="0"/>
          </a:p>
        </p:txBody>
      </p:sp>
      <p:sp>
        <p:nvSpPr>
          <p:cNvPr id="6" name="Text 2"/>
          <p:cNvSpPr txBox="1"/>
          <p:nvPr/>
        </p:nvSpPr>
        <p:spPr>
          <a:xfrm>
            <a:off x="827532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cruce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8275320" y="35661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vCPU-hora de Lambda cuesta ~3× el de una instancia: gana en cargas espigadas, pierde en las constantes.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89788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propio: Lambda ≈ USD 0,106 / vCPU-h; EC2 c7g.large ≈ USD 0,036 / vCPU-h.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Economía y datos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Datos: apagar el cómputo sin perder la base</a:t>
            </a:r>
            <a:endParaRPr lang="en-US" sz="4000" dirty="0"/>
          </a:p>
        </p:txBody>
      </p:sp>
      <p:sp>
        <p:nvSpPr>
          <p:cNvPr id="4" name="caja"/>
          <p:cNvSpPr/>
          <p:nvPr/>
        </p:nvSpPr>
        <p:spPr>
          <a:xfrm>
            <a:off x="731520" y="22860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731520" y="2286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</a:t>
            </a:r>
            <a:endParaRPr lang="en-US" sz="1700" dirty="0"/>
          </a:p>
        </p:txBody>
      </p:sp>
      <p:sp>
        <p:nvSpPr>
          <p:cNvPr id="6" name="caja"/>
          <p:cNvSpPr/>
          <p:nvPr/>
        </p:nvSpPr>
        <p:spPr>
          <a:xfrm>
            <a:off x="2788920" y="22860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6282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788920" y="2286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activo</a:t>
            </a:r>
            <a:endParaRPr lang="en-US" sz="1700" dirty="0"/>
          </a:p>
        </p:txBody>
      </p:sp>
      <p:sp>
        <p:nvSpPr>
          <p:cNvPr id="8" name="caja"/>
          <p:cNvSpPr/>
          <p:nvPr/>
        </p:nvSpPr>
        <p:spPr>
          <a:xfrm>
            <a:off x="4846320" y="22860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4846320" y="2286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657600" y="3291840"/>
            <a:ext cx="914" cy="54864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" name="caja"/>
          <p:cNvSpPr/>
          <p:nvPr/>
        </p:nvSpPr>
        <p:spPr>
          <a:xfrm>
            <a:off x="731520" y="3931920"/>
            <a:ext cx="5852160" cy="1005840"/>
          </a:xfrm>
          <a:prstGeom prst="roundRect">
            <a:avLst>
              <a:gd name="adj" fmla="val 7273"/>
            </a:avLst>
          </a:prstGeom>
          <a:solidFill>
            <a:srgbClr val="11111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39319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persistente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2286000"/>
            <a:ext cx="4053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cómputo de almacenamiento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3749040"/>
            <a:ext cx="4053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Serverless v2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on-demand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Economía y datos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choque: las conexiones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60020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3832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a la vez, una conexión cada una. Postgres soporta cientos.</a:t>
            </a:r>
            <a:endParaRPr lang="en-US" sz="2200" dirty="0"/>
          </a:p>
        </p:txBody>
      </p:sp>
      <p:sp>
        <p:nvSpPr>
          <p:cNvPr id="6" name="caja"/>
          <p:cNvSpPr/>
          <p:nvPr/>
        </p:nvSpPr>
        <p:spPr>
          <a:xfrm>
            <a:off x="5669280" y="1783080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11111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669280" y="17830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629400" y="1947672"/>
            <a:ext cx="1005840" cy="11430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9" name="caja"/>
          <p:cNvSpPr/>
          <p:nvPr/>
        </p:nvSpPr>
        <p:spPr>
          <a:xfrm>
            <a:off x="5669280" y="2240280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11111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0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629400" y="2404872"/>
            <a:ext cx="1005840" cy="6858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2" name="caja"/>
          <p:cNvSpPr/>
          <p:nvPr/>
        </p:nvSpPr>
        <p:spPr>
          <a:xfrm>
            <a:off x="5669280" y="2697480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11111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669280" y="26974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629400" y="2862072"/>
            <a:ext cx="1005840" cy="2286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5" name="caja"/>
          <p:cNvSpPr/>
          <p:nvPr/>
        </p:nvSpPr>
        <p:spPr>
          <a:xfrm>
            <a:off x="5669280" y="3154680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11111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0" y="31546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flipV="1">
            <a:off x="6629400" y="3090672"/>
            <a:ext cx="1005840" cy="2286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8" name="caja"/>
          <p:cNvSpPr/>
          <p:nvPr/>
        </p:nvSpPr>
        <p:spPr>
          <a:xfrm>
            <a:off x="5669280" y="3611880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11111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669280" y="36118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 flipV="1">
            <a:off x="6629400" y="3090672"/>
            <a:ext cx="1005840" cy="6858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1" name="caja"/>
          <p:cNvSpPr/>
          <p:nvPr/>
        </p:nvSpPr>
        <p:spPr>
          <a:xfrm>
            <a:off x="5669280" y="4069080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11111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0" y="40690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 flipV="1">
            <a:off x="6629400" y="3090672"/>
            <a:ext cx="1005840" cy="11430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4" name="caja"/>
          <p:cNvSpPr/>
          <p:nvPr/>
        </p:nvSpPr>
        <p:spPr>
          <a:xfrm>
            <a:off x="7680960" y="269748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D6282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680960" y="269748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pooler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281160" y="3090672"/>
            <a:ext cx="825703" cy="914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7" name="base"/>
          <p:cNvSpPr/>
          <p:nvPr/>
        </p:nvSpPr>
        <p:spPr>
          <a:xfrm>
            <a:off x="10180015" y="2468880"/>
            <a:ext cx="1280160" cy="1280160"/>
          </a:xfrm>
          <a:prstGeom prst="can">
            <a:avLst/>
          </a:prstGeom>
          <a:solidFill>
            <a:srgbClr val="11111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997135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89204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pooler (RDS Proxy, PgBouncer) que reutiliza pocas conexiones, o bases con API HTTP (DynamoDB, driver serverless de Neon).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Economía y datos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sí, cuándo no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69164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ENCAJA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57400"/>
            <a:ext cx="490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Espigada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429000"/>
            <a:ext cx="490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eventos y asíncrona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estado, paralelizable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miniaturas, IoT, tareas programadas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553048" y="169164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ENCAJA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53048" y="2057400"/>
            <a:ext cx="490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Constante</a:t>
            </a:r>
            <a:endParaRPr lang="en-US" sz="6400" dirty="0"/>
          </a:p>
        </p:txBody>
      </p:sp>
      <p:sp>
        <p:nvSpPr>
          <p:cNvPr id="9" name="Text 6"/>
          <p:cNvSpPr txBox="1"/>
          <p:nvPr/>
        </p:nvSpPr>
        <p:spPr>
          <a:xfrm>
            <a:off x="6553048" y="3429000"/>
            <a:ext cx="490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crítica: el cold start no se tolera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estado o conexiones persistentes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largas de funciones acopladas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2578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iRobot: más de 20 M de eventos IoT por día con Lambda, −30 % de costo cloud (reportado por el proveedor).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Límites y futuro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contraejemplo de Amazon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50876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−90 %</a:t>
            </a:r>
            <a:endParaRPr lang="en-US" sz="16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657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costo en el monitoreo de streams de Prime Video (2023)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526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 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encadenadas, datos por la red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715000" y="4754880"/>
            <a:ext cx="731520" cy="914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6629400" y="4526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 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proceso en contenedores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Límites y futuro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comunicar cuesta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46888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que computar,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47472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que juntar, no separar.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lección de Prime Video no es «serverless es malo».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Límites y futuro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el propio AWS se flexibiliza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64592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</a:t>
            </a:r>
            <a:endParaRPr lang="en-US" sz="9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9184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de Lambda MicroVMs que conservan estado (anuncio de julio de 2026)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490618" y="164592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66 %</a:t>
            </a:r>
            <a:endParaRPr lang="en-US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4490618" y="329184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quienes usan funciones también usan contenedores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49717" y="164592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19 %</a:t>
            </a:r>
            <a:endParaRPr lang="en-US" sz="9600" dirty="0"/>
          </a:p>
        </p:txBody>
      </p:sp>
      <p:sp>
        <p:nvSpPr>
          <p:cNvPr id="9" name="Text 6"/>
          <p:cNvSpPr txBox="1"/>
          <p:nvPr/>
        </p:nvSpPr>
        <p:spPr>
          <a:xfrm>
            <a:off x="8249717" y="329184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funciones Lambda ya corren en ARM; eran 9 % dos años antes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7548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Managed Instances: 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sobre EC2 para cargas estables. Es AWS reconociendo el punto de cruce.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89788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AWS (2026); Datadog, State of Serverless (2025).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Límites y futuro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IDEAS PARA LLEVARSE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4173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14173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«sin servidores»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no administrarlos.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6517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6517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por uso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arriba de un tercio de uso.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8862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38862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trade-off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por encaje, no por moda.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1945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3383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CNCF Serverless Whitepaper · AWS Lambda (documentación y precios) · Firecracker (NSDI 2020) · Cloudflare Workers · Datadog State of Serverless 2025 · Prime Video Tech Blog (2023).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Serverless — SGD (opción A)</dc:title>
  <dc:subject>PptxGenJS Presentation</dc:subject>
  <dc:creator>Bonadeo, Juan Cruz y grupo</dc:creator>
  <cp:lastModifiedBy>Bonadeo, Juan Cruz y grupo</cp:lastModifiedBy>
  <cp:revision>1</cp:revision>
  <dcterms:created xsi:type="dcterms:W3CDTF">2026-10-06T21:44:46Z</dcterms:created>
  <dcterms:modified xsi:type="dcterms:W3CDTF">2026-10-06T21:44:46Z</dcterms:modified>
</cp:coreProperties>
</file>