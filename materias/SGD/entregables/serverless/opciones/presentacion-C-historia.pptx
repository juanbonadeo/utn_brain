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charts/chart1.xml" ContentType="application/vnd.openxmlformats-officedocument.drawingml.chart+xml"/>
  <Override PartName="/ppt/slideMasters/slideMaster2.xml" ContentType="application/vnd.openxmlformats-officedocument.presentationml.slideMaster+xml"/>
  <Override PartName="/ppt/slides/slide2.xml" ContentType="application/vnd.openxmlformats-officedocument.presentationml.slide+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3.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xpositor 1 — El caso y qué es" id="{a30bad5b-f5d9-468c-d485-8b06fd22fd0f}">
          <p14:sldIdLst>
            <p14:sldId id="256"/>
            <p14:sldId id="257"/>
            <p14:sldId id="258"/>
            <p14:sldId id="259"/>
          </p14:sldIdLst>
        </p14:section>
        <p14:section name="Expositor 2 — Qué pasa por dentro" id="{bc12a511-6309-072c-647b-a8d20f302fdb}">
          <p14:sldIdLst>
            <p14:sldId id="260"/>
            <p14:sldId id="261"/>
            <p14:sldId id="262"/>
            <p14:sldId id="263"/>
          </p14:sldIdLst>
        </p14:section>
        <p14:section name="Expositor 3 — Costos y base de datos" id="{5dac8521-f860-4aef-a383-578f52ff16a4}">
          <p14:sldIdLst>
            <p14:sldId id="264"/>
            <p14:sldId id="265"/>
            <p14:sldId id="266"/>
            <p14:sldId id="267"/>
          </p14:sldIdLst>
        </p14:section>
        <p14:section name="Expositor 4 — Cuándo no y cierre" id="{75173df2-6829-97ca-18ad-bc0d84d1d5cd}">
          <p14:sldIdLst>
            <p14:sldId id="268"/>
            <p14:sldId id="269"/>
            <p14:sldId id="270"/>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areaChart>
        <c:varyColors val="0"/>
        <c:ser>
          <c:idx val="0"/>
          <c:order val="0"/>
          <c:tx>
            <c:strRef>
              <c:f>Sheet1!$B$1</c:f>
              <c:strCache>
                <c:ptCount val="1"/>
                <c:pt idx="0">
                  <c:v>pedidos</c:v>
                </c:pt>
              </c:strCache>
            </c:strRef>
          </c:tx>
          <c:spPr>
            <a:solidFill>
              <a:srgbClr val="F2545B">
                <a:alpha val="85000"/>
              </a:srgbClr>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Sheet1!$A$2:$A$8</c:f>
              <c:multiLvlStrCache>
                <c:ptCount val="7"/>
                <c:lvl>
                  <c:pt idx="0">
                    <c:v>06</c:v>
                  </c:pt>
                  <c:pt idx="1">
                    <c:v>07</c:v>
                  </c:pt>
                  <c:pt idx="2">
                    <c:v>08</c:v>
                  </c:pt>
                  <c:pt idx="3">
                    <c:v>09</c:v>
                  </c:pt>
                  <c:pt idx="4">
                    <c:v>10</c:v>
                  </c:pt>
                  <c:pt idx="5">
                    <c:v>11</c:v>
                  </c:pt>
                  <c:pt idx="6">
                    <c:v>12</c:v>
                  </c:pt>
                </c:lvl>
              </c:multiLvlStrCache>
            </c:multiLvlStrRef>
          </c:cat>
          <c:val>
            <c:numRef>
              <c:f>Sheet1!$B$2:$B$8</c:f>
              <c:numCache>
                <c:formatCode>General</c:formatCode>
                <c:ptCount val="7"/>
                <c:pt idx="0">
                  <c:v>2</c:v>
                </c:pt>
                <c:pt idx="1">
                  <c:v>4</c:v>
                </c:pt>
                <c:pt idx="2">
                  <c:v>100</c:v>
                </c:pt>
                <c:pt idx="3">
                  <c:v>85</c:v>
                </c:pt>
                <c:pt idx="4">
                  <c:v>40</c:v>
                </c:pt>
                <c:pt idx="5">
                  <c:v>15</c:v>
                </c:pt>
                <c:pt idx="6">
                  <c:v>6</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axId val="2094734554"/>
        <c:axId val="2094734552"/>
        <c:axId val="2094734556"/>
      </c:area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7A7391"/>
                </a:solidFill>
                <a:latin typeface="Calibri"/>
              </a:defRPr>
            </a:pPr>
            <a:endParaRPr lang="en-US"/>
          </a:p>
        </c:txPr>
        <c:crossAx val="2094734552"/>
        <c:crosses val="autoZero"/>
        <c:auto val="1"/>
        <c:lblAlgn val="ctr"/>
        <c:noMultiLvlLbl val="1"/>
      </c:catAx>
      <c:valAx>
        <c:axId val="2094734552"/>
        <c:scaling>
          <c:orientation val="minMax"/>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Alumnos simultáneos</c:v>
                </c:pt>
              </c:strCache>
            </c:strRef>
          </c:tx>
          <c:spPr>
            <a:solidFill>
              <a:srgbClr val="D9D0F0"/>
            </a:solidFill>
            <a:effectLst/>
          </c:spPr>
          <c:invertIfNegative val="0"/>
          <c:dLbls>
            <c:numFmt formatCode="#,##0" sourceLinked="0"/>
            <c:txPr>
              <a:bodyPr/>
              <a:lstStyle/>
              <a:p>
                <a:pPr>
                  <a:defRPr b="0" i="0" strike="noStrike" sz="1200" u="none">
                    <a:solidFill>
                      <a:srgbClr val="4A4560"/>
                    </a:solidFill>
                    <a:latin typeface="Calibri"/>
                  </a:defRPr>
                </a:pPr>
              </a:p>
            </c:txPr>
            <c:showLegendKey val="0"/>
            <c:showVal val="1"/>
            <c:showCatName val="0"/>
            <c:showSerName val="0"/>
            <c:showPercent val="0"/>
            <c:showBubbleSize val="0"/>
            <c:showLeaderLines val="0"/>
          </c:dLbls>
          <c:dPt>
            <c:idx val="0"/>
            <c:invertIfNegative val="0"/>
            <c:bubble3D val="0"/>
            <c:spPr>
              <a:solidFill>
                <a:srgbClr val="D9D0F0"/>
              </a:solidFill>
              <a:effectLst/>
            </c:spPr>
          </c:dPt>
          <c:dPt>
            <c:idx val="1"/>
            <c:invertIfNegative val="0"/>
            <c:bubble3D val="0"/>
            <c:spPr>
              <a:solidFill>
                <a:srgbClr val="D9D0F0"/>
              </a:solidFill>
              <a:effectLst/>
            </c:spPr>
          </c:dPt>
          <c:dPt>
            <c:idx val="2"/>
            <c:invertIfNegative val="0"/>
            <c:bubble3D val="0"/>
            <c:spPr>
              <a:solidFill>
                <a:srgbClr val="F2545B"/>
              </a:solidFill>
              <a:effectLst/>
            </c:spPr>
          </c:dPt>
          <c:dPt>
            <c:idx val="3"/>
            <c:invertIfNegative val="0"/>
            <c:bubble3D val="0"/>
            <c:spPr>
              <a:solidFill>
                <a:srgbClr val="D9D0F0"/>
              </a:solidFill>
              <a:effectLst/>
            </c:spPr>
          </c:dPt>
          <c:dPt>
            <c:idx val="4"/>
            <c:invertIfNegative val="0"/>
            <c:bubble3D val="0"/>
            <c:spPr>
              <a:solidFill>
                <a:srgbClr val="D9D0F0"/>
              </a:solidFill>
              <a:effectLst/>
            </c:spPr>
          </c:dPt>
          <c:dPt>
            <c:idx val="5"/>
            <c:invertIfNegative val="0"/>
            <c:bubble3D val="0"/>
            <c:spPr>
              <a:solidFill>
                <a:srgbClr val="D9D0F0"/>
              </a:solidFill>
              <a:effectLst/>
            </c:spPr>
          </c:dPt>
          <c:dPt>
            <c:idx val="6"/>
            <c:invertIfNegative val="0"/>
            <c:bubble3D val="0"/>
            <c:spPr>
              <a:solidFill>
                <a:srgbClr val="D9D0F0"/>
              </a:solidFill>
              <a:effectLst/>
            </c:spPr>
          </c:dPt>
          <c:dPt>
            <c:idx val="7"/>
            <c:invertIfNegative val="0"/>
            <c:bubble3D val="0"/>
            <c:spPr>
              <a:solidFill>
                <a:srgbClr val="F2545B"/>
              </a:solidFill>
              <a:effectLst/>
            </c:spPr>
          </c:dPt>
          <c:dPt>
            <c:idx val="8"/>
            <c:invertIfNegative val="0"/>
            <c:bubble3D val="0"/>
            <c:spPr>
              <a:solidFill>
                <a:srgbClr val="D9D0F0"/>
              </a:solidFill>
              <a:effectLst/>
            </c:spPr>
          </c:dPt>
          <c:dPt>
            <c:idx val="9"/>
            <c:invertIfNegative val="0"/>
            <c:bubble3D val="0"/>
            <c:spPr>
              <a:solidFill>
                <a:srgbClr val="D9D0F0"/>
              </a:solidFill>
              <a:effectLst/>
            </c:spPr>
          </c:dPt>
          <c:dPt>
            <c:idx val="10"/>
            <c:invertIfNegative val="0"/>
            <c:bubble3D val="0"/>
            <c:spPr>
              <a:solidFill>
                <a:srgbClr val="D9D0F0"/>
              </a:solidFill>
              <a:effectLst/>
            </c:spPr>
          </c:dPt>
          <c:dPt>
            <c:idx val="11"/>
            <c:invertIfNegative val="0"/>
            <c:bubble3D val="0"/>
            <c:spPr>
              <a:solidFill>
                <a:srgbClr val="D9D0F0"/>
              </a:solidFill>
              <a:effectLst/>
            </c:spPr>
          </c:dPt>
          <c:cat>
            <c:multiLvlStrRef>
              <c:f>Sheet1!$A$2:$A$13</c:f>
              <c:multiLvlStrCache>
                <c:ptCount val="12"/>
                <c:lvl>
                  <c:pt idx="0">
                    <c:v>Ene</c:v>
                  </c:pt>
                  <c:pt idx="1">
                    <c:v>Feb</c:v>
                  </c:pt>
                  <c:pt idx="2">
                    <c:v>Mar</c:v>
                  </c:pt>
                  <c:pt idx="3">
                    <c:v>Abr</c:v>
                  </c:pt>
                  <c:pt idx="4">
                    <c:v>May</c:v>
                  </c:pt>
                  <c:pt idx="5">
                    <c:v>Jun</c:v>
                  </c:pt>
                  <c:pt idx="6">
                    <c:v>Jul</c:v>
                  </c:pt>
                  <c:pt idx="7">
                    <c:v>Ago</c:v>
                  </c:pt>
                  <c:pt idx="8">
                    <c:v>Sep</c:v>
                  </c:pt>
                  <c:pt idx="9">
                    <c:v>Oct</c:v>
                  </c:pt>
                  <c:pt idx="10">
                    <c:v>Nov</c:v>
                  </c:pt>
                  <c:pt idx="11">
                    <c:v>Dic</c:v>
                  </c:pt>
                </c:lvl>
              </c:multiLvlStrCache>
            </c:multiLvlStrRef>
          </c:cat>
          <c:val>
            <c:numRef>
              <c:f>Sheet1!$B$2:$B$13</c:f>
              <c:numCache>
                <c:formatCode>General</c:formatCode>
                <c:ptCount val="12"/>
                <c:pt idx="0">
                  <c:v>10</c:v>
                </c:pt>
                <c:pt idx="1">
                  <c:v>60</c:v>
                </c:pt>
                <c:pt idx="2">
                  <c:v>5000</c:v>
                </c:pt>
                <c:pt idx="3">
                  <c:v>80</c:v>
                </c:pt>
                <c:pt idx="4">
                  <c:v>70</c:v>
                </c:pt>
                <c:pt idx="5">
                  <c:v>60</c:v>
                </c:pt>
                <c:pt idx="6">
                  <c:v>30</c:v>
                </c:pt>
                <c:pt idx="7">
                  <c:v>4000</c:v>
                </c:pt>
                <c:pt idx="8">
                  <c:v>70</c:v>
                </c:pt>
                <c:pt idx="9">
                  <c:v>60</c:v>
                </c:pt>
                <c:pt idx="10">
                  <c:v>50</c:v>
                </c:pt>
                <c:pt idx="11">
                  <c:v>15</c:v>
                </c:pt>
              </c:numCache>
            </c:numRef>
          </c:val>
        </c:ser>
        <c:dLbls>
          <c:numFmt formatCode="#,##0" sourceLinked="0"/>
          <c:txPr>
            <a:bodyPr/>
            <a:lstStyle/>
            <a:p>
              <a:pPr>
                <a:defRPr b="0" i="0" strike="noStrike" sz="1200" u="none">
                  <a:solidFill>
                    <a:srgbClr val="4A4560"/>
                  </a:solidFill>
                  <a:latin typeface="Calibri"/>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4A4560"/>
                </a:solidFill>
                <a:latin typeface="Calibri"/>
              </a:defRPr>
            </a:pPr>
            <a:endParaRPr lang="en-US"/>
          </a:p>
        </c:txPr>
        <c:crossAx val="2094734552"/>
        <c:crosses val="autoZero"/>
        <c:auto val="1"/>
        <c:lblAlgn val="ctr"/>
        <c:noMultiLvlLbl val="1"/>
      </c:catAx>
      <c:valAx>
        <c:axId val="2094734552"/>
        <c:scaling>
          <c:orientation val="minMax"/>
          <c:max val="6000"/>
          <c:min val="0"/>
        </c:scaling>
        <c:delete val="0"/>
        <c:axPos val="l"/>
        <c:majorGridlines>
          <c:spPr>
            <a:ln w="12700" cap="flat">
              <a:solidFill>
                <a:srgbClr val="ECE8F5"/>
              </a:solidFill>
              <a:prstDash val="solid"/>
              <a:round/>
            </a:ln>
          </c:spPr>
        </c:majorGridlines>
        <c:title>
          <c:tx>
            <c:rich>
              <a:bodyPr/>
              <a:lstStyle/>
              <a:p>
                <a:pPr>
                  <a:defRPr sz="1100" b="0" i="0" u="none" strike="noStrike">
                    <a:solidFill>
                      <a:srgbClr val="7A7391"/>
                    </a:solidFill>
                    <a:latin typeface="Calibri"/>
                  </a:defRPr>
                </a:pPr>
                <a:r>
                  <a:rPr sz="1100" b="0" i="0" u="none" strike="noStrike">
                    <a:solidFill>
                      <a:srgbClr val="7A7391"/>
                    </a:solidFill>
                    <a:latin typeface="Calibri"/>
                  </a:rPr>
                  <a:t>alumnos simultáneos en el pico del mes</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7A7391"/>
                </a:solidFill>
                <a:latin typeface="Calibri"/>
              </a:defRPr>
            </a:pPr>
            <a:endParaRPr lang="en-US"/>
          </a:p>
        </c:txPr>
        <c:crossAx val="2094734554"/>
        <c:crosses val="autoZero"/>
        <c:crossBetween val="between"/>
        <c:majorUnit val="1000"/>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Lambda</c:v>
                </c:pt>
              </c:strCache>
            </c:strRef>
          </c:tx>
          <c:spPr>
            <a:solidFill>
              <a:srgbClr val="F2545B"/>
            </a:solidFill>
            <a:ln w="38100" cap="flat">
              <a:solidFill>
                <a:srgbClr val="F2545B"/>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F2545B"/>
              </a:solidFill>
              <a:ln w="9525" cap="flat">
                <a:solidFill>
                  <a:srgbClr val="F2545B"/>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Sheet1!$B$2:$B$12</c:f>
              <c:numCache>
                <c:formatCode>General</c:formatCode>
                <c:ptCount val="11"/>
                <c:pt idx="0">
                  <c:v>0</c:v>
                </c:pt>
                <c:pt idx="1">
                  <c:v>0.0106</c:v>
                </c:pt>
                <c:pt idx="2">
                  <c:v>0.0212</c:v>
                </c:pt>
                <c:pt idx="3">
                  <c:v>0.0318</c:v>
                </c:pt>
                <c:pt idx="4">
                  <c:v>0.0424</c:v>
                </c:pt>
                <c:pt idx="5">
                  <c:v>0.053</c:v>
                </c:pt>
                <c:pt idx="6">
                  <c:v>0.0636</c:v>
                </c:pt>
                <c:pt idx="7">
                  <c:v>0.0742</c:v>
                </c:pt>
                <c:pt idx="8">
                  <c:v>0.0848</c:v>
                </c:pt>
                <c:pt idx="9">
                  <c:v>0.0954</c:v>
                </c:pt>
                <c:pt idx="10">
                  <c:v>0.106</c:v>
                </c:pt>
              </c:numCache>
            </c:numRef>
          </c:val>
          <c:smooth val="0"/>
        </c:ser>
        <c:ser>
          <c:idx val="1"/>
          <c:order val="1"/>
          <c:tx>
            <c:strRef>
              <c:f>Sheet1!$C$1</c:f>
              <c:strCache>
                <c:ptCount val="1"/>
                <c:pt idx="0">
                  <c:v>Servidor encendido 24/7 (EC2)</c:v>
                </c:pt>
              </c:strCache>
            </c:strRef>
          </c:tx>
          <c:spPr>
            <a:solidFill>
              <a:srgbClr val="3B1F78"/>
            </a:solidFill>
            <a:ln w="38100" cap="flat">
              <a:solidFill>
                <a:srgbClr val="3B1F78"/>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3B1F78"/>
              </a:solidFill>
              <a:ln w="9525" cap="flat">
                <a:solidFill>
                  <a:srgbClr val="3B1F78"/>
                </a:solidFill>
                <a:prstDash val="solid"/>
                <a:round/>
              </a:ln>
              <a:effectLst/>
            </c:spPr>
          </c:marker>
          <c:cat>
            <c:multiLvlStrRef>
              <c:f>Sheet1!$A$2:$A$12</c:f>
              <c:multiLvlStrCache>
                <c:ptCount val="11"/>
                <c:lvl>
                  <c:pt idx="0">
                    <c:v>0 %</c:v>
                  </c:pt>
                  <c:pt idx="1">
                    <c:v>10 %</c:v>
                  </c:pt>
                  <c:pt idx="2">
                    <c:v>20 %</c:v>
                  </c:pt>
                  <c:pt idx="3">
                    <c:v>30 %</c:v>
                  </c:pt>
                  <c:pt idx="4">
                    <c:v>40 %</c:v>
                  </c:pt>
                  <c:pt idx="5">
                    <c:v>50 %</c:v>
                  </c:pt>
                  <c:pt idx="6">
                    <c:v>60 %</c:v>
                  </c:pt>
                  <c:pt idx="7">
                    <c:v>70 %</c:v>
                  </c:pt>
                  <c:pt idx="8">
                    <c:v>80 %</c:v>
                  </c:pt>
                  <c:pt idx="9">
                    <c:v>90 %</c:v>
                  </c:pt>
                  <c:pt idx="10">
                    <c:v>100 %</c:v>
                  </c:pt>
                </c:lvl>
              </c:multiLvlStrCache>
            </c:multiLvlStrRef>
          </c:cat>
          <c:val>
            <c:numRef>
              <c:f>Sheet1!$C$2:$C$12</c:f>
              <c:numCache>
                <c:formatCode>General</c:formatCode>
                <c:ptCount val="11"/>
                <c:pt idx="0">
                  <c:v>0.036</c:v>
                </c:pt>
                <c:pt idx="1">
                  <c:v>0.036</c:v>
                </c:pt>
                <c:pt idx="2">
                  <c:v>0.036</c:v>
                </c:pt>
                <c:pt idx="3">
                  <c:v>0.036</c:v>
                </c:pt>
                <c:pt idx="4">
                  <c:v>0.036</c:v>
                </c:pt>
                <c:pt idx="5">
                  <c:v>0.036</c:v>
                </c:pt>
                <c:pt idx="6">
                  <c:v>0.036</c:v>
                </c:pt>
                <c:pt idx="7">
                  <c:v>0.036</c:v>
                </c:pt>
                <c:pt idx="8">
                  <c:v>0.036</c:v>
                </c:pt>
                <c:pt idx="9">
                  <c:v>0.036</c:v>
                </c:pt>
                <c:pt idx="10">
                  <c:v>0.036</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7A7391"/>
                    </a:solidFill>
                    <a:latin typeface="Calibri"/>
                  </a:defRPr>
                </a:pPr>
                <a:r>
                  <a:rPr sz="1200" b="0" i="0" u="none" strike="noStrike">
                    <a:solidFill>
                      <a:srgbClr val="7A7391"/>
                    </a:solidFill>
                    <a:latin typeface="Calibri"/>
                  </a:rPr>
                  <a:t>utilización</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7A7391"/>
                </a:solidFill>
                <a:latin typeface="Calibri"/>
              </a:defRPr>
            </a:pPr>
            <a:endParaRPr lang="en-US"/>
          </a:p>
        </c:txPr>
        <c:crossAx val="2094734552"/>
        <c:crosses val="autoZero"/>
        <c:auto val="1"/>
        <c:lblAlgn val="ctr"/>
        <c:noMultiLvlLbl val="1"/>
      </c:catAx>
      <c:valAx>
        <c:axId val="2094734552"/>
        <c:scaling>
          <c:orientation val="minMax"/>
          <c:max val="0.12"/>
          <c:min val="0"/>
        </c:scaling>
        <c:delete val="0"/>
        <c:axPos val="l"/>
        <c:majorGridlines>
          <c:spPr>
            <a:ln w="12700" cap="flat">
              <a:solidFill>
                <a:srgbClr val="ECE8F5"/>
              </a:solidFill>
              <a:prstDash val="solid"/>
              <a:round/>
            </a:ln>
          </c:spPr>
        </c:majorGridlines>
        <c:title>
          <c:tx>
            <c:rich>
              <a:bodyPr/>
              <a:lstStyle/>
              <a:p>
                <a:pPr>
                  <a:defRPr sz="1200" b="0" i="0" u="none" strike="noStrike">
                    <a:solidFill>
                      <a:srgbClr val="7A7391"/>
                    </a:solidFill>
                    <a:latin typeface="Calibri"/>
                  </a:defRPr>
                </a:pPr>
                <a:r>
                  <a:rPr sz="1200" b="0" i="0" u="none" strike="noStrike">
                    <a:solidFill>
                      <a:srgbClr val="7A7391"/>
                    </a:solidFill>
                    <a:latin typeface="Calibri"/>
                  </a:rPr>
                  <a:t>USD por vCPU-hora</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7A7391"/>
                </a:solidFill>
                <a:latin typeface="Calibri"/>
              </a:defRPr>
            </a:pPr>
            <a:endParaRPr lang="en-US"/>
          </a:p>
        </c:txPr>
        <c:crossAx val="2094734554"/>
        <c:crosses val="autoZero"/>
        <c:crossBetween val="between"/>
        <c:majorUnit val="0.02"/>
      </c:valAx>
      <c:spPr>
        <a:noFill/>
        <a:ln>
          <a:noFill/>
        </a:ln>
        <a:effectLst/>
      </c:spPr>
    </c:plotArea>
    <c:legend>
      <c:legendPos val="t"/>
      <c:overlay val="0"/>
      <c:txPr>
        <a:bodyPr/>
        <a:lstStyle/>
        <a:p>
          <a:pPr>
            <a:defRPr sz="1300">
              <a:solidFill>
                <a:srgbClr val="4A4560"/>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Buenas, somos el grupo de serverless. En vez de definirlo de entrada, vamos a contarlo con una historia que todos sufrimos: el SysAcad el día de inscripción a materias. Todo el año anda, y justo el día que lo necesitamos todos, se cae. Cada uno de nosotros va a responder una pregunta sobre ese caso.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Este es el caso. El SysAcad se usa poco casi todo el año, pero los días que abre la inscripción a cursado, en marzo y en agosto, entramos miles de alumnos a la vez y se cae. Los números del gráfico son supuestos para el ejemplo, no mediciones del SysAcad real: no conocemos cómo está montado por dentro. La pregunta es: ¿cómo dimensionás un sistema así?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Con un servidor tradicional hay dos opciones y las dos son malas. Si lo dimensionás para el pico, pagás once meses de una máquina ociosa. Si lo dimensionás para el promedio, el día que importa se cae. Serverless propone una tercera: que la capacidad siga a la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1] Serverless no significa que no haya servidores: existen, pero los administra el proveedor, como el wireless no elimina los cables. La CNCF lo define con tres propiedades: no gestionás infraestructura, escala hasta cero y pagás por uso real. Y tiene dos mitades: FaaS, que es nuestro código, y BaaS, los servicios que consumimos. Ahora, ¿qué pasa por dentro el día de la inscripción? Le paso a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Son las ocho de la mañana del día de inscripción y entran cinco mil alumnos al mismo tiempo. Veamos qué hace la plataforma por dentro con cada uno de esos pedidos.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Cada clic en «Inscribirme» es un evento que invoca la función. Si no hay un entorno listo, la plataforma hace el INIT: crea una microVM, baja el código, arranca el runtime y corre la inicialización. Después ejecuta la función y congela el entorno, que se reutiliza si llega otro pedido. Como dos pedidos pueden caer en entornos distintos, el estado de la inscripción tiene que ir a la base, nunca a memoria.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En Lambda cada entorno atiende un pedido a la vez, así que la cantidad de entornos sale de multiplicar pedidos por segundo por la duración. Con nuestro supuesto de dos mil pedidos por segundo y trescientos milisegundos, son seiscientos entornos, debajo del límite por defecto de mil. Pero si la función tardara un segundo, serían dos mil y la plataforma empezaría a rechazar pedidos. Además, cada entorno nuevo paga un cold start, que va de menos de cien milisegundos en Go o Rust a segundos en Java sin optimizar.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2] Esos seiscientos entornos conviven en máquinas físicas con código de miles de otros clientes. Amazon los aísla con Firecracker, un monitor de máquinas virtuales en Rust que levanta una microVM en menos de ciento veinticinco milisegundos con unos cinco megas de memoria extra. Cloudflare hace lo contrario: miles de isolates de V8 dentro de un solo proceso, casi sin cold start pero sólo para JavaScript o WebAssembly. Con esto, le paso a mi compañero para hablar de plata.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Ya sabemos que el sistema aguanta el pico. Ahora vienen las dos preguntas que deciden si conviene: cuánto cuesta y qué le pasa a la base de datos cuando seiscientas funciones le pegan a la vez.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Lambda cobra veinte centavos de dólar por millón de pedidos más el tiempo de ejecución, medido en gigabyte-segundo, al milisegundo. Hay una capa gratuita mensual de un millón de pedidos y cuatrocientos mil gigabyte-segundo. En nuestro supuesto, el día de inscripción son doscientos mil pedidos de trescientos milisegundos: treinta mil gigabyte-segundo, que entran enteros en la capa gratuita. Un servidor chico encendido todo el año cuesta unos ciento ochenta dólares.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Pero ojo: serverless no es siempre más barato. Normalizado por procesador, el vCPU-hora de Lambda cuesta unas tres veces lo que una instancia equivalente. Las líneas se cruzan cerca del treinta y cuatro por ciento de uso: debajo gana serverless, arriba conviene un servidor. El SysAcad está casi todo el año cerca del cero, así que está bien del lado izquierdo.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3] Y acá está el problema que más tiene que ver con la materia. Si cada uno de los seiscientos entornos abre su propia conexión a Postgres, la base se cae, porque soporta cientos de conexiones, no miles. La solución es un pooler, como RDS Proxy o PgBouncer, que reutiliza pocas conexiones para muchas funciones, o una base que se consulte por HTTP. Y las bases serverless, como Neon o Aurora Serverless, separan cómputo de almacenamiento para poder apagar el cómputo sin perder los datos. Le paso a mi compañero.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Para nuestro caso, serverless encaja muy bien. Pero si el sistema se usara todo el día, todos los días, la historia sería otra. Veamos cuándo no conviene.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Serverless encaja con cargas espigadas, disparadas por eventos y sin estado, como el SysAcad en inscripción. No encaja con cargas constantes, latencia crítica o cadenas largas de funciones. El ejemplo más famoso lo dio Amazon: en 2023 el equipo de Prime Video sacó un sistema de monitoreo de serverless, lo pasó a un solo proceso en contenedores y bajó el costo un noventa por ciento, porque lo caro era mover datos entre funciones, no procesarlos.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La propia industria lo reconoce. En 2026 Amazon lanzó Lambda Managed Instances, funciones que corren sobre servidores dedicados para cargas estables, y anunció microVMs que conservan estado hasta ocho horas. Además la inferencia de IA se está llevando al edge, y dos de cada tres empresas que usan funciones también usan contenedores. El futuro es híbrido.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[Expositor 4] Volvamos al SysAcad. Si estuviera armado así, aguantaría el pico, costaría casi cero el resto del año y lo único que habría que cuidar es la base, con un pooler. Ese es el criterio general: serverless es un trade-off que se elige por encaje con el problema, no por moda. Gracias,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SCURA">
    <p:bg>
      <p:bgPr>
        <a:solidFill>
          <a:srgbClr val="1A0F3D"/>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IDO">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320040"/>
            <a:ext cx="8229600" cy="320040"/>
          </a:xfrm>
          <a:prstGeom prst="rect">
            <a:avLst/>
          </a:prstGeom>
          <a:noFill/>
          <a:ln/>
        </p:spPr>
        <p:txBody>
          <a:bodyPr wrap="square" rtlCol="0"/>
          <a:lstStyle>
            <a:lvl1pPr indent="0" marL="0">
              <a:buNone/>
              <a:defRPr lang="en-US" sz="1200" b="1" spc="200" kern="0" dirty="0">
                <a:solidFill>
                  <a:srgbClr val="F2545B"/>
                </a:solidFill>
                <a:latin typeface="Calibri" pitchFamily="34" charset="0"/>
                <a:ea typeface="Calibri" pitchFamily="34" charset="-122"/>
                <a:cs typeface="Calibri" pitchFamily="34" charset="-120"/>
              </a:defRPr>
            </a:lvl1pPr>
          </a:lstStyle>
          <a:p>
            <a:pPr indent="0" marL="0">
              <a:buNone/>
            </a:pPr>
            <a:endParaRPr lang="en-US" sz="1200" dirty="0"/>
          </a:p>
        </p:txBody>
      </p:sp>
      <p:sp>
        <p:nvSpPr>
          <p:cNvPr id="3" name="Text 0"/>
          <p:cNvSpPr/>
          <p:nvPr>
            <p:ph idx="101" type="title" hasCustomPrompt="1"/>
          </p:nvPr>
        </p:nvSpPr>
        <p:spPr>
          <a:xfrm>
            <a:off x="548640" y="640080"/>
            <a:ext cx="11094415" cy="731520"/>
          </a:xfrm>
          <a:prstGeom prst="rect">
            <a:avLst/>
          </a:prstGeom>
          <a:noFill/>
          <a:ln/>
        </p:spPr>
        <p:txBody>
          <a:bodyPr wrap="square" rtlCol="0"/>
          <a:lstStyle>
            <a:lvl1pPr algn="l" indent="0" marL="0">
              <a:buNone/>
              <a:defRPr lang="en-US" sz="3000" b="1" dirty="0">
                <a:solidFill>
                  <a:srgbClr val="3B1F78"/>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548640" y="6400800"/>
            <a:ext cx="3657600" cy="274320"/>
          </a:xfrm>
          <a:prstGeom prst="rect">
            <a:avLst/>
          </a:prstGeom>
          <a:noFill/>
          <a:ln/>
        </p:spPr>
        <p:txBody>
          <a:bodyPr wrap="square" lIns="0" tIns="0" rIns="0" bIns="0" rtlCol="0" anchor="ctr"/>
          <a:lstStyle/>
          <a:p>
            <a:pPr indent="0" marL="0">
              <a:buNone/>
            </a:pPr>
            <a:r>
              <a:rPr lang="en-US" sz="1000" dirty="0">
                <a:solidFill>
                  <a:srgbClr val="7A7391"/>
                </a:solidFill>
                <a:latin typeface="Calibri" pitchFamily="34" charset="0"/>
                <a:ea typeface="Calibri" pitchFamily="34" charset="-122"/>
                <a:cs typeface="Calibri" pitchFamily="34" charset="-120"/>
              </a:rPr>
              <a:t>SGD · Serverless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548640" y="1005840"/>
            <a:ext cx="7315200" cy="365760"/>
          </a:xfrm>
          <a:prstGeom prst="rect">
            <a:avLst/>
          </a:prstGeom>
          <a:noFill/>
          <a:ln/>
        </p:spPr>
        <p:txBody>
          <a:bodyPr wrap="square" lIns="0" tIns="0" rIns="0" bIns="0" rtlCol="0" anchor="t"/>
          <a:lstStyle/>
          <a:p>
            <a:pPr indent="0" marL="0">
              <a:buNone/>
            </a:pPr>
            <a:r>
              <a:rPr lang="en-US" sz="1300" b="1" spc="200" kern="0" dirty="0">
                <a:solidFill>
                  <a:srgbClr val="F2545B"/>
                </a:solidFill>
                <a:latin typeface="Calibri" pitchFamily="34" charset="0"/>
                <a:ea typeface="Calibri" pitchFamily="34" charset="-122"/>
                <a:cs typeface="Calibri" pitchFamily="34" charset="-120"/>
              </a:rPr>
              <a:t>SOPORTE A LA GESTIÓN DE DATOS CON P. VISUAL</a:t>
            </a:r>
            <a:endParaRPr lang="en-US" sz="1300" dirty="0"/>
          </a:p>
        </p:txBody>
      </p:sp>
      <p:sp>
        <p:nvSpPr>
          <p:cNvPr id="4" name="Text 1"/>
          <p:cNvSpPr txBox="1"/>
          <p:nvPr/>
        </p:nvSpPr>
        <p:spPr>
          <a:xfrm>
            <a:off x="548640" y="1508760"/>
            <a:ext cx="7315200" cy="1280160"/>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Serverless</a:t>
            </a:r>
            <a:endParaRPr lang="en-US" sz="7200" dirty="0"/>
          </a:p>
        </p:txBody>
      </p:sp>
      <p:sp>
        <p:nvSpPr>
          <p:cNvPr id="5" name="Text 2"/>
          <p:cNvSpPr txBox="1"/>
          <p:nvPr/>
        </p:nvSpPr>
        <p:spPr>
          <a:xfrm>
            <a:off x="548640" y="2880360"/>
            <a:ext cx="6766560" cy="1005840"/>
          </a:xfrm>
          <a:prstGeom prst="rect">
            <a:avLst/>
          </a:prstGeom>
          <a:noFill/>
          <a:ln/>
        </p:spPr>
        <p:txBody>
          <a:bodyPr wrap="square" lIns="0" tIns="0" rIns="0" bIns="0" rtlCol="0" anchor="t"/>
          <a:lstStyle/>
          <a:p>
            <a:pPr indent="0" marL="0">
              <a:buNone/>
            </a:pPr>
            <a:r>
              <a:rPr lang="en-US" sz="2600" i="1" dirty="0">
                <a:solidFill>
                  <a:srgbClr val="D9D0F0"/>
                </a:solidFill>
                <a:latin typeface="Cambria" pitchFamily="34" charset="0"/>
                <a:ea typeface="Cambria" pitchFamily="34" charset="-122"/>
                <a:cs typeface="Cambria" pitchFamily="34" charset="-120"/>
              </a:rPr>
              <a:t>La historia del SysAcad, que se cae justo el día de la inscripción</a:t>
            </a:r>
            <a:endParaRPr lang="en-US" sz="2600" dirty="0"/>
          </a:p>
        </p:txBody>
      </p:sp>
      <p:sp>
        <p:nvSpPr>
          <p:cNvPr id="6" name="Text 3"/>
          <p:cNvSpPr txBox="1"/>
          <p:nvPr/>
        </p:nvSpPr>
        <p:spPr>
          <a:xfrm>
            <a:off x="548640" y="5074920"/>
            <a:ext cx="7863840" cy="36576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Integrantes: </a:t>
            </a:r>
            <a:pPr indent="0" marL="0">
              <a:buNone/>
            </a:pPr>
            <a:r>
              <a:rPr lang="en-US" sz="1400" dirty="0">
                <a:solidFill>
                  <a:srgbClr val="D9D0F0"/>
                </a:solidFill>
                <a:latin typeface="Calibri" pitchFamily="34" charset="0"/>
                <a:ea typeface="Calibri" pitchFamily="34" charset="-122"/>
                <a:cs typeface="Calibri" pitchFamily="34" charset="-120"/>
              </a:rPr>
              <a:t>Bonadeo, Juan Cruz · [Integrante 2] · [Integrante 3] · [Integrante 4]</a:t>
            </a:r>
            <a:endParaRPr lang="en-US" sz="1400" dirty="0"/>
          </a:p>
        </p:txBody>
      </p:sp>
      <p:sp>
        <p:nvSpPr>
          <p:cNvPr id="7" name="Text 4"/>
          <p:cNvSpPr txBox="1"/>
          <p:nvPr/>
        </p:nvSpPr>
        <p:spPr>
          <a:xfrm>
            <a:off x="548640" y="5486400"/>
            <a:ext cx="7863840" cy="365760"/>
          </a:xfrm>
          <a:prstGeom prst="rect">
            <a:avLst/>
          </a:prstGeom>
          <a:noFill/>
          <a:ln/>
        </p:spPr>
        <p:txBody>
          <a:bodyPr wrap="square" lIns="0" tIns="0" rIns="0" bIns="0" rtlCol="0" anchor="t"/>
          <a:lstStyle/>
          <a:p>
            <a:pPr indent="0" marL="0">
              <a:buNone/>
            </a:pPr>
            <a:r>
              <a:rPr lang="en-US" sz="1300" dirty="0">
                <a:solidFill>
                  <a:srgbClr val="7A7391"/>
                </a:solidFill>
                <a:latin typeface="Calibri" pitchFamily="34" charset="0"/>
                <a:ea typeface="Calibri" pitchFamily="34" charset="-122"/>
                <a:cs typeface="Calibri" pitchFamily="34" charset="-120"/>
              </a:rPr>
              <a:t>UTN — Facultad Regional Rosario · Ingeniería en Sistemas de Información · 2026</a:t>
            </a:r>
            <a:endParaRPr lang="en-US" sz="1300" dirty="0"/>
          </a:p>
        </p:txBody>
      </p:sp>
      <p:sp>
        <p:nvSpPr>
          <p:cNvPr id="8" name="navegador"/>
          <p:cNvSpPr/>
          <p:nvPr/>
        </p:nvSpPr>
        <p:spPr>
          <a:xfrm>
            <a:off x="7635240" y="914400"/>
            <a:ext cx="4023360" cy="4343400"/>
          </a:xfrm>
          <a:prstGeom prst="roundRect">
            <a:avLst>
              <a:gd name="adj" fmla="val 2727"/>
            </a:avLst>
          </a:prstGeom>
          <a:solidFill>
            <a:srgbClr val="FFFFFF"/>
          </a:solidFill>
          <a:ln/>
          <a:effectLst>
            <a:outerShdw sx="100000" sy="100000" kx="0" ky="0" algn="bl" rotWithShape="0" blurRad="152400" dist="50800" dir="5400000">
              <a:srgbClr val="000000">
                <a:alpha val="35000"/>
              </a:srgbClr>
            </a:outerShdw>
          </a:effectLst>
        </p:spPr>
      </p:sp>
      <p:sp>
        <p:nvSpPr>
          <p:cNvPr id="9" name="barra"/>
          <p:cNvSpPr/>
          <p:nvPr/>
        </p:nvSpPr>
        <p:spPr>
          <a:xfrm>
            <a:off x="7635240" y="914400"/>
            <a:ext cx="4023360" cy="457200"/>
          </a:xfrm>
          <a:prstGeom prst="roundRect">
            <a:avLst>
              <a:gd name="adj" fmla="val 24000"/>
            </a:avLst>
          </a:prstGeom>
          <a:solidFill>
            <a:srgbClr val="F1EDFA"/>
          </a:solidFill>
          <a:ln/>
        </p:spPr>
      </p:sp>
      <p:sp>
        <p:nvSpPr>
          <p:cNvPr id="10" name="barra-base"/>
          <p:cNvSpPr/>
          <p:nvPr/>
        </p:nvSpPr>
        <p:spPr>
          <a:xfrm>
            <a:off x="7635240" y="1188720"/>
            <a:ext cx="4023360" cy="182880"/>
          </a:xfrm>
          <a:prstGeom prst="rect">
            <a:avLst/>
          </a:prstGeom>
          <a:solidFill>
            <a:srgbClr val="F1EDFA"/>
          </a:solidFill>
          <a:ln/>
        </p:spPr>
      </p:sp>
      <p:sp>
        <p:nvSpPr>
          <p:cNvPr id="11" name="punto"/>
          <p:cNvSpPr/>
          <p:nvPr/>
        </p:nvSpPr>
        <p:spPr>
          <a:xfrm>
            <a:off x="7818120" y="1078992"/>
            <a:ext cx="128016" cy="128016"/>
          </a:xfrm>
          <a:prstGeom prst="ellipse">
            <a:avLst/>
          </a:prstGeom>
          <a:solidFill>
            <a:srgbClr val="F2545B"/>
          </a:solidFill>
          <a:ln/>
        </p:spPr>
      </p:sp>
      <p:sp>
        <p:nvSpPr>
          <p:cNvPr id="12" name="punto"/>
          <p:cNvSpPr/>
          <p:nvPr/>
        </p:nvSpPr>
        <p:spPr>
          <a:xfrm>
            <a:off x="8019288" y="1078992"/>
            <a:ext cx="128016" cy="128016"/>
          </a:xfrm>
          <a:prstGeom prst="ellipse">
            <a:avLst/>
          </a:prstGeom>
          <a:solidFill>
            <a:srgbClr val="F5B841"/>
          </a:solidFill>
          <a:ln/>
        </p:spPr>
      </p:sp>
      <p:sp>
        <p:nvSpPr>
          <p:cNvPr id="13" name="punto"/>
          <p:cNvSpPr/>
          <p:nvPr/>
        </p:nvSpPr>
        <p:spPr>
          <a:xfrm>
            <a:off x="8220456" y="1078992"/>
            <a:ext cx="128016" cy="128016"/>
          </a:xfrm>
          <a:prstGeom prst="ellipse">
            <a:avLst/>
          </a:prstGeom>
          <a:solidFill>
            <a:srgbClr val="5BC27A"/>
          </a:solidFill>
          <a:ln/>
        </p:spPr>
      </p:sp>
      <p:sp>
        <p:nvSpPr>
          <p:cNvPr id="14" name="url"/>
          <p:cNvSpPr/>
          <p:nvPr/>
        </p:nvSpPr>
        <p:spPr>
          <a:xfrm>
            <a:off x="8503920" y="1014984"/>
            <a:ext cx="2971800" cy="256032"/>
          </a:xfrm>
          <a:prstGeom prst="roundRect">
            <a:avLst>
              <a:gd name="adj" fmla="val 50000"/>
            </a:avLst>
          </a:prstGeom>
          <a:solidFill>
            <a:srgbClr val="FFFFFF"/>
          </a:solidFill>
          <a:ln w="9525">
            <a:solidFill>
              <a:srgbClr val="D9D0F0"/>
            </a:solidFill>
            <a:prstDash val="solid"/>
          </a:ln>
        </p:spPr>
      </p:sp>
      <p:sp>
        <p:nvSpPr>
          <p:cNvPr id="15" name="Text 12"/>
          <p:cNvSpPr txBox="1"/>
          <p:nvPr/>
        </p:nvSpPr>
        <p:spPr>
          <a:xfrm>
            <a:off x="8641080" y="1014984"/>
            <a:ext cx="2743200" cy="256032"/>
          </a:xfrm>
          <a:prstGeom prst="rect">
            <a:avLst/>
          </a:prstGeom>
          <a:noFill/>
          <a:ln/>
        </p:spPr>
        <p:txBody>
          <a:bodyPr wrap="square" lIns="0" tIns="0" rIns="0" bIns="0" rtlCol="0" anchor="ctr"/>
          <a:lstStyle/>
          <a:p>
            <a:pPr indent="0" marL="0">
              <a:buNone/>
            </a:pPr>
            <a:r>
              <a:rPr lang="en-US" sz="1000" dirty="0">
                <a:solidFill>
                  <a:srgbClr val="7A7391"/>
                </a:solidFill>
                <a:latin typeface="Calibri" pitchFamily="34" charset="0"/>
                <a:ea typeface="Calibri" pitchFamily="34" charset="-122"/>
                <a:cs typeface="Calibri" pitchFamily="34" charset="-120"/>
              </a:rPr>
              <a:t>sysacad · inscripción a cursado</a:t>
            </a:r>
            <a:endParaRPr lang="en-US" sz="1000" dirty="0"/>
          </a:p>
        </p:txBody>
      </p:sp>
      <p:sp>
        <p:nvSpPr>
          <p:cNvPr id="16" name="Text 13"/>
          <p:cNvSpPr txBox="1"/>
          <p:nvPr/>
        </p:nvSpPr>
        <p:spPr>
          <a:xfrm>
            <a:off x="7955280" y="1554480"/>
            <a:ext cx="2011680" cy="914400"/>
          </a:xfrm>
          <a:prstGeom prst="rect">
            <a:avLst/>
          </a:prstGeom>
          <a:noFill/>
          <a:ln/>
        </p:spPr>
        <p:txBody>
          <a:bodyPr wrap="square" lIns="0" tIns="0" rIns="0" bIns="0" rtlCol="0" anchor="ctr"/>
          <a:lstStyle/>
          <a:p>
            <a:pPr indent="0" marL="0">
              <a:buNone/>
            </a:pPr>
            <a:r>
              <a:rPr lang="en-US" sz="6000" b="1" dirty="0">
                <a:solidFill>
                  <a:srgbClr val="F2545B"/>
                </a:solidFill>
                <a:latin typeface="Cambria" pitchFamily="34" charset="0"/>
                <a:ea typeface="Cambria" pitchFamily="34" charset="-122"/>
                <a:cs typeface="Cambria" pitchFamily="34" charset="-120"/>
              </a:rPr>
              <a:t>503</a:t>
            </a:r>
            <a:endParaRPr lang="en-US" sz="6000" dirty="0"/>
          </a:p>
        </p:txBody>
      </p:sp>
      <p:sp>
        <p:nvSpPr>
          <p:cNvPr id="17" name="Text 14"/>
          <p:cNvSpPr txBox="1"/>
          <p:nvPr/>
        </p:nvSpPr>
        <p:spPr>
          <a:xfrm>
            <a:off x="7955280" y="2514600"/>
            <a:ext cx="3383280" cy="731520"/>
          </a:xfrm>
          <a:prstGeom prst="rect">
            <a:avLst/>
          </a:prstGeom>
          <a:noFill/>
          <a:ln/>
        </p:spPr>
        <p:txBody>
          <a:bodyPr wrap="square" lIns="0" tIns="0" rIns="0" bIns="0" rtlCol="0" anchor="t"/>
          <a:lstStyle/>
          <a:p>
            <a:pPr indent="0" marL="0">
              <a:buNone/>
            </a:pPr>
            <a:r>
              <a:rPr lang="en-US" sz="1500" b="1" dirty="0">
                <a:solidFill>
                  <a:srgbClr val="1E1433"/>
                </a:solidFill>
                <a:latin typeface="Calibri" pitchFamily="34" charset="0"/>
                <a:ea typeface="Calibri" pitchFamily="34" charset="-122"/>
                <a:cs typeface="Calibri" pitchFamily="34" charset="-120"/>
              </a:rPr>
              <a:t>Servicio no disponible</a:t>
            </a:r>
            <a:endParaRPr lang="en-US" sz="1500" dirty="0"/>
          </a:p>
          <a:p>
            <a:pPr indent="0" marL="0">
              <a:buNone/>
            </a:pPr>
            <a:r>
              <a:rPr lang="en-US" sz="1200" dirty="0">
                <a:solidFill>
                  <a:srgbClr val="4A4560"/>
                </a:solidFill>
                <a:latin typeface="Calibri" pitchFamily="34" charset="0"/>
                <a:ea typeface="Calibri" pitchFamily="34" charset="-122"/>
                <a:cs typeface="Calibri" pitchFamily="34" charset="-120"/>
              </a:rPr>
              <a:t>Demasiados usuarios conectados. Intente más tarde.</a:t>
            </a:r>
            <a:endParaRPr lang="en-US" sz="1500" dirty="0"/>
          </a:p>
        </p:txBody>
      </p:sp>
      <p:sp>
        <p:nvSpPr>
          <p:cNvPr id="18" name="spinner"/>
          <p:cNvSpPr/>
          <p:nvPr/>
        </p:nvSpPr>
        <p:spPr>
          <a:xfrm>
            <a:off x="11192256" y="1956816"/>
            <a:ext cx="109728" cy="109728"/>
          </a:xfrm>
          <a:prstGeom prst="ellipse">
            <a:avLst/>
          </a:prstGeom>
          <a:solidFill>
            <a:srgbClr val="3B1F78">
              <a:alpha val="90000"/>
            </a:srgbClr>
          </a:solidFill>
          <a:ln/>
        </p:spPr>
      </p:sp>
      <p:sp>
        <p:nvSpPr>
          <p:cNvPr id="19" name="spinner"/>
          <p:cNvSpPr/>
          <p:nvPr/>
        </p:nvSpPr>
        <p:spPr>
          <a:xfrm>
            <a:off x="11111910" y="2150790"/>
            <a:ext cx="109728" cy="109728"/>
          </a:xfrm>
          <a:prstGeom prst="ellipse">
            <a:avLst/>
          </a:prstGeom>
          <a:solidFill>
            <a:srgbClr val="3B1F78">
              <a:alpha val="79000"/>
            </a:srgbClr>
          </a:solidFill>
          <a:ln/>
        </p:spPr>
      </p:sp>
      <p:sp>
        <p:nvSpPr>
          <p:cNvPr id="20" name="spinner"/>
          <p:cNvSpPr/>
          <p:nvPr/>
        </p:nvSpPr>
        <p:spPr>
          <a:xfrm>
            <a:off x="10917936" y="2231136"/>
            <a:ext cx="109728" cy="109728"/>
          </a:xfrm>
          <a:prstGeom prst="ellipse">
            <a:avLst/>
          </a:prstGeom>
          <a:solidFill>
            <a:srgbClr val="3B1F78">
              <a:alpha val="68000"/>
            </a:srgbClr>
          </a:solidFill>
          <a:ln/>
        </p:spPr>
      </p:sp>
      <p:sp>
        <p:nvSpPr>
          <p:cNvPr id="21" name="spinner"/>
          <p:cNvSpPr/>
          <p:nvPr/>
        </p:nvSpPr>
        <p:spPr>
          <a:xfrm>
            <a:off x="10723962" y="2150790"/>
            <a:ext cx="109728" cy="109728"/>
          </a:xfrm>
          <a:prstGeom prst="ellipse">
            <a:avLst/>
          </a:prstGeom>
          <a:solidFill>
            <a:srgbClr val="3B1F78">
              <a:alpha val="57000"/>
            </a:srgbClr>
          </a:solidFill>
          <a:ln/>
        </p:spPr>
      </p:sp>
      <p:sp>
        <p:nvSpPr>
          <p:cNvPr id="22" name="spinner"/>
          <p:cNvSpPr/>
          <p:nvPr/>
        </p:nvSpPr>
        <p:spPr>
          <a:xfrm>
            <a:off x="10643616" y="1956816"/>
            <a:ext cx="109728" cy="109728"/>
          </a:xfrm>
          <a:prstGeom prst="ellipse">
            <a:avLst/>
          </a:prstGeom>
          <a:solidFill>
            <a:srgbClr val="3B1F78">
              <a:alpha val="46000"/>
            </a:srgbClr>
          </a:solidFill>
          <a:ln/>
        </p:spPr>
      </p:sp>
      <p:sp>
        <p:nvSpPr>
          <p:cNvPr id="23" name="spinner"/>
          <p:cNvSpPr/>
          <p:nvPr/>
        </p:nvSpPr>
        <p:spPr>
          <a:xfrm>
            <a:off x="10723962" y="1762842"/>
            <a:ext cx="109728" cy="109728"/>
          </a:xfrm>
          <a:prstGeom prst="ellipse">
            <a:avLst/>
          </a:prstGeom>
          <a:solidFill>
            <a:srgbClr val="3B1F78">
              <a:alpha val="35000"/>
            </a:srgbClr>
          </a:solidFill>
          <a:ln/>
        </p:spPr>
      </p:sp>
      <p:sp>
        <p:nvSpPr>
          <p:cNvPr id="24" name="spinner"/>
          <p:cNvSpPr/>
          <p:nvPr/>
        </p:nvSpPr>
        <p:spPr>
          <a:xfrm>
            <a:off x="10917936" y="1682496"/>
            <a:ext cx="109728" cy="109728"/>
          </a:xfrm>
          <a:prstGeom prst="ellipse">
            <a:avLst/>
          </a:prstGeom>
          <a:solidFill>
            <a:srgbClr val="3B1F78">
              <a:alpha val="24000"/>
            </a:srgbClr>
          </a:solidFill>
          <a:ln/>
        </p:spPr>
      </p:sp>
      <p:sp>
        <p:nvSpPr>
          <p:cNvPr id="25" name="spinner"/>
          <p:cNvSpPr/>
          <p:nvPr/>
        </p:nvSpPr>
        <p:spPr>
          <a:xfrm>
            <a:off x="11111910" y="1762842"/>
            <a:ext cx="109728" cy="109728"/>
          </a:xfrm>
          <a:prstGeom prst="ellipse">
            <a:avLst/>
          </a:prstGeom>
          <a:solidFill>
            <a:srgbClr val="3B1F78">
              <a:alpha val="13000"/>
            </a:srgbClr>
          </a:solidFill>
          <a:ln/>
        </p:spPr>
      </p:sp>
      <p:graphicFrame>
        <p:nvGraphicFramePr>
          <p:cNvPr id="26" name="Chart 0" descr=""/>
          <p:cNvGraphicFramePr/>
          <p:nvPr/>
        </p:nvGraphicFramePr>
        <p:xfrm>
          <a:off x="7818120" y="3337560"/>
          <a:ext cx="3657600" cy="1554480"/>
        </p:xfrm>
        <a:graphic xmlns:a="http://schemas.openxmlformats.org/drawingml/2006/main">
          <a:graphicData uri="http://schemas.openxmlformats.org/drawingml/2006/chart">
            <c:chart xmlns:c="http://schemas.openxmlformats.org/drawingml/2006/chart" r:id="rId1"/>
          </a:graphicData>
        </a:graphic>
      </p:graphicFrame>
      <p:sp>
        <p:nvSpPr>
          <p:cNvPr id="27" name="Text 23"/>
          <p:cNvSpPr txBox="1"/>
          <p:nvPr/>
        </p:nvSpPr>
        <p:spPr>
          <a:xfrm>
            <a:off x="7955280" y="4873752"/>
            <a:ext cx="3383280"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pedidos por minuto · día de inscripción</a:t>
            </a:r>
            <a:endParaRPr lang="en-US" sz="1000" dirty="0"/>
          </a:p>
        </p:txBody>
      </p:sp>
      <p:sp>
        <p:nvSpPr>
          <p:cNvPr id="28" name="Text 24"/>
          <p:cNvSpPr txBox="1"/>
          <p:nvPr/>
        </p:nvSpPr>
        <p:spPr>
          <a:xfrm>
            <a:off x="7635240" y="5367528"/>
            <a:ext cx="4023360" cy="274320"/>
          </a:xfrm>
          <a:prstGeom prst="rect">
            <a:avLst/>
          </a:prstGeom>
          <a:noFill/>
          <a:ln/>
        </p:spPr>
        <p:txBody>
          <a:bodyPr wrap="square" lIns="0" tIns="0" rIns="0" bIns="0" rtlCol="0" anchor="t"/>
          <a:lstStyle/>
          <a:p>
            <a:pPr algn="r" indent="0" marL="0">
              <a:buNone/>
            </a:pPr>
            <a:r>
              <a:rPr lang="en-US" sz="1000" i="1" dirty="0">
                <a:solidFill>
                  <a:srgbClr val="7A7391"/>
                </a:solidFill>
                <a:latin typeface="Calibri" pitchFamily="34" charset="0"/>
                <a:ea typeface="Calibri" pitchFamily="34" charset="-122"/>
                <a:cs typeface="Calibri" pitchFamily="34" charset="-120"/>
              </a:rPr>
              <a:t>Recreación ilustrativa, no una captura real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EL CASO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SysAcad: tranquilo todo el año, caído el día de inscripción</a:t>
            </a:r>
            <a:endParaRPr lang="en-US" sz="3000" dirty="0"/>
          </a:p>
        </p:txBody>
      </p:sp>
      <p:graphicFrame>
        <p:nvGraphicFramePr>
          <p:cNvPr id="5" name="Chart 0" descr=""/>
          <p:cNvGraphicFramePr/>
          <p:nvPr/>
        </p:nvGraphicFramePr>
        <p:xfrm>
          <a:off x="548640" y="1554480"/>
          <a:ext cx="7498080" cy="4343400"/>
        </p:xfrm>
        <a:graphic xmlns:a="http://schemas.openxmlformats.org/drawingml/2006/main">
          <a:graphicData uri="http://schemas.openxmlformats.org/drawingml/2006/chart">
            <c:chart xmlns:c="http://schemas.openxmlformats.org/drawingml/2006/chart" r:id="rId1"/>
          </a:graphicData>
        </a:graphic>
      </p:graphicFrame>
      <p:sp>
        <p:nvSpPr>
          <p:cNvPr id="6" name="rotulo-supuesto"/>
          <p:cNvSpPr/>
          <p:nvPr/>
        </p:nvSpPr>
        <p:spPr>
          <a:xfrm>
            <a:off x="8412480" y="1600200"/>
            <a:ext cx="2377440" cy="292608"/>
          </a:xfrm>
          <a:prstGeom prst="roundRect">
            <a:avLst>
              <a:gd name="adj" fmla="val 50000"/>
            </a:avLst>
          </a:prstGeom>
          <a:solidFill>
            <a:srgbClr val="FFFFFF"/>
          </a:solidFill>
          <a:ln w="12700">
            <a:solidFill>
              <a:srgbClr val="F2545B"/>
            </a:solidFill>
            <a:prstDash val="solid"/>
          </a:ln>
        </p:spPr>
      </p:sp>
      <p:sp>
        <p:nvSpPr>
          <p:cNvPr id="7" name="Text 3"/>
          <p:cNvSpPr txBox="1"/>
          <p:nvPr/>
        </p:nvSpPr>
        <p:spPr>
          <a:xfrm>
            <a:off x="8412480" y="1600200"/>
            <a:ext cx="2377440" cy="292608"/>
          </a:xfrm>
          <a:prstGeom prst="rect">
            <a:avLst/>
          </a:prstGeom>
          <a:noFill/>
          <a:ln/>
        </p:spPr>
        <p:txBody>
          <a:bodyPr wrap="square" lIns="0" tIns="0" rIns="0" bIns="0" rtlCol="0" anchor="ctr"/>
          <a:lstStyle/>
          <a:p>
            <a:pPr algn="ctr" indent="0" marL="0">
              <a:buNone/>
            </a:pPr>
            <a:r>
              <a:rPr lang="en-US" sz="1000" b="1" spc="100" kern="0" dirty="0">
                <a:solidFill>
                  <a:srgbClr val="F2545B"/>
                </a:solidFill>
                <a:latin typeface="Calibri" pitchFamily="34" charset="0"/>
                <a:ea typeface="Calibri" pitchFamily="34" charset="-122"/>
                <a:cs typeface="Calibri" pitchFamily="34" charset="-120"/>
              </a:rPr>
              <a:t>SUPUESTO DEL EJEMPLO</a:t>
            </a:r>
            <a:endParaRPr lang="en-US" sz="1000" dirty="0"/>
          </a:p>
        </p:txBody>
      </p:sp>
      <p:sp>
        <p:nvSpPr>
          <p:cNvPr id="8" name="Text 4"/>
          <p:cNvSpPr txBox="1"/>
          <p:nvPr/>
        </p:nvSpPr>
        <p:spPr>
          <a:xfrm>
            <a:off x="8412480" y="2057400"/>
            <a:ext cx="3230575" cy="914400"/>
          </a:xfrm>
          <a:prstGeom prst="rect">
            <a:avLst/>
          </a:prstGeom>
          <a:noFill/>
          <a:ln/>
        </p:spPr>
        <p:txBody>
          <a:bodyPr wrap="square" lIns="0" tIns="0" rIns="0" bIns="0" rtlCol="0" anchor="ctr"/>
          <a:lstStyle/>
          <a:p>
            <a:pPr indent="0" marL="0">
              <a:buNone/>
            </a:pPr>
            <a:r>
              <a:rPr lang="en-US" sz="6000" b="1" dirty="0">
                <a:solidFill>
                  <a:srgbClr val="F2545B"/>
                </a:solidFill>
                <a:latin typeface="Cambria" pitchFamily="34" charset="0"/>
                <a:ea typeface="Cambria" pitchFamily="34" charset="-122"/>
                <a:cs typeface="Cambria" pitchFamily="34" charset="-120"/>
              </a:rPr>
              <a:t>5.000</a:t>
            </a:r>
            <a:endParaRPr lang="en-US" sz="6000" dirty="0"/>
          </a:p>
        </p:txBody>
      </p:sp>
      <p:sp>
        <p:nvSpPr>
          <p:cNvPr id="9" name="Text 5"/>
          <p:cNvSpPr txBox="1"/>
          <p:nvPr/>
        </p:nvSpPr>
        <p:spPr>
          <a:xfrm>
            <a:off x="8412480" y="2971800"/>
            <a:ext cx="3230575" cy="685800"/>
          </a:xfrm>
          <a:prstGeom prst="rect">
            <a:avLst/>
          </a:prstGeom>
          <a:noFill/>
          <a:ln/>
        </p:spPr>
        <p:txBody>
          <a:bodyPr wrap="square" lIns="0" tIns="0" rIns="0" bIns="0" rtlCol="0" anchor="t"/>
          <a:lstStyle/>
          <a:p>
            <a:pPr indent="0" marL="0">
              <a:buNone/>
            </a:pPr>
            <a:r>
              <a:rPr lang="en-US" sz="1500" dirty="0">
                <a:solidFill>
                  <a:srgbClr val="4A4560"/>
                </a:solidFill>
                <a:latin typeface="Calibri" pitchFamily="34" charset="0"/>
                <a:ea typeface="Calibri" pitchFamily="34" charset="-122"/>
                <a:cs typeface="Calibri" pitchFamily="34" charset="-120"/>
              </a:rPr>
              <a:t>alumnos a la vez el día que abre la inscripción a cursado</a:t>
            </a:r>
            <a:endParaRPr lang="en-US" sz="1500" dirty="0"/>
          </a:p>
        </p:txBody>
      </p:sp>
      <p:sp>
        <p:nvSpPr>
          <p:cNvPr id="10" name="Text 6"/>
          <p:cNvSpPr txBox="1"/>
          <p:nvPr/>
        </p:nvSpPr>
        <p:spPr>
          <a:xfrm>
            <a:off x="8412480" y="3840480"/>
            <a:ext cx="3230575" cy="731520"/>
          </a:xfrm>
          <a:prstGeom prst="rect">
            <a:avLst/>
          </a:prstGeom>
          <a:noFill/>
          <a:ln/>
        </p:spPr>
        <p:txBody>
          <a:bodyPr wrap="square" lIns="0" tIns="0" rIns="0" bIns="0" rtlCol="0" anchor="ctr"/>
          <a:lstStyle/>
          <a:p>
            <a:pPr indent="0" marL="0">
              <a:buNone/>
            </a:pPr>
            <a:r>
              <a:rPr lang="en-US" sz="4000" b="1" dirty="0">
                <a:solidFill>
                  <a:srgbClr val="3B1F78"/>
                </a:solidFill>
                <a:latin typeface="Cambria" pitchFamily="34" charset="0"/>
                <a:ea typeface="Cambria" pitchFamily="34" charset="-122"/>
                <a:cs typeface="Cambria" pitchFamily="34" charset="-120"/>
              </a:rPr>
              <a:t>&lt; 100</a:t>
            </a:r>
            <a:endParaRPr lang="en-US" sz="4000" dirty="0"/>
          </a:p>
        </p:txBody>
      </p:sp>
      <p:sp>
        <p:nvSpPr>
          <p:cNvPr id="11" name="Text 7"/>
          <p:cNvSpPr txBox="1"/>
          <p:nvPr/>
        </p:nvSpPr>
        <p:spPr>
          <a:xfrm>
            <a:off x="8412480" y="4572000"/>
            <a:ext cx="3230575" cy="365760"/>
          </a:xfrm>
          <a:prstGeom prst="rect">
            <a:avLst/>
          </a:prstGeom>
          <a:noFill/>
          <a:ln/>
        </p:spPr>
        <p:txBody>
          <a:bodyPr wrap="square" lIns="0" tIns="0" rIns="0" bIns="0" rtlCol="0" anchor="t"/>
          <a:lstStyle/>
          <a:p>
            <a:pPr indent="0" marL="0">
              <a:buNone/>
            </a:pPr>
            <a:r>
              <a:rPr lang="en-US" sz="1500" dirty="0">
                <a:solidFill>
                  <a:srgbClr val="4A4560"/>
                </a:solidFill>
                <a:latin typeface="Calibri" pitchFamily="34" charset="0"/>
                <a:ea typeface="Calibri" pitchFamily="34" charset="-122"/>
                <a:cs typeface="Calibri" pitchFamily="34" charset="-120"/>
              </a:rPr>
              <a:t>el resto del año</a:t>
            </a:r>
            <a:endParaRPr lang="en-US" sz="1500" dirty="0"/>
          </a:p>
        </p:txBody>
      </p:sp>
      <p:sp>
        <p:nvSpPr>
          <p:cNvPr id="12" name="Text 8"/>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Escenario ilustrativo: los números del caso son supuestos para el ejemplo, no mediciones del SysAcad ni datos de la UTN.</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EL CASO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El dilema: ¿para cuántos alumnos compramos el servidor?</a:t>
            </a:r>
            <a:endParaRPr lang="en-US" sz="3000" dirty="0"/>
          </a:p>
        </p:txBody>
      </p:sp>
      <p:sp>
        <p:nvSpPr>
          <p:cNvPr id="5" name="tarjeta"/>
          <p:cNvSpPr/>
          <p:nvPr/>
        </p:nvSpPr>
        <p:spPr>
          <a:xfrm>
            <a:off x="548640" y="1600200"/>
            <a:ext cx="3454298" cy="3657600"/>
          </a:xfrm>
          <a:prstGeom prst="roundRect">
            <a:avLst>
              <a:gd name="adj" fmla="val 2647"/>
            </a:avLst>
          </a:prstGeom>
          <a:solidFill>
            <a:srgbClr val="F1EDFA"/>
          </a:solidFill>
          <a:ln/>
        </p:spPr>
      </p:sp>
      <p:sp>
        <p:nvSpPr>
          <p:cNvPr id="6" name="circulo"/>
          <p:cNvSpPr/>
          <p:nvPr/>
        </p:nvSpPr>
        <p:spPr>
          <a:xfrm>
            <a:off x="868680" y="1920240"/>
            <a:ext cx="502920" cy="502920"/>
          </a:xfrm>
          <a:prstGeom prst="ellipse">
            <a:avLst/>
          </a:prstGeom>
          <a:solidFill>
            <a:srgbClr val="3B1F78"/>
          </a:solidFill>
          <a:ln/>
        </p:spPr>
      </p:sp>
      <p:sp>
        <p:nvSpPr>
          <p:cNvPr id="7" name="Text 4"/>
          <p:cNvSpPr txBox="1"/>
          <p:nvPr/>
        </p:nvSpPr>
        <p:spPr>
          <a:xfrm>
            <a:off x="868680"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a:t>
            </a:r>
            <a:endParaRPr lang="en-US" sz="1600" dirty="0"/>
          </a:p>
        </p:txBody>
      </p:sp>
      <p:sp>
        <p:nvSpPr>
          <p:cNvPr id="8" name="Text 5"/>
          <p:cNvSpPr txBox="1"/>
          <p:nvPr/>
        </p:nvSpPr>
        <p:spPr>
          <a:xfrm>
            <a:off x="1554480" y="1920240"/>
            <a:ext cx="2174138" cy="502920"/>
          </a:xfrm>
          <a:prstGeom prst="rect">
            <a:avLst/>
          </a:prstGeom>
          <a:noFill/>
          <a:ln/>
        </p:spPr>
        <p:txBody>
          <a:bodyPr wrap="square" lIns="0" tIns="0" rIns="0" bIns="0" rtlCol="0" anchor="ctr"/>
          <a:lstStyle/>
          <a:p>
            <a:pPr indent="0" marL="0">
              <a:buNone/>
            </a:pPr>
            <a:r>
              <a:rPr lang="en-US" sz="2000" b="1" dirty="0">
                <a:solidFill>
                  <a:srgbClr val="3B1F78"/>
                </a:solidFill>
                <a:latin typeface="Cambria" pitchFamily="34" charset="0"/>
                <a:ea typeface="Cambria" pitchFamily="34" charset="-122"/>
                <a:cs typeface="Cambria" pitchFamily="34" charset="-120"/>
              </a:rPr>
              <a:t>Para el pico</a:t>
            </a:r>
            <a:endParaRPr lang="en-US" sz="2000" dirty="0"/>
          </a:p>
        </p:txBody>
      </p:sp>
      <p:sp>
        <p:nvSpPr>
          <p:cNvPr id="9" name="capacidad"/>
          <p:cNvSpPr/>
          <p:nvPr/>
        </p:nvSpPr>
        <p:spPr>
          <a:xfrm>
            <a:off x="914400" y="2743200"/>
            <a:ext cx="384048" cy="384048"/>
          </a:xfrm>
          <a:prstGeom prst="roundRect">
            <a:avLst>
              <a:gd name="adj" fmla="val 11905"/>
            </a:avLst>
          </a:prstGeom>
          <a:solidFill>
            <a:srgbClr val="3B1F78"/>
          </a:solidFill>
          <a:ln w="12700">
            <a:solidFill>
              <a:srgbClr val="3B1F78"/>
            </a:solidFill>
            <a:prstDash val="solid"/>
          </a:ln>
        </p:spPr>
      </p:sp>
      <p:sp>
        <p:nvSpPr>
          <p:cNvPr id="10" name="capacidad"/>
          <p:cNvSpPr/>
          <p:nvPr/>
        </p:nvSpPr>
        <p:spPr>
          <a:xfrm>
            <a:off x="1389888" y="2743200"/>
            <a:ext cx="384048" cy="384048"/>
          </a:xfrm>
          <a:prstGeom prst="roundRect">
            <a:avLst>
              <a:gd name="adj" fmla="val 11905"/>
            </a:avLst>
          </a:prstGeom>
          <a:solidFill>
            <a:srgbClr val="FFFFFF"/>
          </a:solidFill>
          <a:ln w="12700">
            <a:solidFill>
              <a:srgbClr val="3B1F78"/>
            </a:solidFill>
            <a:prstDash val="solid"/>
          </a:ln>
        </p:spPr>
      </p:sp>
      <p:sp>
        <p:nvSpPr>
          <p:cNvPr id="11" name="capacidad"/>
          <p:cNvSpPr/>
          <p:nvPr/>
        </p:nvSpPr>
        <p:spPr>
          <a:xfrm>
            <a:off x="1865376" y="2743200"/>
            <a:ext cx="384048" cy="384048"/>
          </a:xfrm>
          <a:prstGeom prst="roundRect">
            <a:avLst>
              <a:gd name="adj" fmla="val 11905"/>
            </a:avLst>
          </a:prstGeom>
          <a:solidFill>
            <a:srgbClr val="FFFFFF"/>
          </a:solidFill>
          <a:ln w="12700">
            <a:solidFill>
              <a:srgbClr val="3B1F78"/>
            </a:solidFill>
            <a:prstDash val="solid"/>
          </a:ln>
        </p:spPr>
      </p:sp>
      <p:sp>
        <p:nvSpPr>
          <p:cNvPr id="12" name="capacidad"/>
          <p:cNvSpPr/>
          <p:nvPr/>
        </p:nvSpPr>
        <p:spPr>
          <a:xfrm>
            <a:off x="2340864" y="2743200"/>
            <a:ext cx="384048" cy="384048"/>
          </a:xfrm>
          <a:prstGeom prst="roundRect">
            <a:avLst>
              <a:gd name="adj" fmla="val 11905"/>
            </a:avLst>
          </a:prstGeom>
          <a:solidFill>
            <a:srgbClr val="FFFFFF"/>
          </a:solidFill>
          <a:ln w="12700">
            <a:solidFill>
              <a:srgbClr val="3B1F78"/>
            </a:solidFill>
            <a:prstDash val="solid"/>
          </a:ln>
        </p:spPr>
      </p:sp>
      <p:sp>
        <p:nvSpPr>
          <p:cNvPr id="13" name="capacidad"/>
          <p:cNvSpPr/>
          <p:nvPr/>
        </p:nvSpPr>
        <p:spPr>
          <a:xfrm>
            <a:off x="2816352" y="2743200"/>
            <a:ext cx="384048" cy="384048"/>
          </a:xfrm>
          <a:prstGeom prst="roundRect">
            <a:avLst>
              <a:gd name="adj" fmla="val 11905"/>
            </a:avLst>
          </a:prstGeom>
          <a:solidFill>
            <a:srgbClr val="FFFFFF"/>
          </a:solidFill>
          <a:ln w="12700">
            <a:solidFill>
              <a:srgbClr val="3B1F78"/>
            </a:solidFill>
            <a:prstDash val="solid"/>
          </a:ln>
        </p:spPr>
      </p:sp>
      <p:sp>
        <p:nvSpPr>
          <p:cNvPr id="14" name="Text 11"/>
          <p:cNvSpPr txBox="1"/>
          <p:nvPr/>
        </p:nvSpPr>
        <p:spPr>
          <a:xfrm>
            <a:off x="914400" y="3200400"/>
            <a:ext cx="2722778" cy="320040"/>
          </a:xfrm>
          <a:prstGeom prst="rect">
            <a:avLst/>
          </a:prstGeom>
          <a:noFill/>
          <a:ln/>
        </p:spPr>
        <p:txBody>
          <a:bodyPr wrap="square" lIns="0" tIns="0" rIns="0" bIns="0" rtlCol="0" anchor="t"/>
          <a:lstStyle/>
          <a:p>
            <a:pPr indent="0" marL="0">
              <a:buNone/>
            </a:pPr>
            <a:r>
              <a:rPr lang="en-US" sz="1300" i="1" dirty="0">
                <a:solidFill>
                  <a:srgbClr val="4A4560"/>
                </a:solidFill>
                <a:latin typeface="Calibri" pitchFamily="34" charset="0"/>
                <a:ea typeface="Calibri" pitchFamily="34" charset="-122"/>
                <a:cs typeface="Calibri" pitchFamily="34" charset="-120"/>
              </a:rPr>
              <a:t>4 de 5 servidores ociosos</a:t>
            </a:r>
            <a:endParaRPr lang="en-US" sz="1300" dirty="0"/>
          </a:p>
        </p:txBody>
      </p:sp>
      <p:sp>
        <p:nvSpPr>
          <p:cNvPr id="15" name="Text 12"/>
          <p:cNvSpPr txBox="1"/>
          <p:nvPr/>
        </p:nvSpPr>
        <p:spPr>
          <a:xfrm>
            <a:off x="914400" y="3703320"/>
            <a:ext cx="2722778" cy="1280160"/>
          </a:xfrm>
          <a:prstGeom prst="rect">
            <a:avLst/>
          </a:prstGeom>
          <a:noFill/>
          <a:ln/>
        </p:spPr>
        <p:txBody>
          <a:bodyPr wrap="square" lIns="0" tIns="0" rIns="0" bIns="0" rtlCol="0" anchor="t"/>
          <a:lstStyle/>
          <a:p>
            <a:pPr indent="0" marL="0">
              <a:buNone/>
            </a:pPr>
            <a:r>
              <a:rPr lang="en-US" sz="1600" dirty="0">
                <a:solidFill>
                  <a:srgbClr val="4A4560"/>
                </a:solidFill>
                <a:latin typeface="Calibri" pitchFamily="34" charset="0"/>
                <a:ea typeface="Calibri" pitchFamily="34" charset="-122"/>
                <a:cs typeface="Calibri" pitchFamily="34" charset="-120"/>
              </a:rPr>
              <a:t>Aguanta la inscripción, pero el resto del año está ocioso y lo pagás igual.</a:t>
            </a:r>
            <a:endParaRPr lang="en-US" sz="1600" dirty="0"/>
          </a:p>
        </p:txBody>
      </p:sp>
      <p:sp>
        <p:nvSpPr>
          <p:cNvPr id="16" name="tarjeta"/>
          <p:cNvSpPr/>
          <p:nvPr/>
        </p:nvSpPr>
        <p:spPr>
          <a:xfrm>
            <a:off x="4368698" y="1600200"/>
            <a:ext cx="3454298" cy="3657600"/>
          </a:xfrm>
          <a:prstGeom prst="roundRect">
            <a:avLst>
              <a:gd name="adj" fmla="val 2647"/>
            </a:avLst>
          </a:prstGeom>
          <a:solidFill>
            <a:srgbClr val="F1EDFA"/>
          </a:solidFill>
          <a:ln/>
        </p:spPr>
      </p:sp>
      <p:sp>
        <p:nvSpPr>
          <p:cNvPr id="17" name="circulo"/>
          <p:cNvSpPr/>
          <p:nvPr/>
        </p:nvSpPr>
        <p:spPr>
          <a:xfrm>
            <a:off x="4688738" y="1920240"/>
            <a:ext cx="502920" cy="502920"/>
          </a:xfrm>
          <a:prstGeom prst="ellipse">
            <a:avLst/>
          </a:prstGeom>
          <a:solidFill>
            <a:srgbClr val="3B1F78"/>
          </a:solidFill>
          <a:ln/>
        </p:spPr>
      </p:sp>
      <p:sp>
        <p:nvSpPr>
          <p:cNvPr id="18" name="Text 15"/>
          <p:cNvSpPr txBox="1"/>
          <p:nvPr/>
        </p:nvSpPr>
        <p:spPr>
          <a:xfrm>
            <a:off x="4688738"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B</a:t>
            </a:r>
            <a:endParaRPr lang="en-US" sz="1600" dirty="0"/>
          </a:p>
        </p:txBody>
      </p:sp>
      <p:sp>
        <p:nvSpPr>
          <p:cNvPr id="19" name="Text 16"/>
          <p:cNvSpPr txBox="1"/>
          <p:nvPr/>
        </p:nvSpPr>
        <p:spPr>
          <a:xfrm>
            <a:off x="5374538" y="1920240"/>
            <a:ext cx="2174138" cy="502920"/>
          </a:xfrm>
          <a:prstGeom prst="rect">
            <a:avLst/>
          </a:prstGeom>
          <a:noFill/>
          <a:ln/>
        </p:spPr>
        <p:txBody>
          <a:bodyPr wrap="square" lIns="0" tIns="0" rIns="0" bIns="0" rtlCol="0" anchor="ctr"/>
          <a:lstStyle/>
          <a:p>
            <a:pPr indent="0" marL="0">
              <a:buNone/>
            </a:pPr>
            <a:r>
              <a:rPr lang="en-US" sz="2000" b="1" dirty="0">
                <a:solidFill>
                  <a:srgbClr val="3B1F78"/>
                </a:solidFill>
                <a:latin typeface="Cambria" pitchFamily="34" charset="0"/>
                <a:ea typeface="Cambria" pitchFamily="34" charset="-122"/>
                <a:cs typeface="Cambria" pitchFamily="34" charset="-120"/>
              </a:rPr>
              <a:t>Para el promedio</a:t>
            </a:r>
            <a:endParaRPr lang="en-US" sz="2000" dirty="0"/>
          </a:p>
        </p:txBody>
      </p:sp>
      <p:sp>
        <p:nvSpPr>
          <p:cNvPr id="20" name="capacidad"/>
          <p:cNvSpPr/>
          <p:nvPr/>
        </p:nvSpPr>
        <p:spPr>
          <a:xfrm>
            <a:off x="4734458" y="2743200"/>
            <a:ext cx="384048" cy="384048"/>
          </a:xfrm>
          <a:prstGeom prst="roundRect">
            <a:avLst>
              <a:gd name="adj" fmla="val 11905"/>
            </a:avLst>
          </a:prstGeom>
          <a:solidFill>
            <a:srgbClr val="3B1F78"/>
          </a:solidFill>
          <a:ln w="12700">
            <a:solidFill>
              <a:srgbClr val="3B1F78"/>
            </a:solidFill>
            <a:prstDash val="solid"/>
          </a:ln>
        </p:spPr>
      </p:sp>
      <p:sp>
        <p:nvSpPr>
          <p:cNvPr id="21" name="capacidad"/>
          <p:cNvSpPr/>
          <p:nvPr/>
        </p:nvSpPr>
        <p:spPr>
          <a:xfrm>
            <a:off x="5209946" y="2743200"/>
            <a:ext cx="384048" cy="384048"/>
          </a:xfrm>
          <a:prstGeom prst="roundRect">
            <a:avLst>
              <a:gd name="adj" fmla="val 11905"/>
            </a:avLst>
          </a:prstGeom>
          <a:solidFill>
            <a:srgbClr val="3B1F78"/>
          </a:solidFill>
          <a:ln w="12700">
            <a:solidFill>
              <a:srgbClr val="3B1F78"/>
            </a:solidFill>
            <a:prstDash val="solid"/>
          </a:ln>
        </p:spPr>
      </p:sp>
      <p:sp>
        <p:nvSpPr>
          <p:cNvPr id="22" name="capacidad"/>
          <p:cNvSpPr/>
          <p:nvPr/>
        </p:nvSpPr>
        <p:spPr>
          <a:xfrm>
            <a:off x="5685434" y="2743200"/>
            <a:ext cx="384048" cy="384048"/>
          </a:xfrm>
          <a:prstGeom prst="roundRect">
            <a:avLst>
              <a:gd name="adj" fmla="val 11905"/>
            </a:avLst>
          </a:prstGeom>
          <a:solidFill>
            <a:srgbClr val="F1EDFA"/>
          </a:solidFill>
          <a:ln w="12700">
            <a:solidFill>
              <a:srgbClr val="F2545B"/>
            </a:solidFill>
            <a:prstDash val="dash"/>
          </a:ln>
        </p:spPr>
      </p:sp>
      <p:sp>
        <p:nvSpPr>
          <p:cNvPr id="23" name="capacidad"/>
          <p:cNvSpPr/>
          <p:nvPr/>
        </p:nvSpPr>
        <p:spPr>
          <a:xfrm>
            <a:off x="6160922" y="2743200"/>
            <a:ext cx="384048" cy="384048"/>
          </a:xfrm>
          <a:prstGeom prst="roundRect">
            <a:avLst>
              <a:gd name="adj" fmla="val 11905"/>
            </a:avLst>
          </a:prstGeom>
          <a:solidFill>
            <a:srgbClr val="F1EDFA"/>
          </a:solidFill>
          <a:ln w="12700">
            <a:solidFill>
              <a:srgbClr val="F2545B"/>
            </a:solidFill>
            <a:prstDash val="dash"/>
          </a:ln>
        </p:spPr>
      </p:sp>
      <p:sp>
        <p:nvSpPr>
          <p:cNvPr id="24" name="capacidad"/>
          <p:cNvSpPr/>
          <p:nvPr/>
        </p:nvSpPr>
        <p:spPr>
          <a:xfrm>
            <a:off x="6636410" y="2743200"/>
            <a:ext cx="384048" cy="384048"/>
          </a:xfrm>
          <a:prstGeom prst="roundRect">
            <a:avLst>
              <a:gd name="adj" fmla="val 11905"/>
            </a:avLst>
          </a:prstGeom>
          <a:solidFill>
            <a:srgbClr val="F1EDFA"/>
          </a:solidFill>
          <a:ln w="12700">
            <a:solidFill>
              <a:srgbClr val="F2545B"/>
            </a:solidFill>
            <a:prstDash val="dash"/>
          </a:ln>
        </p:spPr>
      </p:sp>
      <p:sp>
        <p:nvSpPr>
          <p:cNvPr id="25" name="Text 22"/>
          <p:cNvSpPr txBox="1"/>
          <p:nvPr/>
        </p:nvSpPr>
        <p:spPr>
          <a:xfrm>
            <a:off x="4734458" y="3200400"/>
            <a:ext cx="2722778" cy="320040"/>
          </a:xfrm>
          <a:prstGeom prst="rect">
            <a:avLst/>
          </a:prstGeom>
          <a:noFill/>
          <a:ln/>
        </p:spPr>
        <p:txBody>
          <a:bodyPr wrap="square" lIns="0" tIns="0" rIns="0" bIns="0" rtlCol="0" anchor="t"/>
          <a:lstStyle/>
          <a:p>
            <a:pPr indent="0" marL="0">
              <a:buNone/>
            </a:pPr>
            <a:r>
              <a:rPr lang="en-US" sz="1300" i="1" dirty="0">
                <a:solidFill>
                  <a:srgbClr val="F2545B"/>
                </a:solidFill>
                <a:latin typeface="Calibri" pitchFamily="34" charset="0"/>
                <a:ea typeface="Calibri" pitchFamily="34" charset="-122"/>
                <a:cs typeface="Calibri" pitchFamily="34" charset="-120"/>
              </a:rPr>
              <a:t>faltan 3 servidores el día pico</a:t>
            </a:r>
            <a:endParaRPr lang="en-US" sz="1300" dirty="0"/>
          </a:p>
        </p:txBody>
      </p:sp>
      <p:sp>
        <p:nvSpPr>
          <p:cNvPr id="26" name="Text 23"/>
          <p:cNvSpPr txBox="1"/>
          <p:nvPr/>
        </p:nvSpPr>
        <p:spPr>
          <a:xfrm>
            <a:off x="4734458" y="3703320"/>
            <a:ext cx="2722778" cy="1280160"/>
          </a:xfrm>
          <a:prstGeom prst="rect">
            <a:avLst/>
          </a:prstGeom>
          <a:noFill/>
          <a:ln/>
        </p:spPr>
        <p:txBody>
          <a:bodyPr wrap="square" lIns="0" tIns="0" rIns="0" bIns="0" rtlCol="0" anchor="t"/>
          <a:lstStyle/>
          <a:p>
            <a:pPr indent="0" marL="0">
              <a:buNone/>
            </a:pPr>
            <a:r>
              <a:rPr lang="en-US" sz="1600" dirty="0">
                <a:solidFill>
                  <a:srgbClr val="4A4560"/>
                </a:solidFill>
                <a:latin typeface="Calibri" pitchFamily="34" charset="0"/>
                <a:ea typeface="Calibri" pitchFamily="34" charset="-122"/>
                <a:cs typeface="Calibri" pitchFamily="34" charset="-120"/>
              </a:rPr>
              <a:t>Barato todo el año, pero el día que importa se satura y se cae.</a:t>
            </a:r>
            <a:endParaRPr lang="en-US" sz="1600" dirty="0"/>
          </a:p>
        </p:txBody>
      </p:sp>
      <p:sp>
        <p:nvSpPr>
          <p:cNvPr id="27" name="tarjeta"/>
          <p:cNvSpPr/>
          <p:nvPr/>
        </p:nvSpPr>
        <p:spPr>
          <a:xfrm>
            <a:off x="8188757" y="1600200"/>
            <a:ext cx="3454298" cy="3657600"/>
          </a:xfrm>
          <a:prstGeom prst="roundRect">
            <a:avLst>
              <a:gd name="adj" fmla="val 2647"/>
            </a:avLst>
          </a:prstGeom>
          <a:solidFill>
            <a:srgbClr val="3B1F78"/>
          </a:solidFill>
          <a:ln/>
        </p:spPr>
      </p:sp>
      <p:sp>
        <p:nvSpPr>
          <p:cNvPr id="28" name="circulo"/>
          <p:cNvSpPr/>
          <p:nvPr/>
        </p:nvSpPr>
        <p:spPr>
          <a:xfrm>
            <a:off x="8508797" y="1920240"/>
            <a:ext cx="502920" cy="502920"/>
          </a:xfrm>
          <a:prstGeom prst="ellipse">
            <a:avLst/>
          </a:prstGeom>
          <a:solidFill>
            <a:srgbClr val="F2545B"/>
          </a:solidFill>
          <a:ln/>
        </p:spPr>
      </p:sp>
      <p:sp>
        <p:nvSpPr>
          <p:cNvPr id="29" name="Text 26"/>
          <p:cNvSpPr txBox="1"/>
          <p:nvPr/>
        </p:nvSpPr>
        <p:spPr>
          <a:xfrm>
            <a:off x="8508797" y="19202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C</a:t>
            </a:r>
            <a:endParaRPr lang="en-US" sz="1600" dirty="0"/>
          </a:p>
        </p:txBody>
      </p:sp>
      <p:sp>
        <p:nvSpPr>
          <p:cNvPr id="30" name="Text 27"/>
          <p:cNvSpPr txBox="1"/>
          <p:nvPr/>
        </p:nvSpPr>
        <p:spPr>
          <a:xfrm>
            <a:off x="9194597" y="1920240"/>
            <a:ext cx="2174138" cy="502920"/>
          </a:xfrm>
          <a:prstGeom prst="rect">
            <a:avLst/>
          </a:prstGeom>
          <a:noFill/>
          <a:ln/>
        </p:spPr>
        <p:txBody>
          <a:bodyPr wrap="square" lIns="0" tIns="0" rIns="0" bIns="0" rtlCol="0" anchor="ctr"/>
          <a:lstStyle/>
          <a:p>
            <a:pPr indent="0" marL="0">
              <a:buNone/>
            </a:pPr>
            <a:r>
              <a:rPr lang="en-US" sz="2000" b="1" dirty="0">
                <a:solidFill>
                  <a:srgbClr val="FFFFFF"/>
                </a:solidFill>
                <a:latin typeface="Cambria" pitchFamily="34" charset="0"/>
                <a:ea typeface="Cambria" pitchFamily="34" charset="-122"/>
                <a:cs typeface="Cambria" pitchFamily="34" charset="-120"/>
              </a:rPr>
              <a:t>Que siga a la demanda</a:t>
            </a:r>
            <a:endParaRPr lang="en-US" sz="2000" dirty="0"/>
          </a:p>
        </p:txBody>
      </p:sp>
      <p:sp>
        <p:nvSpPr>
          <p:cNvPr id="31" name="capacidad"/>
          <p:cNvSpPr/>
          <p:nvPr/>
        </p:nvSpPr>
        <p:spPr>
          <a:xfrm>
            <a:off x="8554517" y="2743200"/>
            <a:ext cx="384048" cy="384048"/>
          </a:xfrm>
          <a:prstGeom prst="roundRect">
            <a:avLst>
              <a:gd name="adj" fmla="val 11905"/>
            </a:avLst>
          </a:prstGeom>
          <a:solidFill>
            <a:srgbClr val="F2545B"/>
          </a:solidFill>
          <a:ln w="12700">
            <a:solidFill>
              <a:srgbClr val="F2545B"/>
            </a:solidFill>
            <a:prstDash val="solid"/>
          </a:ln>
        </p:spPr>
      </p:sp>
      <p:sp>
        <p:nvSpPr>
          <p:cNvPr id="32" name="capacidad"/>
          <p:cNvSpPr/>
          <p:nvPr/>
        </p:nvSpPr>
        <p:spPr>
          <a:xfrm>
            <a:off x="9030005" y="2743200"/>
            <a:ext cx="384048" cy="384048"/>
          </a:xfrm>
          <a:prstGeom prst="roundRect">
            <a:avLst>
              <a:gd name="adj" fmla="val 11905"/>
            </a:avLst>
          </a:prstGeom>
          <a:solidFill>
            <a:srgbClr val="F2545B"/>
          </a:solidFill>
          <a:ln w="12700">
            <a:solidFill>
              <a:srgbClr val="F2545B"/>
            </a:solidFill>
            <a:prstDash val="solid"/>
          </a:ln>
        </p:spPr>
      </p:sp>
      <p:sp>
        <p:nvSpPr>
          <p:cNvPr id="33" name="capacidad"/>
          <p:cNvSpPr/>
          <p:nvPr/>
        </p:nvSpPr>
        <p:spPr>
          <a:xfrm>
            <a:off x="9505493" y="2743200"/>
            <a:ext cx="384048" cy="384048"/>
          </a:xfrm>
          <a:prstGeom prst="roundRect">
            <a:avLst>
              <a:gd name="adj" fmla="val 11905"/>
            </a:avLst>
          </a:prstGeom>
          <a:solidFill>
            <a:srgbClr val="F2545B"/>
          </a:solidFill>
          <a:ln w="12700">
            <a:solidFill>
              <a:srgbClr val="F2545B"/>
            </a:solidFill>
            <a:prstDash val="solid"/>
          </a:ln>
        </p:spPr>
      </p:sp>
      <p:sp>
        <p:nvSpPr>
          <p:cNvPr id="34" name="capacidad"/>
          <p:cNvSpPr/>
          <p:nvPr/>
        </p:nvSpPr>
        <p:spPr>
          <a:xfrm>
            <a:off x="9980981" y="2743200"/>
            <a:ext cx="384048" cy="384048"/>
          </a:xfrm>
          <a:prstGeom prst="roundRect">
            <a:avLst>
              <a:gd name="adj" fmla="val 11905"/>
            </a:avLst>
          </a:prstGeom>
          <a:solidFill>
            <a:srgbClr val="3B1F78"/>
          </a:solidFill>
          <a:ln w="12700">
            <a:solidFill>
              <a:srgbClr val="D9D0F0"/>
            </a:solidFill>
            <a:prstDash val="dash"/>
          </a:ln>
        </p:spPr>
      </p:sp>
      <p:sp>
        <p:nvSpPr>
          <p:cNvPr id="35" name="capacidad"/>
          <p:cNvSpPr/>
          <p:nvPr/>
        </p:nvSpPr>
        <p:spPr>
          <a:xfrm>
            <a:off x="10456469" y="2743200"/>
            <a:ext cx="384048" cy="384048"/>
          </a:xfrm>
          <a:prstGeom prst="roundRect">
            <a:avLst>
              <a:gd name="adj" fmla="val 11905"/>
            </a:avLst>
          </a:prstGeom>
          <a:solidFill>
            <a:srgbClr val="3B1F78"/>
          </a:solidFill>
          <a:ln w="12700">
            <a:solidFill>
              <a:srgbClr val="D9D0F0"/>
            </a:solidFill>
            <a:prstDash val="dash"/>
          </a:ln>
        </p:spPr>
      </p:sp>
      <p:sp>
        <p:nvSpPr>
          <p:cNvPr id="36" name="Text 33"/>
          <p:cNvSpPr txBox="1"/>
          <p:nvPr/>
        </p:nvSpPr>
        <p:spPr>
          <a:xfrm>
            <a:off x="8554517" y="3200400"/>
            <a:ext cx="2722778" cy="320040"/>
          </a:xfrm>
          <a:prstGeom prst="rect">
            <a:avLst/>
          </a:prstGeom>
          <a:noFill/>
          <a:ln/>
        </p:spPr>
        <p:txBody>
          <a:bodyPr wrap="square" lIns="0" tIns="0" rIns="0" bIns="0" rtlCol="0" anchor="t"/>
          <a:lstStyle/>
          <a:p>
            <a:pPr indent="0" marL="0">
              <a:buNone/>
            </a:pPr>
            <a:r>
              <a:rPr lang="en-US" sz="1300" i="1" dirty="0">
                <a:solidFill>
                  <a:srgbClr val="D9D0F0"/>
                </a:solidFill>
                <a:latin typeface="Calibri" pitchFamily="34" charset="0"/>
                <a:ea typeface="Calibri" pitchFamily="34" charset="-122"/>
                <a:cs typeface="Calibri" pitchFamily="34" charset="-120"/>
              </a:rPr>
              <a:t>existen sólo las instancias que hacen falta</a:t>
            </a:r>
            <a:endParaRPr lang="en-US" sz="1300" dirty="0"/>
          </a:p>
        </p:txBody>
      </p:sp>
      <p:sp>
        <p:nvSpPr>
          <p:cNvPr id="37" name="Text 34"/>
          <p:cNvSpPr txBox="1"/>
          <p:nvPr/>
        </p:nvSpPr>
        <p:spPr>
          <a:xfrm>
            <a:off x="8554517" y="3703320"/>
            <a:ext cx="2722778" cy="1280160"/>
          </a:xfrm>
          <a:prstGeom prst="rect">
            <a:avLst/>
          </a:prstGeom>
          <a:noFill/>
          <a:ln/>
        </p:spPr>
        <p:txBody>
          <a:bodyPr wrap="square" lIns="0" tIns="0" rIns="0" bIns="0" rtlCol="0" anchor="t"/>
          <a:lstStyle/>
          <a:p>
            <a:pPr indent="0" marL="0">
              <a:buNone/>
            </a:pPr>
            <a:r>
              <a:rPr lang="en-US" sz="1600" dirty="0">
                <a:solidFill>
                  <a:srgbClr val="FFFFFF"/>
                </a:solidFill>
                <a:latin typeface="Calibri" pitchFamily="34" charset="0"/>
                <a:ea typeface="Calibri" pitchFamily="34" charset="-122"/>
                <a:cs typeface="Calibri" pitchFamily="34" charset="-120"/>
              </a:rPr>
              <a:t>Capacidad cero cuando no hay nadie, miles de instancias en el pico.</a:t>
            </a:r>
            <a:endParaRPr lang="en-US" sz="1600" dirty="0"/>
          </a:p>
        </p:txBody>
      </p:sp>
      <p:sp>
        <p:nvSpPr>
          <p:cNvPr id="38" name="Text 35"/>
          <p:cNvSpPr txBox="1"/>
          <p:nvPr/>
        </p:nvSpPr>
        <p:spPr>
          <a:xfrm>
            <a:off x="548640" y="5486400"/>
            <a:ext cx="11094415" cy="411480"/>
          </a:xfrm>
          <a:prstGeom prst="rect">
            <a:avLst/>
          </a:prstGeom>
          <a:noFill/>
          <a:ln/>
        </p:spPr>
        <p:txBody>
          <a:bodyPr wrap="square" lIns="0" tIns="0" rIns="0" bIns="0" rtlCol="0" anchor="t"/>
          <a:lstStyle/>
          <a:p>
            <a:pPr indent="0" marL="0">
              <a:buNone/>
            </a:pPr>
            <a:r>
              <a:rPr lang="en-US" sz="1700" b="1" dirty="0">
                <a:solidFill>
                  <a:srgbClr val="3B1F78"/>
                </a:solidFill>
                <a:latin typeface="Calibri" pitchFamily="34" charset="0"/>
                <a:ea typeface="Calibri" pitchFamily="34" charset="-122"/>
                <a:cs typeface="Calibri" pitchFamily="34" charset="-120"/>
              </a:rPr>
              <a:t>Ese es el problema que resuelve serverless: </a:t>
            </a:r>
            <a:pPr indent="0" marL="0">
              <a:buNone/>
            </a:pPr>
            <a:r>
              <a:rPr lang="en-US" sz="1700" dirty="0">
                <a:solidFill>
                  <a:srgbClr val="4A4560"/>
                </a:solidFill>
                <a:latin typeface="Calibri" pitchFamily="34" charset="0"/>
                <a:ea typeface="Calibri" pitchFamily="34" charset="-122"/>
                <a:cs typeface="Calibri" pitchFamily="34" charset="-120"/>
              </a:rPr>
              <a:t>pagar por lo que se usa, cuando se usa.</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QUÉ ES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No es «sin servidores»: es que no son tu problema</a:t>
            </a:r>
            <a:endParaRPr lang="en-US" sz="3000" dirty="0"/>
          </a:p>
        </p:txBody>
      </p:sp>
      <p:sp>
        <p:nvSpPr>
          <p:cNvPr id="5" name="circulo"/>
          <p:cNvSpPr/>
          <p:nvPr/>
        </p:nvSpPr>
        <p:spPr>
          <a:xfrm>
            <a:off x="548640" y="1709928"/>
            <a:ext cx="548640" cy="548640"/>
          </a:xfrm>
          <a:prstGeom prst="ellipse">
            <a:avLst/>
          </a:prstGeom>
          <a:solidFill>
            <a:srgbClr val="F2545B"/>
          </a:solidFill>
          <a:ln/>
        </p:spPr>
      </p:sp>
      <p:sp>
        <p:nvSpPr>
          <p:cNvPr id="6" name="Text 3"/>
          <p:cNvSpPr txBox="1"/>
          <p:nvPr/>
        </p:nvSpPr>
        <p:spPr>
          <a:xfrm>
            <a:off x="548640" y="1709928"/>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325880" y="1600200"/>
            <a:ext cx="4343400" cy="914400"/>
          </a:xfrm>
          <a:prstGeom prst="rect">
            <a:avLst/>
          </a:prstGeom>
          <a:noFill/>
          <a:ln/>
        </p:spPr>
        <p:txBody>
          <a:bodyPr wrap="square" lIns="0" tIns="0" rIns="0" bIns="0" rtlCol="0" anchor="t"/>
          <a:lstStyle/>
          <a:p>
            <a:pPr indent="0" marL="0">
              <a:buNone/>
            </a:pPr>
            <a:r>
              <a:rPr lang="en-US" sz="1800" b="1" dirty="0">
                <a:solidFill>
                  <a:srgbClr val="3B1F78"/>
                </a:solidFill>
                <a:latin typeface="Calibri" pitchFamily="34" charset="0"/>
                <a:ea typeface="Calibri" pitchFamily="34" charset="-122"/>
                <a:cs typeface="Calibri" pitchFamily="34" charset="-120"/>
              </a:rPr>
              <a:t>Sin gestión de infraestructura</a:t>
            </a:r>
            <a:endParaRPr lang="en-US" sz="1500" dirty="0"/>
          </a:p>
          <a:p>
            <a:pPr indent="0" marL="0">
              <a:buNone/>
            </a:pPr>
            <a:r>
              <a:rPr lang="en-US" sz="1500" dirty="0">
                <a:solidFill>
                  <a:srgbClr val="4A4560"/>
                </a:solidFill>
                <a:latin typeface="Calibri" pitchFamily="34" charset="0"/>
                <a:ea typeface="Calibri" pitchFamily="34" charset="-122"/>
                <a:cs typeface="Calibri" pitchFamily="34" charset="-120"/>
              </a:rPr>
              <a:t>No elegís máquina ni parcheás el sistema operativo.</a:t>
            </a:r>
            <a:endParaRPr lang="en-US" sz="1500" dirty="0"/>
          </a:p>
        </p:txBody>
      </p:sp>
      <p:sp>
        <p:nvSpPr>
          <p:cNvPr id="8" name="circulo"/>
          <p:cNvSpPr/>
          <p:nvPr/>
        </p:nvSpPr>
        <p:spPr>
          <a:xfrm>
            <a:off x="548640" y="2734056"/>
            <a:ext cx="548640" cy="548640"/>
          </a:xfrm>
          <a:prstGeom prst="ellipse">
            <a:avLst/>
          </a:prstGeom>
          <a:solidFill>
            <a:srgbClr val="F2545B"/>
          </a:solidFill>
          <a:ln/>
        </p:spPr>
      </p:sp>
      <p:sp>
        <p:nvSpPr>
          <p:cNvPr id="9" name="Text 6"/>
          <p:cNvSpPr txBox="1"/>
          <p:nvPr/>
        </p:nvSpPr>
        <p:spPr>
          <a:xfrm>
            <a:off x="548640" y="2734056"/>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7"/>
          <p:cNvSpPr txBox="1"/>
          <p:nvPr/>
        </p:nvSpPr>
        <p:spPr>
          <a:xfrm>
            <a:off x="1325880" y="2624328"/>
            <a:ext cx="4343400" cy="914400"/>
          </a:xfrm>
          <a:prstGeom prst="rect">
            <a:avLst/>
          </a:prstGeom>
          <a:noFill/>
          <a:ln/>
        </p:spPr>
        <p:txBody>
          <a:bodyPr wrap="square" lIns="0" tIns="0" rIns="0" bIns="0" rtlCol="0" anchor="t"/>
          <a:lstStyle/>
          <a:p>
            <a:pPr indent="0" marL="0">
              <a:buNone/>
            </a:pPr>
            <a:r>
              <a:rPr lang="en-US" sz="1800" b="1" dirty="0">
                <a:solidFill>
                  <a:srgbClr val="3B1F78"/>
                </a:solidFill>
                <a:latin typeface="Calibri" pitchFamily="34" charset="0"/>
                <a:ea typeface="Calibri" pitchFamily="34" charset="-122"/>
                <a:cs typeface="Calibri" pitchFamily="34" charset="-120"/>
              </a:rPr>
              <a:t>Escala hasta cero</a:t>
            </a:r>
            <a:endParaRPr lang="en-US" sz="1500" dirty="0"/>
          </a:p>
          <a:p>
            <a:pPr indent="0" marL="0">
              <a:buNone/>
            </a:pPr>
            <a:r>
              <a:rPr lang="en-US" sz="1500" dirty="0">
                <a:solidFill>
                  <a:srgbClr val="4A4560"/>
                </a:solidFill>
                <a:latin typeface="Calibri" pitchFamily="34" charset="0"/>
                <a:ea typeface="Calibri" pitchFamily="34" charset="-122"/>
                <a:cs typeface="Calibri" pitchFamily="34" charset="-120"/>
              </a:rPr>
              <a:t>De 0 a N instancias según la demanda, y de vuelta a 0.</a:t>
            </a:r>
            <a:endParaRPr lang="en-US" sz="1500" dirty="0"/>
          </a:p>
        </p:txBody>
      </p:sp>
      <p:sp>
        <p:nvSpPr>
          <p:cNvPr id="11" name="circulo"/>
          <p:cNvSpPr/>
          <p:nvPr/>
        </p:nvSpPr>
        <p:spPr>
          <a:xfrm>
            <a:off x="548640" y="3758184"/>
            <a:ext cx="548640" cy="548640"/>
          </a:xfrm>
          <a:prstGeom prst="ellipse">
            <a:avLst/>
          </a:prstGeom>
          <a:solidFill>
            <a:srgbClr val="F2545B"/>
          </a:solidFill>
          <a:ln/>
        </p:spPr>
      </p:sp>
      <p:sp>
        <p:nvSpPr>
          <p:cNvPr id="12" name="Text 9"/>
          <p:cNvSpPr txBox="1"/>
          <p:nvPr/>
        </p:nvSpPr>
        <p:spPr>
          <a:xfrm>
            <a:off x="548640" y="3758184"/>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0"/>
          <p:cNvSpPr txBox="1"/>
          <p:nvPr/>
        </p:nvSpPr>
        <p:spPr>
          <a:xfrm>
            <a:off x="1325880" y="3648456"/>
            <a:ext cx="4343400" cy="914400"/>
          </a:xfrm>
          <a:prstGeom prst="rect">
            <a:avLst/>
          </a:prstGeom>
          <a:noFill/>
          <a:ln/>
        </p:spPr>
        <p:txBody>
          <a:bodyPr wrap="square" lIns="0" tIns="0" rIns="0" bIns="0" rtlCol="0" anchor="t"/>
          <a:lstStyle/>
          <a:p>
            <a:pPr indent="0" marL="0">
              <a:buNone/>
            </a:pPr>
            <a:r>
              <a:rPr lang="en-US" sz="1800" b="1" dirty="0">
                <a:solidFill>
                  <a:srgbClr val="3B1F78"/>
                </a:solidFill>
                <a:latin typeface="Calibri" pitchFamily="34" charset="0"/>
                <a:ea typeface="Calibri" pitchFamily="34" charset="-122"/>
                <a:cs typeface="Calibri" pitchFamily="34" charset="-120"/>
              </a:rPr>
              <a:t>Pago por uso real</a:t>
            </a:r>
            <a:endParaRPr lang="en-US" sz="1500" dirty="0"/>
          </a:p>
          <a:p>
            <a:pPr indent="0" marL="0">
              <a:buNone/>
            </a:pPr>
            <a:r>
              <a:rPr lang="en-US" sz="1500" dirty="0">
                <a:solidFill>
                  <a:srgbClr val="4A4560"/>
                </a:solidFill>
                <a:latin typeface="Calibri" pitchFamily="34" charset="0"/>
                <a:ea typeface="Calibri" pitchFamily="34" charset="-122"/>
                <a:cs typeface="Calibri" pitchFamily="34" charset="-120"/>
              </a:rPr>
              <a:t>Se cobra por ejecución, no por servidor encendido.</a:t>
            </a:r>
            <a:endParaRPr lang="en-US" sz="1500" dirty="0"/>
          </a:p>
        </p:txBody>
      </p:sp>
      <p:sp>
        <p:nvSpPr>
          <p:cNvPr id="14" name="Text 11"/>
          <p:cNvSpPr txBox="1"/>
          <p:nvPr/>
        </p:nvSpPr>
        <p:spPr>
          <a:xfrm>
            <a:off x="548640" y="4754880"/>
            <a:ext cx="5120640" cy="640080"/>
          </a:xfrm>
          <a:prstGeom prst="rect">
            <a:avLst/>
          </a:prstGeom>
          <a:noFill/>
          <a:ln/>
        </p:spPr>
        <p:txBody>
          <a:bodyPr wrap="square" lIns="0" tIns="0" rIns="0" bIns="0" rtlCol="0" anchor="t"/>
          <a:lstStyle/>
          <a:p>
            <a:pPr indent="0" marL="0">
              <a:buNone/>
            </a:pPr>
            <a:r>
              <a:rPr lang="en-US" sz="1300" i="1" dirty="0">
                <a:solidFill>
                  <a:srgbClr val="7A7391"/>
                </a:solidFill>
                <a:latin typeface="Calibri" pitchFamily="34" charset="0"/>
                <a:ea typeface="Calibri" pitchFamily="34" charset="-122"/>
                <a:cs typeface="Calibri" pitchFamily="34" charset="-120"/>
              </a:rPr>
              <a:t>Definición: CNCF, Serverless Whitepaper. Si falta una de las tres, no es serverless.</a:t>
            </a:r>
            <a:endParaRPr lang="en-US" sz="1300" dirty="0"/>
          </a:p>
        </p:txBody>
      </p:sp>
      <p:sp>
        <p:nvSpPr>
          <p:cNvPr id="15" name="tarjeta"/>
          <p:cNvSpPr/>
          <p:nvPr/>
        </p:nvSpPr>
        <p:spPr>
          <a:xfrm>
            <a:off x="6126480" y="1554480"/>
            <a:ext cx="5516575" cy="4343400"/>
          </a:xfrm>
          <a:prstGeom prst="roundRect">
            <a:avLst>
              <a:gd name="adj" fmla="val 2105"/>
            </a:avLst>
          </a:prstGeom>
          <a:solidFill>
            <a:srgbClr val="F1EDFA"/>
          </a:solidFill>
          <a:ln/>
        </p:spPr>
      </p:sp>
      <p:sp>
        <p:nvSpPr>
          <p:cNvPr id="16" name="Text 13"/>
          <p:cNvSpPr txBox="1"/>
          <p:nvPr/>
        </p:nvSpPr>
        <p:spPr>
          <a:xfrm>
            <a:off x="6400800" y="1691640"/>
            <a:ext cx="4967935" cy="365760"/>
          </a:xfrm>
          <a:prstGeom prst="rect">
            <a:avLst/>
          </a:prstGeom>
          <a:noFill/>
          <a:ln/>
        </p:spPr>
        <p:txBody>
          <a:bodyPr wrap="square" lIns="0" tIns="0" rIns="0" bIns="0" rtlCol="0" anchor="t"/>
          <a:lstStyle/>
          <a:p>
            <a:pPr indent="0" marL="0">
              <a:buNone/>
            </a:pPr>
            <a:r>
              <a:rPr lang="en-US" sz="1600" b="1" dirty="0">
                <a:solidFill>
                  <a:srgbClr val="3B1F78"/>
                </a:solidFill>
                <a:latin typeface="Calibri" pitchFamily="34" charset="0"/>
                <a:ea typeface="Calibri" pitchFamily="34" charset="-122"/>
                <a:cs typeface="Calibri" pitchFamily="34" charset="-120"/>
              </a:rPr>
              <a:t>El caso, armado en serverless</a:t>
            </a:r>
            <a:endParaRPr lang="en-US" sz="1600" dirty="0"/>
          </a:p>
        </p:txBody>
      </p:sp>
      <p:sp>
        <p:nvSpPr>
          <p:cNvPr id="17" name="alumno"/>
          <p:cNvSpPr/>
          <p:nvPr/>
        </p:nvSpPr>
        <p:spPr>
          <a:xfrm>
            <a:off x="6355080" y="3108960"/>
            <a:ext cx="1188720" cy="731520"/>
          </a:xfrm>
          <a:prstGeom prst="roundRect">
            <a:avLst>
              <a:gd name="adj" fmla="val 12500"/>
            </a:avLst>
          </a:prstGeom>
          <a:solidFill>
            <a:srgbClr val="FFFFFF"/>
          </a:solidFill>
          <a:ln w="12700">
            <a:solidFill>
              <a:srgbClr val="D9D0F0"/>
            </a:solidFill>
            <a:prstDash val="solid"/>
          </a:ln>
        </p:spPr>
      </p:sp>
      <p:sp>
        <p:nvSpPr>
          <p:cNvPr id="18" name="Text 15"/>
          <p:cNvSpPr txBox="1"/>
          <p:nvPr/>
        </p:nvSpPr>
        <p:spPr>
          <a:xfrm>
            <a:off x="6355080" y="3108960"/>
            <a:ext cx="1188720" cy="731520"/>
          </a:xfrm>
          <a:prstGeom prst="rect">
            <a:avLst/>
          </a:prstGeom>
          <a:noFill/>
          <a:ln/>
        </p:spPr>
        <p:txBody>
          <a:bodyPr wrap="square" lIns="0" tIns="0" rIns="0" bIns="0" rtlCol="0" anchor="ctr"/>
          <a:lstStyle/>
          <a:p>
            <a:pPr algn="ctr" indent="0" marL="0">
              <a:buNone/>
            </a:pPr>
            <a:r>
              <a:rPr lang="en-US" sz="1500" b="1" dirty="0">
                <a:solidFill>
                  <a:srgbClr val="1E1433"/>
                </a:solidFill>
                <a:latin typeface="Calibri" pitchFamily="34" charset="0"/>
                <a:ea typeface="Calibri" pitchFamily="34" charset="-122"/>
                <a:cs typeface="Calibri" pitchFamily="34" charset="-120"/>
              </a:rPr>
              <a:t>Alumno</a:t>
            </a:r>
            <a:endParaRPr lang="en-US" sz="1500" dirty="0"/>
          </a:p>
        </p:txBody>
      </p:sp>
      <p:sp>
        <p:nvSpPr>
          <p:cNvPr id="19" name="faas"/>
          <p:cNvSpPr/>
          <p:nvPr/>
        </p:nvSpPr>
        <p:spPr>
          <a:xfrm>
            <a:off x="7818120" y="3017520"/>
            <a:ext cx="1463040" cy="914400"/>
          </a:xfrm>
          <a:prstGeom prst="roundRect">
            <a:avLst>
              <a:gd name="adj" fmla="val 10000"/>
            </a:avLst>
          </a:prstGeom>
          <a:solidFill>
            <a:srgbClr val="F2545B"/>
          </a:solidFill>
          <a:ln/>
        </p:spPr>
      </p:sp>
      <p:sp>
        <p:nvSpPr>
          <p:cNvPr id="20" name="Text 17"/>
          <p:cNvSpPr txBox="1"/>
          <p:nvPr/>
        </p:nvSpPr>
        <p:spPr>
          <a:xfrm>
            <a:off x="7818120" y="3017520"/>
            <a:ext cx="1463040"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inscribir()</a:t>
            </a:r>
            <a:endParaRPr lang="en-US" sz="1500" dirty="0"/>
          </a:p>
          <a:p>
            <a:pPr algn="ctr" indent="0" marL="0">
              <a:buNone/>
            </a:pPr>
            <a:r>
              <a:rPr lang="en-US" sz="1200" dirty="0">
                <a:solidFill>
                  <a:srgbClr val="FFFFFF"/>
                </a:solidFill>
                <a:latin typeface="Calibri" pitchFamily="34" charset="0"/>
                <a:ea typeface="Calibri" pitchFamily="34" charset="-122"/>
                <a:cs typeface="Calibri" pitchFamily="34" charset="-120"/>
              </a:rPr>
              <a:t>FaaS · tu código</a:t>
            </a:r>
            <a:endParaRPr lang="en-US" sz="1500" dirty="0"/>
          </a:p>
        </p:txBody>
      </p:sp>
      <p:sp>
        <p:nvSpPr>
          <p:cNvPr id="21" name="Shape 18"/>
          <p:cNvSpPr/>
          <p:nvPr/>
        </p:nvSpPr>
        <p:spPr>
          <a:xfrm>
            <a:off x="7562088" y="3474720"/>
            <a:ext cx="210312" cy="914"/>
          </a:xfrm>
          <a:prstGeom prst="line">
            <a:avLst/>
          </a:prstGeom>
          <a:noFill/>
          <a:ln w="25400">
            <a:solidFill>
              <a:srgbClr val="7A7391"/>
            </a:solidFill>
            <a:prstDash val="solid"/>
            <a:tailEnd type="triangle"/>
          </a:ln>
        </p:spPr>
      </p:sp>
      <p:sp>
        <p:nvSpPr>
          <p:cNvPr id="22" name="baas"/>
          <p:cNvSpPr/>
          <p:nvPr/>
        </p:nvSpPr>
        <p:spPr>
          <a:xfrm>
            <a:off x="9722815" y="2286000"/>
            <a:ext cx="1691640" cy="685800"/>
          </a:xfrm>
          <a:prstGeom prst="roundRect">
            <a:avLst>
              <a:gd name="adj" fmla="val 13333"/>
            </a:avLst>
          </a:prstGeom>
          <a:solidFill>
            <a:srgbClr val="3B1F78"/>
          </a:solidFill>
          <a:ln/>
        </p:spPr>
      </p:sp>
      <p:sp>
        <p:nvSpPr>
          <p:cNvPr id="23" name="Text 20"/>
          <p:cNvSpPr txBox="1"/>
          <p:nvPr/>
        </p:nvSpPr>
        <p:spPr>
          <a:xfrm>
            <a:off x="9722815" y="2286000"/>
            <a:ext cx="169164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Login</a:t>
            </a:r>
            <a:endParaRPr lang="en-US" sz="1400" dirty="0"/>
          </a:p>
        </p:txBody>
      </p:sp>
      <p:sp>
        <p:nvSpPr>
          <p:cNvPr id="24" name="Shape 21"/>
          <p:cNvSpPr/>
          <p:nvPr/>
        </p:nvSpPr>
        <p:spPr>
          <a:xfrm flipV="1">
            <a:off x="9308592" y="2628900"/>
            <a:ext cx="368503" cy="845820"/>
          </a:xfrm>
          <a:prstGeom prst="line">
            <a:avLst/>
          </a:prstGeom>
          <a:noFill/>
          <a:ln w="25400">
            <a:solidFill>
              <a:srgbClr val="7A7391"/>
            </a:solidFill>
            <a:prstDash val="solid"/>
            <a:tailEnd type="triangle"/>
          </a:ln>
        </p:spPr>
      </p:sp>
      <p:sp>
        <p:nvSpPr>
          <p:cNvPr id="25" name="baas"/>
          <p:cNvSpPr/>
          <p:nvPr/>
        </p:nvSpPr>
        <p:spPr>
          <a:xfrm>
            <a:off x="9722815" y="3246120"/>
            <a:ext cx="1691640" cy="685800"/>
          </a:xfrm>
          <a:prstGeom prst="roundRect">
            <a:avLst>
              <a:gd name="adj" fmla="val 13333"/>
            </a:avLst>
          </a:prstGeom>
          <a:solidFill>
            <a:srgbClr val="3B1F78"/>
          </a:solidFill>
          <a:ln/>
        </p:spPr>
      </p:sp>
      <p:sp>
        <p:nvSpPr>
          <p:cNvPr id="26" name="Text 23"/>
          <p:cNvSpPr txBox="1"/>
          <p:nvPr/>
        </p:nvSpPr>
        <p:spPr>
          <a:xfrm>
            <a:off x="9722815" y="3246120"/>
            <a:ext cx="169164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Base de datos</a:t>
            </a:r>
            <a:endParaRPr lang="en-US" sz="1400" dirty="0"/>
          </a:p>
        </p:txBody>
      </p:sp>
      <p:sp>
        <p:nvSpPr>
          <p:cNvPr id="27" name="Shape 24"/>
          <p:cNvSpPr/>
          <p:nvPr/>
        </p:nvSpPr>
        <p:spPr>
          <a:xfrm>
            <a:off x="9308592" y="3474720"/>
            <a:ext cx="368503" cy="114300"/>
          </a:xfrm>
          <a:prstGeom prst="line">
            <a:avLst/>
          </a:prstGeom>
          <a:noFill/>
          <a:ln w="25400">
            <a:solidFill>
              <a:srgbClr val="7A7391"/>
            </a:solidFill>
            <a:prstDash val="solid"/>
            <a:tailEnd type="triangle"/>
          </a:ln>
        </p:spPr>
      </p:sp>
      <p:sp>
        <p:nvSpPr>
          <p:cNvPr id="28" name="baas"/>
          <p:cNvSpPr/>
          <p:nvPr/>
        </p:nvSpPr>
        <p:spPr>
          <a:xfrm>
            <a:off x="9722815" y="4206240"/>
            <a:ext cx="1691640" cy="685800"/>
          </a:xfrm>
          <a:prstGeom prst="roundRect">
            <a:avLst>
              <a:gd name="adj" fmla="val 13333"/>
            </a:avLst>
          </a:prstGeom>
          <a:solidFill>
            <a:srgbClr val="3B1F78"/>
          </a:solidFill>
          <a:ln/>
        </p:spPr>
      </p:sp>
      <p:sp>
        <p:nvSpPr>
          <p:cNvPr id="29" name="Text 26"/>
          <p:cNvSpPr txBox="1"/>
          <p:nvPr/>
        </p:nvSpPr>
        <p:spPr>
          <a:xfrm>
            <a:off x="9722815" y="4206240"/>
            <a:ext cx="169164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Cola de mails</a:t>
            </a:r>
            <a:endParaRPr lang="en-US" sz="1400" dirty="0"/>
          </a:p>
        </p:txBody>
      </p:sp>
      <p:sp>
        <p:nvSpPr>
          <p:cNvPr id="30" name="Shape 27"/>
          <p:cNvSpPr/>
          <p:nvPr/>
        </p:nvSpPr>
        <p:spPr>
          <a:xfrm>
            <a:off x="9308592" y="3474720"/>
            <a:ext cx="368503" cy="1074420"/>
          </a:xfrm>
          <a:prstGeom prst="line">
            <a:avLst/>
          </a:prstGeom>
          <a:noFill/>
          <a:ln w="25400">
            <a:solidFill>
              <a:srgbClr val="7A7391"/>
            </a:solidFill>
            <a:prstDash val="solid"/>
            <a:tailEnd type="triangle"/>
          </a:ln>
        </p:spPr>
      </p:sp>
      <p:sp>
        <p:nvSpPr>
          <p:cNvPr id="31" name="Text 28"/>
          <p:cNvSpPr txBox="1"/>
          <p:nvPr/>
        </p:nvSpPr>
        <p:spPr>
          <a:xfrm>
            <a:off x="9448495" y="5029200"/>
            <a:ext cx="2240280" cy="320040"/>
          </a:xfrm>
          <a:prstGeom prst="rect">
            <a:avLst/>
          </a:prstGeom>
          <a:noFill/>
          <a:ln/>
        </p:spPr>
        <p:txBody>
          <a:bodyPr wrap="square" lIns="0" tIns="0" rIns="0" bIns="0" rtlCol="0" anchor="t"/>
          <a:lstStyle/>
          <a:p>
            <a:pPr algn="ctr" indent="0" marL="0">
              <a:buNone/>
            </a:pPr>
            <a:r>
              <a:rPr lang="en-US" sz="1200" i="1" dirty="0">
                <a:solidFill>
                  <a:srgbClr val="4A4560"/>
                </a:solidFill>
                <a:latin typeface="Calibri" pitchFamily="34" charset="0"/>
                <a:ea typeface="Calibri" pitchFamily="34" charset="-122"/>
                <a:cs typeface="Calibri" pitchFamily="34" charset="-120"/>
              </a:rPr>
              <a:t>BaaS · servicios que consumís</a:t>
            </a:r>
            <a:endParaRPr lang="en-US" sz="1200" dirty="0"/>
          </a:p>
        </p:txBody>
      </p:sp>
      <p:sp>
        <p:nvSpPr>
          <p:cNvPr id="32" name="Text 29"/>
          <p:cNvSpPr txBox="1"/>
          <p:nvPr/>
        </p:nvSpPr>
        <p:spPr>
          <a:xfrm>
            <a:off x="6400800" y="5394960"/>
            <a:ext cx="4967935" cy="365760"/>
          </a:xfrm>
          <a:prstGeom prst="rect">
            <a:avLst/>
          </a:prstGeom>
          <a:noFill/>
          <a:ln/>
        </p:spPr>
        <p:txBody>
          <a:bodyPr wrap="square" lIns="0" tIns="0" rIns="0" bIns="0" rtlCol="0" anchor="t"/>
          <a:lstStyle/>
          <a:p>
            <a:pPr indent="0" marL="0">
              <a:buNone/>
            </a:pPr>
            <a:r>
              <a:rPr lang="en-US" sz="1300" dirty="0">
                <a:solidFill>
                  <a:srgbClr val="4A4560"/>
                </a:solidFill>
                <a:latin typeface="Calibri" pitchFamily="34" charset="0"/>
                <a:ea typeface="Calibri" pitchFamily="34" charset="-122"/>
                <a:cs typeface="Calibri" pitchFamily="34" charset="-120"/>
              </a:rPr>
              <a:t>La mayor parte del sistema es BaaS; tu función es el pegamento.</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txBox="1"/>
          <p:nvPr/>
        </p:nvSpPr>
        <p:spPr>
          <a:xfrm>
            <a:off x="548640" y="1188720"/>
            <a:ext cx="2743200" cy="1280160"/>
          </a:xfrm>
          <a:prstGeom prst="rect">
            <a:avLst/>
          </a:prstGeom>
          <a:noFill/>
          <a:ln/>
        </p:spPr>
        <p:txBody>
          <a:bodyPr wrap="square" lIns="0" tIns="0" rIns="0" bIns="0" rtlCol="0" anchor="ctr"/>
          <a:lstStyle/>
          <a:p>
            <a:pPr indent="0" marL="0">
              <a:buNone/>
            </a:pPr>
            <a:r>
              <a:rPr lang="en-US" sz="8800" b="1" dirty="0">
                <a:solidFill>
                  <a:srgbClr val="F2545B"/>
                </a:solidFill>
                <a:latin typeface="Cambria" pitchFamily="34" charset="0"/>
                <a:ea typeface="Cambria" pitchFamily="34" charset="-122"/>
                <a:cs typeface="Cambria" pitchFamily="34" charset="-120"/>
              </a:rPr>
              <a:t>02</a:t>
            </a:r>
            <a:endParaRPr lang="en-US" sz="8800" dirty="0"/>
          </a:p>
        </p:txBody>
      </p:sp>
      <p:sp>
        <p:nvSpPr>
          <p:cNvPr id="4" name="Text 1"/>
          <p:cNvSpPr txBox="1"/>
          <p:nvPr/>
        </p:nvSpPr>
        <p:spPr>
          <a:xfrm>
            <a:off x="548640" y="2697480"/>
            <a:ext cx="9601200" cy="15544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08:00 del día de inscripción: 5.000 alumnos apretan F5</a:t>
            </a:r>
            <a:endParaRPr lang="en-US" sz="4000" dirty="0"/>
          </a:p>
        </p:txBody>
      </p:sp>
      <p:sp>
        <p:nvSpPr>
          <p:cNvPr id="5" name="Text 2"/>
          <p:cNvSpPr txBox="1"/>
          <p:nvPr/>
        </p:nvSpPr>
        <p:spPr>
          <a:xfrm>
            <a:off x="548640" y="4434840"/>
            <a:ext cx="9144000" cy="822960"/>
          </a:xfrm>
          <a:prstGeom prst="rect">
            <a:avLst/>
          </a:prstGeom>
          <a:noFill/>
          <a:ln/>
        </p:spPr>
        <p:txBody>
          <a:bodyPr wrap="square" lIns="0" tIns="0" rIns="0" bIns="0" rtlCol="0" anchor="t"/>
          <a:lstStyle/>
          <a:p>
            <a:pPr indent="0" marL="0">
              <a:buNone/>
            </a:pPr>
            <a:r>
              <a:rPr lang="en-US" sz="1800" dirty="0">
                <a:solidFill>
                  <a:srgbClr val="D9D0F0"/>
                </a:solidFill>
                <a:latin typeface="Calibri" pitchFamily="34" charset="0"/>
                <a:ea typeface="Calibri" pitchFamily="34" charset="-122"/>
                <a:cs typeface="Calibri" pitchFamily="34" charset="-120"/>
              </a:rPr>
              <a:t>¿Qué pasa por dentro de la plataforma en ese momento?</a:t>
            </a:r>
            <a:endParaRPr lang="en-US" sz="1800" dirty="0"/>
          </a:p>
        </p:txBody>
      </p:sp>
      <p:sp>
        <p:nvSpPr>
          <p:cNvPr id="6" name="alumno"/>
          <p:cNvSpPr/>
          <p:nvPr/>
        </p:nvSpPr>
        <p:spPr>
          <a:xfrm>
            <a:off x="548640" y="5715000"/>
            <a:ext cx="219456" cy="219456"/>
          </a:xfrm>
          <a:prstGeom prst="ellipse">
            <a:avLst/>
          </a:prstGeom>
          <a:solidFill>
            <a:srgbClr val="3A2E66"/>
          </a:solidFill>
          <a:ln/>
        </p:spPr>
      </p:sp>
      <p:sp>
        <p:nvSpPr>
          <p:cNvPr id="7" name="alumno"/>
          <p:cNvSpPr/>
          <p:nvPr/>
        </p:nvSpPr>
        <p:spPr>
          <a:xfrm>
            <a:off x="932688" y="5715000"/>
            <a:ext cx="219456" cy="219456"/>
          </a:xfrm>
          <a:prstGeom prst="ellipse">
            <a:avLst/>
          </a:prstGeom>
          <a:solidFill>
            <a:srgbClr val="F2545B"/>
          </a:solidFill>
          <a:ln/>
        </p:spPr>
      </p:sp>
      <p:sp>
        <p:nvSpPr>
          <p:cNvPr id="8" name="alumno"/>
          <p:cNvSpPr/>
          <p:nvPr/>
        </p:nvSpPr>
        <p:spPr>
          <a:xfrm>
            <a:off x="1316736" y="5715000"/>
            <a:ext cx="219456" cy="219456"/>
          </a:xfrm>
          <a:prstGeom prst="ellipse">
            <a:avLst/>
          </a:prstGeom>
          <a:solidFill>
            <a:srgbClr val="3A2E66"/>
          </a:solidFill>
          <a:ln/>
        </p:spPr>
      </p:sp>
      <p:sp>
        <p:nvSpPr>
          <p:cNvPr id="9" name="alumno"/>
          <p:cNvSpPr/>
          <p:nvPr/>
        </p:nvSpPr>
        <p:spPr>
          <a:xfrm>
            <a:off x="1700784" y="5715000"/>
            <a:ext cx="219456" cy="219456"/>
          </a:xfrm>
          <a:prstGeom prst="ellipse">
            <a:avLst/>
          </a:prstGeom>
          <a:solidFill>
            <a:srgbClr val="3A2E66"/>
          </a:solidFill>
          <a:ln/>
        </p:spPr>
      </p:sp>
      <p:sp>
        <p:nvSpPr>
          <p:cNvPr id="10" name="alumno"/>
          <p:cNvSpPr/>
          <p:nvPr/>
        </p:nvSpPr>
        <p:spPr>
          <a:xfrm>
            <a:off x="2084832" y="5715000"/>
            <a:ext cx="219456" cy="219456"/>
          </a:xfrm>
          <a:prstGeom prst="ellipse">
            <a:avLst/>
          </a:prstGeom>
          <a:solidFill>
            <a:srgbClr val="3A2E66"/>
          </a:solidFill>
          <a:ln/>
        </p:spPr>
      </p:sp>
      <p:sp>
        <p:nvSpPr>
          <p:cNvPr id="11" name="alumno"/>
          <p:cNvSpPr/>
          <p:nvPr/>
        </p:nvSpPr>
        <p:spPr>
          <a:xfrm>
            <a:off x="2468880" y="5715000"/>
            <a:ext cx="219456" cy="219456"/>
          </a:xfrm>
          <a:prstGeom prst="ellipse">
            <a:avLst/>
          </a:prstGeom>
          <a:solidFill>
            <a:srgbClr val="F2545B"/>
          </a:solidFill>
          <a:ln/>
        </p:spPr>
      </p:sp>
      <p:sp>
        <p:nvSpPr>
          <p:cNvPr id="12" name="alumno"/>
          <p:cNvSpPr/>
          <p:nvPr/>
        </p:nvSpPr>
        <p:spPr>
          <a:xfrm>
            <a:off x="2852928" y="5715000"/>
            <a:ext cx="219456" cy="219456"/>
          </a:xfrm>
          <a:prstGeom prst="ellipse">
            <a:avLst/>
          </a:prstGeom>
          <a:solidFill>
            <a:srgbClr val="3A2E66"/>
          </a:solidFill>
          <a:ln/>
        </p:spPr>
      </p:sp>
      <p:sp>
        <p:nvSpPr>
          <p:cNvPr id="13" name="alumno"/>
          <p:cNvSpPr/>
          <p:nvPr/>
        </p:nvSpPr>
        <p:spPr>
          <a:xfrm>
            <a:off x="3236976" y="5715000"/>
            <a:ext cx="219456" cy="219456"/>
          </a:xfrm>
          <a:prstGeom prst="ellipse">
            <a:avLst/>
          </a:prstGeom>
          <a:solidFill>
            <a:srgbClr val="3A2E66"/>
          </a:solidFill>
          <a:ln/>
        </p:spPr>
      </p:sp>
      <p:sp>
        <p:nvSpPr>
          <p:cNvPr id="14" name="alumno"/>
          <p:cNvSpPr/>
          <p:nvPr/>
        </p:nvSpPr>
        <p:spPr>
          <a:xfrm>
            <a:off x="3621024" y="5715000"/>
            <a:ext cx="219456" cy="219456"/>
          </a:xfrm>
          <a:prstGeom prst="ellipse">
            <a:avLst/>
          </a:prstGeom>
          <a:solidFill>
            <a:srgbClr val="3A2E66"/>
          </a:solidFill>
          <a:ln/>
        </p:spPr>
      </p:sp>
      <p:sp>
        <p:nvSpPr>
          <p:cNvPr id="15" name="alumno"/>
          <p:cNvSpPr/>
          <p:nvPr/>
        </p:nvSpPr>
        <p:spPr>
          <a:xfrm>
            <a:off x="4005072" y="5715000"/>
            <a:ext cx="219456" cy="219456"/>
          </a:xfrm>
          <a:prstGeom prst="ellipse">
            <a:avLst/>
          </a:prstGeom>
          <a:solidFill>
            <a:srgbClr val="F2545B"/>
          </a:solidFill>
          <a:ln/>
        </p:spPr>
      </p:sp>
      <p:sp>
        <p:nvSpPr>
          <p:cNvPr id="16" name="alumno"/>
          <p:cNvSpPr/>
          <p:nvPr/>
        </p:nvSpPr>
        <p:spPr>
          <a:xfrm>
            <a:off x="4389120" y="5715000"/>
            <a:ext cx="219456" cy="219456"/>
          </a:xfrm>
          <a:prstGeom prst="ellipse">
            <a:avLst/>
          </a:prstGeom>
          <a:solidFill>
            <a:srgbClr val="3A2E66"/>
          </a:solidFill>
          <a:ln/>
        </p:spPr>
      </p:sp>
      <p:sp>
        <p:nvSpPr>
          <p:cNvPr id="17" name="alumno"/>
          <p:cNvSpPr/>
          <p:nvPr/>
        </p:nvSpPr>
        <p:spPr>
          <a:xfrm>
            <a:off x="4773168" y="5715000"/>
            <a:ext cx="219456" cy="219456"/>
          </a:xfrm>
          <a:prstGeom prst="ellipse">
            <a:avLst/>
          </a:prstGeom>
          <a:solidFill>
            <a:srgbClr val="3A2E66"/>
          </a:solidFill>
          <a:ln/>
        </p:spPr>
      </p:sp>
      <p:sp>
        <p:nvSpPr>
          <p:cNvPr id="18" name="alumno"/>
          <p:cNvSpPr/>
          <p:nvPr/>
        </p:nvSpPr>
        <p:spPr>
          <a:xfrm>
            <a:off x="5157216" y="5715000"/>
            <a:ext cx="219456" cy="219456"/>
          </a:xfrm>
          <a:prstGeom prst="ellipse">
            <a:avLst/>
          </a:prstGeom>
          <a:solidFill>
            <a:srgbClr val="3A2E66"/>
          </a:solidFill>
          <a:ln/>
        </p:spPr>
      </p:sp>
      <p:sp>
        <p:nvSpPr>
          <p:cNvPr id="19" name="alumno"/>
          <p:cNvSpPr/>
          <p:nvPr/>
        </p:nvSpPr>
        <p:spPr>
          <a:xfrm>
            <a:off x="5541264" y="5715000"/>
            <a:ext cx="219456" cy="219456"/>
          </a:xfrm>
          <a:prstGeom prst="ellipse">
            <a:avLst/>
          </a:prstGeom>
          <a:solidFill>
            <a:srgbClr val="F2545B"/>
          </a:solidFill>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QUÉ PASA POR DENTRO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Cada clic en «Inscribirme» es un evento</a:t>
            </a:r>
            <a:endParaRPr lang="en-US" sz="3000" dirty="0"/>
          </a:p>
        </p:txBody>
      </p:sp>
      <p:sp>
        <p:nvSpPr>
          <p:cNvPr id="5" name="fase"/>
          <p:cNvSpPr/>
          <p:nvPr/>
        </p:nvSpPr>
        <p:spPr>
          <a:xfrm>
            <a:off x="548640" y="1600200"/>
            <a:ext cx="2377440" cy="1828800"/>
          </a:xfrm>
          <a:prstGeom prst="roundRect">
            <a:avLst>
              <a:gd name="adj" fmla="val 5000"/>
            </a:avLst>
          </a:prstGeom>
          <a:solidFill>
            <a:srgbClr val="F1EDFA"/>
          </a:solidFill>
          <a:ln/>
        </p:spPr>
      </p:sp>
      <p:sp>
        <p:nvSpPr>
          <p:cNvPr id="6" name="Text 3"/>
          <p:cNvSpPr txBox="1"/>
          <p:nvPr/>
        </p:nvSpPr>
        <p:spPr>
          <a:xfrm>
            <a:off x="731520" y="1783080"/>
            <a:ext cx="2011680" cy="1508760"/>
          </a:xfrm>
          <a:prstGeom prst="rect">
            <a:avLst/>
          </a:prstGeom>
          <a:noFill/>
          <a:ln/>
        </p:spPr>
        <p:txBody>
          <a:bodyPr wrap="square" lIns="0" tIns="0" rIns="0" bIns="0" rtlCol="0" anchor="t"/>
          <a:lstStyle/>
          <a:p>
            <a:pPr indent="0" marL="0">
              <a:spcAft>
                <a:spcPts val="500"/>
              </a:spcAft>
              <a:buNone/>
            </a:pPr>
            <a:r>
              <a:rPr lang="en-US" sz="1700" b="1" dirty="0">
                <a:solidFill>
                  <a:srgbClr val="1E1433"/>
                </a:solidFill>
                <a:latin typeface="Cambria" pitchFamily="34" charset="0"/>
                <a:ea typeface="Cambria" pitchFamily="34" charset="-122"/>
                <a:cs typeface="Cambria" pitchFamily="34" charset="-120"/>
              </a:rPr>
              <a:t>CLIC</a:t>
            </a:r>
            <a:endParaRPr lang="en-US" sz="1500" dirty="0"/>
          </a:p>
          <a:p>
            <a:pPr indent="0" marL="0">
              <a:spcAft>
                <a:spcPts val="500"/>
              </a:spcAft>
              <a:buNone/>
            </a:pPr>
            <a:r>
              <a:rPr lang="en-US" sz="1400" dirty="0">
                <a:solidFill>
                  <a:srgbClr val="1E1433"/>
                </a:solidFill>
                <a:latin typeface="Calibri" pitchFamily="34" charset="0"/>
                <a:ea typeface="Calibri" pitchFamily="34" charset="-122"/>
                <a:cs typeface="Calibri" pitchFamily="34" charset="-120"/>
              </a:rPr>
              <a:t>POST /inscripcion llega al API Gateway</a:t>
            </a:r>
            <a:endParaRPr lang="en-US" sz="1500" dirty="0"/>
          </a:p>
        </p:txBody>
      </p:sp>
      <p:sp>
        <p:nvSpPr>
          <p:cNvPr id="7" name="Shape 4"/>
          <p:cNvSpPr/>
          <p:nvPr/>
        </p:nvSpPr>
        <p:spPr>
          <a:xfrm>
            <a:off x="2980944" y="2514600"/>
            <a:ext cx="418490" cy="914"/>
          </a:xfrm>
          <a:prstGeom prst="line">
            <a:avLst/>
          </a:prstGeom>
          <a:noFill/>
          <a:ln w="25400">
            <a:solidFill>
              <a:srgbClr val="7A7391"/>
            </a:solidFill>
            <a:prstDash val="solid"/>
            <a:tailEnd type="triangle"/>
          </a:ln>
        </p:spPr>
      </p:sp>
      <p:sp>
        <p:nvSpPr>
          <p:cNvPr id="8" name="fase"/>
          <p:cNvSpPr/>
          <p:nvPr/>
        </p:nvSpPr>
        <p:spPr>
          <a:xfrm>
            <a:off x="3454298" y="1600200"/>
            <a:ext cx="2377440" cy="1828800"/>
          </a:xfrm>
          <a:prstGeom prst="roundRect">
            <a:avLst>
              <a:gd name="adj" fmla="val 5000"/>
            </a:avLst>
          </a:prstGeom>
          <a:solidFill>
            <a:srgbClr val="F2545B"/>
          </a:solidFill>
          <a:ln/>
        </p:spPr>
      </p:sp>
      <p:sp>
        <p:nvSpPr>
          <p:cNvPr id="9" name="Text 6"/>
          <p:cNvSpPr txBox="1"/>
          <p:nvPr/>
        </p:nvSpPr>
        <p:spPr>
          <a:xfrm>
            <a:off x="3637178" y="1783080"/>
            <a:ext cx="2011680" cy="1508760"/>
          </a:xfrm>
          <a:prstGeom prst="rect">
            <a:avLst/>
          </a:prstGeom>
          <a:noFill/>
          <a:ln/>
        </p:spPr>
        <p:txBody>
          <a:bodyPr wrap="square" lIns="0" tIns="0" rIns="0" bIns="0" rtlCol="0" anchor="t"/>
          <a:lstStyle/>
          <a:p>
            <a:pPr indent="0" marL="0">
              <a:spcAft>
                <a:spcPts val="500"/>
              </a:spcAft>
              <a:buNone/>
            </a:pPr>
            <a:r>
              <a:rPr lang="en-US" sz="1700" b="1" dirty="0">
                <a:solidFill>
                  <a:srgbClr val="FFFFFF"/>
                </a:solidFill>
                <a:latin typeface="Cambria" pitchFamily="34" charset="0"/>
                <a:ea typeface="Cambria" pitchFamily="34" charset="-122"/>
                <a:cs typeface="Cambria" pitchFamily="34" charset="-120"/>
              </a:rPr>
              <a:t>INIT</a:t>
            </a:r>
            <a:endParaRPr lang="en-US" sz="1500" dirty="0"/>
          </a:p>
          <a:p>
            <a:pPr indent="0" marL="0">
              <a:spcAft>
                <a:spcPts val="500"/>
              </a:spcAft>
              <a:buNone/>
            </a:pPr>
            <a:r>
              <a:rPr lang="en-US" sz="1400" dirty="0">
                <a:solidFill>
                  <a:srgbClr val="FFFFFF"/>
                </a:solidFill>
                <a:latin typeface="Calibri" pitchFamily="34" charset="0"/>
                <a:ea typeface="Calibri" pitchFamily="34" charset="-122"/>
                <a:cs typeface="Calibri" pitchFamily="34" charset="-120"/>
              </a:rPr>
              <a:t>Crea la microVM, baja el código, arranca el runtime y conecta a la base</a:t>
            </a:r>
            <a:endParaRPr lang="en-US" sz="1500" dirty="0"/>
          </a:p>
        </p:txBody>
      </p:sp>
      <p:sp>
        <p:nvSpPr>
          <p:cNvPr id="10" name="Shape 7"/>
          <p:cNvSpPr/>
          <p:nvPr/>
        </p:nvSpPr>
        <p:spPr>
          <a:xfrm>
            <a:off x="5886602" y="2514600"/>
            <a:ext cx="418490" cy="914"/>
          </a:xfrm>
          <a:prstGeom prst="line">
            <a:avLst/>
          </a:prstGeom>
          <a:noFill/>
          <a:ln w="25400">
            <a:solidFill>
              <a:srgbClr val="7A7391"/>
            </a:solidFill>
            <a:prstDash val="solid"/>
            <a:tailEnd type="triangle"/>
          </a:ln>
        </p:spPr>
      </p:sp>
      <p:sp>
        <p:nvSpPr>
          <p:cNvPr id="11" name="fase"/>
          <p:cNvSpPr/>
          <p:nvPr/>
        </p:nvSpPr>
        <p:spPr>
          <a:xfrm>
            <a:off x="6359957" y="1600200"/>
            <a:ext cx="2377440" cy="1828800"/>
          </a:xfrm>
          <a:prstGeom prst="roundRect">
            <a:avLst>
              <a:gd name="adj" fmla="val 5000"/>
            </a:avLst>
          </a:prstGeom>
          <a:solidFill>
            <a:srgbClr val="F1EDFA"/>
          </a:solidFill>
          <a:ln/>
        </p:spPr>
      </p:sp>
      <p:sp>
        <p:nvSpPr>
          <p:cNvPr id="12" name="Text 9"/>
          <p:cNvSpPr txBox="1"/>
          <p:nvPr/>
        </p:nvSpPr>
        <p:spPr>
          <a:xfrm>
            <a:off x="6542837" y="1783080"/>
            <a:ext cx="2011680" cy="1508760"/>
          </a:xfrm>
          <a:prstGeom prst="rect">
            <a:avLst/>
          </a:prstGeom>
          <a:noFill/>
          <a:ln/>
        </p:spPr>
        <p:txBody>
          <a:bodyPr wrap="square" lIns="0" tIns="0" rIns="0" bIns="0" rtlCol="0" anchor="t"/>
          <a:lstStyle/>
          <a:p>
            <a:pPr indent="0" marL="0">
              <a:spcAft>
                <a:spcPts val="500"/>
              </a:spcAft>
              <a:buNone/>
            </a:pPr>
            <a:r>
              <a:rPr lang="en-US" sz="1700" b="1" dirty="0">
                <a:solidFill>
                  <a:srgbClr val="1E1433"/>
                </a:solidFill>
                <a:latin typeface="Cambria" pitchFamily="34" charset="0"/>
                <a:ea typeface="Cambria" pitchFamily="34" charset="-122"/>
                <a:cs typeface="Cambria" pitchFamily="34" charset="-120"/>
              </a:rPr>
              <a:t>INVOKE</a:t>
            </a:r>
            <a:endParaRPr lang="en-US" sz="1500" dirty="0"/>
          </a:p>
          <a:p>
            <a:pPr indent="0" marL="0">
              <a:spcAft>
                <a:spcPts val="500"/>
              </a:spcAft>
              <a:buNone/>
            </a:pPr>
            <a:r>
              <a:rPr lang="en-US" sz="1400" dirty="0">
                <a:solidFill>
                  <a:srgbClr val="1E1433"/>
                </a:solidFill>
                <a:latin typeface="Calibri" pitchFamily="34" charset="0"/>
                <a:ea typeface="Calibri" pitchFamily="34" charset="-122"/>
                <a:cs typeface="Calibri" pitchFamily="34" charset="-120"/>
              </a:rPr>
              <a:t>Corre inscribir() con los datos del alumno</a:t>
            </a:r>
            <a:endParaRPr lang="en-US" sz="1500" dirty="0"/>
          </a:p>
        </p:txBody>
      </p:sp>
      <p:sp>
        <p:nvSpPr>
          <p:cNvPr id="13" name="Shape 10"/>
          <p:cNvSpPr/>
          <p:nvPr/>
        </p:nvSpPr>
        <p:spPr>
          <a:xfrm>
            <a:off x="8792261" y="2514600"/>
            <a:ext cx="418490" cy="914"/>
          </a:xfrm>
          <a:prstGeom prst="line">
            <a:avLst/>
          </a:prstGeom>
          <a:noFill/>
          <a:ln w="25400">
            <a:solidFill>
              <a:srgbClr val="7A7391"/>
            </a:solidFill>
            <a:prstDash val="solid"/>
            <a:tailEnd type="triangle"/>
          </a:ln>
        </p:spPr>
      </p:sp>
      <p:sp>
        <p:nvSpPr>
          <p:cNvPr id="14" name="fase"/>
          <p:cNvSpPr/>
          <p:nvPr/>
        </p:nvSpPr>
        <p:spPr>
          <a:xfrm>
            <a:off x="9265615" y="1600200"/>
            <a:ext cx="2377440" cy="1828800"/>
          </a:xfrm>
          <a:prstGeom prst="roundRect">
            <a:avLst>
              <a:gd name="adj" fmla="val 5000"/>
            </a:avLst>
          </a:prstGeom>
          <a:solidFill>
            <a:srgbClr val="F1EDFA"/>
          </a:solidFill>
          <a:ln/>
        </p:spPr>
      </p:sp>
      <p:sp>
        <p:nvSpPr>
          <p:cNvPr id="15" name="Text 12"/>
          <p:cNvSpPr txBox="1"/>
          <p:nvPr/>
        </p:nvSpPr>
        <p:spPr>
          <a:xfrm>
            <a:off x="9448495" y="1783080"/>
            <a:ext cx="2011680" cy="1508760"/>
          </a:xfrm>
          <a:prstGeom prst="rect">
            <a:avLst/>
          </a:prstGeom>
          <a:noFill/>
          <a:ln/>
        </p:spPr>
        <p:txBody>
          <a:bodyPr wrap="square" lIns="0" tIns="0" rIns="0" bIns="0" rtlCol="0" anchor="t"/>
          <a:lstStyle/>
          <a:p>
            <a:pPr indent="0" marL="0">
              <a:spcAft>
                <a:spcPts val="500"/>
              </a:spcAft>
              <a:buNone/>
            </a:pPr>
            <a:r>
              <a:rPr lang="en-US" sz="1700" b="1" dirty="0">
                <a:solidFill>
                  <a:srgbClr val="1E1433"/>
                </a:solidFill>
                <a:latin typeface="Cambria" pitchFamily="34" charset="0"/>
                <a:ea typeface="Cambria" pitchFamily="34" charset="-122"/>
                <a:cs typeface="Cambria" pitchFamily="34" charset="-120"/>
              </a:rPr>
              <a:t>FREEZE</a:t>
            </a:r>
            <a:endParaRPr lang="en-US" sz="1500" dirty="0"/>
          </a:p>
          <a:p>
            <a:pPr indent="0" marL="0">
              <a:spcAft>
                <a:spcPts val="500"/>
              </a:spcAft>
              <a:buNone/>
            </a:pPr>
            <a:r>
              <a:rPr lang="en-US" sz="1400" dirty="0">
                <a:solidFill>
                  <a:srgbClr val="1E1433"/>
                </a:solidFill>
                <a:latin typeface="Calibri" pitchFamily="34" charset="0"/>
                <a:ea typeface="Calibri" pitchFamily="34" charset="-122"/>
                <a:cs typeface="Calibri" pitchFamily="34" charset="-120"/>
              </a:rPr>
              <a:t>Congela el entorno; si no hay pedidos en 5–15 min, se apaga</a:t>
            </a:r>
            <a:endParaRPr lang="en-US" sz="1500" dirty="0"/>
          </a:p>
        </p:txBody>
      </p:sp>
      <p:sp>
        <p:nvSpPr>
          <p:cNvPr id="16" name="Text 13"/>
          <p:cNvSpPr txBox="1"/>
          <p:nvPr/>
        </p:nvSpPr>
        <p:spPr>
          <a:xfrm>
            <a:off x="3454298" y="3474720"/>
            <a:ext cx="2377440" cy="274320"/>
          </a:xfrm>
          <a:prstGeom prst="rect">
            <a:avLst/>
          </a:prstGeom>
          <a:noFill/>
          <a:ln/>
        </p:spPr>
        <p:txBody>
          <a:bodyPr wrap="square" lIns="0" tIns="0" rIns="0" bIns="0" rtlCol="0" anchor="t"/>
          <a:lstStyle/>
          <a:p>
            <a:pPr algn="ctr" indent="0" marL="0">
              <a:buNone/>
            </a:pPr>
            <a:r>
              <a:rPr lang="en-US" sz="1200" i="1" dirty="0">
                <a:solidFill>
                  <a:srgbClr val="F2545B"/>
                </a:solidFill>
                <a:latin typeface="Calibri" pitchFamily="34" charset="0"/>
                <a:ea typeface="Calibri" pitchFamily="34" charset="-122"/>
                <a:cs typeface="Calibri" pitchFamily="34" charset="-120"/>
              </a:rPr>
              <a:t>sólo si no hay un entorno listo</a:t>
            </a:r>
            <a:endParaRPr lang="en-US" sz="1200" dirty="0"/>
          </a:p>
        </p:txBody>
      </p:sp>
      <p:sp>
        <p:nvSpPr>
          <p:cNvPr id="17" name="Shape 14"/>
          <p:cNvSpPr/>
          <p:nvPr/>
        </p:nvSpPr>
        <p:spPr>
          <a:xfrm>
            <a:off x="10454335" y="3429000"/>
            <a:ext cx="914" cy="411480"/>
          </a:xfrm>
          <a:prstGeom prst="line">
            <a:avLst/>
          </a:prstGeom>
          <a:noFill/>
          <a:ln w="25400">
            <a:solidFill>
              <a:srgbClr val="7A7391"/>
            </a:solidFill>
            <a:prstDash val="solid"/>
          </a:ln>
        </p:spPr>
      </p:sp>
      <p:sp>
        <p:nvSpPr>
          <p:cNvPr id="18" name="Shape 15"/>
          <p:cNvSpPr/>
          <p:nvPr/>
        </p:nvSpPr>
        <p:spPr>
          <a:xfrm>
            <a:off x="7548677" y="3840480"/>
            <a:ext cx="2905658" cy="914"/>
          </a:xfrm>
          <a:prstGeom prst="line">
            <a:avLst/>
          </a:prstGeom>
          <a:noFill/>
          <a:ln w="25400">
            <a:solidFill>
              <a:srgbClr val="7A7391"/>
            </a:solidFill>
            <a:prstDash val="solid"/>
          </a:ln>
        </p:spPr>
      </p:sp>
      <p:sp>
        <p:nvSpPr>
          <p:cNvPr id="19" name="Shape 16"/>
          <p:cNvSpPr/>
          <p:nvPr/>
        </p:nvSpPr>
        <p:spPr>
          <a:xfrm flipV="1">
            <a:off x="7548677" y="3456432"/>
            <a:ext cx="914" cy="384048"/>
          </a:xfrm>
          <a:prstGeom prst="line">
            <a:avLst/>
          </a:prstGeom>
          <a:noFill/>
          <a:ln w="25400">
            <a:solidFill>
              <a:srgbClr val="7A7391"/>
            </a:solidFill>
            <a:prstDash val="solid"/>
            <a:tailEnd type="triangle"/>
          </a:ln>
        </p:spPr>
      </p:sp>
      <p:sp>
        <p:nvSpPr>
          <p:cNvPr id="20" name="Text 17"/>
          <p:cNvSpPr txBox="1"/>
          <p:nvPr/>
        </p:nvSpPr>
        <p:spPr>
          <a:xfrm>
            <a:off x="7640117" y="3886200"/>
            <a:ext cx="2722778" cy="274320"/>
          </a:xfrm>
          <a:prstGeom prst="rect">
            <a:avLst/>
          </a:prstGeom>
          <a:noFill/>
          <a:ln/>
        </p:spPr>
        <p:txBody>
          <a:bodyPr wrap="square" lIns="0" tIns="0" rIns="0" bIns="0" rtlCol="0" anchor="t"/>
          <a:lstStyle/>
          <a:p>
            <a:pPr algn="ctr" indent="0" marL="0">
              <a:buNone/>
            </a:pPr>
            <a:r>
              <a:rPr lang="en-US" sz="1200" i="1" dirty="0">
                <a:solidFill>
                  <a:srgbClr val="7A7391"/>
                </a:solidFill>
                <a:latin typeface="Calibri" pitchFamily="34" charset="0"/>
                <a:ea typeface="Calibri" pitchFamily="34" charset="-122"/>
                <a:cs typeface="Calibri" pitchFamily="34" charset="-120"/>
              </a:rPr>
              <a:t>el próximo alumno reusa el entorno</a:t>
            </a:r>
            <a:endParaRPr lang="en-US" sz="1200" dirty="0"/>
          </a:p>
        </p:txBody>
      </p:sp>
      <p:sp>
        <p:nvSpPr>
          <p:cNvPr id="21" name="stateless"/>
          <p:cNvSpPr/>
          <p:nvPr/>
        </p:nvSpPr>
        <p:spPr>
          <a:xfrm>
            <a:off x="548640" y="4343400"/>
            <a:ext cx="11094415" cy="1463040"/>
          </a:xfrm>
          <a:prstGeom prst="roundRect">
            <a:avLst>
              <a:gd name="adj" fmla="val 6250"/>
            </a:avLst>
          </a:prstGeom>
          <a:solidFill>
            <a:srgbClr val="3B1F78"/>
          </a:solidFill>
          <a:ln/>
        </p:spPr>
      </p:sp>
      <p:sp>
        <p:nvSpPr>
          <p:cNvPr id="22" name="circulo"/>
          <p:cNvSpPr/>
          <p:nvPr/>
        </p:nvSpPr>
        <p:spPr>
          <a:xfrm>
            <a:off x="868680" y="4818888"/>
            <a:ext cx="502920" cy="502920"/>
          </a:xfrm>
          <a:prstGeom prst="ellipse">
            <a:avLst/>
          </a:prstGeom>
          <a:solidFill>
            <a:srgbClr val="F2545B"/>
          </a:solidFill>
          <a:ln/>
        </p:spPr>
      </p:sp>
      <p:sp>
        <p:nvSpPr>
          <p:cNvPr id="23" name="Text 20"/>
          <p:cNvSpPr txBox="1"/>
          <p:nvPr/>
        </p:nvSpPr>
        <p:spPr>
          <a:xfrm>
            <a:off x="868680" y="4818888"/>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24" name="Text 21"/>
          <p:cNvSpPr txBox="1"/>
          <p:nvPr/>
        </p:nvSpPr>
        <p:spPr>
          <a:xfrm>
            <a:off x="1600200" y="4343400"/>
            <a:ext cx="9722815" cy="146304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Stateless por contrato. </a:t>
            </a:r>
            <a:pPr indent="0" marL="0">
              <a:buNone/>
            </a:pPr>
            <a:r>
              <a:rPr lang="en-US" sz="1700" dirty="0">
                <a:solidFill>
                  <a:srgbClr val="D9D0F0"/>
                </a:solidFill>
                <a:latin typeface="Calibri" pitchFamily="34" charset="0"/>
                <a:ea typeface="Calibri" pitchFamily="34" charset="-122"/>
                <a:cs typeface="Calibri" pitchFamily="34" charset="-120"/>
              </a:rPr>
              <a:t>Dos pedidos del mismo alumno pueden caer en entornos distintos: la inscripción se guarda en la base, nunca en la memoria de la función.</a:t>
            </a:r>
            <a:endParaRPr lang="en-US" sz="17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QUÉ PASA POR DENTRO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¿Cuántos entornos hacen falta a las 08:00?</a:t>
            </a:r>
            <a:endParaRPr lang="en-US" sz="3000" dirty="0"/>
          </a:p>
        </p:txBody>
      </p:sp>
      <p:sp>
        <p:nvSpPr>
          <p:cNvPr id="5" name="formula"/>
          <p:cNvSpPr/>
          <p:nvPr/>
        </p:nvSpPr>
        <p:spPr>
          <a:xfrm>
            <a:off x="548640" y="1600200"/>
            <a:ext cx="5852160" cy="1051560"/>
          </a:xfrm>
          <a:prstGeom prst="roundRect">
            <a:avLst>
              <a:gd name="adj" fmla="val 8696"/>
            </a:avLst>
          </a:prstGeom>
          <a:solidFill>
            <a:srgbClr val="1A0F3D"/>
          </a:solidFill>
          <a:ln/>
        </p:spPr>
      </p:sp>
      <p:sp>
        <p:nvSpPr>
          <p:cNvPr id="6" name="Text 3"/>
          <p:cNvSpPr txBox="1"/>
          <p:nvPr/>
        </p:nvSpPr>
        <p:spPr>
          <a:xfrm>
            <a:off x="822960" y="1600200"/>
            <a:ext cx="5303520" cy="1051560"/>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entornos = pedidos/s × duración</a:t>
            </a:r>
            <a:endParaRPr lang="en-US" sz="2200" dirty="0"/>
          </a:p>
        </p:txBody>
      </p:sp>
      <p:sp>
        <p:nvSpPr>
          <p:cNvPr id="7" name="escenario"/>
          <p:cNvSpPr/>
          <p:nvPr/>
        </p:nvSpPr>
        <p:spPr>
          <a:xfrm>
            <a:off x="548640" y="2880360"/>
            <a:ext cx="5852160" cy="960120"/>
          </a:xfrm>
          <a:prstGeom prst="roundRect">
            <a:avLst>
              <a:gd name="adj" fmla="val 9524"/>
            </a:avLst>
          </a:prstGeom>
          <a:solidFill>
            <a:srgbClr val="F1EDFA"/>
          </a:solidFill>
          <a:ln/>
        </p:spPr>
      </p:sp>
      <p:sp>
        <p:nvSpPr>
          <p:cNvPr id="8" name="Text 5"/>
          <p:cNvSpPr txBox="1"/>
          <p:nvPr/>
        </p:nvSpPr>
        <p:spPr>
          <a:xfrm>
            <a:off x="822960" y="2880360"/>
            <a:ext cx="2377440" cy="960120"/>
          </a:xfrm>
          <a:prstGeom prst="rect">
            <a:avLst/>
          </a:prstGeom>
          <a:noFill/>
          <a:ln/>
        </p:spPr>
        <p:txBody>
          <a:bodyPr wrap="square" lIns="0" tIns="0" rIns="0" bIns="0" rtlCol="0" anchor="ctr"/>
          <a:lstStyle/>
          <a:p>
            <a:pPr indent="0" marL="0">
              <a:buNone/>
            </a:pPr>
            <a:r>
              <a:rPr lang="en-US" sz="1700" dirty="0">
                <a:solidFill>
                  <a:srgbClr val="1E1433"/>
                </a:solidFill>
                <a:latin typeface="Courier New" pitchFamily="34" charset="0"/>
                <a:ea typeface="Courier New" pitchFamily="34" charset="-122"/>
                <a:cs typeface="Courier New" pitchFamily="34" charset="-120"/>
              </a:rPr>
              <a:t>2.000/s × 0,3 s</a:t>
            </a:r>
            <a:endParaRPr lang="en-US" sz="1700" dirty="0"/>
          </a:p>
        </p:txBody>
      </p:sp>
      <p:sp>
        <p:nvSpPr>
          <p:cNvPr id="9" name="Text 6"/>
          <p:cNvSpPr txBox="1"/>
          <p:nvPr/>
        </p:nvSpPr>
        <p:spPr>
          <a:xfrm>
            <a:off x="3108960" y="2880360"/>
            <a:ext cx="1371600" cy="960120"/>
          </a:xfrm>
          <a:prstGeom prst="rect">
            <a:avLst/>
          </a:prstGeom>
          <a:noFill/>
          <a:ln/>
        </p:spPr>
        <p:txBody>
          <a:bodyPr wrap="square" lIns="0" tIns="0" rIns="0" bIns="0" rtlCol="0" anchor="ctr"/>
          <a:lstStyle/>
          <a:p>
            <a:pPr algn="r" indent="0" marL="0">
              <a:buNone/>
            </a:pPr>
            <a:r>
              <a:rPr lang="en-US" sz="3400" b="1" dirty="0">
                <a:solidFill>
                  <a:srgbClr val="3B1F78"/>
                </a:solidFill>
                <a:latin typeface="Cambria" pitchFamily="34" charset="0"/>
                <a:ea typeface="Cambria" pitchFamily="34" charset="-122"/>
                <a:cs typeface="Cambria" pitchFamily="34" charset="-120"/>
              </a:rPr>
              <a:t>600</a:t>
            </a:r>
            <a:endParaRPr lang="en-US" sz="3400" dirty="0"/>
          </a:p>
        </p:txBody>
      </p:sp>
      <p:sp>
        <p:nvSpPr>
          <p:cNvPr id="10" name="Text 7"/>
          <p:cNvSpPr txBox="1"/>
          <p:nvPr/>
        </p:nvSpPr>
        <p:spPr>
          <a:xfrm>
            <a:off x="4663440" y="2880360"/>
            <a:ext cx="1554480" cy="960120"/>
          </a:xfrm>
          <a:prstGeom prst="rect">
            <a:avLst/>
          </a:prstGeom>
          <a:noFill/>
          <a:ln/>
        </p:spPr>
        <p:txBody>
          <a:bodyPr wrap="square" lIns="0" tIns="0" rIns="0" bIns="0" rtlCol="0" anchor="ctr"/>
          <a:lstStyle/>
          <a:p>
            <a:pPr indent="0" marL="0">
              <a:buNone/>
            </a:pPr>
            <a:r>
              <a:rPr lang="en-US" sz="1400" dirty="0">
                <a:solidFill>
                  <a:srgbClr val="4A4560"/>
                </a:solidFill>
                <a:latin typeface="Calibri" pitchFamily="34" charset="0"/>
                <a:ea typeface="Calibri" pitchFamily="34" charset="-122"/>
                <a:cs typeface="Calibri" pitchFamily="34" charset="-120"/>
              </a:rPr>
              <a:t>entra en el límite por defecto (1.000)</a:t>
            </a:r>
            <a:endParaRPr lang="en-US" sz="1400" dirty="0"/>
          </a:p>
        </p:txBody>
      </p:sp>
      <p:sp>
        <p:nvSpPr>
          <p:cNvPr id="11" name="escenario"/>
          <p:cNvSpPr/>
          <p:nvPr/>
        </p:nvSpPr>
        <p:spPr>
          <a:xfrm>
            <a:off x="548640" y="4023360"/>
            <a:ext cx="5852160" cy="960120"/>
          </a:xfrm>
          <a:prstGeom prst="roundRect">
            <a:avLst>
              <a:gd name="adj" fmla="val 9524"/>
            </a:avLst>
          </a:prstGeom>
          <a:solidFill>
            <a:srgbClr val="F1EDFA"/>
          </a:solidFill>
          <a:ln/>
        </p:spPr>
      </p:sp>
      <p:sp>
        <p:nvSpPr>
          <p:cNvPr id="12" name="Text 9"/>
          <p:cNvSpPr txBox="1"/>
          <p:nvPr/>
        </p:nvSpPr>
        <p:spPr>
          <a:xfrm>
            <a:off x="822960" y="4023360"/>
            <a:ext cx="2377440" cy="960120"/>
          </a:xfrm>
          <a:prstGeom prst="rect">
            <a:avLst/>
          </a:prstGeom>
          <a:noFill/>
          <a:ln/>
        </p:spPr>
        <p:txBody>
          <a:bodyPr wrap="square" lIns="0" tIns="0" rIns="0" bIns="0" rtlCol="0" anchor="ctr"/>
          <a:lstStyle/>
          <a:p>
            <a:pPr indent="0" marL="0">
              <a:buNone/>
            </a:pPr>
            <a:r>
              <a:rPr lang="en-US" sz="1700" dirty="0">
                <a:solidFill>
                  <a:srgbClr val="1E1433"/>
                </a:solidFill>
                <a:latin typeface="Courier New" pitchFamily="34" charset="0"/>
                <a:ea typeface="Courier New" pitchFamily="34" charset="-122"/>
                <a:cs typeface="Courier New" pitchFamily="34" charset="-120"/>
              </a:rPr>
              <a:t>2.000/s × 1,0 s</a:t>
            </a:r>
            <a:endParaRPr lang="en-US" sz="1700" dirty="0"/>
          </a:p>
        </p:txBody>
      </p:sp>
      <p:sp>
        <p:nvSpPr>
          <p:cNvPr id="13" name="Text 10"/>
          <p:cNvSpPr txBox="1"/>
          <p:nvPr/>
        </p:nvSpPr>
        <p:spPr>
          <a:xfrm>
            <a:off x="3108960" y="4023360"/>
            <a:ext cx="1371600" cy="960120"/>
          </a:xfrm>
          <a:prstGeom prst="rect">
            <a:avLst/>
          </a:prstGeom>
          <a:noFill/>
          <a:ln/>
        </p:spPr>
        <p:txBody>
          <a:bodyPr wrap="square" lIns="0" tIns="0" rIns="0" bIns="0" rtlCol="0" anchor="ctr"/>
          <a:lstStyle/>
          <a:p>
            <a:pPr algn="r" indent="0" marL="0">
              <a:buNone/>
            </a:pPr>
            <a:r>
              <a:rPr lang="en-US" sz="3400" b="1" dirty="0">
                <a:solidFill>
                  <a:srgbClr val="F2545B"/>
                </a:solidFill>
                <a:latin typeface="Cambria" pitchFamily="34" charset="0"/>
                <a:ea typeface="Cambria" pitchFamily="34" charset="-122"/>
                <a:cs typeface="Cambria" pitchFamily="34" charset="-120"/>
              </a:rPr>
              <a:t>2.000</a:t>
            </a:r>
            <a:endParaRPr lang="en-US" sz="3400" dirty="0"/>
          </a:p>
        </p:txBody>
      </p:sp>
      <p:sp>
        <p:nvSpPr>
          <p:cNvPr id="14" name="Text 11"/>
          <p:cNvSpPr txBox="1"/>
          <p:nvPr/>
        </p:nvSpPr>
        <p:spPr>
          <a:xfrm>
            <a:off x="4663440" y="4023360"/>
            <a:ext cx="1554480" cy="960120"/>
          </a:xfrm>
          <a:prstGeom prst="rect">
            <a:avLst/>
          </a:prstGeom>
          <a:noFill/>
          <a:ln/>
        </p:spPr>
        <p:txBody>
          <a:bodyPr wrap="square" lIns="0" tIns="0" rIns="0" bIns="0" rtlCol="0" anchor="ctr"/>
          <a:lstStyle/>
          <a:p>
            <a:pPr indent="0" marL="0">
              <a:buNone/>
            </a:pPr>
            <a:r>
              <a:rPr lang="en-US" sz="1400" dirty="0">
                <a:solidFill>
                  <a:srgbClr val="4A4560"/>
                </a:solidFill>
                <a:latin typeface="Calibri" pitchFamily="34" charset="0"/>
                <a:ea typeface="Calibri" pitchFamily="34" charset="-122"/>
                <a:cs typeface="Calibri" pitchFamily="34" charset="-120"/>
              </a:rPr>
              <a:t>supera el límite: la plataforma rechaza pedidos</a:t>
            </a:r>
            <a:endParaRPr lang="en-US" sz="1400" dirty="0"/>
          </a:p>
        </p:txBody>
      </p:sp>
      <p:sp>
        <p:nvSpPr>
          <p:cNvPr id="15" name="rotulo-supuesto"/>
          <p:cNvSpPr/>
          <p:nvPr/>
        </p:nvSpPr>
        <p:spPr>
          <a:xfrm>
            <a:off x="548640" y="5257800"/>
            <a:ext cx="2377440" cy="292608"/>
          </a:xfrm>
          <a:prstGeom prst="roundRect">
            <a:avLst>
              <a:gd name="adj" fmla="val 50000"/>
            </a:avLst>
          </a:prstGeom>
          <a:solidFill>
            <a:srgbClr val="FFFFFF"/>
          </a:solidFill>
          <a:ln w="12700">
            <a:solidFill>
              <a:srgbClr val="F2545B"/>
            </a:solidFill>
            <a:prstDash val="solid"/>
          </a:ln>
        </p:spPr>
      </p:sp>
      <p:sp>
        <p:nvSpPr>
          <p:cNvPr id="16" name="Text 13"/>
          <p:cNvSpPr txBox="1"/>
          <p:nvPr/>
        </p:nvSpPr>
        <p:spPr>
          <a:xfrm>
            <a:off x="548640" y="5257800"/>
            <a:ext cx="2377440" cy="292608"/>
          </a:xfrm>
          <a:prstGeom prst="rect">
            <a:avLst/>
          </a:prstGeom>
          <a:noFill/>
          <a:ln/>
        </p:spPr>
        <p:txBody>
          <a:bodyPr wrap="square" lIns="0" tIns="0" rIns="0" bIns="0" rtlCol="0" anchor="ctr"/>
          <a:lstStyle/>
          <a:p>
            <a:pPr algn="ctr" indent="0" marL="0">
              <a:buNone/>
            </a:pPr>
            <a:r>
              <a:rPr lang="en-US" sz="1000" b="1" spc="100" kern="0" dirty="0">
                <a:solidFill>
                  <a:srgbClr val="F2545B"/>
                </a:solidFill>
                <a:latin typeface="Calibri" pitchFamily="34" charset="0"/>
                <a:ea typeface="Calibri" pitchFamily="34" charset="-122"/>
                <a:cs typeface="Calibri" pitchFamily="34" charset="-120"/>
              </a:rPr>
              <a:t>SUPUESTO DEL EJEMPLO</a:t>
            </a:r>
            <a:endParaRPr lang="en-US" sz="1000" dirty="0"/>
          </a:p>
        </p:txBody>
      </p:sp>
      <p:sp>
        <p:nvSpPr>
          <p:cNvPr id="17" name="Text 14"/>
          <p:cNvSpPr txBox="1"/>
          <p:nvPr/>
        </p:nvSpPr>
        <p:spPr>
          <a:xfrm>
            <a:off x="3108960" y="5212080"/>
            <a:ext cx="3291840" cy="548640"/>
          </a:xfrm>
          <a:prstGeom prst="rect">
            <a:avLst/>
          </a:prstGeom>
          <a:noFill/>
          <a:ln/>
        </p:spPr>
        <p:txBody>
          <a:bodyPr wrap="square" lIns="0" tIns="0" rIns="0" bIns="0" rtlCol="0" anchor="t"/>
          <a:lstStyle/>
          <a:p>
            <a:pPr indent="0" marL="0">
              <a:buNone/>
            </a:pPr>
            <a:r>
              <a:rPr lang="en-US" sz="1200" dirty="0">
                <a:solidFill>
                  <a:srgbClr val="7A7391"/>
                </a:solidFill>
                <a:latin typeface="Calibri" pitchFamily="34" charset="0"/>
                <a:ea typeface="Calibri" pitchFamily="34" charset="-122"/>
                <a:cs typeface="Calibri" pitchFamily="34" charset="-120"/>
              </a:rPr>
              <a:t>2.000 pedidos/s y 300 ms son del ejemplo. El límite de 1.000 por cuenta y región es de AWS.</a:t>
            </a:r>
            <a:endParaRPr lang="en-US" sz="1200" dirty="0"/>
          </a:p>
        </p:txBody>
      </p:sp>
      <p:sp>
        <p:nvSpPr>
          <p:cNvPr id="18" name="Text 15"/>
          <p:cNvSpPr txBox="1"/>
          <p:nvPr/>
        </p:nvSpPr>
        <p:spPr>
          <a:xfrm>
            <a:off x="6858000" y="1600200"/>
            <a:ext cx="4785055" cy="365760"/>
          </a:xfrm>
          <a:prstGeom prst="rect">
            <a:avLst/>
          </a:prstGeom>
          <a:noFill/>
          <a:ln/>
        </p:spPr>
        <p:txBody>
          <a:bodyPr wrap="square" lIns="0" tIns="0" rIns="0" bIns="0" rtlCol="0" anchor="t"/>
          <a:lstStyle/>
          <a:p>
            <a:pPr indent="0" marL="0">
              <a:buNone/>
            </a:pPr>
            <a:r>
              <a:rPr lang="en-US" sz="1700" b="1" dirty="0">
                <a:solidFill>
                  <a:srgbClr val="3B1F78"/>
                </a:solidFill>
                <a:latin typeface="Calibri" pitchFamily="34" charset="0"/>
                <a:ea typeface="Calibri" pitchFamily="34" charset="-122"/>
                <a:cs typeface="Calibri" pitchFamily="34" charset="-120"/>
              </a:rPr>
              <a:t>Cada entorno nuevo paga un cold start</a:t>
            </a:r>
            <a:endParaRPr lang="en-US" sz="1700" dirty="0"/>
          </a:p>
        </p:txBody>
      </p:sp>
      <p:sp>
        <p:nvSpPr>
          <p:cNvPr id="19" name="Shape 16"/>
          <p:cNvSpPr/>
          <p:nvPr/>
        </p:nvSpPr>
        <p:spPr>
          <a:xfrm>
            <a:off x="8595360" y="2148840"/>
            <a:ext cx="914" cy="2487168"/>
          </a:xfrm>
          <a:prstGeom prst="line">
            <a:avLst/>
          </a:prstGeom>
          <a:noFill/>
          <a:ln w="9525">
            <a:solidFill>
              <a:srgbClr val="D9D0F0"/>
            </a:solidFill>
            <a:prstDash val="solid"/>
          </a:ln>
        </p:spPr>
      </p:sp>
      <p:sp>
        <p:nvSpPr>
          <p:cNvPr id="20" name="Text 17"/>
          <p:cNvSpPr txBox="1"/>
          <p:nvPr/>
        </p:nvSpPr>
        <p:spPr>
          <a:xfrm>
            <a:off x="8229600" y="4681728"/>
            <a:ext cx="731520" cy="274320"/>
          </a:xfrm>
          <a:prstGeom prst="rect">
            <a:avLst/>
          </a:prstGeom>
          <a:noFill/>
          <a:ln/>
        </p:spPr>
        <p:txBody>
          <a:bodyPr wrap="square" lIns="0" tIns="0" rIns="0" bIns="0" rtlCol="0" anchor="t"/>
          <a:lstStyle/>
          <a:p>
            <a:pPr algn="ctr" indent="0" marL="0">
              <a:buNone/>
            </a:pPr>
            <a:r>
              <a:rPr lang="en-US" sz="1100" dirty="0">
                <a:solidFill>
                  <a:srgbClr val="7A7391"/>
                </a:solidFill>
                <a:latin typeface="Calibri" pitchFamily="34" charset="0"/>
                <a:ea typeface="Calibri" pitchFamily="34" charset="-122"/>
                <a:cs typeface="Calibri" pitchFamily="34" charset="-120"/>
              </a:rPr>
              <a:t>0 ms</a:t>
            </a:r>
            <a:endParaRPr lang="en-US" sz="1100" dirty="0"/>
          </a:p>
        </p:txBody>
      </p:sp>
      <p:sp>
        <p:nvSpPr>
          <p:cNvPr id="21" name="Shape 18"/>
          <p:cNvSpPr/>
          <p:nvPr/>
        </p:nvSpPr>
        <p:spPr>
          <a:xfrm>
            <a:off x="9662008" y="2148840"/>
            <a:ext cx="914" cy="2487168"/>
          </a:xfrm>
          <a:prstGeom prst="line">
            <a:avLst/>
          </a:prstGeom>
          <a:noFill/>
          <a:ln w="9525">
            <a:solidFill>
              <a:srgbClr val="D9D0F0"/>
            </a:solidFill>
            <a:prstDash val="solid"/>
          </a:ln>
        </p:spPr>
      </p:sp>
      <p:sp>
        <p:nvSpPr>
          <p:cNvPr id="22" name="Text 19"/>
          <p:cNvSpPr txBox="1"/>
          <p:nvPr/>
        </p:nvSpPr>
        <p:spPr>
          <a:xfrm>
            <a:off x="9296248" y="4681728"/>
            <a:ext cx="731520" cy="274320"/>
          </a:xfrm>
          <a:prstGeom prst="rect">
            <a:avLst/>
          </a:prstGeom>
          <a:noFill/>
          <a:ln/>
        </p:spPr>
        <p:txBody>
          <a:bodyPr wrap="square" lIns="0" tIns="0" rIns="0" bIns="0" rtlCol="0" anchor="t"/>
          <a:lstStyle/>
          <a:p>
            <a:pPr algn="ctr" indent="0" marL="0">
              <a:buNone/>
            </a:pPr>
            <a:r>
              <a:rPr lang="en-US" sz="1100" dirty="0">
                <a:solidFill>
                  <a:srgbClr val="7A7391"/>
                </a:solidFill>
                <a:latin typeface="Calibri" pitchFamily="34" charset="0"/>
                <a:ea typeface="Calibri" pitchFamily="34" charset="-122"/>
                <a:cs typeface="Calibri" pitchFamily="34" charset="-120"/>
              </a:rPr>
              <a:t>250 ms</a:t>
            </a:r>
            <a:endParaRPr lang="en-US" sz="1100" dirty="0"/>
          </a:p>
        </p:txBody>
      </p:sp>
      <p:sp>
        <p:nvSpPr>
          <p:cNvPr id="23" name="Shape 20"/>
          <p:cNvSpPr/>
          <p:nvPr/>
        </p:nvSpPr>
        <p:spPr>
          <a:xfrm>
            <a:off x="10728655" y="2148840"/>
            <a:ext cx="914" cy="2487168"/>
          </a:xfrm>
          <a:prstGeom prst="line">
            <a:avLst/>
          </a:prstGeom>
          <a:noFill/>
          <a:ln w="9525">
            <a:solidFill>
              <a:srgbClr val="D9D0F0"/>
            </a:solidFill>
            <a:prstDash val="solid"/>
          </a:ln>
        </p:spPr>
      </p:sp>
      <p:sp>
        <p:nvSpPr>
          <p:cNvPr id="24" name="Text 21"/>
          <p:cNvSpPr txBox="1"/>
          <p:nvPr/>
        </p:nvSpPr>
        <p:spPr>
          <a:xfrm>
            <a:off x="10362895" y="4681728"/>
            <a:ext cx="731520" cy="274320"/>
          </a:xfrm>
          <a:prstGeom prst="rect">
            <a:avLst/>
          </a:prstGeom>
          <a:noFill/>
          <a:ln/>
        </p:spPr>
        <p:txBody>
          <a:bodyPr wrap="square" lIns="0" tIns="0" rIns="0" bIns="0" rtlCol="0" anchor="t"/>
          <a:lstStyle/>
          <a:p>
            <a:pPr algn="ctr" indent="0" marL="0">
              <a:buNone/>
            </a:pPr>
            <a:r>
              <a:rPr lang="en-US" sz="1100" dirty="0">
                <a:solidFill>
                  <a:srgbClr val="7A7391"/>
                </a:solidFill>
                <a:latin typeface="Calibri" pitchFamily="34" charset="0"/>
                <a:ea typeface="Calibri" pitchFamily="34" charset="-122"/>
                <a:cs typeface="Calibri" pitchFamily="34" charset="-120"/>
              </a:rPr>
              <a:t>500 ms</a:t>
            </a:r>
            <a:endParaRPr lang="en-US" sz="1100" dirty="0"/>
          </a:p>
        </p:txBody>
      </p:sp>
      <p:sp>
        <p:nvSpPr>
          <p:cNvPr id="25" name="Text 22"/>
          <p:cNvSpPr txBox="1"/>
          <p:nvPr/>
        </p:nvSpPr>
        <p:spPr>
          <a:xfrm>
            <a:off x="6858000" y="2240280"/>
            <a:ext cx="1645920" cy="411480"/>
          </a:xfrm>
          <a:prstGeom prst="rect">
            <a:avLst/>
          </a:prstGeom>
          <a:noFill/>
          <a:ln/>
        </p:spPr>
        <p:txBody>
          <a:bodyPr wrap="square" lIns="0" tIns="0" rIns="0" bIns="0" rtlCol="0" anchor="ctr"/>
          <a:lstStyle/>
          <a:p>
            <a:pPr algn="r" indent="0" marL="0">
              <a:buNone/>
            </a:pPr>
            <a:r>
              <a:rPr lang="en-US" sz="1300" dirty="0">
                <a:solidFill>
                  <a:srgbClr val="1E1433"/>
                </a:solidFill>
                <a:latin typeface="Calibri" pitchFamily="34" charset="0"/>
                <a:ea typeface="Calibri" pitchFamily="34" charset="-122"/>
                <a:cs typeface="Calibri" pitchFamily="34" charset="-120"/>
              </a:rPr>
              <a:t>Go / Rust</a:t>
            </a:r>
            <a:endParaRPr lang="en-US" sz="1300" dirty="0"/>
          </a:p>
        </p:txBody>
      </p:sp>
      <p:sp>
        <p:nvSpPr>
          <p:cNvPr id="26" name="rango"/>
          <p:cNvSpPr/>
          <p:nvPr/>
        </p:nvSpPr>
        <p:spPr>
          <a:xfrm>
            <a:off x="8638026" y="2313432"/>
            <a:ext cx="383993" cy="274320"/>
          </a:xfrm>
          <a:prstGeom prst="roundRect">
            <a:avLst>
              <a:gd name="adj" fmla="val 16667"/>
            </a:avLst>
          </a:prstGeom>
          <a:solidFill>
            <a:srgbClr val="3B1F78"/>
          </a:solidFill>
          <a:ln/>
        </p:spPr>
      </p:sp>
      <p:sp>
        <p:nvSpPr>
          <p:cNvPr id="27" name="Text 24"/>
          <p:cNvSpPr txBox="1"/>
          <p:nvPr/>
        </p:nvSpPr>
        <p:spPr>
          <a:xfrm>
            <a:off x="9095171" y="2240280"/>
            <a:ext cx="914400" cy="411480"/>
          </a:xfrm>
          <a:prstGeom prst="rect">
            <a:avLst/>
          </a:prstGeom>
          <a:noFill/>
          <a:ln/>
        </p:spPr>
        <p:txBody>
          <a:bodyPr wrap="square" lIns="0" tIns="0" rIns="0" bIns="0" rtlCol="0" anchor="ctr"/>
          <a:lstStyle/>
          <a:p>
            <a:pPr indent="0" marL="0">
              <a:buNone/>
            </a:pPr>
            <a:r>
              <a:rPr lang="en-US" sz="1200" b="1" dirty="0">
                <a:solidFill>
                  <a:srgbClr val="4A4560"/>
                </a:solidFill>
                <a:latin typeface="Calibri" pitchFamily="34" charset="0"/>
                <a:ea typeface="Calibri" pitchFamily="34" charset="-122"/>
                <a:cs typeface="Calibri" pitchFamily="34" charset="-120"/>
              </a:rPr>
              <a:t>&lt; 100 ms</a:t>
            </a:r>
            <a:endParaRPr lang="en-US" sz="1200" dirty="0"/>
          </a:p>
        </p:txBody>
      </p:sp>
      <p:sp>
        <p:nvSpPr>
          <p:cNvPr id="28" name="Text 25"/>
          <p:cNvSpPr txBox="1"/>
          <p:nvPr/>
        </p:nvSpPr>
        <p:spPr>
          <a:xfrm>
            <a:off x="6858000" y="2862072"/>
            <a:ext cx="1645920" cy="411480"/>
          </a:xfrm>
          <a:prstGeom prst="rect">
            <a:avLst/>
          </a:prstGeom>
          <a:noFill/>
          <a:ln/>
        </p:spPr>
        <p:txBody>
          <a:bodyPr wrap="square" lIns="0" tIns="0" rIns="0" bIns="0" rtlCol="0" anchor="ctr"/>
          <a:lstStyle/>
          <a:p>
            <a:pPr algn="r" indent="0" marL="0">
              <a:buNone/>
            </a:pPr>
            <a:r>
              <a:rPr lang="en-US" sz="1300" dirty="0">
                <a:solidFill>
                  <a:srgbClr val="1E1433"/>
                </a:solidFill>
                <a:latin typeface="Calibri" pitchFamily="34" charset="0"/>
                <a:ea typeface="Calibri" pitchFamily="34" charset="-122"/>
                <a:cs typeface="Calibri" pitchFamily="34" charset="-120"/>
              </a:rPr>
              <a:t>Java + SnapStart</a:t>
            </a:r>
            <a:endParaRPr lang="en-US" sz="1300" dirty="0"/>
          </a:p>
        </p:txBody>
      </p:sp>
      <p:sp>
        <p:nvSpPr>
          <p:cNvPr id="29" name="rango"/>
          <p:cNvSpPr/>
          <p:nvPr/>
        </p:nvSpPr>
        <p:spPr>
          <a:xfrm>
            <a:off x="8979353" y="2935224"/>
            <a:ext cx="213330" cy="274320"/>
          </a:xfrm>
          <a:prstGeom prst="roundRect">
            <a:avLst>
              <a:gd name="adj" fmla="val 21432"/>
            </a:avLst>
          </a:prstGeom>
          <a:solidFill>
            <a:srgbClr val="3B1F78"/>
          </a:solidFill>
          <a:ln/>
        </p:spPr>
      </p:sp>
      <p:sp>
        <p:nvSpPr>
          <p:cNvPr id="30" name="Text 27"/>
          <p:cNvSpPr txBox="1"/>
          <p:nvPr/>
        </p:nvSpPr>
        <p:spPr>
          <a:xfrm>
            <a:off x="9265835" y="2862072"/>
            <a:ext cx="914400" cy="411480"/>
          </a:xfrm>
          <a:prstGeom prst="rect">
            <a:avLst/>
          </a:prstGeom>
          <a:noFill/>
          <a:ln/>
        </p:spPr>
        <p:txBody>
          <a:bodyPr wrap="square" lIns="0" tIns="0" rIns="0" bIns="0" rtlCol="0" anchor="ctr"/>
          <a:lstStyle/>
          <a:p>
            <a:pPr indent="0" marL="0">
              <a:buNone/>
            </a:pPr>
            <a:r>
              <a:rPr lang="en-US" sz="1200" b="1" dirty="0">
                <a:solidFill>
                  <a:srgbClr val="4A4560"/>
                </a:solidFill>
                <a:latin typeface="Calibri" pitchFamily="34" charset="0"/>
                <a:ea typeface="Calibri" pitchFamily="34" charset="-122"/>
                <a:cs typeface="Calibri" pitchFamily="34" charset="-120"/>
              </a:rPr>
              <a:t>90–140 ms</a:t>
            </a:r>
            <a:endParaRPr lang="en-US" sz="1200" dirty="0"/>
          </a:p>
        </p:txBody>
      </p:sp>
      <p:sp>
        <p:nvSpPr>
          <p:cNvPr id="31" name="Text 28"/>
          <p:cNvSpPr txBox="1"/>
          <p:nvPr/>
        </p:nvSpPr>
        <p:spPr>
          <a:xfrm>
            <a:off x="6858000" y="3483864"/>
            <a:ext cx="1645920" cy="411480"/>
          </a:xfrm>
          <a:prstGeom prst="rect">
            <a:avLst/>
          </a:prstGeom>
          <a:noFill/>
          <a:ln/>
        </p:spPr>
        <p:txBody>
          <a:bodyPr wrap="square" lIns="0" tIns="0" rIns="0" bIns="0" rtlCol="0" anchor="ctr"/>
          <a:lstStyle/>
          <a:p>
            <a:pPr algn="r" indent="0" marL="0">
              <a:buNone/>
            </a:pPr>
            <a:r>
              <a:rPr lang="en-US" sz="1300" dirty="0">
                <a:solidFill>
                  <a:srgbClr val="1E1433"/>
                </a:solidFill>
                <a:latin typeface="Calibri" pitchFamily="34" charset="0"/>
                <a:ea typeface="Calibri" pitchFamily="34" charset="-122"/>
                <a:cs typeface="Calibri" pitchFamily="34" charset="-120"/>
              </a:rPr>
              <a:t>Python</a:t>
            </a:r>
            <a:endParaRPr lang="en-US" sz="1300" dirty="0"/>
          </a:p>
        </p:txBody>
      </p:sp>
      <p:sp>
        <p:nvSpPr>
          <p:cNvPr id="32" name="rango"/>
          <p:cNvSpPr/>
          <p:nvPr/>
        </p:nvSpPr>
        <p:spPr>
          <a:xfrm>
            <a:off x="9448678" y="3557016"/>
            <a:ext cx="853318" cy="274320"/>
          </a:xfrm>
          <a:prstGeom prst="roundRect">
            <a:avLst>
              <a:gd name="adj" fmla="val 16667"/>
            </a:avLst>
          </a:prstGeom>
          <a:solidFill>
            <a:srgbClr val="3B1F78"/>
          </a:solidFill>
          <a:ln/>
        </p:spPr>
      </p:sp>
      <p:sp>
        <p:nvSpPr>
          <p:cNvPr id="33" name="Text 30"/>
          <p:cNvSpPr txBox="1"/>
          <p:nvPr/>
        </p:nvSpPr>
        <p:spPr>
          <a:xfrm>
            <a:off x="10375148" y="3483864"/>
            <a:ext cx="914400" cy="411480"/>
          </a:xfrm>
          <a:prstGeom prst="rect">
            <a:avLst/>
          </a:prstGeom>
          <a:noFill/>
          <a:ln/>
        </p:spPr>
        <p:txBody>
          <a:bodyPr wrap="square" lIns="0" tIns="0" rIns="0" bIns="0" rtlCol="0" anchor="ctr"/>
          <a:lstStyle/>
          <a:p>
            <a:pPr indent="0" marL="0">
              <a:buNone/>
            </a:pPr>
            <a:r>
              <a:rPr lang="en-US" sz="1200" b="1" dirty="0">
                <a:solidFill>
                  <a:srgbClr val="4A4560"/>
                </a:solidFill>
                <a:latin typeface="Calibri" pitchFamily="34" charset="0"/>
                <a:ea typeface="Calibri" pitchFamily="34" charset="-122"/>
                <a:cs typeface="Calibri" pitchFamily="34" charset="-120"/>
              </a:rPr>
              <a:t>200–400 ms</a:t>
            </a:r>
            <a:endParaRPr lang="en-US" sz="1200" dirty="0"/>
          </a:p>
        </p:txBody>
      </p:sp>
      <p:sp>
        <p:nvSpPr>
          <p:cNvPr id="34" name="Text 31"/>
          <p:cNvSpPr txBox="1"/>
          <p:nvPr/>
        </p:nvSpPr>
        <p:spPr>
          <a:xfrm>
            <a:off x="6858000" y="4105656"/>
            <a:ext cx="1645920" cy="411480"/>
          </a:xfrm>
          <a:prstGeom prst="rect">
            <a:avLst/>
          </a:prstGeom>
          <a:noFill/>
          <a:ln/>
        </p:spPr>
        <p:txBody>
          <a:bodyPr wrap="square" lIns="0" tIns="0" rIns="0" bIns="0" rtlCol="0" anchor="ctr"/>
          <a:lstStyle/>
          <a:p>
            <a:pPr algn="r" indent="0" marL="0">
              <a:buNone/>
            </a:pPr>
            <a:r>
              <a:rPr lang="en-US" sz="1300" dirty="0">
                <a:solidFill>
                  <a:srgbClr val="1E1433"/>
                </a:solidFill>
                <a:latin typeface="Calibri" pitchFamily="34" charset="0"/>
                <a:ea typeface="Calibri" pitchFamily="34" charset="-122"/>
                <a:cs typeface="Calibri" pitchFamily="34" charset="-120"/>
              </a:rPr>
              <a:t>Java sin optimizar</a:t>
            </a:r>
            <a:endParaRPr lang="en-US" sz="1300" dirty="0"/>
          </a:p>
        </p:txBody>
      </p:sp>
      <p:sp>
        <p:nvSpPr>
          <p:cNvPr id="35" name="rango"/>
          <p:cNvSpPr/>
          <p:nvPr/>
        </p:nvSpPr>
        <p:spPr>
          <a:xfrm>
            <a:off x="9875337" y="4178808"/>
            <a:ext cx="853318" cy="274320"/>
          </a:xfrm>
          <a:prstGeom prst="roundRect">
            <a:avLst>
              <a:gd name="adj" fmla="val 16667"/>
            </a:avLst>
          </a:prstGeom>
          <a:solidFill>
            <a:srgbClr val="F2545B"/>
          </a:solidFill>
          <a:ln/>
        </p:spPr>
      </p:sp>
      <p:sp>
        <p:nvSpPr>
          <p:cNvPr id="36" name="Shape 33"/>
          <p:cNvSpPr/>
          <p:nvPr/>
        </p:nvSpPr>
        <p:spPr>
          <a:xfrm>
            <a:off x="10728655" y="4315968"/>
            <a:ext cx="228600" cy="914"/>
          </a:xfrm>
          <a:prstGeom prst="line">
            <a:avLst/>
          </a:prstGeom>
          <a:noFill/>
          <a:ln w="25400">
            <a:solidFill>
              <a:srgbClr val="F2545B"/>
            </a:solidFill>
            <a:prstDash val="solid"/>
            <a:tailEnd type="triangle"/>
          </a:ln>
        </p:spPr>
      </p:sp>
      <p:sp>
        <p:nvSpPr>
          <p:cNvPr id="37" name="Text 34"/>
          <p:cNvSpPr txBox="1"/>
          <p:nvPr/>
        </p:nvSpPr>
        <p:spPr>
          <a:xfrm>
            <a:off x="11002975" y="4105656"/>
            <a:ext cx="914400" cy="411480"/>
          </a:xfrm>
          <a:prstGeom prst="rect">
            <a:avLst/>
          </a:prstGeom>
          <a:noFill/>
          <a:ln/>
        </p:spPr>
        <p:txBody>
          <a:bodyPr wrap="square" lIns="0" tIns="0" rIns="0" bIns="0" rtlCol="0" anchor="ctr"/>
          <a:lstStyle/>
          <a:p>
            <a:pPr indent="0" marL="0">
              <a:buNone/>
            </a:pPr>
            <a:r>
              <a:rPr lang="en-US" sz="1200" b="1" dirty="0">
                <a:solidFill>
                  <a:srgbClr val="4A4560"/>
                </a:solidFill>
                <a:latin typeface="Calibri" pitchFamily="34" charset="0"/>
                <a:ea typeface="Calibri" pitchFamily="34" charset="-122"/>
                <a:cs typeface="Calibri" pitchFamily="34" charset="-120"/>
              </a:rPr>
              <a:t>segundos</a:t>
            </a:r>
            <a:endParaRPr lang="en-US" sz="1200" dirty="0"/>
          </a:p>
        </p:txBody>
      </p:sp>
      <p:sp>
        <p:nvSpPr>
          <p:cNvPr id="38" name="Text 35"/>
          <p:cNvSpPr txBox="1"/>
          <p:nvPr/>
        </p:nvSpPr>
        <p:spPr>
          <a:xfrm>
            <a:off x="6858000" y="4983480"/>
            <a:ext cx="4785055" cy="822960"/>
          </a:xfrm>
          <a:prstGeom prst="rect">
            <a:avLst/>
          </a:prstGeom>
          <a:noFill/>
          <a:ln/>
        </p:spPr>
        <p:txBody>
          <a:bodyPr wrap="square" lIns="0" tIns="0" rIns="0" bIns="0" rtlCol="0" anchor="t"/>
          <a:lstStyle/>
          <a:p>
            <a:pPr indent="0" marL="0">
              <a:buNone/>
            </a:pPr>
            <a:r>
              <a:rPr lang="en-US" sz="1400" dirty="0">
                <a:solidFill>
                  <a:srgbClr val="4A4560"/>
                </a:solidFill>
                <a:latin typeface="Calibri" pitchFamily="34" charset="0"/>
                <a:ea typeface="Calibri" pitchFamily="34" charset="-122"/>
                <a:cs typeface="Calibri" pitchFamily="34" charset="-120"/>
              </a:rPr>
              <a:t>Mitigación: SnapStart restaura una foto de un entorno ya inicializado; Provisioned Concurrency los deja precalentados, pero se paga por hora.</a:t>
            </a:r>
            <a:endParaRPr lang="en-US" sz="1400" dirty="0"/>
          </a:p>
        </p:txBody>
      </p:sp>
      <p:sp>
        <p:nvSpPr>
          <p:cNvPr id="39" name="Text 36"/>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Tiempos de cold start: órdenes de magnitud reportados en 2026 (fuentes secundarias).</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QUÉ PASA POR DENTRO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600 microVMs al lado del código de otros clientes</a:t>
            </a:r>
            <a:endParaRPr lang="en-US" sz="3000" dirty="0"/>
          </a:p>
        </p:txBody>
      </p:sp>
      <p:sp>
        <p:nvSpPr>
          <p:cNvPr id="5" name="servidor"/>
          <p:cNvSpPr/>
          <p:nvPr/>
        </p:nvSpPr>
        <p:spPr>
          <a:xfrm>
            <a:off x="548640" y="1600200"/>
            <a:ext cx="6583680" cy="3566160"/>
          </a:xfrm>
          <a:prstGeom prst="roundRect">
            <a:avLst>
              <a:gd name="adj" fmla="val 2564"/>
            </a:avLst>
          </a:prstGeom>
          <a:solidFill>
            <a:srgbClr val="F1EDFA"/>
          </a:solidFill>
          <a:ln w="12700">
            <a:solidFill>
              <a:srgbClr val="D9D0F0"/>
            </a:solidFill>
            <a:prstDash val="solid"/>
          </a:ln>
        </p:spPr>
      </p:sp>
      <p:sp>
        <p:nvSpPr>
          <p:cNvPr id="6" name="Text 3"/>
          <p:cNvSpPr txBox="1"/>
          <p:nvPr/>
        </p:nvSpPr>
        <p:spPr>
          <a:xfrm>
            <a:off x="822960" y="1691640"/>
            <a:ext cx="4572000" cy="320040"/>
          </a:xfrm>
          <a:prstGeom prst="rect">
            <a:avLst/>
          </a:prstGeom>
          <a:noFill/>
          <a:ln/>
        </p:spPr>
        <p:txBody>
          <a:bodyPr wrap="square" lIns="0" tIns="0" rIns="0" bIns="0" rtlCol="0" anchor="t"/>
          <a:lstStyle/>
          <a:p>
            <a:pPr indent="0" marL="0">
              <a:buNone/>
            </a:pPr>
            <a:r>
              <a:rPr lang="en-US" sz="1300" i="1" dirty="0">
                <a:solidFill>
                  <a:srgbClr val="7A7391"/>
                </a:solidFill>
                <a:latin typeface="Calibri" pitchFamily="34" charset="0"/>
                <a:ea typeface="Calibri" pitchFamily="34" charset="-122"/>
                <a:cs typeface="Calibri" pitchFamily="34" charset="-120"/>
              </a:rPr>
              <a:t>un servidor físico de AWS</a:t>
            </a:r>
            <a:endParaRPr lang="en-US" sz="1300" dirty="0"/>
          </a:p>
        </p:txBody>
      </p:sp>
      <p:sp>
        <p:nvSpPr>
          <p:cNvPr id="7" name="microvm"/>
          <p:cNvSpPr/>
          <p:nvPr/>
        </p:nvSpPr>
        <p:spPr>
          <a:xfrm>
            <a:off x="868680" y="2148840"/>
            <a:ext cx="868680" cy="777240"/>
          </a:xfrm>
          <a:prstGeom prst="roundRect">
            <a:avLst>
              <a:gd name="adj" fmla="val 11765"/>
            </a:avLst>
          </a:prstGeom>
          <a:solidFill>
            <a:srgbClr val="F2545B"/>
          </a:solidFill>
          <a:ln/>
        </p:spPr>
      </p:sp>
      <p:sp>
        <p:nvSpPr>
          <p:cNvPr id="8" name="Text 5"/>
          <p:cNvSpPr txBox="1"/>
          <p:nvPr/>
        </p:nvSpPr>
        <p:spPr>
          <a:xfrm>
            <a:off x="868680" y="214884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9" name="microvm"/>
          <p:cNvSpPr/>
          <p:nvPr/>
        </p:nvSpPr>
        <p:spPr>
          <a:xfrm>
            <a:off x="1892808" y="2148840"/>
            <a:ext cx="868680" cy="777240"/>
          </a:xfrm>
          <a:prstGeom prst="roundRect">
            <a:avLst>
              <a:gd name="adj" fmla="val 11765"/>
            </a:avLst>
          </a:prstGeom>
          <a:solidFill>
            <a:srgbClr val="FFFFFF"/>
          </a:solidFill>
          <a:ln w="12700">
            <a:solidFill>
              <a:srgbClr val="D9D0F0"/>
            </a:solidFill>
            <a:prstDash val="solid"/>
          </a:ln>
        </p:spPr>
      </p:sp>
      <p:sp>
        <p:nvSpPr>
          <p:cNvPr id="10" name="Text 7"/>
          <p:cNvSpPr txBox="1"/>
          <p:nvPr/>
        </p:nvSpPr>
        <p:spPr>
          <a:xfrm>
            <a:off x="1892808" y="214884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11" name="microvm"/>
          <p:cNvSpPr/>
          <p:nvPr/>
        </p:nvSpPr>
        <p:spPr>
          <a:xfrm>
            <a:off x="2916936" y="2148840"/>
            <a:ext cx="868680" cy="777240"/>
          </a:xfrm>
          <a:prstGeom prst="roundRect">
            <a:avLst>
              <a:gd name="adj" fmla="val 11765"/>
            </a:avLst>
          </a:prstGeom>
          <a:solidFill>
            <a:srgbClr val="FFFFFF"/>
          </a:solidFill>
          <a:ln w="12700">
            <a:solidFill>
              <a:srgbClr val="D9D0F0"/>
            </a:solidFill>
            <a:prstDash val="solid"/>
          </a:ln>
        </p:spPr>
      </p:sp>
      <p:sp>
        <p:nvSpPr>
          <p:cNvPr id="12" name="Text 9"/>
          <p:cNvSpPr txBox="1"/>
          <p:nvPr/>
        </p:nvSpPr>
        <p:spPr>
          <a:xfrm>
            <a:off x="2916936" y="214884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13" name="microvm"/>
          <p:cNvSpPr/>
          <p:nvPr/>
        </p:nvSpPr>
        <p:spPr>
          <a:xfrm>
            <a:off x="3941064" y="2148840"/>
            <a:ext cx="868680" cy="777240"/>
          </a:xfrm>
          <a:prstGeom prst="roundRect">
            <a:avLst>
              <a:gd name="adj" fmla="val 11765"/>
            </a:avLst>
          </a:prstGeom>
          <a:solidFill>
            <a:srgbClr val="F2545B"/>
          </a:solidFill>
          <a:ln/>
        </p:spPr>
      </p:sp>
      <p:sp>
        <p:nvSpPr>
          <p:cNvPr id="14" name="Text 11"/>
          <p:cNvSpPr txBox="1"/>
          <p:nvPr/>
        </p:nvSpPr>
        <p:spPr>
          <a:xfrm>
            <a:off x="3941064" y="214884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15" name="microvm"/>
          <p:cNvSpPr/>
          <p:nvPr/>
        </p:nvSpPr>
        <p:spPr>
          <a:xfrm>
            <a:off x="4965192" y="2148840"/>
            <a:ext cx="868680" cy="777240"/>
          </a:xfrm>
          <a:prstGeom prst="roundRect">
            <a:avLst>
              <a:gd name="adj" fmla="val 11765"/>
            </a:avLst>
          </a:prstGeom>
          <a:solidFill>
            <a:srgbClr val="FFFFFF"/>
          </a:solidFill>
          <a:ln w="12700">
            <a:solidFill>
              <a:srgbClr val="D9D0F0"/>
            </a:solidFill>
            <a:prstDash val="solid"/>
          </a:ln>
        </p:spPr>
      </p:sp>
      <p:sp>
        <p:nvSpPr>
          <p:cNvPr id="16" name="Text 13"/>
          <p:cNvSpPr txBox="1"/>
          <p:nvPr/>
        </p:nvSpPr>
        <p:spPr>
          <a:xfrm>
            <a:off x="4965192" y="214884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17" name="microvm"/>
          <p:cNvSpPr/>
          <p:nvPr/>
        </p:nvSpPr>
        <p:spPr>
          <a:xfrm>
            <a:off x="5989320" y="2148840"/>
            <a:ext cx="868680" cy="777240"/>
          </a:xfrm>
          <a:prstGeom prst="roundRect">
            <a:avLst>
              <a:gd name="adj" fmla="val 11765"/>
            </a:avLst>
          </a:prstGeom>
          <a:solidFill>
            <a:srgbClr val="FFFFFF"/>
          </a:solidFill>
          <a:ln w="12700">
            <a:solidFill>
              <a:srgbClr val="D9D0F0"/>
            </a:solidFill>
            <a:prstDash val="solid"/>
          </a:ln>
        </p:spPr>
      </p:sp>
      <p:sp>
        <p:nvSpPr>
          <p:cNvPr id="18" name="Text 15"/>
          <p:cNvSpPr txBox="1"/>
          <p:nvPr/>
        </p:nvSpPr>
        <p:spPr>
          <a:xfrm>
            <a:off x="5989320" y="214884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19" name="microvm"/>
          <p:cNvSpPr/>
          <p:nvPr/>
        </p:nvSpPr>
        <p:spPr>
          <a:xfrm>
            <a:off x="868680" y="3108960"/>
            <a:ext cx="868680" cy="777240"/>
          </a:xfrm>
          <a:prstGeom prst="roundRect">
            <a:avLst>
              <a:gd name="adj" fmla="val 11765"/>
            </a:avLst>
          </a:prstGeom>
          <a:solidFill>
            <a:srgbClr val="F2545B"/>
          </a:solidFill>
          <a:ln/>
        </p:spPr>
      </p:sp>
      <p:sp>
        <p:nvSpPr>
          <p:cNvPr id="20" name="Text 17"/>
          <p:cNvSpPr txBox="1"/>
          <p:nvPr/>
        </p:nvSpPr>
        <p:spPr>
          <a:xfrm>
            <a:off x="868680" y="310896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21" name="microvm"/>
          <p:cNvSpPr/>
          <p:nvPr/>
        </p:nvSpPr>
        <p:spPr>
          <a:xfrm>
            <a:off x="1892808" y="3108960"/>
            <a:ext cx="868680" cy="777240"/>
          </a:xfrm>
          <a:prstGeom prst="roundRect">
            <a:avLst>
              <a:gd name="adj" fmla="val 11765"/>
            </a:avLst>
          </a:prstGeom>
          <a:solidFill>
            <a:srgbClr val="FFFFFF"/>
          </a:solidFill>
          <a:ln w="12700">
            <a:solidFill>
              <a:srgbClr val="D9D0F0"/>
            </a:solidFill>
            <a:prstDash val="solid"/>
          </a:ln>
        </p:spPr>
      </p:sp>
      <p:sp>
        <p:nvSpPr>
          <p:cNvPr id="22" name="Text 19"/>
          <p:cNvSpPr txBox="1"/>
          <p:nvPr/>
        </p:nvSpPr>
        <p:spPr>
          <a:xfrm>
            <a:off x="1892808" y="310896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23" name="microvm"/>
          <p:cNvSpPr/>
          <p:nvPr/>
        </p:nvSpPr>
        <p:spPr>
          <a:xfrm>
            <a:off x="2916936" y="3108960"/>
            <a:ext cx="868680" cy="777240"/>
          </a:xfrm>
          <a:prstGeom prst="roundRect">
            <a:avLst>
              <a:gd name="adj" fmla="val 11765"/>
            </a:avLst>
          </a:prstGeom>
          <a:solidFill>
            <a:srgbClr val="FFFFFF"/>
          </a:solidFill>
          <a:ln w="12700">
            <a:solidFill>
              <a:srgbClr val="D9D0F0"/>
            </a:solidFill>
            <a:prstDash val="solid"/>
          </a:ln>
        </p:spPr>
      </p:sp>
      <p:sp>
        <p:nvSpPr>
          <p:cNvPr id="24" name="Text 21"/>
          <p:cNvSpPr txBox="1"/>
          <p:nvPr/>
        </p:nvSpPr>
        <p:spPr>
          <a:xfrm>
            <a:off x="2916936" y="310896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25" name="microvm"/>
          <p:cNvSpPr/>
          <p:nvPr/>
        </p:nvSpPr>
        <p:spPr>
          <a:xfrm>
            <a:off x="3941064" y="3108960"/>
            <a:ext cx="868680" cy="777240"/>
          </a:xfrm>
          <a:prstGeom prst="roundRect">
            <a:avLst>
              <a:gd name="adj" fmla="val 11765"/>
            </a:avLst>
          </a:prstGeom>
          <a:solidFill>
            <a:srgbClr val="F2545B"/>
          </a:solidFill>
          <a:ln/>
        </p:spPr>
      </p:sp>
      <p:sp>
        <p:nvSpPr>
          <p:cNvPr id="26" name="Text 23"/>
          <p:cNvSpPr txBox="1"/>
          <p:nvPr/>
        </p:nvSpPr>
        <p:spPr>
          <a:xfrm>
            <a:off x="3941064" y="310896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27" name="microvm"/>
          <p:cNvSpPr/>
          <p:nvPr/>
        </p:nvSpPr>
        <p:spPr>
          <a:xfrm>
            <a:off x="4965192" y="3108960"/>
            <a:ext cx="868680" cy="777240"/>
          </a:xfrm>
          <a:prstGeom prst="roundRect">
            <a:avLst>
              <a:gd name="adj" fmla="val 11765"/>
            </a:avLst>
          </a:prstGeom>
          <a:solidFill>
            <a:srgbClr val="FFFFFF"/>
          </a:solidFill>
          <a:ln w="12700">
            <a:solidFill>
              <a:srgbClr val="D9D0F0"/>
            </a:solidFill>
            <a:prstDash val="solid"/>
          </a:ln>
        </p:spPr>
      </p:sp>
      <p:sp>
        <p:nvSpPr>
          <p:cNvPr id="28" name="Text 25"/>
          <p:cNvSpPr txBox="1"/>
          <p:nvPr/>
        </p:nvSpPr>
        <p:spPr>
          <a:xfrm>
            <a:off x="4965192" y="310896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29" name="microvm"/>
          <p:cNvSpPr/>
          <p:nvPr/>
        </p:nvSpPr>
        <p:spPr>
          <a:xfrm>
            <a:off x="5989320" y="3108960"/>
            <a:ext cx="868680" cy="777240"/>
          </a:xfrm>
          <a:prstGeom prst="roundRect">
            <a:avLst>
              <a:gd name="adj" fmla="val 11765"/>
            </a:avLst>
          </a:prstGeom>
          <a:solidFill>
            <a:srgbClr val="FFFFFF"/>
          </a:solidFill>
          <a:ln w="12700">
            <a:solidFill>
              <a:srgbClr val="D9D0F0"/>
            </a:solidFill>
            <a:prstDash val="solid"/>
          </a:ln>
        </p:spPr>
      </p:sp>
      <p:sp>
        <p:nvSpPr>
          <p:cNvPr id="30" name="Text 27"/>
          <p:cNvSpPr txBox="1"/>
          <p:nvPr/>
        </p:nvSpPr>
        <p:spPr>
          <a:xfrm>
            <a:off x="5989320" y="310896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31" name="microvm"/>
          <p:cNvSpPr/>
          <p:nvPr/>
        </p:nvSpPr>
        <p:spPr>
          <a:xfrm>
            <a:off x="868680" y="4069080"/>
            <a:ext cx="868680" cy="777240"/>
          </a:xfrm>
          <a:prstGeom prst="roundRect">
            <a:avLst>
              <a:gd name="adj" fmla="val 11765"/>
            </a:avLst>
          </a:prstGeom>
          <a:solidFill>
            <a:srgbClr val="F2545B"/>
          </a:solidFill>
          <a:ln/>
        </p:spPr>
      </p:sp>
      <p:sp>
        <p:nvSpPr>
          <p:cNvPr id="32" name="Text 29"/>
          <p:cNvSpPr txBox="1"/>
          <p:nvPr/>
        </p:nvSpPr>
        <p:spPr>
          <a:xfrm>
            <a:off x="868680" y="406908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33" name="microvm"/>
          <p:cNvSpPr/>
          <p:nvPr/>
        </p:nvSpPr>
        <p:spPr>
          <a:xfrm>
            <a:off x="1892808" y="4069080"/>
            <a:ext cx="868680" cy="777240"/>
          </a:xfrm>
          <a:prstGeom prst="roundRect">
            <a:avLst>
              <a:gd name="adj" fmla="val 11765"/>
            </a:avLst>
          </a:prstGeom>
          <a:solidFill>
            <a:srgbClr val="FFFFFF"/>
          </a:solidFill>
          <a:ln w="12700">
            <a:solidFill>
              <a:srgbClr val="D9D0F0"/>
            </a:solidFill>
            <a:prstDash val="solid"/>
          </a:ln>
        </p:spPr>
      </p:sp>
      <p:sp>
        <p:nvSpPr>
          <p:cNvPr id="34" name="Text 31"/>
          <p:cNvSpPr txBox="1"/>
          <p:nvPr/>
        </p:nvSpPr>
        <p:spPr>
          <a:xfrm>
            <a:off x="1892808" y="406908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35" name="microvm"/>
          <p:cNvSpPr/>
          <p:nvPr/>
        </p:nvSpPr>
        <p:spPr>
          <a:xfrm>
            <a:off x="2916936" y="4069080"/>
            <a:ext cx="868680" cy="777240"/>
          </a:xfrm>
          <a:prstGeom prst="roundRect">
            <a:avLst>
              <a:gd name="adj" fmla="val 11765"/>
            </a:avLst>
          </a:prstGeom>
          <a:solidFill>
            <a:srgbClr val="FFFFFF"/>
          </a:solidFill>
          <a:ln w="12700">
            <a:solidFill>
              <a:srgbClr val="D9D0F0"/>
            </a:solidFill>
            <a:prstDash val="solid"/>
          </a:ln>
        </p:spPr>
      </p:sp>
      <p:sp>
        <p:nvSpPr>
          <p:cNvPr id="36" name="Text 33"/>
          <p:cNvSpPr txBox="1"/>
          <p:nvPr/>
        </p:nvSpPr>
        <p:spPr>
          <a:xfrm>
            <a:off x="2916936" y="406908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37" name="microvm"/>
          <p:cNvSpPr/>
          <p:nvPr/>
        </p:nvSpPr>
        <p:spPr>
          <a:xfrm>
            <a:off x="3941064" y="4069080"/>
            <a:ext cx="868680" cy="777240"/>
          </a:xfrm>
          <a:prstGeom prst="roundRect">
            <a:avLst>
              <a:gd name="adj" fmla="val 11765"/>
            </a:avLst>
          </a:prstGeom>
          <a:solidFill>
            <a:srgbClr val="F2545B"/>
          </a:solidFill>
          <a:ln/>
        </p:spPr>
      </p:sp>
      <p:sp>
        <p:nvSpPr>
          <p:cNvPr id="38" name="Text 35"/>
          <p:cNvSpPr txBox="1"/>
          <p:nvPr/>
        </p:nvSpPr>
        <p:spPr>
          <a:xfrm>
            <a:off x="3941064" y="4069080"/>
            <a:ext cx="868680" cy="77724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inscribir()</a:t>
            </a:r>
            <a:endParaRPr lang="en-US" sz="1100" dirty="0"/>
          </a:p>
        </p:txBody>
      </p:sp>
      <p:sp>
        <p:nvSpPr>
          <p:cNvPr id="39" name="microvm"/>
          <p:cNvSpPr/>
          <p:nvPr/>
        </p:nvSpPr>
        <p:spPr>
          <a:xfrm>
            <a:off x="4965192" y="4069080"/>
            <a:ext cx="868680" cy="777240"/>
          </a:xfrm>
          <a:prstGeom prst="roundRect">
            <a:avLst>
              <a:gd name="adj" fmla="val 11765"/>
            </a:avLst>
          </a:prstGeom>
          <a:solidFill>
            <a:srgbClr val="FFFFFF"/>
          </a:solidFill>
          <a:ln w="12700">
            <a:solidFill>
              <a:srgbClr val="D9D0F0"/>
            </a:solidFill>
            <a:prstDash val="solid"/>
          </a:ln>
        </p:spPr>
      </p:sp>
      <p:sp>
        <p:nvSpPr>
          <p:cNvPr id="40" name="Text 37"/>
          <p:cNvSpPr txBox="1"/>
          <p:nvPr/>
        </p:nvSpPr>
        <p:spPr>
          <a:xfrm>
            <a:off x="4965192" y="406908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41" name="microvm"/>
          <p:cNvSpPr/>
          <p:nvPr/>
        </p:nvSpPr>
        <p:spPr>
          <a:xfrm>
            <a:off x="5989320" y="4069080"/>
            <a:ext cx="868680" cy="777240"/>
          </a:xfrm>
          <a:prstGeom prst="roundRect">
            <a:avLst>
              <a:gd name="adj" fmla="val 11765"/>
            </a:avLst>
          </a:prstGeom>
          <a:solidFill>
            <a:srgbClr val="FFFFFF"/>
          </a:solidFill>
          <a:ln w="12700">
            <a:solidFill>
              <a:srgbClr val="D9D0F0"/>
            </a:solidFill>
            <a:prstDash val="solid"/>
          </a:ln>
        </p:spPr>
      </p:sp>
      <p:sp>
        <p:nvSpPr>
          <p:cNvPr id="42" name="Text 39"/>
          <p:cNvSpPr txBox="1"/>
          <p:nvPr/>
        </p:nvSpPr>
        <p:spPr>
          <a:xfrm>
            <a:off x="5989320" y="4069080"/>
            <a:ext cx="868680" cy="777240"/>
          </a:xfrm>
          <a:prstGeom prst="rect">
            <a:avLst/>
          </a:prstGeom>
          <a:noFill/>
          <a:ln/>
        </p:spPr>
        <p:txBody>
          <a:bodyPr wrap="square" lIns="0" tIns="0" rIns="0" bIns="0" rtlCol="0" anchor="ctr"/>
          <a:lstStyle/>
          <a:p>
            <a:pPr algn="ctr" indent="0" marL="0">
              <a:buNone/>
            </a:pPr>
            <a:r>
              <a:rPr lang="en-US" sz="1100" dirty="0">
                <a:solidFill>
                  <a:srgbClr val="7A7391"/>
                </a:solidFill>
                <a:latin typeface="Calibri" pitchFamily="34" charset="0"/>
                <a:ea typeface="Calibri" pitchFamily="34" charset="-122"/>
                <a:cs typeface="Calibri" pitchFamily="34" charset="-120"/>
              </a:rPr>
              <a:t>otro cliente</a:t>
            </a:r>
            <a:endParaRPr lang="en-US" sz="1100" dirty="0"/>
          </a:p>
        </p:txBody>
      </p:sp>
      <p:sp>
        <p:nvSpPr>
          <p:cNvPr id="43" name="Text 40"/>
          <p:cNvSpPr txBox="1"/>
          <p:nvPr/>
        </p:nvSpPr>
        <p:spPr>
          <a:xfrm>
            <a:off x="548640" y="5303520"/>
            <a:ext cx="6583680" cy="365760"/>
          </a:xfrm>
          <a:prstGeom prst="rect">
            <a:avLst/>
          </a:prstGeom>
          <a:noFill/>
          <a:ln/>
        </p:spPr>
        <p:txBody>
          <a:bodyPr wrap="square" lIns="0" tIns="0" rIns="0" bIns="0" rtlCol="0" anchor="t"/>
          <a:lstStyle/>
          <a:p>
            <a:pPr indent="0" marL="0">
              <a:buNone/>
            </a:pPr>
            <a:r>
              <a:rPr lang="en-US" sz="1400" dirty="0">
                <a:solidFill>
                  <a:srgbClr val="4A4560"/>
                </a:solidFill>
                <a:latin typeface="Calibri" pitchFamily="34" charset="0"/>
                <a:ea typeface="Calibri" pitchFamily="34" charset="-122"/>
                <a:cs typeface="Calibri" pitchFamily="34" charset="-120"/>
              </a:rPr>
              <a:t>cada caja es una microVM con su propio kernel: aislamiento por hardware (KVM)</a:t>
            </a:r>
            <a:endParaRPr lang="en-US" sz="1400" dirty="0"/>
          </a:p>
        </p:txBody>
      </p:sp>
      <p:sp>
        <p:nvSpPr>
          <p:cNvPr id="44" name="Text 41"/>
          <p:cNvSpPr txBox="1"/>
          <p:nvPr/>
        </p:nvSpPr>
        <p:spPr>
          <a:xfrm>
            <a:off x="7589520" y="1554480"/>
            <a:ext cx="4053535" cy="731520"/>
          </a:xfrm>
          <a:prstGeom prst="rect">
            <a:avLst/>
          </a:prstGeom>
          <a:noFill/>
          <a:ln/>
        </p:spPr>
        <p:txBody>
          <a:bodyPr wrap="square" lIns="0" tIns="0" rIns="0" bIns="0" rtlCol="0" anchor="ctr"/>
          <a:lstStyle/>
          <a:p>
            <a:pPr indent="0" marL="0">
              <a:buNone/>
            </a:pPr>
            <a:r>
              <a:rPr lang="en-US" sz="4000" b="1" dirty="0">
                <a:solidFill>
                  <a:srgbClr val="3B1F78"/>
                </a:solidFill>
                <a:latin typeface="Cambria" pitchFamily="34" charset="0"/>
                <a:ea typeface="Cambria" pitchFamily="34" charset="-122"/>
                <a:cs typeface="Cambria" pitchFamily="34" charset="-120"/>
              </a:rPr>
              <a:t>&lt; 125 ms</a:t>
            </a:r>
            <a:endParaRPr lang="en-US" sz="4000" dirty="0"/>
          </a:p>
        </p:txBody>
      </p:sp>
      <p:sp>
        <p:nvSpPr>
          <p:cNvPr id="45" name="Text 42"/>
          <p:cNvSpPr txBox="1"/>
          <p:nvPr/>
        </p:nvSpPr>
        <p:spPr>
          <a:xfrm>
            <a:off x="7589520" y="2286000"/>
            <a:ext cx="4053535" cy="365760"/>
          </a:xfrm>
          <a:prstGeom prst="rect">
            <a:avLst/>
          </a:prstGeom>
          <a:noFill/>
          <a:ln/>
        </p:spPr>
        <p:txBody>
          <a:bodyPr wrap="square" lIns="0" tIns="0" rIns="0" bIns="0" rtlCol="0" anchor="t"/>
          <a:lstStyle/>
          <a:p>
            <a:pPr indent="0" marL="0">
              <a:buNone/>
            </a:pPr>
            <a:r>
              <a:rPr lang="en-US" sz="1500" dirty="0">
                <a:solidFill>
                  <a:srgbClr val="4A4560"/>
                </a:solidFill>
                <a:latin typeface="Calibri" pitchFamily="34" charset="0"/>
                <a:ea typeface="Calibri" pitchFamily="34" charset="-122"/>
                <a:cs typeface="Calibri" pitchFamily="34" charset="-120"/>
              </a:rPr>
              <a:t>en levantar una microVM</a:t>
            </a:r>
            <a:endParaRPr lang="en-US" sz="1500" dirty="0"/>
          </a:p>
        </p:txBody>
      </p:sp>
      <p:sp>
        <p:nvSpPr>
          <p:cNvPr id="46" name="Text 43"/>
          <p:cNvSpPr txBox="1"/>
          <p:nvPr/>
        </p:nvSpPr>
        <p:spPr>
          <a:xfrm>
            <a:off x="7589520" y="2788920"/>
            <a:ext cx="4053535" cy="731520"/>
          </a:xfrm>
          <a:prstGeom prst="rect">
            <a:avLst/>
          </a:prstGeom>
          <a:noFill/>
          <a:ln/>
        </p:spPr>
        <p:txBody>
          <a:bodyPr wrap="square" lIns="0" tIns="0" rIns="0" bIns="0" rtlCol="0" anchor="ctr"/>
          <a:lstStyle/>
          <a:p>
            <a:pPr indent="0" marL="0">
              <a:buNone/>
            </a:pPr>
            <a:r>
              <a:rPr lang="en-US" sz="4000" b="1" dirty="0">
                <a:solidFill>
                  <a:srgbClr val="3B1F78"/>
                </a:solidFill>
                <a:latin typeface="Cambria" pitchFamily="34" charset="0"/>
                <a:ea typeface="Cambria" pitchFamily="34" charset="-122"/>
                <a:cs typeface="Cambria" pitchFamily="34" charset="-120"/>
              </a:rPr>
              <a:t>~5 MiB</a:t>
            </a:r>
            <a:endParaRPr lang="en-US" sz="4000" dirty="0"/>
          </a:p>
        </p:txBody>
      </p:sp>
      <p:sp>
        <p:nvSpPr>
          <p:cNvPr id="47" name="Text 44"/>
          <p:cNvSpPr txBox="1"/>
          <p:nvPr/>
        </p:nvSpPr>
        <p:spPr>
          <a:xfrm>
            <a:off x="7589520" y="3520440"/>
            <a:ext cx="4053535" cy="365760"/>
          </a:xfrm>
          <a:prstGeom prst="rect">
            <a:avLst/>
          </a:prstGeom>
          <a:noFill/>
          <a:ln/>
        </p:spPr>
        <p:txBody>
          <a:bodyPr wrap="square" lIns="0" tIns="0" rIns="0" bIns="0" rtlCol="0" anchor="t"/>
          <a:lstStyle/>
          <a:p>
            <a:pPr indent="0" marL="0">
              <a:buNone/>
            </a:pPr>
            <a:r>
              <a:rPr lang="en-US" sz="1500" dirty="0">
                <a:solidFill>
                  <a:srgbClr val="4A4560"/>
                </a:solidFill>
                <a:latin typeface="Calibri" pitchFamily="34" charset="0"/>
                <a:ea typeface="Calibri" pitchFamily="34" charset="-122"/>
                <a:cs typeface="Calibri" pitchFamily="34" charset="-120"/>
              </a:rPr>
              <a:t>de memoria extra por microVM</a:t>
            </a:r>
            <a:endParaRPr lang="en-US" sz="1500" dirty="0"/>
          </a:p>
        </p:txBody>
      </p:sp>
      <p:sp>
        <p:nvSpPr>
          <p:cNvPr id="48" name="v8"/>
          <p:cNvSpPr/>
          <p:nvPr/>
        </p:nvSpPr>
        <p:spPr>
          <a:xfrm>
            <a:off x="7589520" y="4114800"/>
            <a:ext cx="4053535" cy="1600200"/>
          </a:xfrm>
          <a:prstGeom prst="roundRect">
            <a:avLst>
              <a:gd name="adj" fmla="val 5714"/>
            </a:avLst>
          </a:prstGeom>
          <a:solidFill>
            <a:srgbClr val="1A0F3D"/>
          </a:solidFill>
          <a:ln/>
        </p:spPr>
      </p:sp>
      <p:sp>
        <p:nvSpPr>
          <p:cNvPr id="49" name="Text 46"/>
          <p:cNvSpPr txBox="1"/>
          <p:nvPr/>
        </p:nvSpPr>
        <p:spPr>
          <a:xfrm>
            <a:off x="7818120" y="4206240"/>
            <a:ext cx="3596335" cy="1417320"/>
          </a:xfrm>
          <a:prstGeom prst="rect">
            <a:avLst/>
          </a:prstGeom>
          <a:noFill/>
          <a:ln/>
        </p:spPr>
        <p:txBody>
          <a:bodyPr wrap="square" lIns="0" tIns="0" rIns="0" bIns="0" rtlCol="0" anchor="ctr"/>
          <a:lstStyle/>
          <a:p>
            <a:pPr indent="0" marL="0">
              <a:spcAft>
                <a:spcPts val="400"/>
              </a:spcAft>
              <a:buNone/>
            </a:pPr>
            <a:r>
              <a:rPr lang="en-US" sz="1500" b="1" dirty="0">
                <a:solidFill>
                  <a:srgbClr val="FFFFFF"/>
                </a:solidFill>
                <a:latin typeface="Calibri" pitchFamily="34" charset="0"/>
                <a:ea typeface="Calibri" pitchFamily="34" charset="-122"/>
                <a:cs typeface="Calibri" pitchFamily="34" charset="-120"/>
              </a:rPr>
              <a:t>La alternativa: isolates de V8</a:t>
            </a:r>
            <a:endParaRPr lang="en-US" sz="1500" dirty="0"/>
          </a:p>
          <a:p>
            <a:pPr indent="0" marL="0">
              <a:spcAft>
                <a:spcPts val="400"/>
              </a:spcAft>
              <a:buNone/>
            </a:pPr>
            <a:r>
              <a:rPr lang="en-US" sz="1400" dirty="0">
                <a:solidFill>
                  <a:srgbClr val="D9D0F0"/>
                </a:solidFill>
                <a:latin typeface="Calibri" pitchFamily="34" charset="0"/>
                <a:ea typeface="Calibri" pitchFamily="34" charset="-122"/>
                <a:cs typeface="Calibri" pitchFamily="34" charset="-120"/>
              </a:rPr>
              <a:t>Cloudflare corre miles de funciones en un solo proceso. Casi sin cold start, pero sólo JS o WASM.</a:t>
            </a:r>
            <a:endParaRPr lang="en-US" sz="1500" dirty="0"/>
          </a:p>
        </p:txBody>
      </p:sp>
      <p:sp>
        <p:nvSpPr>
          <p:cNvPr id="50" name="Text 47"/>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Firecracker: monitor de máquinas virtuales en Rust, open source; base de Lambda y Fargate.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0"/>
          <p:cNvSpPr txBox="1"/>
          <p:nvPr/>
        </p:nvSpPr>
        <p:spPr>
          <a:xfrm>
            <a:off x="548640" y="1188720"/>
            <a:ext cx="2743200" cy="1280160"/>
          </a:xfrm>
          <a:prstGeom prst="rect">
            <a:avLst/>
          </a:prstGeom>
          <a:noFill/>
          <a:ln/>
        </p:spPr>
        <p:txBody>
          <a:bodyPr wrap="square" lIns="0" tIns="0" rIns="0" bIns="0" rtlCol="0" anchor="ctr"/>
          <a:lstStyle/>
          <a:p>
            <a:pPr indent="0" marL="0">
              <a:buNone/>
            </a:pPr>
            <a:r>
              <a:rPr lang="en-US" sz="8800" b="1" dirty="0">
                <a:solidFill>
                  <a:srgbClr val="F2545B"/>
                </a:solidFill>
                <a:latin typeface="Cambria" pitchFamily="34" charset="0"/>
                <a:ea typeface="Cambria" pitchFamily="34" charset="-122"/>
                <a:cs typeface="Cambria" pitchFamily="34" charset="-120"/>
              </a:rPr>
              <a:t>03</a:t>
            </a:r>
            <a:endParaRPr lang="en-US" sz="8800" dirty="0"/>
          </a:p>
        </p:txBody>
      </p:sp>
      <p:sp>
        <p:nvSpPr>
          <p:cNvPr id="4" name="Text 1"/>
          <p:cNvSpPr txBox="1"/>
          <p:nvPr/>
        </p:nvSpPr>
        <p:spPr>
          <a:xfrm>
            <a:off x="548640" y="2697480"/>
            <a:ext cx="9601200" cy="15544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¿Cuánto cuesta? ¿Y qué le pasa a la base de datos?</a:t>
            </a:r>
            <a:endParaRPr lang="en-US" sz="4000" dirty="0"/>
          </a:p>
        </p:txBody>
      </p:sp>
      <p:sp>
        <p:nvSpPr>
          <p:cNvPr id="5" name="Text 2"/>
          <p:cNvSpPr txBox="1"/>
          <p:nvPr/>
        </p:nvSpPr>
        <p:spPr>
          <a:xfrm>
            <a:off x="548640" y="4434840"/>
            <a:ext cx="9144000" cy="822960"/>
          </a:xfrm>
          <a:prstGeom prst="rect">
            <a:avLst/>
          </a:prstGeom>
          <a:noFill/>
          <a:ln/>
        </p:spPr>
        <p:txBody>
          <a:bodyPr wrap="square" lIns="0" tIns="0" rIns="0" bIns="0" rtlCol="0" anchor="t"/>
          <a:lstStyle/>
          <a:p>
            <a:pPr indent="0" marL="0">
              <a:buNone/>
            </a:pPr>
            <a:r>
              <a:rPr lang="en-US" sz="1800" dirty="0">
                <a:solidFill>
                  <a:srgbClr val="D9D0F0"/>
                </a:solidFill>
                <a:latin typeface="Calibri" pitchFamily="34" charset="0"/>
                <a:ea typeface="Calibri" pitchFamily="34" charset="-122"/>
                <a:cs typeface="Calibri" pitchFamily="34" charset="-120"/>
              </a:rPr>
              <a:t>La parte que decide si esto conviene, y la que más tiene que ver con la materia.</a:t>
            </a:r>
            <a:endParaRPr lang="en-US" sz="1800" dirty="0"/>
          </a:p>
        </p:txBody>
      </p:sp>
      <p:sp>
        <p:nvSpPr>
          <p:cNvPr id="6" name="alumno"/>
          <p:cNvSpPr/>
          <p:nvPr/>
        </p:nvSpPr>
        <p:spPr>
          <a:xfrm>
            <a:off x="548640" y="5715000"/>
            <a:ext cx="219456" cy="219456"/>
          </a:xfrm>
          <a:prstGeom prst="ellipse">
            <a:avLst/>
          </a:prstGeom>
          <a:solidFill>
            <a:srgbClr val="3A2E66"/>
          </a:solidFill>
          <a:ln/>
        </p:spPr>
      </p:sp>
      <p:sp>
        <p:nvSpPr>
          <p:cNvPr id="7" name="alumno"/>
          <p:cNvSpPr/>
          <p:nvPr/>
        </p:nvSpPr>
        <p:spPr>
          <a:xfrm>
            <a:off x="932688" y="5715000"/>
            <a:ext cx="219456" cy="219456"/>
          </a:xfrm>
          <a:prstGeom prst="ellipse">
            <a:avLst/>
          </a:prstGeom>
          <a:solidFill>
            <a:srgbClr val="F2545B"/>
          </a:solidFill>
          <a:ln/>
        </p:spPr>
      </p:sp>
      <p:sp>
        <p:nvSpPr>
          <p:cNvPr id="8" name="alumno"/>
          <p:cNvSpPr/>
          <p:nvPr/>
        </p:nvSpPr>
        <p:spPr>
          <a:xfrm>
            <a:off x="1316736" y="5715000"/>
            <a:ext cx="219456" cy="219456"/>
          </a:xfrm>
          <a:prstGeom prst="ellipse">
            <a:avLst/>
          </a:prstGeom>
          <a:solidFill>
            <a:srgbClr val="3A2E66"/>
          </a:solidFill>
          <a:ln/>
        </p:spPr>
      </p:sp>
      <p:sp>
        <p:nvSpPr>
          <p:cNvPr id="9" name="alumno"/>
          <p:cNvSpPr/>
          <p:nvPr/>
        </p:nvSpPr>
        <p:spPr>
          <a:xfrm>
            <a:off x="1700784" y="5715000"/>
            <a:ext cx="219456" cy="219456"/>
          </a:xfrm>
          <a:prstGeom prst="ellipse">
            <a:avLst/>
          </a:prstGeom>
          <a:solidFill>
            <a:srgbClr val="3A2E66"/>
          </a:solidFill>
          <a:ln/>
        </p:spPr>
      </p:sp>
      <p:sp>
        <p:nvSpPr>
          <p:cNvPr id="10" name="alumno"/>
          <p:cNvSpPr/>
          <p:nvPr/>
        </p:nvSpPr>
        <p:spPr>
          <a:xfrm>
            <a:off x="2084832" y="5715000"/>
            <a:ext cx="219456" cy="219456"/>
          </a:xfrm>
          <a:prstGeom prst="ellipse">
            <a:avLst/>
          </a:prstGeom>
          <a:solidFill>
            <a:srgbClr val="3A2E66"/>
          </a:solidFill>
          <a:ln/>
        </p:spPr>
      </p:sp>
      <p:sp>
        <p:nvSpPr>
          <p:cNvPr id="11" name="alumno"/>
          <p:cNvSpPr/>
          <p:nvPr/>
        </p:nvSpPr>
        <p:spPr>
          <a:xfrm>
            <a:off x="2468880" y="5715000"/>
            <a:ext cx="219456" cy="219456"/>
          </a:xfrm>
          <a:prstGeom prst="ellipse">
            <a:avLst/>
          </a:prstGeom>
          <a:solidFill>
            <a:srgbClr val="F2545B"/>
          </a:solidFill>
          <a:ln/>
        </p:spPr>
      </p:sp>
      <p:sp>
        <p:nvSpPr>
          <p:cNvPr id="12" name="alumno"/>
          <p:cNvSpPr/>
          <p:nvPr/>
        </p:nvSpPr>
        <p:spPr>
          <a:xfrm>
            <a:off x="2852928" y="5715000"/>
            <a:ext cx="219456" cy="219456"/>
          </a:xfrm>
          <a:prstGeom prst="ellipse">
            <a:avLst/>
          </a:prstGeom>
          <a:solidFill>
            <a:srgbClr val="3A2E66"/>
          </a:solidFill>
          <a:ln/>
        </p:spPr>
      </p:sp>
      <p:sp>
        <p:nvSpPr>
          <p:cNvPr id="13" name="alumno"/>
          <p:cNvSpPr/>
          <p:nvPr/>
        </p:nvSpPr>
        <p:spPr>
          <a:xfrm>
            <a:off x="3236976" y="5715000"/>
            <a:ext cx="219456" cy="219456"/>
          </a:xfrm>
          <a:prstGeom prst="ellipse">
            <a:avLst/>
          </a:prstGeom>
          <a:solidFill>
            <a:srgbClr val="3A2E66"/>
          </a:solidFill>
          <a:ln/>
        </p:spPr>
      </p:sp>
      <p:sp>
        <p:nvSpPr>
          <p:cNvPr id="14" name="alumno"/>
          <p:cNvSpPr/>
          <p:nvPr/>
        </p:nvSpPr>
        <p:spPr>
          <a:xfrm>
            <a:off x="3621024" y="5715000"/>
            <a:ext cx="219456" cy="219456"/>
          </a:xfrm>
          <a:prstGeom prst="ellipse">
            <a:avLst/>
          </a:prstGeom>
          <a:solidFill>
            <a:srgbClr val="3A2E66"/>
          </a:solidFill>
          <a:ln/>
        </p:spPr>
      </p:sp>
      <p:sp>
        <p:nvSpPr>
          <p:cNvPr id="15" name="alumno"/>
          <p:cNvSpPr/>
          <p:nvPr/>
        </p:nvSpPr>
        <p:spPr>
          <a:xfrm>
            <a:off x="4005072" y="5715000"/>
            <a:ext cx="219456" cy="219456"/>
          </a:xfrm>
          <a:prstGeom prst="ellipse">
            <a:avLst/>
          </a:prstGeom>
          <a:solidFill>
            <a:srgbClr val="F2545B"/>
          </a:solidFill>
          <a:ln/>
        </p:spPr>
      </p:sp>
      <p:sp>
        <p:nvSpPr>
          <p:cNvPr id="16" name="alumno"/>
          <p:cNvSpPr/>
          <p:nvPr/>
        </p:nvSpPr>
        <p:spPr>
          <a:xfrm>
            <a:off x="4389120" y="5715000"/>
            <a:ext cx="219456" cy="219456"/>
          </a:xfrm>
          <a:prstGeom prst="ellipse">
            <a:avLst/>
          </a:prstGeom>
          <a:solidFill>
            <a:srgbClr val="3A2E66"/>
          </a:solidFill>
          <a:ln/>
        </p:spPr>
      </p:sp>
      <p:sp>
        <p:nvSpPr>
          <p:cNvPr id="17" name="alumno"/>
          <p:cNvSpPr/>
          <p:nvPr/>
        </p:nvSpPr>
        <p:spPr>
          <a:xfrm>
            <a:off x="4773168" y="5715000"/>
            <a:ext cx="219456" cy="219456"/>
          </a:xfrm>
          <a:prstGeom prst="ellipse">
            <a:avLst/>
          </a:prstGeom>
          <a:solidFill>
            <a:srgbClr val="3A2E66"/>
          </a:solidFill>
          <a:ln/>
        </p:spPr>
      </p:sp>
      <p:sp>
        <p:nvSpPr>
          <p:cNvPr id="18" name="alumno"/>
          <p:cNvSpPr/>
          <p:nvPr/>
        </p:nvSpPr>
        <p:spPr>
          <a:xfrm>
            <a:off x="5157216" y="5715000"/>
            <a:ext cx="219456" cy="219456"/>
          </a:xfrm>
          <a:prstGeom prst="ellipse">
            <a:avLst/>
          </a:prstGeom>
          <a:solidFill>
            <a:srgbClr val="3A2E66"/>
          </a:solidFill>
          <a:ln/>
        </p:spPr>
      </p:sp>
      <p:sp>
        <p:nvSpPr>
          <p:cNvPr id="19" name="alumno"/>
          <p:cNvSpPr/>
          <p:nvPr/>
        </p:nvSpPr>
        <p:spPr>
          <a:xfrm>
            <a:off x="5541264" y="5715000"/>
            <a:ext cx="219456" cy="219456"/>
          </a:xfrm>
          <a:prstGeom prst="ellipse">
            <a:avLst/>
          </a:prstGeom>
          <a:solidFill>
            <a:srgbClr val="F2545B"/>
          </a:solidFill>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COSTOS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Se paga por milisegundo: el día pico entra en la capa gratuita</a:t>
            </a:r>
            <a:endParaRPr lang="en-US" sz="3000" dirty="0"/>
          </a:p>
        </p:txBody>
      </p:sp>
      <p:sp>
        <p:nvSpPr>
          <p:cNvPr id="5" name="formula"/>
          <p:cNvSpPr/>
          <p:nvPr/>
        </p:nvSpPr>
        <p:spPr>
          <a:xfrm>
            <a:off x="548640" y="1600200"/>
            <a:ext cx="5486400" cy="1143000"/>
          </a:xfrm>
          <a:prstGeom prst="roundRect">
            <a:avLst>
              <a:gd name="adj" fmla="val 8000"/>
            </a:avLst>
          </a:prstGeom>
          <a:solidFill>
            <a:srgbClr val="1A0F3D"/>
          </a:solidFill>
          <a:ln/>
        </p:spPr>
      </p:sp>
      <p:sp>
        <p:nvSpPr>
          <p:cNvPr id="6" name="Text 3"/>
          <p:cNvSpPr txBox="1"/>
          <p:nvPr/>
        </p:nvSpPr>
        <p:spPr>
          <a:xfrm>
            <a:off x="822960" y="1600200"/>
            <a:ext cx="4937760" cy="1143000"/>
          </a:xfrm>
          <a:prstGeom prst="rect">
            <a:avLst/>
          </a:prstGeom>
          <a:noFill/>
          <a:ln/>
        </p:spPr>
        <p:txBody>
          <a:bodyPr wrap="square" lIns="0" tIns="0" rIns="0" bIns="0" rtlCol="0" anchor="ctr"/>
          <a:lstStyle/>
          <a:p>
            <a:pPr indent="0" marL="0">
              <a:buNone/>
            </a:pPr>
            <a:r>
              <a:rPr lang="en-US" sz="1600" b="1" dirty="0">
                <a:solidFill>
                  <a:srgbClr val="FFFFFF"/>
                </a:solidFill>
                <a:latin typeface="Courier New" pitchFamily="34" charset="0"/>
                <a:ea typeface="Courier New" pitchFamily="34" charset="-122"/>
                <a:cs typeface="Courier New" pitchFamily="34" charset="-120"/>
              </a:rPr>
              <a:t>costo = pedidos × USD 0,20 / millón</a:t>
            </a:r>
            <a:endParaRPr lang="en-US" sz="1600" dirty="0"/>
          </a:p>
          <a:p>
            <a:pPr indent="0" marL="0">
              <a:buNone/>
            </a:pPr>
            <a:r>
              <a:rPr lang="en-US" sz="1600" b="1" dirty="0">
                <a:solidFill>
                  <a:srgbClr val="FFFFFF"/>
                </a:solidFill>
                <a:latin typeface="Courier New" pitchFamily="34" charset="0"/>
                <a:ea typeface="Courier New" pitchFamily="34" charset="-122"/>
                <a:cs typeface="Courier New" pitchFamily="34" charset="-120"/>
              </a:rPr>
              <a:t>      + GB-s × USD 0,0000167</a:t>
            </a:r>
            <a:endParaRPr lang="en-US" sz="1600" dirty="0"/>
          </a:p>
        </p:txBody>
      </p:sp>
      <p:sp>
        <p:nvSpPr>
          <p:cNvPr id="7" name="circulo"/>
          <p:cNvSpPr/>
          <p:nvPr/>
        </p:nvSpPr>
        <p:spPr>
          <a:xfrm>
            <a:off x="548640" y="3017520"/>
            <a:ext cx="457200" cy="457200"/>
          </a:xfrm>
          <a:prstGeom prst="ellipse">
            <a:avLst/>
          </a:prstGeom>
          <a:solidFill>
            <a:srgbClr val="3B1F78"/>
          </a:solidFill>
          <a:ln/>
        </p:spPr>
      </p:sp>
      <p:sp>
        <p:nvSpPr>
          <p:cNvPr id="8" name="Text 5"/>
          <p:cNvSpPr txBox="1"/>
          <p:nvPr/>
        </p:nvSpPr>
        <p:spPr>
          <a:xfrm>
            <a:off x="54864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9" name="Text 6"/>
          <p:cNvSpPr txBox="1"/>
          <p:nvPr/>
        </p:nvSpPr>
        <p:spPr>
          <a:xfrm>
            <a:off x="1234440" y="2971800"/>
            <a:ext cx="4800600" cy="548640"/>
          </a:xfrm>
          <a:prstGeom prst="rect">
            <a:avLst/>
          </a:prstGeom>
          <a:noFill/>
          <a:ln/>
        </p:spPr>
        <p:txBody>
          <a:bodyPr wrap="square" lIns="0" tIns="0" rIns="0" bIns="0" rtlCol="0" anchor="ctr"/>
          <a:lstStyle/>
          <a:p>
            <a:pPr indent="0" marL="0">
              <a:buNone/>
            </a:pPr>
            <a:r>
              <a:rPr lang="en-US" sz="1500" b="1" dirty="0">
                <a:solidFill>
                  <a:srgbClr val="3B1F78"/>
                </a:solidFill>
                <a:latin typeface="Calibri" pitchFamily="34" charset="0"/>
                <a:ea typeface="Calibri" pitchFamily="34" charset="-122"/>
                <a:cs typeface="Calibri" pitchFamily="34" charset="-120"/>
              </a:rPr>
              <a:t>GB-segundo: </a:t>
            </a:r>
            <a:pPr indent="0" marL="0">
              <a:buNone/>
            </a:pPr>
            <a:r>
              <a:rPr lang="en-US" sz="1500" dirty="0">
                <a:solidFill>
                  <a:srgbClr val="4A4560"/>
                </a:solidFill>
                <a:latin typeface="Calibri" pitchFamily="34" charset="0"/>
                <a:ea typeface="Calibri" pitchFamily="34" charset="-122"/>
                <a:cs typeface="Calibri" pitchFamily="34" charset="-120"/>
              </a:rPr>
              <a:t>memoria configurada × tiempo de ejecución</a:t>
            </a:r>
            <a:endParaRPr lang="en-US" sz="1500" dirty="0"/>
          </a:p>
        </p:txBody>
      </p:sp>
      <p:sp>
        <p:nvSpPr>
          <p:cNvPr id="10" name="circulo"/>
          <p:cNvSpPr/>
          <p:nvPr/>
        </p:nvSpPr>
        <p:spPr>
          <a:xfrm>
            <a:off x="548640" y="3794760"/>
            <a:ext cx="457200" cy="457200"/>
          </a:xfrm>
          <a:prstGeom prst="ellipse">
            <a:avLst/>
          </a:prstGeom>
          <a:solidFill>
            <a:srgbClr val="3B1F78"/>
          </a:solidFill>
          <a:ln/>
        </p:spPr>
      </p:sp>
      <p:sp>
        <p:nvSpPr>
          <p:cNvPr id="11" name="Text 8"/>
          <p:cNvSpPr txBox="1"/>
          <p:nvPr/>
        </p:nvSpPr>
        <p:spPr>
          <a:xfrm>
            <a:off x="548640" y="37947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1234440" y="3749040"/>
            <a:ext cx="4800600" cy="548640"/>
          </a:xfrm>
          <a:prstGeom prst="rect">
            <a:avLst/>
          </a:prstGeom>
          <a:noFill/>
          <a:ln/>
        </p:spPr>
        <p:txBody>
          <a:bodyPr wrap="square" lIns="0" tIns="0" rIns="0" bIns="0" rtlCol="0" anchor="ctr"/>
          <a:lstStyle/>
          <a:p>
            <a:pPr indent="0" marL="0">
              <a:buNone/>
            </a:pPr>
            <a:r>
              <a:rPr lang="en-US" sz="1500" b="1" dirty="0">
                <a:solidFill>
                  <a:srgbClr val="3B1F78"/>
                </a:solidFill>
                <a:latin typeface="Calibri" pitchFamily="34" charset="0"/>
                <a:ea typeface="Calibri" pitchFamily="34" charset="-122"/>
                <a:cs typeface="Calibri" pitchFamily="34" charset="-120"/>
              </a:rPr>
              <a:t>Capa gratuita: </a:t>
            </a:r>
            <a:pPr indent="0" marL="0">
              <a:buNone/>
            </a:pPr>
            <a:r>
              <a:rPr lang="en-US" sz="1500" dirty="0">
                <a:solidFill>
                  <a:srgbClr val="4A4560"/>
                </a:solidFill>
                <a:latin typeface="Calibri" pitchFamily="34" charset="0"/>
                <a:ea typeface="Calibri" pitchFamily="34" charset="-122"/>
                <a:cs typeface="Calibri" pitchFamily="34" charset="-120"/>
              </a:rPr>
              <a:t>1 M de pedidos + 400.000 GB-s por mes</a:t>
            </a:r>
            <a:endParaRPr lang="en-US" sz="1500" dirty="0"/>
          </a:p>
        </p:txBody>
      </p:sp>
      <p:sp>
        <p:nvSpPr>
          <p:cNvPr id="13" name="circulo"/>
          <p:cNvSpPr/>
          <p:nvPr/>
        </p:nvSpPr>
        <p:spPr>
          <a:xfrm>
            <a:off x="548640" y="4572000"/>
            <a:ext cx="457200" cy="457200"/>
          </a:xfrm>
          <a:prstGeom prst="ellipse">
            <a:avLst/>
          </a:prstGeom>
          <a:solidFill>
            <a:srgbClr val="3B1F78"/>
          </a:solidFill>
          <a:ln/>
        </p:spPr>
      </p:sp>
      <p:sp>
        <p:nvSpPr>
          <p:cNvPr id="14" name="Text 11"/>
          <p:cNvSpPr txBox="1"/>
          <p:nvPr/>
        </p:nvSpPr>
        <p:spPr>
          <a:xfrm>
            <a:off x="548640" y="457200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5" name="Text 12"/>
          <p:cNvSpPr txBox="1"/>
          <p:nvPr/>
        </p:nvSpPr>
        <p:spPr>
          <a:xfrm>
            <a:off x="1234440" y="4526280"/>
            <a:ext cx="4800600" cy="548640"/>
          </a:xfrm>
          <a:prstGeom prst="rect">
            <a:avLst/>
          </a:prstGeom>
          <a:noFill/>
          <a:ln/>
        </p:spPr>
        <p:txBody>
          <a:bodyPr wrap="square" lIns="0" tIns="0" rIns="0" bIns="0" rtlCol="0" anchor="ctr"/>
          <a:lstStyle/>
          <a:p>
            <a:pPr indent="0" marL="0">
              <a:buNone/>
            </a:pPr>
            <a:r>
              <a:rPr lang="en-US" sz="1500" b="1" dirty="0">
                <a:solidFill>
                  <a:srgbClr val="3B1F78"/>
                </a:solidFill>
                <a:latin typeface="Calibri" pitchFamily="34" charset="0"/>
                <a:ea typeface="Calibri" pitchFamily="34" charset="-122"/>
                <a:cs typeface="Calibri" pitchFamily="34" charset="-120"/>
              </a:rPr>
              <a:t>Sin tráfico: </a:t>
            </a:r>
            <a:pPr indent="0" marL="0">
              <a:buNone/>
            </a:pPr>
            <a:r>
              <a:rPr lang="en-US" sz="1500" dirty="0">
                <a:solidFill>
                  <a:srgbClr val="4A4560"/>
                </a:solidFill>
                <a:latin typeface="Calibri" pitchFamily="34" charset="0"/>
                <a:ea typeface="Calibri" pitchFamily="34" charset="-122"/>
                <a:cs typeface="Calibri" pitchFamily="34" charset="-120"/>
              </a:rPr>
              <a:t>el costo de cómputo es cero</a:t>
            </a:r>
            <a:endParaRPr lang="en-US" sz="1500" dirty="0"/>
          </a:p>
        </p:txBody>
      </p:sp>
      <p:sp>
        <p:nvSpPr>
          <p:cNvPr id="16" name="Text 13"/>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Precios oficiales de AWS Lambda (US East, x86) y EC2 t3.small ≈ USD 15/mes, según el informe. Cuenta del caso: cálculo propio.</a:t>
            </a:r>
            <a:endParaRPr lang="en-US" sz="1000" dirty="0"/>
          </a:p>
        </p:txBody>
      </p:sp>
      <p:sp>
        <p:nvSpPr>
          <p:cNvPr id="17" name="cuenta"/>
          <p:cNvSpPr/>
          <p:nvPr/>
        </p:nvSpPr>
        <p:spPr>
          <a:xfrm>
            <a:off x="6492240" y="1600200"/>
            <a:ext cx="5150815" cy="4206240"/>
          </a:xfrm>
          <a:prstGeom prst="roundRect">
            <a:avLst>
              <a:gd name="adj" fmla="val 2174"/>
            </a:avLst>
          </a:prstGeom>
          <a:solidFill>
            <a:srgbClr val="F1EDFA"/>
          </a:solidFill>
          <a:ln/>
        </p:spPr>
      </p:sp>
      <p:sp>
        <p:nvSpPr>
          <p:cNvPr id="18" name="rotulo-supuesto"/>
          <p:cNvSpPr/>
          <p:nvPr/>
        </p:nvSpPr>
        <p:spPr>
          <a:xfrm>
            <a:off x="6766560" y="1783080"/>
            <a:ext cx="2377440" cy="292608"/>
          </a:xfrm>
          <a:prstGeom prst="roundRect">
            <a:avLst>
              <a:gd name="adj" fmla="val 50000"/>
            </a:avLst>
          </a:prstGeom>
          <a:solidFill>
            <a:srgbClr val="FFFFFF"/>
          </a:solidFill>
          <a:ln w="12700">
            <a:solidFill>
              <a:srgbClr val="F2545B"/>
            </a:solidFill>
            <a:prstDash val="solid"/>
          </a:ln>
        </p:spPr>
      </p:sp>
      <p:sp>
        <p:nvSpPr>
          <p:cNvPr id="19" name="Text 16"/>
          <p:cNvSpPr txBox="1"/>
          <p:nvPr/>
        </p:nvSpPr>
        <p:spPr>
          <a:xfrm>
            <a:off x="6766560" y="1783080"/>
            <a:ext cx="2377440" cy="292608"/>
          </a:xfrm>
          <a:prstGeom prst="rect">
            <a:avLst/>
          </a:prstGeom>
          <a:noFill/>
          <a:ln/>
        </p:spPr>
        <p:txBody>
          <a:bodyPr wrap="square" lIns="0" tIns="0" rIns="0" bIns="0" rtlCol="0" anchor="ctr"/>
          <a:lstStyle/>
          <a:p>
            <a:pPr algn="ctr" indent="0" marL="0">
              <a:buNone/>
            </a:pPr>
            <a:r>
              <a:rPr lang="en-US" sz="1000" b="1" spc="100" kern="0" dirty="0">
                <a:solidFill>
                  <a:srgbClr val="F2545B"/>
                </a:solidFill>
                <a:latin typeface="Calibri" pitchFamily="34" charset="0"/>
                <a:ea typeface="Calibri" pitchFamily="34" charset="-122"/>
                <a:cs typeface="Calibri" pitchFamily="34" charset="-120"/>
              </a:rPr>
              <a:t>SUPUESTO DEL EJEMPLO</a:t>
            </a:r>
            <a:endParaRPr lang="en-US" sz="1000" dirty="0"/>
          </a:p>
        </p:txBody>
      </p:sp>
      <p:sp>
        <p:nvSpPr>
          <p:cNvPr id="20" name="Text 17"/>
          <p:cNvSpPr txBox="1"/>
          <p:nvPr/>
        </p:nvSpPr>
        <p:spPr>
          <a:xfrm>
            <a:off x="6766560" y="2194560"/>
            <a:ext cx="4602175" cy="365760"/>
          </a:xfrm>
          <a:prstGeom prst="rect">
            <a:avLst/>
          </a:prstGeom>
          <a:noFill/>
          <a:ln/>
        </p:spPr>
        <p:txBody>
          <a:bodyPr wrap="square" lIns="0" tIns="0" rIns="0" bIns="0" rtlCol="0" anchor="t"/>
          <a:lstStyle/>
          <a:p>
            <a:pPr indent="0" marL="0">
              <a:buNone/>
            </a:pPr>
            <a:r>
              <a:rPr lang="en-US" sz="1700" b="1" dirty="0">
                <a:solidFill>
                  <a:srgbClr val="3B1F78"/>
                </a:solidFill>
                <a:latin typeface="Calibri" pitchFamily="34" charset="0"/>
                <a:ea typeface="Calibri" pitchFamily="34" charset="-122"/>
                <a:cs typeface="Calibri" pitchFamily="34" charset="-120"/>
              </a:rPr>
              <a:t>El día de inscripción</a:t>
            </a:r>
            <a:endParaRPr lang="en-US" sz="1700" dirty="0"/>
          </a:p>
        </p:txBody>
      </p:sp>
      <p:sp>
        <p:nvSpPr>
          <p:cNvPr id="21" name="Text 18"/>
          <p:cNvSpPr txBox="1"/>
          <p:nvPr/>
        </p:nvSpPr>
        <p:spPr>
          <a:xfrm>
            <a:off x="6766560" y="2651760"/>
            <a:ext cx="4602175" cy="1097280"/>
          </a:xfrm>
          <a:prstGeom prst="rect">
            <a:avLst/>
          </a:prstGeom>
          <a:noFill/>
          <a:ln/>
        </p:spPr>
        <p:txBody>
          <a:bodyPr wrap="square" lIns="0" tIns="0" rIns="0" bIns="0" rtlCol="0" anchor="t"/>
          <a:lstStyle/>
          <a:p>
            <a:pPr indent="0" marL="0">
              <a:spcAft>
                <a:spcPts val="400"/>
              </a:spcAft>
              <a:buNone/>
            </a:pPr>
            <a:r>
              <a:rPr lang="en-US" sz="1500" dirty="0">
                <a:solidFill>
                  <a:srgbClr val="1E1433"/>
                </a:solidFill>
                <a:latin typeface="Courier New" pitchFamily="34" charset="0"/>
                <a:ea typeface="Courier New" pitchFamily="34" charset="-122"/>
                <a:cs typeface="Courier New" pitchFamily="34" charset="-120"/>
              </a:rPr>
              <a:t>200.000 pedidos × 0,3 s × 0,5 GB</a:t>
            </a:r>
            <a:endParaRPr lang="en-US" sz="1500" dirty="0"/>
          </a:p>
          <a:p>
            <a:pPr indent="0" marL="0">
              <a:spcAft>
                <a:spcPts val="400"/>
              </a:spcAft>
              <a:buNone/>
            </a:pPr>
            <a:r>
              <a:rPr lang="en-US" sz="1500" b="1" dirty="0">
                <a:solidFill>
                  <a:srgbClr val="1E1433"/>
                </a:solidFill>
                <a:latin typeface="Courier New" pitchFamily="34" charset="0"/>
                <a:ea typeface="Courier New" pitchFamily="34" charset="-122"/>
                <a:cs typeface="Courier New" pitchFamily="34" charset="-120"/>
              </a:rPr>
              <a:t>= 30.000 GB-s</a:t>
            </a:r>
            <a:endParaRPr lang="en-US" sz="1500" dirty="0"/>
          </a:p>
          <a:p>
            <a:pPr indent="0" marL="0">
              <a:spcAft>
                <a:spcPts val="400"/>
              </a:spcAft>
              <a:buNone/>
            </a:pPr>
            <a:r>
              <a:rPr lang="en-US" sz="1500" dirty="0">
                <a:solidFill>
                  <a:srgbClr val="4A4560"/>
                </a:solidFill>
                <a:latin typeface="Courier New" pitchFamily="34" charset="0"/>
                <a:ea typeface="Courier New" pitchFamily="34" charset="-122"/>
                <a:cs typeface="Courier New" pitchFamily="34" charset="-120"/>
              </a:rPr>
              <a:t>&lt; 400.000 GB-s gratis por mes</a:t>
            </a:r>
            <a:endParaRPr lang="en-US" sz="1500" dirty="0"/>
          </a:p>
        </p:txBody>
      </p:sp>
      <p:sp>
        <p:nvSpPr>
          <p:cNvPr id="22" name="resultado"/>
          <p:cNvSpPr/>
          <p:nvPr/>
        </p:nvSpPr>
        <p:spPr>
          <a:xfrm>
            <a:off x="6766560" y="3977640"/>
            <a:ext cx="2163928" cy="1600200"/>
          </a:xfrm>
          <a:prstGeom prst="roundRect">
            <a:avLst>
              <a:gd name="adj" fmla="val 5714"/>
            </a:avLst>
          </a:prstGeom>
          <a:solidFill>
            <a:srgbClr val="FFFFFF"/>
          </a:solidFill>
          <a:ln w="12700">
            <a:solidFill>
              <a:srgbClr val="D9D0F0"/>
            </a:solidFill>
            <a:prstDash val="solid"/>
          </a:ln>
        </p:spPr>
      </p:sp>
      <p:sp>
        <p:nvSpPr>
          <p:cNvPr id="23" name="Text 20"/>
          <p:cNvSpPr txBox="1"/>
          <p:nvPr/>
        </p:nvSpPr>
        <p:spPr>
          <a:xfrm>
            <a:off x="6903720" y="4114800"/>
            <a:ext cx="1889608" cy="777240"/>
          </a:xfrm>
          <a:prstGeom prst="rect">
            <a:avLst/>
          </a:prstGeom>
          <a:noFill/>
          <a:ln/>
        </p:spPr>
        <p:txBody>
          <a:bodyPr wrap="square" lIns="0" tIns="0" rIns="0" bIns="0" rtlCol="0" anchor="ctr"/>
          <a:lstStyle/>
          <a:p>
            <a:pPr algn="ctr" indent="0" marL="0">
              <a:buNone/>
            </a:pPr>
            <a:r>
              <a:rPr lang="en-US" sz="3000" b="1" dirty="0">
                <a:solidFill>
                  <a:srgbClr val="F2545B"/>
                </a:solidFill>
                <a:latin typeface="Cambria" pitchFamily="34" charset="0"/>
                <a:ea typeface="Cambria" pitchFamily="34" charset="-122"/>
                <a:cs typeface="Cambria" pitchFamily="34" charset="-120"/>
              </a:rPr>
              <a:t>≈ USD 0</a:t>
            </a:r>
            <a:endParaRPr lang="en-US" sz="3000" dirty="0"/>
          </a:p>
        </p:txBody>
      </p:sp>
      <p:sp>
        <p:nvSpPr>
          <p:cNvPr id="24" name="Text 21"/>
          <p:cNvSpPr txBox="1"/>
          <p:nvPr/>
        </p:nvSpPr>
        <p:spPr>
          <a:xfrm>
            <a:off x="6903720" y="4937760"/>
            <a:ext cx="1889608" cy="457200"/>
          </a:xfrm>
          <a:prstGeom prst="rect">
            <a:avLst/>
          </a:prstGeom>
          <a:noFill/>
          <a:ln/>
        </p:spPr>
        <p:txBody>
          <a:bodyPr wrap="square" lIns="0" tIns="0" rIns="0" bIns="0" rtlCol="0" anchor="t"/>
          <a:lstStyle/>
          <a:p>
            <a:pPr algn="ctr" indent="0" marL="0">
              <a:buNone/>
            </a:pPr>
            <a:r>
              <a:rPr lang="en-US" sz="1400" dirty="0">
                <a:solidFill>
                  <a:srgbClr val="4A4560"/>
                </a:solidFill>
                <a:latin typeface="Calibri" pitchFamily="34" charset="0"/>
                <a:ea typeface="Calibri" pitchFamily="34" charset="-122"/>
                <a:cs typeface="Calibri" pitchFamily="34" charset="-120"/>
              </a:rPr>
              <a:t>cómputo en Lambda</a:t>
            </a:r>
            <a:endParaRPr lang="en-US" sz="1400" dirty="0"/>
          </a:p>
        </p:txBody>
      </p:sp>
      <p:sp>
        <p:nvSpPr>
          <p:cNvPr id="25" name="resultado"/>
          <p:cNvSpPr/>
          <p:nvPr/>
        </p:nvSpPr>
        <p:spPr>
          <a:xfrm>
            <a:off x="9204808" y="3977640"/>
            <a:ext cx="2163928" cy="1600200"/>
          </a:xfrm>
          <a:prstGeom prst="roundRect">
            <a:avLst>
              <a:gd name="adj" fmla="val 5714"/>
            </a:avLst>
          </a:prstGeom>
          <a:solidFill>
            <a:srgbClr val="FFFFFF"/>
          </a:solidFill>
          <a:ln w="12700">
            <a:solidFill>
              <a:srgbClr val="D9D0F0"/>
            </a:solidFill>
            <a:prstDash val="solid"/>
          </a:ln>
        </p:spPr>
      </p:sp>
      <p:sp>
        <p:nvSpPr>
          <p:cNvPr id="26" name="Text 23"/>
          <p:cNvSpPr txBox="1"/>
          <p:nvPr/>
        </p:nvSpPr>
        <p:spPr>
          <a:xfrm>
            <a:off x="9341968" y="4114800"/>
            <a:ext cx="1889608" cy="777240"/>
          </a:xfrm>
          <a:prstGeom prst="rect">
            <a:avLst/>
          </a:prstGeom>
          <a:noFill/>
          <a:ln/>
        </p:spPr>
        <p:txBody>
          <a:bodyPr wrap="square" lIns="0" tIns="0" rIns="0" bIns="0" rtlCol="0" anchor="ctr"/>
          <a:lstStyle/>
          <a:p>
            <a:pPr algn="ctr" indent="0" marL="0">
              <a:buNone/>
            </a:pPr>
            <a:r>
              <a:rPr lang="en-US" sz="3000" b="1" dirty="0">
                <a:solidFill>
                  <a:srgbClr val="3B1F78"/>
                </a:solidFill>
                <a:latin typeface="Cambria" pitchFamily="34" charset="0"/>
                <a:ea typeface="Cambria" pitchFamily="34" charset="-122"/>
                <a:cs typeface="Cambria" pitchFamily="34" charset="-120"/>
              </a:rPr>
              <a:t>≈ USD 180</a:t>
            </a:r>
            <a:endParaRPr lang="en-US" sz="3000" dirty="0"/>
          </a:p>
        </p:txBody>
      </p:sp>
      <p:sp>
        <p:nvSpPr>
          <p:cNvPr id="27" name="Text 24"/>
          <p:cNvSpPr txBox="1"/>
          <p:nvPr/>
        </p:nvSpPr>
        <p:spPr>
          <a:xfrm>
            <a:off x="9341968" y="4937760"/>
            <a:ext cx="1889608" cy="457200"/>
          </a:xfrm>
          <a:prstGeom prst="rect">
            <a:avLst/>
          </a:prstGeom>
          <a:noFill/>
          <a:ln/>
        </p:spPr>
        <p:txBody>
          <a:bodyPr wrap="square" lIns="0" tIns="0" rIns="0" bIns="0" rtlCol="0" anchor="t"/>
          <a:lstStyle/>
          <a:p>
            <a:pPr algn="ctr" indent="0" marL="0">
              <a:buNone/>
            </a:pPr>
            <a:r>
              <a:rPr lang="en-US" sz="1400" dirty="0">
                <a:solidFill>
                  <a:srgbClr val="4A4560"/>
                </a:solidFill>
                <a:latin typeface="Calibri" pitchFamily="34" charset="0"/>
                <a:ea typeface="Calibri" pitchFamily="34" charset="-122"/>
                <a:cs typeface="Calibri" pitchFamily="34" charset="-120"/>
              </a:rPr>
              <a:t>t3.small todo el año</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COSTOS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Gana mientras el uso esté debajo de un tercio</a:t>
            </a:r>
            <a:endParaRPr lang="en-US" sz="3000" dirty="0"/>
          </a:p>
        </p:txBody>
      </p:sp>
      <p:graphicFrame>
        <p:nvGraphicFramePr>
          <p:cNvPr id="5" name="Chart 0" descr=""/>
          <p:cNvGraphicFramePr/>
          <p:nvPr/>
        </p:nvGraphicFramePr>
        <p:xfrm>
          <a:off x="548640" y="1508760"/>
          <a:ext cx="6949440" cy="4434840"/>
        </p:xfrm>
        <a:graphic xmlns:a="http://schemas.openxmlformats.org/drawingml/2006/main">
          <a:graphicData uri="http://schemas.openxmlformats.org/drawingml/2006/chart">
            <c:chart xmlns:c="http://schemas.openxmlformats.org/drawingml/2006/chart" r:id="rId1"/>
          </a:graphicData>
        </a:graphic>
      </p:graphicFrame>
      <p:sp>
        <p:nvSpPr>
          <p:cNvPr id="6" name="Text 2"/>
          <p:cNvSpPr txBox="1"/>
          <p:nvPr/>
        </p:nvSpPr>
        <p:spPr>
          <a:xfrm>
            <a:off x="7909560" y="1600200"/>
            <a:ext cx="3733495" cy="822960"/>
          </a:xfrm>
          <a:prstGeom prst="rect">
            <a:avLst/>
          </a:prstGeom>
          <a:noFill/>
          <a:ln/>
        </p:spPr>
        <p:txBody>
          <a:bodyPr wrap="square" lIns="0" tIns="0" rIns="0" bIns="0" rtlCol="0" anchor="ctr"/>
          <a:lstStyle/>
          <a:p>
            <a:pPr indent="0" marL="0">
              <a:buNone/>
            </a:pPr>
            <a:r>
              <a:rPr lang="en-US" sz="4800" b="1" dirty="0">
                <a:solidFill>
                  <a:srgbClr val="F2545B"/>
                </a:solidFill>
                <a:latin typeface="Cambria" pitchFamily="34" charset="0"/>
                <a:ea typeface="Cambria" pitchFamily="34" charset="-122"/>
                <a:cs typeface="Cambria" pitchFamily="34" charset="-120"/>
              </a:rPr>
              <a:t>≈ 34 %</a:t>
            </a:r>
            <a:endParaRPr lang="en-US" sz="4800" dirty="0"/>
          </a:p>
        </p:txBody>
      </p:sp>
      <p:sp>
        <p:nvSpPr>
          <p:cNvPr id="7" name="Text 3"/>
          <p:cNvSpPr txBox="1"/>
          <p:nvPr/>
        </p:nvSpPr>
        <p:spPr>
          <a:xfrm>
            <a:off x="7909560" y="2423160"/>
            <a:ext cx="3733495" cy="365760"/>
          </a:xfrm>
          <a:prstGeom prst="rect">
            <a:avLst/>
          </a:prstGeom>
          <a:noFill/>
          <a:ln/>
        </p:spPr>
        <p:txBody>
          <a:bodyPr wrap="square" lIns="0" tIns="0" rIns="0" bIns="0" rtlCol="0" anchor="t"/>
          <a:lstStyle/>
          <a:p>
            <a:pPr indent="0" marL="0">
              <a:buNone/>
            </a:pPr>
            <a:r>
              <a:rPr lang="en-US" sz="1500" dirty="0">
                <a:solidFill>
                  <a:srgbClr val="4A4560"/>
                </a:solidFill>
                <a:latin typeface="Calibri" pitchFamily="34" charset="0"/>
                <a:ea typeface="Calibri" pitchFamily="34" charset="-122"/>
                <a:cs typeface="Calibri" pitchFamily="34" charset="-120"/>
              </a:rPr>
              <a:t>de uso: ahí se cruzan las líneas</a:t>
            </a:r>
            <a:endParaRPr lang="en-US" sz="1500" dirty="0"/>
          </a:p>
        </p:txBody>
      </p:sp>
      <p:sp>
        <p:nvSpPr>
          <p:cNvPr id="8" name="lectura"/>
          <p:cNvSpPr/>
          <p:nvPr/>
        </p:nvSpPr>
        <p:spPr>
          <a:xfrm>
            <a:off x="7909560" y="3063240"/>
            <a:ext cx="3733495" cy="2697480"/>
          </a:xfrm>
          <a:prstGeom prst="roundRect">
            <a:avLst>
              <a:gd name="adj" fmla="val 3390"/>
            </a:avLst>
          </a:prstGeom>
          <a:solidFill>
            <a:srgbClr val="F1EDFA"/>
          </a:solidFill>
          <a:ln/>
        </p:spPr>
      </p:sp>
      <p:sp>
        <p:nvSpPr>
          <p:cNvPr id="9" name="Text 5"/>
          <p:cNvSpPr txBox="1"/>
          <p:nvPr/>
        </p:nvSpPr>
        <p:spPr>
          <a:xfrm>
            <a:off x="8183880" y="3200400"/>
            <a:ext cx="3184855" cy="2468880"/>
          </a:xfrm>
          <a:prstGeom prst="rect">
            <a:avLst/>
          </a:prstGeom>
          <a:noFill/>
          <a:ln/>
        </p:spPr>
        <p:txBody>
          <a:bodyPr wrap="square" lIns="0" tIns="0" rIns="0" bIns="0" rtlCol="0" anchor="t"/>
          <a:lstStyle/>
          <a:p>
            <a:pPr indent="0" marL="0">
              <a:buNone/>
            </a:pPr>
            <a:r>
              <a:rPr lang="en-US" sz="2600" b="1" dirty="0">
                <a:solidFill>
                  <a:srgbClr val="3B1F78"/>
                </a:solidFill>
                <a:latin typeface="Cambria" pitchFamily="34" charset="0"/>
                <a:ea typeface="Cambria" pitchFamily="34" charset="-122"/>
                <a:cs typeface="Cambria" pitchFamily="34" charset="-120"/>
              </a:rPr>
              <a:t>~3×</a:t>
            </a:r>
            <a:endParaRPr lang="en-US" sz="1500" dirty="0"/>
          </a:p>
          <a:p>
            <a:pPr indent="0" marL="0">
              <a:buNone/>
            </a:pPr>
            <a:r>
              <a:rPr lang="en-US" sz="1500" dirty="0">
                <a:solidFill>
                  <a:srgbClr val="4A4560"/>
                </a:solidFill>
                <a:latin typeface="Calibri" pitchFamily="34" charset="0"/>
                <a:ea typeface="Calibri" pitchFamily="34" charset="-122"/>
                <a:cs typeface="Calibri" pitchFamily="34" charset="-120"/>
              </a:rPr>
              <a:t>cuesta el vCPU-hora de Lambda frente a una instancia.</a:t>
            </a:r>
            <a:endParaRPr lang="en-US" sz="1500" dirty="0"/>
          </a:p>
          <a:p>
            <a:pPr indent="0" marL="0">
              <a:buNone/>
            </a:pPr>
            <a:r>
              <a:rPr lang="en-US" sz="800" dirty="0">
                <a:solidFill>
                  <a:srgbClr val="1E1433"/>
                </a:solidFill>
                <a:latin typeface="Calibri" pitchFamily="34" charset="0"/>
                <a:ea typeface="Calibri" pitchFamily="34" charset="-122"/>
                <a:cs typeface="Calibri" pitchFamily="34" charset="-120"/>
              </a:rPr>
              <a:t> </a:t>
            </a:r>
            <a:endParaRPr lang="en-US" sz="1500" dirty="0"/>
          </a:p>
          <a:p>
            <a:pPr indent="0" marL="0">
              <a:buNone/>
            </a:pPr>
            <a:r>
              <a:rPr lang="en-US" sz="1500" b="1" dirty="0">
                <a:solidFill>
                  <a:srgbClr val="3B1F78"/>
                </a:solidFill>
                <a:latin typeface="Calibri" pitchFamily="34" charset="0"/>
                <a:ea typeface="Calibri" pitchFamily="34" charset="-122"/>
                <a:cs typeface="Calibri" pitchFamily="34" charset="-120"/>
              </a:rPr>
              <a:t>SysAcad: </a:t>
            </a:r>
            <a:pPr indent="0" marL="0">
              <a:buNone/>
            </a:pPr>
            <a:r>
              <a:rPr lang="en-US" sz="1500" dirty="0">
                <a:solidFill>
                  <a:srgbClr val="4A4560"/>
                </a:solidFill>
                <a:latin typeface="Calibri" pitchFamily="34" charset="0"/>
                <a:ea typeface="Calibri" pitchFamily="34" charset="-122"/>
                <a:cs typeface="Calibri" pitchFamily="34" charset="-120"/>
              </a:rPr>
              <a:t>casi todo el año cerca de 0 % de uso. Del lado que gana serverless.</a:t>
            </a:r>
            <a:endParaRPr lang="en-US" sz="1500" dirty="0"/>
          </a:p>
        </p:txBody>
      </p:sp>
      <p:sp>
        <p:nvSpPr>
          <p:cNvPr id="10" name="Text 6"/>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Cálculo propio con precios oficiales: Lambda ≈ USD 0,106 / vCPU-h; EC2 c7g.large ≈ USD 0,036 / vCPU-h.</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BASE DE DATOS</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El sistema aguantó el pico… y se cayó la base</a:t>
            </a:r>
            <a:endParaRPr lang="en-US" sz="3000" dirty="0"/>
          </a:p>
        </p:txBody>
      </p:sp>
      <p:sp>
        <p:nvSpPr>
          <p:cNvPr id="5" name="problema"/>
          <p:cNvSpPr/>
          <p:nvPr/>
        </p:nvSpPr>
        <p:spPr>
          <a:xfrm>
            <a:off x="548640" y="1600200"/>
            <a:ext cx="6675120" cy="4206240"/>
          </a:xfrm>
          <a:prstGeom prst="roundRect">
            <a:avLst>
              <a:gd name="adj" fmla="val 2174"/>
            </a:avLst>
          </a:prstGeom>
          <a:solidFill>
            <a:srgbClr val="F1EDFA"/>
          </a:solidFill>
          <a:ln/>
        </p:spPr>
      </p:sp>
      <p:sp>
        <p:nvSpPr>
          <p:cNvPr id="6" name="Text 3"/>
          <p:cNvSpPr txBox="1"/>
          <p:nvPr/>
        </p:nvSpPr>
        <p:spPr>
          <a:xfrm>
            <a:off x="868680" y="1737360"/>
            <a:ext cx="3657600" cy="320040"/>
          </a:xfrm>
          <a:prstGeom prst="rect">
            <a:avLst/>
          </a:prstGeom>
          <a:noFill/>
          <a:ln/>
        </p:spPr>
        <p:txBody>
          <a:bodyPr wrap="square" lIns="0" tIns="0" rIns="0" bIns="0" rtlCol="0" anchor="t"/>
          <a:lstStyle/>
          <a:p>
            <a:pPr indent="0" marL="0">
              <a:buNone/>
            </a:pPr>
            <a:r>
              <a:rPr lang="en-US" sz="1400" b="1" dirty="0">
                <a:solidFill>
                  <a:srgbClr val="F2545B"/>
                </a:solidFill>
                <a:latin typeface="Calibri" pitchFamily="34" charset="0"/>
                <a:ea typeface="Calibri" pitchFamily="34" charset="-122"/>
                <a:cs typeface="Calibri" pitchFamily="34" charset="-120"/>
              </a:rPr>
              <a:t>Sin pooler: 600 conexiones</a:t>
            </a:r>
            <a:endParaRPr lang="en-US" sz="1400" dirty="0"/>
          </a:p>
        </p:txBody>
      </p:sp>
      <p:sp>
        <p:nvSpPr>
          <p:cNvPr id="7" name="Text 4"/>
          <p:cNvSpPr txBox="1"/>
          <p:nvPr/>
        </p:nvSpPr>
        <p:spPr>
          <a:xfrm>
            <a:off x="868680" y="3749040"/>
            <a:ext cx="4572000" cy="320040"/>
          </a:xfrm>
          <a:prstGeom prst="rect">
            <a:avLst/>
          </a:prstGeom>
          <a:noFill/>
          <a:ln/>
        </p:spPr>
        <p:txBody>
          <a:bodyPr wrap="square" lIns="0" tIns="0" rIns="0" bIns="0" rtlCol="0" anchor="t"/>
          <a:lstStyle/>
          <a:p>
            <a:pPr indent="0" marL="0">
              <a:buNone/>
            </a:pPr>
            <a:r>
              <a:rPr lang="en-US" sz="1400" b="1" dirty="0">
                <a:solidFill>
                  <a:srgbClr val="3B1F78"/>
                </a:solidFill>
                <a:latin typeface="Calibri" pitchFamily="34" charset="0"/>
                <a:ea typeface="Calibri" pitchFamily="34" charset="-122"/>
                <a:cs typeface="Calibri" pitchFamily="34" charset="-120"/>
              </a:rPr>
              <a:t>Con pooler: pocas conexiones reutilizadas</a:t>
            </a:r>
            <a:endParaRPr lang="en-US" sz="1400" dirty="0"/>
          </a:p>
        </p:txBody>
      </p:sp>
      <p:sp>
        <p:nvSpPr>
          <p:cNvPr id="8" name="funcion"/>
          <p:cNvSpPr/>
          <p:nvPr/>
        </p:nvSpPr>
        <p:spPr>
          <a:xfrm>
            <a:off x="868680" y="2148840"/>
            <a:ext cx="777240" cy="256032"/>
          </a:xfrm>
          <a:prstGeom prst="roundRect">
            <a:avLst>
              <a:gd name="adj" fmla="val 35714"/>
            </a:avLst>
          </a:prstGeom>
          <a:solidFill>
            <a:srgbClr val="F2545B"/>
          </a:solidFill>
          <a:ln/>
        </p:spPr>
      </p:sp>
      <p:sp>
        <p:nvSpPr>
          <p:cNvPr id="9" name="Text 6"/>
          <p:cNvSpPr txBox="1"/>
          <p:nvPr/>
        </p:nvSpPr>
        <p:spPr>
          <a:xfrm>
            <a:off x="868680" y="2148840"/>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10" name="Shape 7"/>
          <p:cNvSpPr/>
          <p:nvPr/>
        </p:nvSpPr>
        <p:spPr>
          <a:xfrm>
            <a:off x="1691640" y="2276856"/>
            <a:ext cx="4069080" cy="475488"/>
          </a:xfrm>
          <a:prstGeom prst="line">
            <a:avLst/>
          </a:prstGeom>
          <a:noFill/>
          <a:ln w="25400">
            <a:solidFill>
              <a:srgbClr val="F2545B"/>
            </a:solidFill>
            <a:prstDash val="solid"/>
            <a:tailEnd type="triangle"/>
          </a:ln>
        </p:spPr>
      </p:sp>
      <p:sp>
        <p:nvSpPr>
          <p:cNvPr id="11" name="funcion"/>
          <p:cNvSpPr/>
          <p:nvPr/>
        </p:nvSpPr>
        <p:spPr>
          <a:xfrm>
            <a:off x="868680" y="2478024"/>
            <a:ext cx="777240" cy="256032"/>
          </a:xfrm>
          <a:prstGeom prst="roundRect">
            <a:avLst>
              <a:gd name="adj" fmla="val 35714"/>
            </a:avLst>
          </a:prstGeom>
          <a:solidFill>
            <a:srgbClr val="F2545B"/>
          </a:solidFill>
          <a:ln/>
        </p:spPr>
      </p:sp>
      <p:sp>
        <p:nvSpPr>
          <p:cNvPr id="12" name="Text 9"/>
          <p:cNvSpPr txBox="1"/>
          <p:nvPr/>
        </p:nvSpPr>
        <p:spPr>
          <a:xfrm>
            <a:off x="868680" y="2478024"/>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13" name="Shape 10"/>
          <p:cNvSpPr/>
          <p:nvPr/>
        </p:nvSpPr>
        <p:spPr>
          <a:xfrm>
            <a:off x="1691640" y="2606040"/>
            <a:ext cx="4069080" cy="146304"/>
          </a:xfrm>
          <a:prstGeom prst="line">
            <a:avLst/>
          </a:prstGeom>
          <a:noFill/>
          <a:ln w="25400">
            <a:solidFill>
              <a:srgbClr val="F2545B"/>
            </a:solidFill>
            <a:prstDash val="solid"/>
            <a:tailEnd type="triangle"/>
          </a:ln>
        </p:spPr>
      </p:sp>
      <p:sp>
        <p:nvSpPr>
          <p:cNvPr id="14" name="funcion"/>
          <p:cNvSpPr/>
          <p:nvPr/>
        </p:nvSpPr>
        <p:spPr>
          <a:xfrm>
            <a:off x="868680" y="2807208"/>
            <a:ext cx="777240" cy="256032"/>
          </a:xfrm>
          <a:prstGeom prst="roundRect">
            <a:avLst>
              <a:gd name="adj" fmla="val 35714"/>
            </a:avLst>
          </a:prstGeom>
          <a:solidFill>
            <a:srgbClr val="F2545B"/>
          </a:solidFill>
          <a:ln/>
        </p:spPr>
      </p:sp>
      <p:sp>
        <p:nvSpPr>
          <p:cNvPr id="15" name="Text 12"/>
          <p:cNvSpPr txBox="1"/>
          <p:nvPr/>
        </p:nvSpPr>
        <p:spPr>
          <a:xfrm>
            <a:off x="868680" y="2807208"/>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16" name="Shape 13"/>
          <p:cNvSpPr/>
          <p:nvPr/>
        </p:nvSpPr>
        <p:spPr>
          <a:xfrm flipV="1">
            <a:off x="1691640" y="2752344"/>
            <a:ext cx="4069080" cy="182880"/>
          </a:xfrm>
          <a:prstGeom prst="line">
            <a:avLst/>
          </a:prstGeom>
          <a:noFill/>
          <a:ln w="25400">
            <a:solidFill>
              <a:srgbClr val="F2545B"/>
            </a:solidFill>
            <a:prstDash val="solid"/>
            <a:tailEnd type="triangle"/>
          </a:ln>
        </p:spPr>
      </p:sp>
      <p:sp>
        <p:nvSpPr>
          <p:cNvPr id="17" name="funcion"/>
          <p:cNvSpPr/>
          <p:nvPr/>
        </p:nvSpPr>
        <p:spPr>
          <a:xfrm>
            <a:off x="868680" y="3136392"/>
            <a:ext cx="777240" cy="256032"/>
          </a:xfrm>
          <a:prstGeom prst="roundRect">
            <a:avLst>
              <a:gd name="adj" fmla="val 35714"/>
            </a:avLst>
          </a:prstGeom>
          <a:solidFill>
            <a:srgbClr val="F2545B"/>
          </a:solidFill>
          <a:ln/>
        </p:spPr>
      </p:sp>
      <p:sp>
        <p:nvSpPr>
          <p:cNvPr id="18" name="Text 15"/>
          <p:cNvSpPr txBox="1"/>
          <p:nvPr/>
        </p:nvSpPr>
        <p:spPr>
          <a:xfrm>
            <a:off x="868680" y="3136392"/>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19" name="Shape 16"/>
          <p:cNvSpPr/>
          <p:nvPr/>
        </p:nvSpPr>
        <p:spPr>
          <a:xfrm flipV="1">
            <a:off x="1691640" y="2752344"/>
            <a:ext cx="4069080" cy="512064"/>
          </a:xfrm>
          <a:prstGeom prst="line">
            <a:avLst/>
          </a:prstGeom>
          <a:noFill/>
          <a:ln w="25400">
            <a:solidFill>
              <a:srgbClr val="F2545B"/>
            </a:solidFill>
            <a:prstDash val="solid"/>
            <a:tailEnd type="triangle"/>
          </a:ln>
        </p:spPr>
      </p:sp>
      <p:sp>
        <p:nvSpPr>
          <p:cNvPr id="20" name="base"/>
          <p:cNvSpPr/>
          <p:nvPr/>
        </p:nvSpPr>
        <p:spPr>
          <a:xfrm>
            <a:off x="5806440" y="2240280"/>
            <a:ext cx="1005840" cy="960120"/>
          </a:xfrm>
          <a:prstGeom prst="can">
            <a:avLst/>
          </a:prstGeom>
          <a:solidFill>
            <a:srgbClr val="F2545B"/>
          </a:solidFill>
          <a:ln/>
        </p:spPr>
      </p:sp>
      <p:sp>
        <p:nvSpPr>
          <p:cNvPr id="21" name="Text 18"/>
          <p:cNvSpPr txBox="1"/>
          <p:nvPr/>
        </p:nvSpPr>
        <p:spPr>
          <a:xfrm>
            <a:off x="5806440" y="2468880"/>
            <a:ext cx="100584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cae</a:t>
            </a:r>
            <a:endParaRPr lang="en-US" sz="1400" dirty="0"/>
          </a:p>
        </p:txBody>
      </p:sp>
      <p:sp>
        <p:nvSpPr>
          <p:cNvPr id="22" name="funcion"/>
          <p:cNvSpPr/>
          <p:nvPr/>
        </p:nvSpPr>
        <p:spPr>
          <a:xfrm>
            <a:off x="868680" y="4160520"/>
            <a:ext cx="777240" cy="256032"/>
          </a:xfrm>
          <a:prstGeom prst="roundRect">
            <a:avLst>
              <a:gd name="adj" fmla="val 35714"/>
            </a:avLst>
          </a:prstGeom>
          <a:solidFill>
            <a:srgbClr val="F2545B"/>
          </a:solidFill>
          <a:ln/>
        </p:spPr>
      </p:sp>
      <p:sp>
        <p:nvSpPr>
          <p:cNvPr id="23" name="Text 20"/>
          <p:cNvSpPr txBox="1"/>
          <p:nvPr/>
        </p:nvSpPr>
        <p:spPr>
          <a:xfrm>
            <a:off x="868680" y="4160520"/>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24" name="Shape 21"/>
          <p:cNvSpPr/>
          <p:nvPr/>
        </p:nvSpPr>
        <p:spPr>
          <a:xfrm>
            <a:off x="1691640" y="4288536"/>
            <a:ext cx="1508760" cy="475488"/>
          </a:xfrm>
          <a:prstGeom prst="line">
            <a:avLst/>
          </a:prstGeom>
          <a:noFill/>
          <a:ln w="25400">
            <a:solidFill>
              <a:srgbClr val="7A7391"/>
            </a:solidFill>
            <a:prstDash val="solid"/>
            <a:tailEnd type="triangle"/>
          </a:ln>
        </p:spPr>
      </p:sp>
      <p:sp>
        <p:nvSpPr>
          <p:cNvPr id="25" name="funcion"/>
          <p:cNvSpPr/>
          <p:nvPr/>
        </p:nvSpPr>
        <p:spPr>
          <a:xfrm>
            <a:off x="868680" y="4489704"/>
            <a:ext cx="777240" cy="256032"/>
          </a:xfrm>
          <a:prstGeom prst="roundRect">
            <a:avLst>
              <a:gd name="adj" fmla="val 35714"/>
            </a:avLst>
          </a:prstGeom>
          <a:solidFill>
            <a:srgbClr val="F2545B"/>
          </a:solidFill>
          <a:ln/>
        </p:spPr>
      </p:sp>
      <p:sp>
        <p:nvSpPr>
          <p:cNvPr id="26" name="Text 23"/>
          <p:cNvSpPr txBox="1"/>
          <p:nvPr/>
        </p:nvSpPr>
        <p:spPr>
          <a:xfrm>
            <a:off x="868680" y="4489704"/>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27" name="Shape 24"/>
          <p:cNvSpPr/>
          <p:nvPr/>
        </p:nvSpPr>
        <p:spPr>
          <a:xfrm>
            <a:off x="1691640" y="4617720"/>
            <a:ext cx="1508760" cy="146304"/>
          </a:xfrm>
          <a:prstGeom prst="line">
            <a:avLst/>
          </a:prstGeom>
          <a:noFill/>
          <a:ln w="25400">
            <a:solidFill>
              <a:srgbClr val="7A7391"/>
            </a:solidFill>
            <a:prstDash val="solid"/>
            <a:tailEnd type="triangle"/>
          </a:ln>
        </p:spPr>
      </p:sp>
      <p:sp>
        <p:nvSpPr>
          <p:cNvPr id="28" name="funcion"/>
          <p:cNvSpPr/>
          <p:nvPr/>
        </p:nvSpPr>
        <p:spPr>
          <a:xfrm>
            <a:off x="868680" y="4818888"/>
            <a:ext cx="777240" cy="256032"/>
          </a:xfrm>
          <a:prstGeom prst="roundRect">
            <a:avLst>
              <a:gd name="adj" fmla="val 35714"/>
            </a:avLst>
          </a:prstGeom>
          <a:solidFill>
            <a:srgbClr val="F2545B"/>
          </a:solidFill>
          <a:ln/>
        </p:spPr>
      </p:sp>
      <p:sp>
        <p:nvSpPr>
          <p:cNvPr id="29" name="Text 26"/>
          <p:cNvSpPr txBox="1"/>
          <p:nvPr/>
        </p:nvSpPr>
        <p:spPr>
          <a:xfrm>
            <a:off x="868680" y="4818888"/>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30" name="Shape 27"/>
          <p:cNvSpPr/>
          <p:nvPr/>
        </p:nvSpPr>
        <p:spPr>
          <a:xfrm flipV="1">
            <a:off x="1691640" y="4764024"/>
            <a:ext cx="1508760" cy="182880"/>
          </a:xfrm>
          <a:prstGeom prst="line">
            <a:avLst/>
          </a:prstGeom>
          <a:noFill/>
          <a:ln w="25400">
            <a:solidFill>
              <a:srgbClr val="7A7391"/>
            </a:solidFill>
            <a:prstDash val="solid"/>
            <a:tailEnd type="triangle"/>
          </a:ln>
        </p:spPr>
      </p:sp>
      <p:sp>
        <p:nvSpPr>
          <p:cNvPr id="31" name="funcion"/>
          <p:cNvSpPr/>
          <p:nvPr/>
        </p:nvSpPr>
        <p:spPr>
          <a:xfrm>
            <a:off x="868680" y="5148072"/>
            <a:ext cx="777240" cy="256032"/>
          </a:xfrm>
          <a:prstGeom prst="roundRect">
            <a:avLst>
              <a:gd name="adj" fmla="val 35714"/>
            </a:avLst>
          </a:prstGeom>
          <a:solidFill>
            <a:srgbClr val="F2545B"/>
          </a:solidFill>
          <a:ln/>
        </p:spPr>
      </p:sp>
      <p:sp>
        <p:nvSpPr>
          <p:cNvPr id="32" name="Text 29"/>
          <p:cNvSpPr txBox="1"/>
          <p:nvPr/>
        </p:nvSpPr>
        <p:spPr>
          <a:xfrm>
            <a:off x="868680" y="5148072"/>
            <a:ext cx="777240" cy="25603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λ</a:t>
            </a:r>
            <a:endParaRPr lang="en-US" sz="1200" dirty="0"/>
          </a:p>
        </p:txBody>
      </p:sp>
      <p:sp>
        <p:nvSpPr>
          <p:cNvPr id="33" name="Shape 30"/>
          <p:cNvSpPr/>
          <p:nvPr/>
        </p:nvSpPr>
        <p:spPr>
          <a:xfrm flipV="1">
            <a:off x="1691640" y="4764024"/>
            <a:ext cx="1508760" cy="512064"/>
          </a:xfrm>
          <a:prstGeom prst="line">
            <a:avLst/>
          </a:prstGeom>
          <a:noFill/>
          <a:ln w="25400">
            <a:solidFill>
              <a:srgbClr val="7A7391"/>
            </a:solidFill>
            <a:prstDash val="solid"/>
            <a:tailEnd type="triangle"/>
          </a:ln>
        </p:spPr>
      </p:sp>
      <p:sp>
        <p:nvSpPr>
          <p:cNvPr id="34" name="pooler"/>
          <p:cNvSpPr/>
          <p:nvPr/>
        </p:nvSpPr>
        <p:spPr>
          <a:xfrm>
            <a:off x="3246120" y="4434840"/>
            <a:ext cx="1371600" cy="658368"/>
          </a:xfrm>
          <a:prstGeom prst="roundRect">
            <a:avLst>
              <a:gd name="adj" fmla="val 13889"/>
            </a:avLst>
          </a:prstGeom>
          <a:solidFill>
            <a:srgbClr val="3B1F78"/>
          </a:solidFill>
          <a:ln/>
        </p:spPr>
      </p:sp>
      <p:sp>
        <p:nvSpPr>
          <p:cNvPr id="35" name="Text 32"/>
          <p:cNvSpPr txBox="1"/>
          <p:nvPr/>
        </p:nvSpPr>
        <p:spPr>
          <a:xfrm>
            <a:off x="3246120" y="4434840"/>
            <a:ext cx="1371600" cy="65836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pooler</a:t>
            </a:r>
            <a:endParaRPr lang="en-US" sz="1400" dirty="0"/>
          </a:p>
        </p:txBody>
      </p:sp>
      <p:sp>
        <p:nvSpPr>
          <p:cNvPr id="36" name="Shape 33"/>
          <p:cNvSpPr/>
          <p:nvPr/>
        </p:nvSpPr>
        <p:spPr>
          <a:xfrm>
            <a:off x="4663440" y="4764024"/>
            <a:ext cx="1097280" cy="914"/>
          </a:xfrm>
          <a:prstGeom prst="line">
            <a:avLst/>
          </a:prstGeom>
          <a:noFill/>
          <a:ln w="25400">
            <a:solidFill>
              <a:srgbClr val="3B1F78"/>
            </a:solidFill>
            <a:prstDash val="solid"/>
            <a:tailEnd type="triangle"/>
          </a:ln>
        </p:spPr>
      </p:sp>
      <p:sp>
        <p:nvSpPr>
          <p:cNvPr id="37" name="base"/>
          <p:cNvSpPr/>
          <p:nvPr/>
        </p:nvSpPr>
        <p:spPr>
          <a:xfrm>
            <a:off x="5806440" y="4251960"/>
            <a:ext cx="1005840" cy="960120"/>
          </a:xfrm>
          <a:prstGeom prst="can">
            <a:avLst/>
          </a:prstGeom>
          <a:solidFill>
            <a:srgbClr val="3B1F78"/>
          </a:solidFill>
          <a:ln/>
        </p:spPr>
      </p:sp>
      <p:sp>
        <p:nvSpPr>
          <p:cNvPr id="38" name="Text 35"/>
          <p:cNvSpPr txBox="1"/>
          <p:nvPr/>
        </p:nvSpPr>
        <p:spPr>
          <a:xfrm>
            <a:off x="5806440" y="4480560"/>
            <a:ext cx="1005840"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OK</a:t>
            </a:r>
            <a:endParaRPr lang="en-US" sz="1400" dirty="0"/>
          </a:p>
        </p:txBody>
      </p:sp>
      <p:sp>
        <p:nvSpPr>
          <p:cNvPr id="39" name="Text 36"/>
          <p:cNvSpPr txBox="1"/>
          <p:nvPr/>
        </p:nvSpPr>
        <p:spPr>
          <a:xfrm>
            <a:off x="868680" y="3429000"/>
            <a:ext cx="6035040" cy="274320"/>
          </a:xfrm>
          <a:prstGeom prst="rect">
            <a:avLst/>
          </a:prstGeom>
          <a:noFill/>
          <a:ln/>
        </p:spPr>
        <p:txBody>
          <a:bodyPr wrap="square" lIns="0" tIns="0" rIns="0" bIns="0" rtlCol="0" anchor="t"/>
          <a:lstStyle/>
          <a:p>
            <a:pPr indent="0" marL="0">
              <a:buNone/>
            </a:pPr>
            <a:r>
              <a:rPr lang="en-US" sz="1300" i="1" dirty="0">
                <a:solidFill>
                  <a:srgbClr val="4A4560"/>
                </a:solidFill>
                <a:latin typeface="Calibri" pitchFamily="34" charset="0"/>
                <a:ea typeface="Calibri" pitchFamily="34" charset="-122"/>
                <a:cs typeface="Calibri" pitchFamily="34" charset="-120"/>
              </a:rPr>
              <a:t>Postgres soporta cientos de conexiones, no miles.</a:t>
            </a:r>
            <a:endParaRPr lang="en-US" sz="1300" dirty="0"/>
          </a:p>
        </p:txBody>
      </p:sp>
      <p:sp>
        <p:nvSpPr>
          <p:cNvPr id="40" name="Text 37"/>
          <p:cNvSpPr txBox="1"/>
          <p:nvPr/>
        </p:nvSpPr>
        <p:spPr>
          <a:xfrm>
            <a:off x="868680" y="5440680"/>
            <a:ext cx="6035040" cy="320040"/>
          </a:xfrm>
          <a:prstGeom prst="rect">
            <a:avLst/>
          </a:prstGeom>
          <a:noFill/>
          <a:ln/>
        </p:spPr>
        <p:txBody>
          <a:bodyPr wrap="square" lIns="0" tIns="0" rIns="0" bIns="0" rtlCol="0" anchor="t"/>
          <a:lstStyle/>
          <a:p>
            <a:pPr indent="0" marL="0">
              <a:buNone/>
            </a:pPr>
            <a:r>
              <a:rPr lang="en-US" sz="1300" dirty="0">
                <a:solidFill>
                  <a:srgbClr val="4A4560"/>
                </a:solidFill>
                <a:latin typeface="Calibri" pitchFamily="34" charset="0"/>
                <a:ea typeface="Calibri" pitchFamily="34" charset="-122"/>
                <a:cs typeface="Calibri" pitchFamily="34" charset="-120"/>
              </a:rPr>
              <a:t>Pooler: RDS Proxy o PgBouncer. Si no, bases con API HTTP.</a:t>
            </a:r>
            <a:endParaRPr lang="en-US" sz="1300" dirty="0"/>
          </a:p>
        </p:txBody>
      </p:sp>
      <p:sp>
        <p:nvSpPr>
          <p:cNvPr id="41" name="Text 38"/>
          <p:cNvSpPr txBox="1"/>
          <p:nvPr/>
        </p:nvSpPr>
        <p:spPr>
          <a:xfrm>
            <a:off x="7680960" y="1600200"/>
            <a:ext cx="3962095" cy="731520"/>
          </a:xfrm>
          <a:prstGeom prst="rect">
            <a:avLst/>
          </a:prstGeom>
          <a:noFill/>
          <a:ln/>
        </p:spPr>
        <p:txBody>
          <a:bodyPr wrap="square" lIns="0" tIns="0" rIns="0" bIns="0" rtlCol="0" anchor="t"/>
          <a:lstStyle/>
          <a:p>
            <a:pPr indent="0" marL="0">
              <a:buNone/>
            </a:pPr>
            <a:r>
              <a:rPr lang="en-US" sz="1700" b="1" dirty="0">
                <a:solidFill>
                  <a:srgbClr val="3B1F78"/>
                </a:solidFill>
                <a:latin typeface="Calibri" pitchFamily="34" charset="0"/>
                <a:ea typeface="Calibri" pitchFamily="34" charset="-122"/>
                <a:cs typeface="Calibri" pitchFamily="34" charset="-120"/>
              </a:rPr>
              <a:t>Bases serverless: separar cómputo de almacenamiento</a:t>
            </a:r>
            <a:endParaRPr lang="en-US" sz="1700" dirty="0"/>
          </a:p>
        </p:txBody>
      </p:sp>
      <p:sp>
        <p:nvSpPr>
          <p:cNvPr id="42" name="nodo"/>
          <p:cNvSpPr/>
          <p:nvPr/>
        </p:nvSpPr>
        <p:spPr>
          <a:xfrm>
            <a:off x="7726680" y="2514600"/>
            <a:ext cx="1137818" cy="640080"/>
          </a:xfrm>
          <a:prstGeom prst="roundRect">
            <a:avLst>
              <a:gd name="adj" fmla="val 11429"/>
            </a:avLst>
          </a:prstGeom>
          <a:solidFill>
            <a:srgbClr val="FFFFFF"/>
          </a:solidFill>
          <a:ln w="12700">
            <a:solidFill>
              <a:srgbClr val="D9D0F0"/>
            </a:solidFill>
            <a:prstDash val="dash"/>
          </a:ln>
        </p:spPr>
      </p:sp>
      <p:sp>
        <p:nvSpPr>
          <p:cNvPr id="43" name="Text 40"/>
          <p:cNvSpPr txBox="1"/>
          <p:nvPr/>
        </p:nvSpPr>
        <p:spPr>
          <a:xfrm>
            <a:off x="7726680" y="2514600"/>
            <a:ext cx="1137818" cy="640080"/>
          </a:xfrm>
          <a:prstGeom prst="rect">
            <a:avLst/>
          </a:prstGeom>
          <a:noFill/>
          <a:ln/>
        </p:spPr>
        <p:txBody>
          <a:bodyPr wrap="square" lIns="0" tIns="0" rIns="0" bIns="0" rtlCol="0" anchor="ctr"/>
          <a:lstStyle/>
          <a:p>
            <a:pPr algn="ctr" indent="0" marL="0">
              <a:buNone/>
            </a:pPr>
            <a:r>
              <a:rPr lang="en-US" sz="1200" dirty="0">
                <a:solidFill>
                  <a:srgbClr val="7A7391"/>
                </a:solidFill>
                <a:latin typeface="Calibri" pitchFamily="34" charset="0"/>
                <a:ea typeface="Calibri" pitchFamily="34" charset="-122"/>
                <a:cs typeface="Calibri" pitchFamily="34" charset="-120"/>
              </a:rPr>
              <a:t>apagado</a:t>
            </a:r>
            <a:endParaRPr lang="en-US" sz="1200" dirty="0"/>
          </a:p>
        </p:txBody>
      </p:sp>
      <p:sp>
        <p:nvSpPr>
          <p:cNvPr id="44" name="nodo"/>
          <p:cNvSpPr/>
          <p:nvPr/>
        </p:nvSpPr>
        <p:spPr>
          <a:xfrm>
            <a:off x="9047378" y="2514600"/>
            <a:ext cx="1137818" cy="640080"/>
          </a:xfrm>
          <a:prstGeom prst="roundRect">
            <a:avLst>
              <a:gd name="adj" fmla="val 11429"/>
            </a:avLst>
          </a:prstGeom>
          <a:solidFill>
            <a:srgbClr val="F2545B"/>
          </a:solidFill>
          <a:ln w="12700">
            <a:solidFill>
              <a:srgbClr val="F2545B"/>
            </a:solidFill>
            <a:prstDash val="solid"/>
          </a:ln>
        </p:spPr>
      </p:sp>
      <p:sp>
        <p:nvSpPr>
          <p:cNvPr id="45" name="Text 42"/>
          <p:cNvSpPr txBox="1"/>
          <p:nvPr/>
        </p:nvSpPr>
        <p:spPr>
          <a:xfrm>
            <a:off x="9047378" y="2514600"/>
            <a:ext cx="1137818" cy="64008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activo</a:t>
            </a:r>
            <a:endParaRPr lang="en-US" sz="1200" dirty="0"/>
          </a:p>
        </p:txBody>
      </p:sp>
      <p:sp>
        <p:nvSpPr>
          <p:cNvPr id="46" name="nodo"/>
          <p:cNvSpPr/>
          <p:nvPr/>
        </p:nvSpPr>
        <p:spPr>
          <a:xfrm>
            <a:off x="10368077" y="2514600"/>
            <a:ext cx="1137818" cy="640080"/>
          </a:xfrm>
          <a:prstGeom prst="roundRect">
            <a:avLst>
              <a:gd name="adj" fmla="val 11429"/>
            </a:avLst>
          </a:prstGeom>
          <a:solidFill>
            <a:srgbClr val="FFFFFF"/>
          </a:solidFill>
          <a:ln w="12700">
            <a:solidFill>
              <a:srgbClr val="D9D0F0"/>
            </a:solidFill>
            <a:prstDash val="dash"/>
          </a:ln>
        </p:spPr>
      </p:sp>
      <p:sp>
        <p:nvSpPr>
          <p:cNvPr id="47" name="Text 44"/>
          <p:cNvSpPr txBox="1"/>
          <p:nvPr/>
        </p:nvSpPr>
        <p:spPr>
          <a:xfrm>
            <a:off x="10368077" y="2514600"/>
            <a:ext cx="1137818" cy="640080"/>
          </a:xfrm>
          <a:prstGeom prst="rect">
            <a:avLst/>
          </a:prstGeom>
          <a:noFill/>
          <a:ln/>
        </p:spPr>
        <p:txBody>
          <a:bodyPr wrap="square" lIns="0" tIns="0" rIns="0" bIns="0" rtlCol="0" anchor="ctr"/>
          <a:lstStyle/>
          <a:p>
            <a:pPr algn="ctr" indent="0" marL="0">
              <a:buNone/>
            </a:pPr>
            <a:r>
              <a:rPr lang="en-US" sz="1200" dirty="0">
                <a:solidFill>
                  <a:srgbClr val="7A7391"/>
                </a:solidFill>
                <a:latin typeface="Calibri" pitchFamily="34" charset="0"/>
                <a:ea typeface="Calibri" pitchFamily="34" charset="-122"/>
                <a:cs typeface="Calibri" pitchFamily="34" charset="-120"/>
              </a:rPr>
              <a:t>apagado</a:t>
            </a:r>
            <a:endParaRPr lang="en-US" sz="1200" dirty="0"/>
          </a:p>
        </p:txBody>
      </p:sp>
      <p:sp>
        <p:nvSpPr>
          <p:cNvPr id="48" name="Shape 45"/>
          <p:cNvSpPr/>
          <p:nvPr/>
        </p:nvSpPr>
        <p:spPr>
          <a:xfrm>
            <a:off x="9616288" y="3200400"/>
            <a:ext cx="914" cy="365760"/>
          </a:xfrm>
          <a:prstGeom prst="line">
            <a:avLst/>
          </a:prstGeom>
          <a:noFill/>
          <a:ln w="25400">
            <a:solidFill>
              <a:srgbClr val="7A7391"/>
            </a:solidFill>
            <a:prstDash val="solid"/>
            <a:tailEnd type="triangle"/>
          </a:ln>
        </p:spPr>
      </p:sp>
      <p:sp>
        <p:nvSpPr>
          <p:cNvPr id="49" name="storage"/>
          <p:cNvSpPr/>
          <p:nvPr/>
        </p:nvSpPr>
        <p:spPr>
          <a:xfrm>
            <a:off x="7680960" y="3611880"/>
            <a:ext cx="3870655" cy="685800"/>
          </a:xfrm>
          <a:prstGeom prst="roundRect">
            <a:avLst>
              <a:gd name="adj" fmla="val 13333"/>
            </a:avLst>
          </a:prstGeom>
          <a:solidFill>
            <a:srgbClr val="1A0F3D"/>
          </a:solidFill>
          <a:ln/>
        </p:spPr>
      </p:sp>
      <p:sp>
        <p:nvSpPr>
          <p:cNvPr id="50" name="Text 47"/>
          <p:cNvSpPr txBox="1"/>
          <p:nvPr/>
        </p:nvSpPr>
        <p:spPr>
          <a:xfrm>
            <a:off x="7680960" y="3611880"/>
            <a:ext cx="3870655" cy="68580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almacenamiento persistente</a:t>
            </a:r>
            <a:endParaRPr lang="en-US" sz="1400" dirty="0"/>
          </a:p>
        </p:txBody>
      </p:sp>
      <p:sp>
        <p:nvSpPr>
          <p:cNvPr id="51" name="Text 48"/>
          <p:cNvSpPr txBox="1"/>
          <p:nvPr/>
        </p:nvSpPr>
        <p:spPr>
          <a:xfrm>
            <a:off x="7680960" y="4526280"/>
            <a:ext cx="3870655" cy="1188720"/>
          </a:xfrm>
          <a:prstGeom prst="rect">
            <a:avLst/>
          </a:prstGeom>
          <a:noFill/>
          <a:ln/>
        </p:spPr>
        <p:txBody>
          <a:bodyPr wrap="square" lIns="0" tIns="0" rIns="0" bIns="0" rtlCol="0" anchor="t"/>
          <a:lstStyle/>
          <a:p>
            <a:pPr indent="0" marL="0">
              <a:buNone/>
            </a:pPr>
            <a:r>
              <a:rPr lang="en-US" sz="1400" dirty="0">
                <a:solidFill>
                  <a:srgbClr val="4A4560"/>
                </a:solidFill>
                <a:latin typeface="Calibri" pitchFamily="34" charset="0"/>
                <a:ea typeface="Calibri" pitchFamily="34" charset="-122"/>
                <a:cs typeface="Calibri" pitchFamily="34" charset="-120"/>
              </a:rPr>
              <a:t>Neon, Aurora Serverless v2, DynamoDB on-demand: el cómputo escala a cero y los datos quedan.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0"/>
          <p:cNvSpPr txBox="1"/>
          <p:nvPr/>
        </p:nvSpPr>
        <p:spPr>
          <a:xfrm>
            <a:off x="548640" y="1188720"/>
            <a:ext cx="2743200" cy="1280160"/>
          </a:xfrm>
          <a:prstGeom prst="rect">
            <a:avLst/>
          </a:prstGeom>
          <a:noFill/>
          <a:ln/>
        </p:spPr>
        <p:txBody>
          <a:bodyPr wrap="square" lIns="0" tIns="0" rIns="0" bIns="0" rtlCol="0" anchor="ctr"/>
          <a:lstStyle/>
          <a:p>
            <a:pPr indent="0" marL="0">
              <a:buNone/>
            </a:pPr>
            <a:r>
              <a:rPr lang="en-US" sz="8800" b="1" dirty="0">
                <a:solidFill>
                  <a:srgbClr val="F2545B"/>
                </a:solidFill>
                <a:latin typeface="Cambria" pitchFamily="34" charset="0"/>
                <a:ea typeface="Cambria" pitchFamily="34" charset="-122"/>
                <a:cs typeface="Cambria" pitchFamily="34" charset="-120"/>
              </a:rPr>
              <a:t>04</a:t>
            </a:r>
            <a:endParaRPr lang="en-US" sz="8800" dirty="0"/>
          </a:p>
        </p:txBody>
      </p:sp>
      <p:sp>
        <p:nvSpPr>
          <p:cNvPr id="4" name="Text 1"/>
          <p:cNvSpPr txBox="1"/>
          <p:nvPr/>
        </p:nvSpPr>
        <p:spPr>
          <a:xfrm>
            <a:off x="548640" y="2697480"/>
            <a:ext cx="9601200" cy="155448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¿Y si el sistema se usara todo el día?</a:t>
            </a:r>
            <a:endParaRPr lang="en-US" sz="4000" dirty="0"/>
          </a:p>
        </p:txBody>
      </p:sp>
      <p:sp>
        <p:nvSpPr>
          <p:cNvPr id="5" name="Text 2"/>
          <p:cNvSpPr txBox="1"/>
          <p:nvPr/>
        </p:nvSpPr>
        <p:spPr>
          <a:xfrm>
            <a:off x="548640" y="4434840"/>
            <a:ext cx="9144000" cy="822960"/>
          </a:xfrm>
          <a:prstGeom prst="rect">
            <a:avLst/>
          </a:prstGeom>
          <a:noFill/>
          <a:ln/>
        </p:spPr>
        <p:txBody>
          <a:bodyPr wrap="square" lIns="0" tIns="0" rIns="0" bIns="0" rtlCol="0" anchor="t"/>
          <a:lstStyle/>
          <a:p>
            <a:pPr indent="0" marL="0">
              <a:buNone/>
            </a:pPr>
            <a:r>
              <a:rPr lang="en-US" sz="1800" dirty="0">
                <a:solidFill>
                  <a:srgbClr val="D9D0F0"/>
                </a:solidFill>
                <a:latin typeface="Calibri" pitchFamily="34" charset="0"/>
                <a:ea typeface="Calibri" pitchFamily="34" charset="-122"/>
                <a:cs typeface="Calibri" pitchFamily="34" charset="-120"/>
              </a:rPr>
              <a:t>Cuándo serverless deja de ser la respuesta.</a:t>
            </a:r>
            <a:endParaRPr lang="en-US" sz="1800" dirty="0"/>
          </a:p>
        </p:txBody>
      </p:sp>
      <p:sp>
        <p:nvSpPr>
          <p:cNvPr id="6" name="alumno"/>
          <p:cNvSpPr/>
          <p:nvPr/>
        </p:nvSpPr>
        <p:spPr>
          <a:xfrm>
            <a:off x="548640" y="5715000"/>
            <a:ext cx="219456" cy="219456"/>
          </a:xfrm>
          <a:prstGeom prst="ellipse">
            <a:avLst/>
          </a:prstGeom>
          <a:solidFill>
            <a:srgbClr val="3A2E66"/>
          </a:solidFill>
          <a:ln/>
        </p:spPr>
      </p:sp>
      <p:sp>
        <p:nvSpPr>
          <p:cNvPr id="7" name="alumno"/>
          <p:cNvSpPr/>
          <p:nvPr/>
        </p:nvSpPr>
        <p:spPr>
          <a:xfrm>
            <a:off x="932688" y="5715000"/>
            <a:ext cx="219456" cy="219456"/>
          </a:xfrm>
          <a:prstGeom prst="ellipse">
            <a:avLst/>
          </a:prstGeom>
          <a:solidFill>
            <a:srgbClr val="F2545B"/>
          </a:solidFill>
          <a:ln/>
        </p:spPr>
      </p:sp>
      <p:sp>
        <p:nvSpPr>
          <p:cNvPr id="8" name="alumno"/>
          <p:cNvSpPr/>
          <p:nvPr/>
        </p:nvSpPr>
        <p:spPr>
          <a:xfrm>
            <a:off x="1316736" y="5715000"/>
            <a:ext cx="219456" cy="219456"/>
          </a:xfrm>
          <a:prstGeom prst="ellipse">
            <a:avLst/>
          </a:prstGeom>
          <a:solidFill>
            <a:srgbClr val="3A2E66"/>
          </a:solidFill>
          <a:ln/>
        </p:spPr>
      </p:sp>
      <p:sp>
        <p:nvSpPr>
          <p:cNvPr id="9" name="alumno"/>
          <p:cNvSpPr/>
          <p:nvPr/>
        </p:nvSpPr>
        <p:spPr>
          <a:xfrm>
            <a:off x="1700784" y="5715000"/>
            <a:ext cx="219456" cy="219456"/>
          </a:xfrm>
          <a:prstGeom prst="ellipse">
            <a:avLst/>
          </a:prstGeom>
          <a:solidFill>
            <a:srgbClr val="3A2E66"/>
          </a:solidFill>
          <a:ln/>
        </p:spPr>
      </p:sp>
      <p:sp>
        <p:nvSpPr>
          <p:cNvPr id="10" name="alumno"/>
          <p:cNvSpPr/>
          <p:nvPr/>
        </p:nvSpPr>
        <p:spPr>
          <a:xfrm>
            <a:off x="2084832" y="5715000"/>
            <a:ext cx="219456" cy="219456"/>
          </a:xfrm>
          <a:prstGeom prst="ellipse">
            <a:avLst/>
          </a:prstGeom>
          <a:solidFill>
            <a:srgbClr val="3A2E66"/>
          </a:solidFill>
          <a:ln/>
        </p:spPr>
      </p:sp>
      <p:sp>
        <p:nvSpPr>
          <p:cNvPr id="11" name="alumno"/>
          <p:cNvSpPr/>
          <p:nvPr/>
        </p:nvSpPr>
        <p:spPr>
          <a:xfrm>
            <a:off x="2468880" y="5715000"/>
            <a:ext cx="219456" cy="219456"/>
          </a:xfrm>
          <a:prstGeom prst="ellipse">
            <a:avLst/>
          </a:prstGeom>
          <a:solidFill>
            <a:srgbClr val="F2545B"/>
          </a:solidFill>
          <a:ln/>
        </p:spPr>
      </p:sp>
      <p:sp>
        <p:nvSpPr>
          <p:cNvPr id="12" name="alumno"/>
          <p:cNvSpPr/>
          <p:nvPr/>
        </p:nvSpPr>
        <p:spPr>
          <a:xfrm>
            <a:off x="2852928" y="5715000"/>
            <a:ext cx="219456" cy="219456"/>
          </a:xfrm>
          <a:prstGeom prst="ellipse">
            <a:avLst/>
          </a:prstGeom>
          <a:solidFill>
            <a:srgbClr val="3A2E66"/>
          </a:solidFill>
          <a:ln/>
        </p:spPr>
      </p:sp>
      <p:sp>
        <p:nvSpPr>
          <p:cNvPr id="13" name="alumno"/>
          <p:cNvSpPr/>
          <p:nvPr/>
        </p:nvSpPr>
        <p:spPr>
          <a:xfrm>
            <a:off x="3236976" y="5715000"/>
            <a:ext cx="219456" cy="219456"/>
          </a:xfrm>
          <a:prstGeom prst="ellipse">
            <a:avLst/>
          </a:prstGeom>
          <a:solidFill>
            <a:srgbClr val="3A2E66"/>
          </a:solidFill>
          <a:ln/>
        </p:spPr>
      </p:sp>
      <p:sp>
        <p:nvSpPr>
          <p:cNvPr id="14" name="alumno"/>
          <p:cNvSpPr/>
          <p:nvPr/>
        </p:nvSpPr>
        <p:spPr>
          <a:xfrm>
            <a:off x="3621024" y="5715000"/>
            <a:ext cx="219456" cy="219456"/>
          </a:xfrm>
          <a:prstGeom prst="ellipse">
            <a:avLst/>
          </a:prstGeom>
          <a:solidFill>
            <a:srgbClr val="3A2E66"/>
          </a:solidFill>
          <a:ln/>
        </p:spPr>
      </p:sp>
      <p:sp>
        <p:nvSpPr>
          <p:cNvPr id="15" name="alumno"/>
          <p:cNvSpPr/>
          <p:nvPr/>
        </p:nvSpPr>
        <p:spPr>
          <a:xfrm>
            <a:off x="4005072" y="5715000"/>
            <a:ext cx="219456" cy="219456"/>
          </a:xfrm>
          <a:prstGeom prst="ellipse">
            <a:avLst/>
          </a:prstGeom>
          <a:solidFill>
            <a:srgbClr val="F2545B"/>
          </a:solidFill>
          <a:ln/>
        </p:spPr>
      </p:sp>
      <p:sp>
        <p:nvSpPr>
          <p:cNvPr id="16" name="alumno"/>
          <p:cNvSpPr/>
          <p:nvPr/>
        </p:nvSpPr>
        <p:spPr>
          <a:xfrm>
            <a:off x="4389120" y="5715000"/>
            <a:ext cx="219456" cy="219456"/>
          </a:xfrm>
          <a:prstGeom prst="ellipse">
            <a:avLst/>
          </a:prstGeom>
          <a:solidFill>
            <a:srgbClr val="3A2E66"/>
          </a:solidFill>
          <a:ln/>
        </p:spPr>
      </p:sp>
      <p:sp>
        <p:nvSpPr>
          <p:cNvPr id="17" name="alumno"/>
          <p:cNvSpPr/>
          <p:nvPr/>
        </p:nvSpPr>
        <p:spPr>
          <a:xfrm>
            <a:off x="4773168" y="5715000"/>
            <a:ext cx="219456" cy="219456"/>
          </a:xfrm>
          <a:prstGeom prst="ellipse">
            <a:avLst/>
          </a:prstGeom>
          <a:solidFill>
            <a:srgbClr val="3A2E66"/>
          </a:solidFill>
          <a:ln/>
        </p:spPr>
      </p:sp>
      <p:sp>
        <p:nvSpPr>
          <p:cNvPr id="18" name="alumno"/>
          <p:cNvSpPr/>
          <p:nvPr/>
        </p:nvSpPr>
        <p:spPr>
          <a:xfrm>
            <a:off x="5157216" y="5715000"/>
            <a:ext cx="219456" cy="219456"/>
          </a:xfrm>
          <a:prstGeom prst="ellipse">
            <a:avLst/>
          </a:prstGeom>
          <a:solidFill>
            <a:srgbClr val="3A2E66"/>
          </a:solidFill>
          <a:ln/>
        </p:spPr>
      </p:sp>
      <p:sp>
        <p:nvSpPr>
          <p:cNvPr id="19" name="alumno"/>
          <p:cNvSpPr/>
          <p:nvPr/>
        </p:nvSpPr>
        <p:spPr>
          <a:xfrm>
            <a:off x="5541264" y="5715000"/>
            <a:ext cx="219456" cy="219456"/>
          </a:xfrm>
          <a:prstGeom prst="ellipse">
            <a:avLst/>
          </a:prstGeom>
          <a:solidFill>
            <a:srgbClr val="F2545B"/>
          </a:solidFill>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CUÁNDO NO</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Prime Video: −90 % de costo saliendo de serverless</a:t>
            </a:r>
            <a:endParaRPr lang="en-US" sz="3000" dirty="0"/>
          </a:p>
        </p:txBody>
      </p:sp>
      <p:sp>
        <p:nvSpPr>
          <p:cNvPr id="5" name="encaje"/>
          <p:cNvSpPr/>
          <p:nvPr/>
        </p:nvSpPr>
        <p:spPr>
          <a:xfrm>
            <a:off x="548640" y="1600200"/>
            <a:ext cx="3520440" cy="1965960"/>
          </a:xfrm>
          <a:prstGeom prst="roundRect">
            <a:avLst>
              <a:gd name="adj" fmla="val 4651"/>
            </a:avLst>
          </a:prstGeom>
          <a:solidFill>
            <a:srgbClr val="F1EDFA"/>
          </a:solidFill>
          <a:ln/>
        </p:spPr>
      </p:sp>
      <p:sp>
        <p:nvSpPr>
          <p:cNvPr id="6" name="circulo"/>
          <p:cNvSpPr/>
          <p:nvPr/>
        </p:nvSpPr>
        <p:spPr>
          <a:xfrm>
            <a:off x="822960" y="1856232"/>
            <a:ext cx="457200" cy="457200"/>
          </a:xfrm>
          <a:prstGeom prst="ellipse">
            <a:avLst/>
          </a:prstGeom>
          <a:solidFill>
            <a:srgbClr val="3B1F78"/>
          </a:solidFill>
          <a:ln/>
        </p:spPr>
      </p:sp>
      <p:sp>
        <p:nvSpPr>
          <p:cNvPr id="7" name="Text 4"/>
          <p:cNvSpPr txBox="1"/>
          <p:nvPr/>
        </p:nvSpPr>
        <p:spPr>
          <a:xfrm>
            <a:off x="822960" y="185623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8" name="Text 5"/>
          <p:cNvSpPr txBox="1"/>
          <p:nvPr/>
        </p:nvSpPr>
        <p:spPr>
          <a:xfrm>
            <a:off x="1417320" y="1856232"/>
            <a:ext cx="2423160" cy="457200"/>
          </a:xfrm>
          <a:prstGeom prst="rect">
            <a:avLst/>
          </a:prstGeom>
          <a:noFill/>
          <a:ln/>
        </p:spPr>
        <p:txBody>
          <a:bodyPr wrap="square" lIns="0" tIns="0" rIns="0" bIns="0" rtlCol="0" anchor="ctr"/>
          <a:lstStyle/>
          <a:p>
            <a:pPr indent="0" marL="0">
              <a:buNone/>
            </a:pPr>
            <a:r>
              <a:rPr lang="en-US" sz="1900" b="1" dirty="0">
                <a:solidFill>
                  <a:srgbClr val="3B1F78"/>
                </a:solidFill>
                <a:latin typeface="Cambria" pitchFamily="34" charset="0"/>
                <a:ea typeface="Cambria" pitchFamily="34" charset="-122"/>
                <a:cs typeface="Cambria" pitchFamily="34" charset="-120"/>
              </a:rPr>
              <a:t>Encaja</a:t>
            </a:r>
            <a:endParaRPr lang="en-US" sz="1900" dirty="0"/>
          </a:p>
        </p:txBody>
      </p:sp>
      <p:sp>
        <p:nvSpPr>
          <p:cNvPr id="9" name="Text 6"/>
          <p:cNvSpPr txBox="1"/>
          <p:nvPr/>
        </p:nvSpPr>
        <p:spPr>
          <a:xfrm>
            <a:off x="868680" y="2468880"/>
            <a:ext cx="2971800" cy="100584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Carga espigada</a:t>
            </a:r>
            <a:endParaRPr lang="en-US" sz="1500" dirty="0"/>
          </a:p>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Disparada por eventos</a:t>
            </a:r>
            <a:endParaRPr lang="en-US" sz="1500" dirty="0"/>
          </a:p>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Sin estado</a:t>
            </a:r>
            <a:endParaRPr lang="en-US" sz="1500" dirty="0"/>
          </a:p>
        </p:txBody>
      </p:sp>
      <p:sp>
        <p:nvSpPr>
          <p:cNvPr id="10" name="encaje"/>
          <p:cNvSpPr/>
          <p:nvPr/>
        </p:nvSpPr>
        <p:spPr>
          <a:xfrm>
            <a:off x="548640" y="3749040"/>
            <a:ext cx="3520440" cy="1965960"/>
          </a:xfrm>
          <a:prstGeom prst="roundRect">
            <a:avLst>
              <a:gd name="adj" fmla="val 4651"/>
            </a:avLst>
          </a:prstGeom>
          <a:solidFill>
            <a:srgbClr val="F1EDFA"/>
          </a:solidFill>
          <a:ln/>
        </p:spPr>
      </p:sp>
      <p:sp>
        <p:nvSpPr>
          <p:cNvPr id="11" name="circulo"/>
          <p:cNvSpPr/>
          <p:nvPr/>
        </p:nvSpPr>
        <p:spPr>
          <a:xfrm>
            <a:off x="822960" y="4005072"/>
            <a:ext cx="457200" cy="457200"/>
          </a:xfrm>
          <a:prstGeom prst="ellipse">
            <a:avLst/>
          </a:prstGeom>
          <a:solidFill>
            <a:srgbClr val="F2545B"/>
          </a:solidFill>
          <a:ln/>
        </p:spPr>
      </p:sp>
      <p:sp>
        <p:nvSpPr>
          <p:cNvPr id="12" name="Text 9"/>
          <p:cNvSpPr txBox="1"/>
          <p:nvPr/>
        </p:nvSpPr>
        <p:spPr>
          <a:xfrm>
            <a:off x="822960" y="400507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3" name="Text 10"/>
          <p:cNvSpPr txBox="1"/>
          <p:nvPr/>
        </p:nvSpPr>
        <p:spPr>
          <a:xfrm>
            <a:off x="1417320" y="4005072"/>
            <a:ext cx="2423160" cy="457200"/>
          </a:xfrm>
          <a:prstGeom prst="rect">
            <a:avLst/>
          </a:prstGeom>
          <a:noFill/>
          <a:ln/>
        </p:spPr>
        <p:txBody>
          <a:bodyPr wrap="square" lIns="0" tIns="0" rIns="0" bIns="0" rtlCol="0" anchor="ctr"/>
          <a:lstStyle/>
          <a:p>
            <a:pPr indent="0" marL="0">
              <a:buNone/>
            </a:pPr>
            <a:r>
              <a:rPr lang="en-US" sz="1900" b="1" dirty="0">
                <a:solidFill>
                  <a:srgbClr val="F2545B"/>
                </a:solidFill>
                <a:latin typeface="Cambria" pitchFamily="34" charset="0"/>
                <a:ea typeface="Cambria" pitchFamily="34" charset="-122"/>
                <a:cs typeface="Cambria" pitchFamily="34" charset="-120"/>
              </a:rPr>
              <a:t>No encaja</a:t>
            </a:r>
            <a:endParaRPr lang="en-US" sz="1900" dirty="0"/>
          </a:p>
        </p:txBody>
      </p:sp>
      <p:sp>
        <p:nvSpPr>
          <p:cNvPr id="14" name="Text 11"/>
          <p:cNvSpPr txBox="1"/>
          <p:nvPr/>
        </p:nvSpPr>
        <p:spPr>
          <a:xfrm>
            <a:off x="868680" y="4617720"/>
            <a:ext cx="2971800" cy="1005840"/>
          </a:xfrm>
          <a:prstGeom prst="rect">
            <a:avLst/>
          </a:prstGeom>
          <a:noFill/>
          <a:ln/>
        </p:spPr>
        <p:txBody>
          <a:bodyPr wrap="square" lIns="0" tIns="0" rIns="0" bIns="0" rtlCol="0" anchor="t"/>
          <a:lstStyle/>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Carga constante</a:t>
            </a:r>
            <a:endParaRPr lang="en-US" sz="1500" dirty="0"/>
          </a:p>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Latencia crítica</a:t>
            </a:r>
            <a:endParaRPr lang="en-US" sz="1500" dirty="0"/>
          </a:p>
          <a:p>
            <a:pPr marL="342900" indent="-342900">
              <a:spcAft>
                <a:spcPts val="300"/>
              </a:spcAft>
              <a:buSzPct val="100000"/>
              <a:buChar char="•"/>
            </a:pPr>
            <a:r>
              <a:rPr lang="en-US" sz="1500" dirty="0">
                <a:solidFill>
                  <a:srgbClr val="4A4560"/>
                </a:solidFill>
                <a:latin typeface="Calibri" pitchFamily="34" charset="0"/>
                <a:ea typeface="Calibri" pitchFamily="34" charset="-122"/>
                <a:cs typeface="Calibri" pitchFamily="34" charset="-120"/>
              </a:rPr>
              <a:t>Funciones encadenadas</a:t>
            </a:r>
            <a:endParaRPr lang="en-US" sz="1500" dirty="0"/>
          </a:p>
        </p:txBody>
      </p:sp>
      <p:sp>
        <p:nvSpPr>
          <p:cNvPr id="15" name="primevideo"/>
          <p:cNvSpPr/>
          <p:nvPr/>
        </p:nvSpPr>
        <p:spPr>
          <a:xfrm>
            <a:off x="4526280" y="1600200"/>
            <a:ext cx="7116775" cy="4114800"/>
          </a:xfrm>
          <a:prstGeom prst="roundRect">
            <a:avLst>
              <a:gd name="adj" fmla="val 2222"/>
            </a:avLst>
          </a:prstGeom>
          <a:solidFill>
            <a:srgbClr val="1A0F3D"/>
          </a:solidFill>
          <a:ln/>
        </p:spPr>
      </p:sp>
      <p:sp>
        <p:nvSpPr>
          <p:cNvPr id="16" name="Text 13"/>
          <p:cNvSpPr txBox="1"/>
          <p:nvPr/>
        </p:nvSpPr>
        <p:spPr>
          <a:xfrm>
            <a:off x="4892040" y="1783080"/>
            <a:ext cx="3200400" cy="1097280"/>
          </a:xfrm>
          <a:prstGeom prst="rect">
            <a:avLst/>
          </a:prstGeom>
          <a:noFill/>
          <a:ln/>
        </p:spPr>
        <p:txBody>
          <a:bodyPr wrap="square" lIns="0" tIns="0" rIns="0" bIns="0" rtlCol="0" anchor="ctr"/>
          <a:lstStyle/>
          <a:p>
            <a:pPr indent="0" marL="0">
              <a:buNone/>
            </a:pPr>
            <a:r>
              <a:rPr lang="en-US" sz="6000" b="1" dirty="0">
                <a:solidFill>
                  <a:srgbClr val="F2545B"/>
                </a:solidFill>
                <a:latin typeface="Cambria" pitchFamily="34" charset="0"/>
                <a:ea typeface="Cambria" pitchFamily="34" charset="-122"/>
                <a:cs typeface="Cambria" pitchFamily="34" charset="-120"/>
              </a:rPr>
              <a:t>−90 %</a:t>
            </a:r>
            <a:endParaRPr lang="en-US" sz="6000" dirty="0"/>
          </a:p>
        </p:txBody>
      </p:sp>
      <p:sp>
        <p:nvSpPr>
          <p:cNvPr id="17" name="Text 14"/>
          <p:cNvSpPr txBox="1"/>
          <p:nvPr/>
        </p:nvSpPr>
        <p:spPr>
          <a:xfrm>
            <a:off x="4892040" y="2880360"/>
            <a:ext cx="6385255" cy="365760"/>
          </a:xfrm>
          <a:prstGeom prst="rect">
            <a:avLst/>
          </a:prstGeom>
          <a:noFill/>
          <a:ln/>
        </p:spPr>
        <p:txBody>
          <a:bodyPr wrap="square" lIns="0" tIns="0" rIns="0" bIns="0" rtlCol="0" anchor="t"/>
          <a:lstStyle/>
          <a:p>
            <a:pPr indent="0" marL="0">
              <a:buNone/>
            </a:pPr>
            <a:r>
              <a:rPr lang="en-US" sz="1400" dirty="0">
                <a:solidFill>
                  <a:srgbClr val="D9D0F0"/>
                </a:solidFill>
                <a:latin typeface="Calibri" pitchFamily="34" charset="0"/>
                <a:ea typeface="Calibri" pitchFamily="34" charset="-122"/>
                <a:cs typeface="Calibri" pitchFamily="34" charset="-120"/>
              </a:rPr>
              <a:t>Prime Video, monitoreo de calidad de streams (Amazon, 2023)</a:t>
            </a:r>
            <a:endParaRPr lang="en-US" sz="1400" dirty="0"/>
          </a:p>
        </p:txBody>
      </p:sp>
      <p:sp>
        <p:nvSpPr>
          <p:cNvPr id="18" name="antesdespues"/>
          <p:cNvSpPr/>
          <p:nvPr/>
        </p:nvSpPr>
        <p:spPr>
          <a:xfrm>
            <a:off x="4892040" y="3429000"/>
            <a:ext cx="2872588" cy="1417320"/>
          </a:xfrm>
          <a:prstGeom prst="roundRect">
            <a:avLst>
              <a:gd name="adj" fmla="val 6452"/>
            </a:avLst>
          </a:prstGeom>
          <a:solidFill>
            <a:srgbClr val="2C2058"/>
          </a:solidFill>
          <a:ln/>
        </p:spPr>
      </p:sp>
      <p:sp>
        <p:nvSpPr>
          <p:cNvPr id="19" name="Text 16"/>
          <p:cNvSpPr txBox="1"/>
          <p:nvPr/>
        </p:nvSpPr>
        <p:spPr>
          <a:xfrm>
            <a:off x="5074920" y="3566160"/>
            <a:ext cx="2506828" cy="118872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Antes</a:t>
            </a:r>
            <a:endParaRPr lang="en-US" sz="1600" dirty="0"/>
          </a:p>
          <a:p>
            <a:pPr indent="0" marL="0">
              <a:spcAft>
                <a:spcPts val="300"/>
              </a:spcAft>
              <a:buNone/>
            </a:pPr>
            <a:r>
              <a:rPr lang="en-US" sz="1400" dirty="0">
                <a:solidFill>
                  <a:srgbClr val="D9D0F0"/>
                </a:solidFill>
                <a:latin typeface="Calibri" pitchFamily="34" charset="0"/>
                <a:ea typeface="Calibri" pitchFamily="34" charset="-122"/>
                <a:cs typeface="Calibri" pitchFamily="34" charset="-120"/>
              </a:rPr>
              <a:t>Funciones encadenadas; los datos viajaban entre etapas por la red y S3</a:t>
            </a:r>
            <a:endParaRPr lang="en-US" sz="1600" dirty="0"/>
          </a:p>
        </p:txBody>
      </p:sp>
      <p:sp>
        <p:nvSpPr>
          <p:cNvPr id="20" name="antesdespues"/>
          <p:cNvSpPr/>
          <p:nvPr/>
        </p:nvSpPr>
        <p:spPr>
          <a:xfrm>
            <a:off x="8404708" y="3429000"/>
            <a:ext cx="2872588" cy="1417320"/>
          </a:xfrm>
          <a:prstGeom prst="roundRect">
            <a:avLst>
              <a:gd name="adj" fmla="val 6452"/>
            </a:avLst>
          </a:prstGeom>
          <a:solidFill>
            <a:srgbClr val="3B1F78"/>
          </a:solidFill>
          <a:ln/>
        </p:spPr>
      </p:sp>
      <p:sp>
        <p:nvSpPr>
          <p:cNvPr id="21" name="Text 18"/>
          <p:cNvSpPr txBox="1"/>
          <p:nvPr/>
        </p:nvSpPr>
        <p:spPr>
          <a:xfrm>
            <a:off x="8587588" y="3566160"/>
            <a:ext cx="2506828" cy="1188720"/>
          </a:xfrm>
          <a:prstGeom prst="rect">
            <a:avLst/>
          </a:prstGeom>
          <a:noFill/>
          <a:ln/>
        </p:spPr>
        <p:txBody>
          <a:bodyPr wrap="square" lIns="0" tIns="0" rIns="0" bIns="0" rtlCol="0" anchor="t"/>
          <a:lstStyle/>
          <a:p>
            <a:pPr indent="0" marL="0">
              <a:spcAft>
                <a:spcPts val="300"/>
              </a:spcAft>
              <a:buNone/>
            </a:pPr>
            <a:r>
              <a:rPr lang="en-US" sz="1600" b="1" dirty="0">
                <a:solidFill>
                  <a:srgbClr val="FFFFFF"/>
                </a:solidFill>
                <a:latin typeface="Calibri" pitchFamily="34" charset="0"/>
                <a:ea typeface="Calibri" pitchFamily="34" charset="-122"/>
                <a:cs typeface="Calibri" pitchFamily="34" charset="-120"/>
              </a:rPr>
              <a:t>Después</a:t>
            </a:r>
            <a:endParaRPr lang="en-US" sz="1600" dirty="0"/>
          </a:p>
          <a:p>
            <a:pPr indent="0" marL="0">
              <a:spcAft>
                <a:spcPts val="300"/>
              </a:spcAft>
              <a:buNone/>
            </a:pPr>
            <a:r>
              <a:rPr lang="en-US" sz="1400" dirty="0">
                <a:solidFill>
                  <a:srgbClr val="D9D0F0"/>
                </a:solidFill>
                <a:latin typeface="Calibri" pitchFamily="34" charset="0"/>
                <a:ea typeface="Calibri" pitchFamily="34" charset="-122"/>
                <a:cs typeface="Calibri" pitchFamily="34" charset="-120"/>
              </a:rPr>
              <a:t>Un solo proceso en contenedores (ECS), todo en memoria</a:t>
            </a:r>
            <a:endParaRPr lang="en-US" sz="1600" dirty="0"/>
          </a:p>
        </p:txBody>
      </p:sp>
      <p:sp>
        <p:nvSpPr>
          <p:cNvPr id="22" name="Shape 19"/>
          <p:cNvSpPr/>
          <p:nvPr/>
        </p:nvSpPr>
        <p:spPr>
          <a:xfrm>
            <a:off x="7856068" y="4142232"/>
            <a:ext cx="457200" cy="914"/>
          </a:xfrm>
          <a:prstGeom prst="line">
            <a:avLst/>
          </a:prstGeom>
          <a:noFill/>
          <a:ln w="25400">
            <a:solidFill>
              <a:srgbClr val="F2545B"/>
            </a:solidFill>
            <a:prstDash val="solid"/>
            <a:tailEnd type="triangle"/>
          </a:ln>
        </p:spPr>
      </p:sp>
      <p:sp>
        <p:nvSpPr>
          <p:cNvPr id="23" name="Text 20"/>
          <p:cNvSpPr txBox="1"/>
          <p:nvPr/>
        </p:nvSpPr>
        <p:spPr>
          <a:xfrm>
            <a:off x="4892040" y="5029200"/>
            <a:ext cx="6385255" cy="548640"/>
          </a:xfrm>
          <a:prstGeom prst="rect">
            <a:avLst/>
          </a:prstGeom>
          <a:noFill/>
          <a:ln/>
        </p:spPr>
        <p:txBody>
          <a:bodyPr wrap="square" lIns="0" tIns="0" rIns="0" bIns="0" rtlCol="0" anchor="ctr"/>
          <a:lstStyle/>
          <a:p>
            <a:pPr indent="0" marL="0">
              <a:buNone/>
            </a:pPr>
            <a:r>
              <a:rPr lang="en-US" sz="1500" b="1" dirty="0">
                <a:solidFill>
                  <a:srgbClr val="F2545B"/>
                </a:solidFill>
                <a:latin typeface="Calibri" pitchFamily="34" charset="0"/>
                <a:ea typeface="Calibri" pitchFamily="34" charset="-122"/>
                <a:cs typeface="Calibri" pitchFamily="34" charset="-120"/>
              </a:rPr>
              <a:t>Lección: </a:t>
            </a:r>
            <a:pPr indent="0" marL="0">
              <a:buNone/>
            </a:pPr>
            <a:r>
              <a:rPr lang="en-US" sz="1500" dirty="0">
                <a:solidFill>
                  <a:srgbClr val="FFFFFF"/>
                </a:solidFill>
                <a:latin typeface="Calibri" pitchFamily="34" charset="0"/>
                <a:ea typeface="Calibri" pitchFamily="34" charset="-122"/>
                <a:cs typeface="Calibri" pitchFamily="34" charset="-120"/>
              </a:rPr>
              <a:t>cuando comunicar cuesta más que computar, hay que juntar los componentes.</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0"/>
          <p:cNvSpPr/>
          <p:nvPr>
            <p:ph idx="100" type="body" hasCustomPrompt="1"/>
          </p:nvPr>
        </p:nvSpPr>
        <p:spPr>
          <a:xfrm>
            <a:off x="548640" y="320040"/>
            <a:ext cx="8229600" cy="320040"/>
          </a:xfrm>
          <a:prstGeom prst="rect">
            <a:avLst/>
          </a:prstGeom>
          <a:noFill/>
          <a:ln/>
        </p:spPr>
        <p:txBody>
          <a:bodyPr wrap="square" lIns="0" tIns="0" rIns="0" bIns="0" rtlCol="0" anchor="ctr"/>
          <a:lstStyle/>
          <a:p>
            <a:pPr indent="0" marL="0">
              <a:buNone/>
            </a:pPr>
            <a:r>
              <a:rPr lang="en-US" sz="1200" b="1" spc="200" kern="0" dirty="0">
                <a:solidFill>
                  <a:srgbClr val="F2545B"/>
                </a:solidFill>
                <a:latin typeface="Calibri" pitchFamily="34" charset="0"/>
                <a:ea typeface="Calibri" pitchFamily="34" charset="-122"/>
                <a:cs typeface="Calibri" pitchFamily="34" charset="-120"/>
              </a:rPr>
              <a:t>HACIA DÓNDE VA</a:t>
            </a:r>
            <a:endParaRPr lang="en-US" sz="1200" dirty="0"/>
          </a:p>
        </p:txBody>
      </p:sp>
      <p:sp>
        <p:nvSpPr>
          <p:cNvPr id="4" name="Text 0"/>
          <p:cNvSpPr/>
          <p:nvPr>
            <p:ph idx="101" type="title" hasCustomPrompt="1"/>
          </p:nvPr>
        </p:nvSpPr>
        <p:spPr>
          <a:xfrm>
            <a:off x="548640" y="640080"/>
            <a:ext cx="11094415" cy="731520"/>
          </a:xfrm>
          <a:prstGeom prst="rect">
            <a:avLst/>
          </a:prstGeom>
          <a:noFill/>
          <a:ln/>
        </p:spPr>
        <p:txBody>
          <a:bodyPr wrap="square" lIns="0" tIns="0" rIns="0" bIns="0" rtlCol="0" anchor="ctr"/>
          <a:lstStyle/>
          <a:p>
            <a:pPr algn="l" indent="0" marL="0">
              <a:buNone/>
            </a:pPr>
            <a:r>
              <a:rPr lang="en-US" sz="3000" b="1" dirty="0">
                <a:solidFill>
                  <a:srgbClr val="3B1F78"/>
                </a:solidFill>
                <a:latin typeface="Cambria" pitchFamily="34" charset="0"/>
                <a:ea typeface="Cambria" pitchFamily="34" charset="-122"/>
                <a:cs typeface="Cambria" pitchFamily="34" charset="-120"/>
              </a:rPr>
              <a:t>2026: el serverless «puro» se flexibiliza</a:t>
            </a:r>
            <a:endParaRPr lang="en-US" sz="3000" dirty="0"/>
          </a:p>
        </p:txBody>
      </p:sp>
      <p:sp>
        <p:nvSpPr>
          <p:cNvPr id="5" name="Shape 2"/>
          <p:cNvSpPr/>
          <p:nvPr/>
        </p:nvSpPr>
        <p:spPr>
          <a:xfrm>
            <a:off x="1805940" y="2743200"/>
            <a:ext cx="8579815" cy="914"/>
          </a:xfrm>
          <a:prstGeom prst="line">
            <a:avLst/>
          </a:prstGeom>
          <a:noFill/>
          <a:ln w="25400">
            <a:solidFill>
              <a:srgbClr val="D9D0F0"/>
            </a:solidFill>
            <a:prstDash val="solid"/>
          </a:ln>
        </p:spPr>
      </p:sp>
      <p:sp>
        <p:nvSpPr>
          <p:cNvPr id="6" name="circulo"/>
          <p:cNvSpPr/>
          <p:nvPr/>
        </p:nvSpPr>
        <p:spPr>
          <a:xfrm>
            <a:off x="1531620" y="2468880"/>
            <a:ext cx="548640" cy="548640"/>
          </a:xfrm>
          <a:prstGeom prst="ellipse">
            <a:avLst/>
          </a:prstGeom>
          <a:solidFill>
            <a:srgbClr val="F2545B"/>
          </a:solidFill>
          <a:ln/>
        </p:spPr>
      </p:sp>
      <p:sp>
        <p:nvSpPr>
          <p:cNvPr id="7" name="Text 4"/>
          <p:cNvSpPr txBox="1"/>
          <p:nvPr/>
        </p:nvSpPr>
        <p:spPr>
          <a:xfrm>
            <a:off x="1531620"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548640" y="3246120"/>
            <a:ext cx="2514600" cy="685800"/>
          </a:xfrm>
          <a:prstGeom prst="rect">
            <a:avLst/>
          </a:prstGeom>
          <a:noFill/>
          <a:ln/>
        </p:spPr>
        <p:txBody>
          <a:bodyPr wrap="square" lIns="0" tIns="0" rIns="0" bIns="0" rtlCol="0" anchor="ctr"/>
          <a:lstStyle/>
          <a:p>
            <a:pPr algn="ctr" indent="0" marL="0">
              <a:buNone/>
            </a:pPr>
            <a:r>
              <a:rPr lang="en-US" sz="1800" b="1" dirty="0">
                <a:solidFill>
                  <a:srgbClr val="3B1F78"/>
                </a:solidFill>
                <a:latin typeface="Cambria" pitchFamily="34" charset="0"/>
                <a:ea typeface="Cambria" pitchFamily="34" charset="-122"/>
                <a:cs typeface="Cambria" pitchFamily="34" charset="-120"/>
              </a:rPr>
              <a:t>Lambda Managed Instances</a:t>
            </a:r>
            <a:endParaRPr lang="en-US" sz="1800" dirty="0"/>
          </a:p>
        </p:txBody>
      </p:sp>
      <p:sp>
        <p:nvSpPr>
          <p:cNvPr id="9" name="Text 6"/>
          <p:cNvSpPr txBox="1"/>
          <p:nvPr/>
        </p:nvSpPr>
        <p:spPr>
          <a:xfrm>
            <a:off x="548640" y="3977640"/>
            <a:ext cx="2514600" cy="1188720"/>
          </a:xfrm>
          <a:prstGeom prst="rect">
            <a:avLst/>
          </a:prstGeom>
          <a:noFill/>
          <a:ln/>
        </p:spPr>
        <p:txBody>
          <a:bodyPr wrap="square" lIns="0" tIns="0" rIns="0" bIns="0" rtlCol="0" anchor="t"/>
          <a:lstStyle/>
          <a:p>
            <a:pPr algn="ctr" indent="0" marL="0">
              <a:buNone/>
            </a:pPr>
            <a:r>
              <a:rPr lang="en-US" sz="1500" dirty="0">
                <a:solidFill>
                  <a:srgbClr val="4A4560"/>
                </a:solidFill>
                <a:latin typeface="Calibri" pitchFamily="34" charset="0"/>
                <a:ea typeface="Calibri" pitchFamily="34" charset="-122"/>
                <a:cs typeface="Calibri" pitchFamily="34" charset="-120"/>
              </a:rPr>
              <a:t>Funciones sobre EC2 para cargas estables: AWS admite el punto de cruce.</a:t>
            </a:r>
            <a:endParaRPr lang="en-US" sz="1500" dirty="0"/>
          </a:p>
        </p:txBody>
      </p:sp>
      <p:sp>
        <p:nvSpPr>
          <p:cNvPr id="10" name="circulo"/>
          <p:cNvSpPr/>
          <p:nvPr/>
        </p:nvSpPr>
        <p:spPr>
          <a:xfrm>
            <a:off x="4391558" y="2468880"/>
            <a:ext cx="548640" cy="548640"/>
          </a:xfrm>
          <a:prstGeom prst="ellipse">
            <a:avLst/>
          </a:prstGeom>
          <a:solidFill>
            <a:srgbClr val="3B1F78"/>
          </a:solidFill>
          <a:ln/>
        </p:spPr>
      </p:sp>
      <p:sp>
        <p:nvSpPr>
          <p:cNvPr id="11" name="Text 8"/>
          <p:cNvSpPr txBox="1"/>
          <p:nvPr/>
        </p:nvSpPr>
        <p:spPr>
          <a:xfrm>
            <a:off x="4391558"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2" name="Text 9"/>
          <p:cNvSpPr txBox="1"/>
          <p:nvPr/>
        </p:nvSpPr>
        <p:spPr>
          <a:xfrm>
            <a:off x="3408578" y="3246120"/>
            <a:ext cx="2514600" cy="685800"/>
          </a:xfrm>
          <a:prstGeom prst="rect">
            <a:avLst/>
          </a:prstGeom>
          <a:noFill/>
          <a:ln/>
        </p:spPr>
        <p:txBody>
          <a:bodyPr wrap="square" lIns="0" tIns="0" rIns="0" bIns="0" rtlCol="0" anchor="ctr"/>
          <a:lstStyle/>
          <a:p>
            <a:pPr algn="ctr" indent="0" marL="0">
              <a:buNone/>
            </a:pPr>
            <a:r>
              <a:rPr lang="en-US" sz="1800" b="1" dirty="0">
                <a:solidFill>
                  <a:srgbClr val="3B1F78"/>
                </a:solidFill>
                <a:latin typeface="Cambria" pitchFamily="34" charset="0"/>
                <a:ea typeface="Cambria" pitchFamily="34" charset="-122"/>
                <a:cs typeface="Cambria" pitchFamily="34" charset="-120"/>
              </a:rPr>
              <a:t>Lambda MicroVMs</a:t>
            </a:r>
            <a:endParaRPr lang="en-US" sz="1800" dirty="0"/>
          </a:p>
        </p:txBody>
      </p:sp>
      <p:sp>
        <p:nvSpPr>
          <p:cNvPr id="13" name="Text 10"/>
          <p:cNvSpPr txBox="1"/>
          <p:nvPr/>
        </p:nvSpPr>
        <p:spPr>
          <a:xfrm>
            <a:off x="3408578" y="3977640"/>
            <a:ext cx="2514600" cy="1188720"/>
          </a:xfrm>
          <a:prstGeom prst="rect">
            <a:avLst/>
          </a:prstGeom>
          <a:noFill/>
          <a:ln/>
        </p:spPr>
        <p:txBody>
          <a:bodyPr wrap="square" lIns="0" tIns="0" rIns="0" bIns="0" rtlCol="0" anchor="t"/>
          <a:lstStyle/>
          <a:p>
            <a:pPr algn="ctr" indent="0" marL="0">
              <a:buNone/>
            </a:pPr>
            <a:r>
              <a:rPr lang="en-US" sz="1500" dirty="0">
                <a:solidFill>
                  <a:srgbClr val="4A4560"/>
                </a:solidFill>
                <a:latin typeface="Calibri" pitchFamily="34" charset="0"/>
                <a:ea typeface="Calibri" pitchFamily="34" charset="-122"/>
                <a:cs typeface="Calibri" pitchFamily="34" charset="-120"/>
              </a:rPr>
              <a:t>Sesiones de hasta 8 h con estado (anunciado en julio de 2026).</a:t>
            </a:r>
            <a:endParaRPr lang="en-US" sz="1500" dirty="0"/>
          </a:p>
        </p:txBody>
      </p:sp>
      <p:sp>
        <p:nvSpPr>
          <p:cNvPr id="14" name="circulo"/>
          <p:cNvSpPr/>
          <p:nvPr/>
        </p:nvSpPr>
        <p:spPr>
          <a:xfrm>
            <a:off x="7251497" y="2468880"/>
            <a:ext cx="548640" cy="548640"/>
          </a:xfrm>
          <a:prstGeom prst="ellipse">
            <a:avLst/>
          </a:prstGeom>
          <a:solidFill>
            <a:srgbClr val="F2545B"/>
          </a:solidFill>
          <a:ln/>
        </p:spPr>
      </p:sp>
      <p:sp>
        <p:nvSpPr>
          <p:cNvPr id="15" name="Text 12"/>
          <p:cNvSpPr txBox="1"/>
          <p:nvPr/>
        </p:nvSpPr>
        <p:spPr>
          <a:xfrm>
            <a:off x="7251497"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6" name="Text 13"/>
          <p:cNvSpPr txBox="1"/>
          <p:nvPr/>
        </p:nvSpPr>
        <p:spPr>
          <a:xfrm>
            <a:off x="6268517" y="3246120"/>
            <a:ext cx="2514600" cy="685800"/>
          </a:xfrm>
          <a:prstGeom prst="rect">
            <a:avLst/>
          </a:prstGeom>
          <a:noFill/>
          <a:ln/>
        </p:spPr>
        <p:txBody>
          <a:bodyPr wrap="square" lIns="0" tIns="0" rIns="0" bIns="0" rtlCol="0" anchor="ctr"/>
          <a:lstStyle/>
          <a:p>
            <a:pPr algn="ctr" indent="0" marL="0">
              <a:buNone/>
            </a:pPr>
            <a:r>
              <a:rPr lang="en-US" sz="1800" b="1" dirty="0">
                <a:solidFill>
                  <a:srgbClr val="3B1F78"/>
                </a:solidFill>
                <a:latin typeface="Cambria" pitchFamily="34" charset="0"/>
                <a:ea typeface="Cambria" pitchFamily="34" charset="-122"/>
                <a:cs typeface="Cambria" pitchFamily="34" charset="-120"/>
              </a:rPr>
              <a:t>IA en el edge</a:t>
            </a:r>
            <a:endParaRPr lang="en-US" sz="1800" dirty="0"/>
          </a:p>
        </p:txBody>
      </p:sp>
      <p:sp>
        <p:nvSpPr>
          <p:cNvPr id="17" name="Text 14"/>
          <p:cNvSpPr txBox="1"/>
          <p:nvPr/>
        </p:nvSpPr>
        <p:spPr>
          <a:xfrm>
            <a:off x="6268517" y="3977640"/>
            <a:ext cx="2514600" cy="1188720"/>
          </a:xfrm>
          <a:prstGeom prst="rect">
            <a:avLst/>
          </a:prstGeom>
          <a:noFill/>
          <a:ln/>
        </p:spPr>
        <p:txBody>
          <a:bodyPr wrap="square" lIns="0" tIns="0" rIns="0" bIns="0" rtlCol="0" anchor="t"/>
          <a:lstStyle/>
          <a:p>
            <a:pPr algn="ctr" indent="0" marL="0">
              <a:buNone/>
            </a:pPr>
            <a:r>
              <a:rPr lang="en-US" sz="1500" dirty="0">
                <a:solidFill>
                  <a:srgbClr val="4A4560"/>
                </a:solidFill>
                <a:latin typeface="Calibri" pitchFamily="34" charset="0"/>
                <a:ea typeface="Calibri" pitchFamily="34" charset="-122"/>
                <a:cs typeface="Calibri" pitchFamily="34" charset="-120"/>
              </a:rPr>
              <a:t>Inferencia cerca del usuario, en 300+ datacenters.</a:t>
            </a:r>
            <a:endParaRPr lang="en-US" sz="1500" dirty="0"/>
          </a:p>
        </p:txBody>
      </p:sp>
      <p:sp>
        <p:nvSpPr>
          <p:cNvPr id="18" name="circulo"/>
          <p:cNvSpPr/>
          <p:nvPr/>
        </p:nvSpPr>
        <p:spPr>
          <a:xfrm>
            <a:off x="10111435" y="2468880"/>
            <a:ext cx="548640" cy="548640"/>
          </a:xfrm>
          <a:prstGeom prst="ellipse">
            <a:avLst/>
          </a:prstGeom>
          <a:solidFill>
            <a:srgbClr val="3B1F78"/>
          </a:solidFill>
          <a:ln/>
        </p:spPr>
      </p:sp>
      <p:sp>
        <p:nvSpPr>
          <p:cNvPr id="19" name="Text 16"/>
          <p:cNvSpPr txBox="1"/>
          <p:nvPr/>
        </p:nvSpPr>
        <p:spPr>
          <a:xfrm>
            <a:off x="10111435" y="24688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0" name="Text 17"/>
          <p:cNvSpPr txBox="1"/>
          <p:nvPr/>
        </p:nvSpPr>
        <p:spPr>
          <a:xfrm>
            <a:off x="9128455" y="3246120"/>
            <a:ext cx="2514600" cy="685800"/>
          </a:xfrm>
          <a:prstGeom prst="rect">
            <a:avLst/>
          </a:prstGeom>
          <a:noFill/>
          <a:ln/>
        </p:spPr>
        <p:txBody>
          <a:bodyPr wrap="square" lIns="0" tIns="0" rIns="0" bIns="0" rtlCol="0" anchor="ctr"/>
          <a:lstStyle/>
          <a:p>
            <a:pPr algn="ctr" indent="0" marL="0">
              <a:buNone/>
            </a:pPr>
            <a:r>
              <a:rPr lang="en-US" sz="1800" b="1" dirty="0">
                <a:solidFill>
                  <a:srgbClr val="3B1F78"/>
                </a:solidFill>
                <a:latin typeface="Cambria" pitchFamily="34" charset="0"/>
                <a:ea typeface="Cambria" pitchFamily="34" charset="-122"/>
                <a:cs typeface="Cambria" pitchFamily="34" charset="-120"/>
              </a:rPr>
              <a:t>Híbrido</a:t>
            </a:r>
            <a:endParaRPr lang="en-US" sz="1800" dirty="0"/>
          </a:p>
        </p:txBody>
      </p:sp>
      <p:sp>
        <p:nvSpPr>
          <p:cNvPr id="21" name="Text 18"/>
          <p:cNvSpPr txBox="1"/>
          <p:nvPr/>
        </p:nvSpPr>
        <p:spPr>
          <a:xfrm>
            <a:off x="9128455" y="3977640"/>
            <a:ext cx="2514600" cy="1188720"/>
          </a:xfrm>
          <a:prstGeom prst="rect">
            <a:avLst/>
          </a:prstGeom>
          <a:noFill/>
          <a:ln/>
        </p:spPr>
        <p:txBody>
          <a:bodyPr wrap="square" lIns="0" tIns="0" rIns="0" bIns="0" rtlCol="0" anchor="t"/>
          <a:lstStyle/>
          <a:p>
            <a:pPr algn="ctr" indent="0" marL="0">
              <a:buNone/>
            </a:pPr>
            <a:r>
              <a:rPr lang="en-US" sz="1500" dirty="0">
                <a:solidFill>
                  <a:srgbClr val="4A4560"/>
                </a:solidFill>
                <a:latin typeface="Calibri" pitchFamily="34" charset="0"/>
                <a:ea typeface="Calibri" pitchFamily="34" charset="-122"/>
                <a:cs typeface="Calibri" pitchFamily="34" charset="-120"/>
              </a:rPr>
              <a:t>66 % de quienes usan funciones también usan contenedores.</a:t>
            </a:r>
            <a:endParaRPr lang="en-US" sz="1500" dirty="0"/>
          </a:p>
        </p:txBody>
      </p:sp>
      <p:sp>
        <p:nvSpPr>
          <p:cNvPr id="22" name="Text 19"/>
          <p:cNvSpPr txBox="1"/>
          <p:nvPr/>
        </p:nvSpPr>
        <p:spPr>
          <a:xfrm>
            <a:off x="548640" y="1600200"/>
            <a:ext cx="11094415" cy="548640"/>
          </a:xfrm>
          <a:prstGeom prst="rect">
            <a:avLst/>
          </a:prstGeom>
          <a:noFill/>
          <a:ln/>
        </p:spPr>
        <p:txBody>
          <a:bodyPr wrap="square" lIns="0" tIns="0" rIns="0" bIns="0" rtlCol="0" anchor="t"/>
          <a:lstStyle/>
          <a:p>
            <a:pPr indent="0" marL="0">
              <a:buNone/>
            </a:pPr>
            <a:r>
              <a:rPr lang="en-US" sz="2000" i="1" dirty="0">
                <a:solidFill>
                  <a:srgbClr val="F2545B"/>
                </a:solidFill>
                <a:latin typeface="Cambria" pitchFamily="34" charset="0"/>
                <a:ea typeface="Cambria" pitchFamily="34" charset="-122"/>
                <a:cs typeface="Cambria" pitchFamily="34" charset="-120"/>
              </a:rPr>
              <a:t>Cada carga va donde le conviene.</a:t>
            </a:r>
            <a:endParaRPr lang="en-US" sz="2000" dirty="0"/>
          </a:p>
        </p:txBody>
      </p:sp>
      <p:sp>
        <p:nvSpPr>
          <p:cNvPr id="23" name="Text 20"/>
          <p:cNvSpPr txBox="1"/>
          <p:nvPr/>
        </p:nvSpPr>
        <p:spPr>
          <a:xfrm>
            <a:off x="548640" y="6053328"/>
            <a:ext cx="11094415" cy="274320"/>
          </a:xfrm>
          <a:prstGeom prst="rect">
            <a:avLst/>
          </a:prstGeom>
          <a:noFill/>
          <a:ln/>
        </p:spPr>
        <p:txBody>
          <a:bodyPr wrap="square" lIns="0" tIns="0" rIns="0" bIns="0" rtlCol="0" anchor="t"/>
          <a:lstStyle/>
          <a:p>
            <a:pPr indent="0" marL="0">
              <a:buNone/>
            </a:pPr>
            <a:r>
              <a:rPr lang="en-US" sz="1000" i="1" dirty="0">
                <a:solidFill>
                  <a:srgbClr val="7A7391"/>
                </a:solidFill>
                <a:latin typeface="Calibri" pitchFamily="34" charset="0"/>
                <a:ea typeface="Calibri" pitchFamily="34" charset="-122"/>
                <a:cs typeface="Calibri" pitchFamily="34" charset="-120"/>
              </a:rPr>
              <a:t>Fuentes: AWS (2026); Datadog, State of Serverless (2025); Cloudflare.</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7391"/>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0"/>
          <p:cNvSpPr txBox="1"/>
          <p:nvPr/>
        </p:nvSpPr>
        <p:spPr>
          <a:xfrm>
            <a:off x="548640" y="822960"/>
            <a:ext cx="7315200" cy="365760"/>
          </a:xfrm>
          <a:prstGeom prst="rect">
            <a:avLst/>
          </a:prstGeom>
          <a:noFill/>
          <a:ln/>
        </p:spPr>
        <p:txBody>
          <a:bodyPr wrap="square" lIns="0" tIns="0" rIns="0" bIns="0" rtlCol="0" anchor="t"/>
          <a:lstStyle/>
          <a:p>
            <a:pPr indent="0" marL="0">
              <a:buNone/>
            </a:pPr>
            <a:r>
              <a:rPr lang="en-US" sz="1300" b="1" spc="200" kern="0" dirty="0">
                <a:solidFill>
                  <a:srgbClr val="F2545B"/>
                </a:solidFill>
                <a:latin typeface="Calibri" pitchFamily="34" charset="0"/>
                <a:ea typeface="Calibri" pitchFamily="34" charset="-122"/>
                <a:cs typeface="Calibri" pitchFamily="34" charset="-120"/>
              </a:rPr>
              <a:t>VOLVIENDO AL CASO</a:t>
            </a:r>
            <a:endParaRPr lang="en-US" sz="1300" dirty="0"/>
          </a:p>
        </p:txBody>
      </p:sp>
      <p:sp>
        <p:nvSpPr>
          <p:cNvPr id="4" name="Text 1"/>
          <p:cNvSpPr txBox="1"/>
          <p:nvPr/>
        </p:nvSpPr>
        <p:spPr>
          <a:xfrm>
            <a:off x="548640" y="1234440"/>
            <a:ext cx="7498080" cy="73152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El SysAcad, en serverless</a:t>
            </a:r>
            <a:endParaRPr lang="en-US" sz="3000" dirty="0"/>
          </a:p>
        </p:txBody>
      </p:sp>
      <p:sp>
        <p:nvSpPr>
          <p:cNvPr id="5" name="circulo"/>
          <p:cNvSpPr/>
          <p:nvPr/>
        </p:nvSpPr>
        <p:spPr>
          <a:xfrm>
            <a:off x="548640" y="2423160"/>
            <a:ext cx="548640" cy="548640"/>
          </a:xfrm>
          <a:prstGeom prst="ellipse">
            <a:avLst/>
          </a:prstGeom>
          <a:solidFill>
            <a:srgbClr val="F2545B"/>
          </a:solidFill>
          <a:ln/>
        </p:spPr>
      </p:sp>
      <p:sp>
        <p:nvSpPr>
          <p:cNvPr id="6" name="Text 3"/>
          <p:cNvSpPr txBox="1"/>
          <p:nvPr/>
        </p:nvSpPr>
        <p:spPr>
          <a:xfrm>
            <a:off x="548640" y="242316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7" name="Text 4"/>
          <p:cNvSpPr txBox="1"/>
          <p:nvPr/>
        </p:nvSpPr>
        <p:spPr>
          <a:xfrm>
            <a:off x="1417320" y="2331720"/>
            <a:ext cx="658368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Aguanta el pico: </a:t>
            </a:r>
            <a:pPr indent="0" marL="0">
              <a:buNone/>
            </a:pPr>
            <a:r>
              <a:rPr lang="en-US" sz="1900" dirty="0">
                <a:solidFill>
                  <a:srgbClr val="D9D0F0"/>
                </a:solidFill>
                <a:latin typeface="Calibri" pitchFamily="34" charset="0"/>
                <a:ea typeface="Calibri" pitchFamily="34" charset="-122"/>
                <a:cs typeface="Calibri" pitchFamily="34" charset="-120"/>
              </a:rPr>
              <a:t>escala de 0 a cientos de entornos sin comprar nada.</a:t>
            </a:r>
            <a:endParaRPr lang="en-US" sz="1900" dirty="0"/>
          </a:p>
        </p:txBody>
      </p:sp>
      <p:sp>
        <p:nvSpPr>
          <p:cNvPr id="8" name="circulo"/>
          <p:cNvSpPr/>
          <p:nvPr/>
        </p:nvSpPr>
        <p:spPr>
          <a:xfrm>
            <a:off x="548640" y="3383280"/>
            <a:ext cx="548640" cy="548640"/>
          </a:xfrm>
          <a:prstGeom prst="ellipse">
            <a:avLst/>
          </a:prstGeom>
          <a:solidFill>
            <a:srgbClr val="F2545B"/>
          </a:solidFill>
          <a:ln/>
        </p:spPr>
      </p:sp>
      <p:sp>
        <p:nvSpPr>
          <p:cNvPr id="9" name="Text 6"/>
          <p:cNvSpPr txBox="1"/>
          <p:nvPr/>
        </p:nvSpPr>
        <p:spPr>
          <a:xfrm>
            <a:off x="548640" y="338328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7"/>
          <p:cNvSpPr txBox="1"/>
          <p:nvPr/>
        </p:nvSpPr>
        <p:spPr>
          <a:xfrm>
            <a:off x="1417320" y="3291840"/>
            <a:ext cx="658368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Cuesta casi cero: </a:t>
            </a:r>
            <a:pPr indent="0" marL="0">
              <a:buNone/>
            </a:pPr>
            <a:r>
              <a:rPr lang="en-US" sz="1900" dirty="0">
                <a:solidFill>
                  <a:srgbClr val="D9D0F0"/>
                </a:solidFill>
                <a:latin typeface="Calibri" pitchFamily="34" charset="0"/>
                <a:ea typeface="Calibri" pitchFamily="34" charset="-122"/>
                <a:cs typeface="Calibri" pitchFamily="34" charset="-120"/>
              </a:rPr>
              <a:t>el resto del año, porque el uso está muy debajo de un tercio.</a:t>
            </a:r>
            <a:endParaRPr lang="en-US" sz="1900" dirty="0"/>
          </a:p>
        </p:txBody>
      </p:sp>
      <p:sp>
        <p:nvSpPr>
          <p:cNvPr id="11" name="circulo"/>
          <p:cNvSpPr/>
          <p:nvPr/>
        </p:nvSpPr>
        <p:spPr>
          <a:xfrm>
            <a:off x="548640" y="4343400"/>
            <a:ext cx="548640" cy="548640"/>
          </a:xfrm>
          <a:prstGeom prst="ellipse">
            <a:avLst/>
          </a:prstGeom>
          <a:solidFill>
            <a:srgbClr val="F2545B"/>
          </a:solidFill>
          <a:ln/>
        </p:spPr>
      </p:sp>
      <p:sp>
        <p:nvSpPr>
          <p:cNvPr id="12" name="Text 9"/>
          <p:cNvSpPr txBox="1"/>
          <p:nvPr/>
        </p:nvSpPr>
        <p:spPr>
          <a:xfrm>
            <a:off x="548640" y="4343400"/>
            <a:ext cx="548640" cy="54864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3" name="Text 10"/>
          <p:cNvSpPr txBox="1"/>
          <p:nvPr/>
        </p:nvSpPr>
        <p:spPr>
          <a:xfrm>
            <a:off x="1417320" y="4251960"/>
            <a:ext cx="6583680" cy="731520"/>
          </a:xfrm>
          <a:prstGeom prst="rect">
            <a:avLst/>
          </a:prstGeom>
          <a:noFill/>
          <a:ln/>
        </p:spPr>
        <p:txBody>
          <a:bodyPr wrap="square" lIns="0" tIns="0" rIns="0" bIns="0" rtlCol="0" anchor="ctr"/>
          <a:lstStyle/>
          <a:p>
            <a:pPr indent="0" marL="0">
              <a:buNone/>
            </a:pPr>
            <a:r>
              <a:rPr lang="en-US" sz="1900" b="1" dirty="0">
                <a:solidFill>
                  <a:srgbClr val="FFFFFF"/>
                </a:solidFill>
                <a:latin typeface="Calibri" pitchFamily="34" charset="0"/>
                <a:ea typeface="Calibri" pitchFamily="34" charset="-122"/>
                <a:cs typeface="Calibri" pitchFamily="34" charset="-120"/>
              </a:rPr>
              <a:t>Cuidá la base: </a:t>
            </a:r>
            <a:pPr indent="0" marL="0">
              <a:buNone/>
            </a:pPr>
            <a:r>
              <a:rPr lang="en-US" sz="1900" dirty="0">
                <a:solidFill>
                  <a:srgbClr val="D9D0F0"/>
                </a:solidFill>
                <a:latin typeface="Calibri" pitchFamily="34" charset="0"/>
                <a:ea typeface="Calibri" pitchFamily="34" charset="-122"/>
                <a:cs typeface="Calibri" pitchFamily="34" charset="-120"/>
              </a:rPr>
              <a:t>con un pooler o una base serverless.</a:t>
            </a:r>
            <a:endParaRPr lang="en-US" sz="1900" dirty="0"/>
          </a:p>
        </p:txBody>
      </p:sp>
      <p:sp>
        <p:nvSpPr>
          <p:cNvPr id="14" name="Text 11"/>
          <p:cNvSpPr txBox="1"/>
          <p:nvPr/>
        </p:nvSpPr>
        <p:spPr>
          <a:xfrm>
            <a:off x="548640" y="5303520"/>
            <a:ext cx="7498080" cy="457200"/>
          </a:xfrm>
          <a:prstGeom prst="rect">
            <a:avLst/>
          </a:prstGeom>
          <a:noFill/>
          <a:ln/>
        </p:spPr>
        <p:txBody>
          <a:bodyPr wrap="square" lIns="0" tIns="0" rIns="0" bIns="0" rtlCol="0" anchor="t"/>
          <a:lstStyle/>
          <a:p>
            <a:pPr indent="0" marL="0">
              <a:buNone/>
            </a:pPr>
            <a:r>
              <a:rPr lang="en-US" sz="1700" i="1" dirty="0">
                <a:solidFill>
                  <a:srgbClr val="F2545B"/>
                </a:solidFill>
                <a:latin typeface="Cambria" pitchFamily="34" charset="0"/>
                <a:ea typeface="Cambria" pitchFamily="34" charset="-122"/>
                <a:cs typeface="Cambria" pitchFamily="34" charset="-120"/>
              </a:rPr>
              <a:t>Es un trade-off: se elige por encaje con el problema, no por moda.</a:t>
            </a:r>
            <a:endParaRPr lang="en-US" sz="1700" dirty="0"/>
          </a:p>
        </p:txBody>
      </p:sp>
      <p:sp>
        <p:nvSpPr>
          <p:cNvPr id="15" name="Text 12"/>
          <p:cNvSpPr txBox="1"/>
          <p:nvPr/>
        </p:nvSpPr>
        <p:spPr>
          <a:xfrm>
            <a:off x="8321040" y="2377440"/>
            <a:ext cx="3383280" cy="1097280"/>
          </a:xfrm>
          <a:prstGeom prst="rect">
            <a:avLst/>
          </a:prstGeom>
          <a:noFill/>
          <a:ln/>
        </p:spPr>
        <p:txBody>
          <a:bodyPr wrap="square" lIns="0" tIns="0" rIns="0" bIns="0" rtlCol="0" anchor="ctr"/>
          <a:lstStyle/>
          <a:p>
            <a:pPr indent="0" marL="0">
              <a:buNone/>
            </a:pPr>
            <a:r>
              <a:rPr lang="en-US" sz="4000" b="1" dirty="0">
                <a:solidFill>
                  <a:srgbClr val="F2545B"/>
                </a:solidFill>
                <a:latin typeface="Cambria" pitchFamily="34" charset="0"/>
                <a:ea typeface="Cambria" pitchFamily="34" charset="-122"/>
                <a:cs typeface="Cambria" pitchFamily="34" charset="-120"/>
              </a:rPr>
              <a:t>¿Preguntas?</a:t>
            </a:r>
            <a:endParaRPr lang="en-US" sz="4000" dirty="0"/>
          </a:p>
        </p:txBody>
      </p:sp>
      <p:sp>
        <p:nvSpPr>
          <p:cNvPr id="16" name="Text 13"/>
          <p:cNvSpPr txBox="1"/>
          <p:nvPr/>
        </p:nvSpPr>
        <p:spPr>
          <a:xfrm>
            <a:off x="8321040" y="3474720"/>
            <a:ext cx="3383280" cy="548640"/>
          </a:xfrm>
          <a:prstGeom prst="rect">
            <a:avLst/>
          </a:prstGeom>
          <a:noFill/>
          <a:ln/>
        </p:spPr>
        <p:txBody>
          <a:bodyPr wrap="square" lIns="0" tIns="0" rIns="0" bIns="0" rtlCol="0" anchor="t"/>
          <a:lstStyle/>
          <a:p>
            <a:pPr indent="0" marL="0">
              <a:buNone/>
            </a:pPr>
            <a:r>
              <a:rPr lang="en-US" sz="2200" dirty="0">
                <a:solidFill>
                  <a:srgbClr val="D9D0F0"/>
                </a:solidFill>
                <a:latin typeface="Cambria" pitchFamily="34" charset="0"/>
                <a:ea typeface="Cambria" pitchFamily="34" charset="-122"/>
                <a:cs typeface="Cambria" pitchFamily="34" charset="-120"/>
              </a:rPr>
              <a:t>Gracias</a:t>
            </a:r>
            <a:endParaRPr lang="en-US" sz="2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Serverless — SGD (opción C: historia)</dc:title>
  <dc:subject>PptxGenJS Presentation</dc:subject>
  <dc:creator>Bonadeo, Juan Cruz y grupo</dc:creator>
  <cp:lastModifiedBy>Bonadeo, Juan Cruz y grupo</cp:lastModifiedBy>
  <cp:revision>1</cp:revision>
  <dcterms:created xsi:type="dcterms:W3CDTF">2026-10-06T21:55:11Z</dcterms:created>
  <dcterms:modified xsi:type="dcterms:W3CDTF">2026-10-06T21:55:11Z</dcterms:modified>
</cp:coreProperties>
</file>