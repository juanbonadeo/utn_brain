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sugerido de la exposición (15-20 min):
· Bonadeo — láminas 2 a 5 (puntos 1, 2 y 3) y cierre, láminas 20 a 22 (punto 12 y conclusión).
· Casermeiro — láminas 6 a 9 (puntos 4 y 5).
· Lezcano — láminas 10 a 14 (puntos 6, 7-8 y 9).
· Lurati — láminas 15 a 19 (puntos 10 y 11).
Es una sugerencia: se puede reordenar sin tocar el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1 del entregable. El proyecto no repite la Etapa 2: cierra el hueco que dejó. R04 y R07 son severidad 12 y son los únicos dos riesgos de esa severidad que quedaron sin plan de 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1. El alcance está delimitado por exclusión explícita: lo que queda afuera está afuera porque ya tiene tratamiento propio o porque pertenece a otro proyecto. El docente destacó esta delimitación.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2. Lo importante acá: O1 y el objetivo de negocio de la Etapa 1 comparten indicador, y O4 no tiene línea base porque la imposibilidad de medirlo ES la definición del riesgo R07.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3. Ojo con la formulación: las alternativas NO son modos de construir lo mismo (interno / SaaS / tercerizado), son proyectos distintos que atacan otros problemas. Así lo redefinió el docente el 23/08. El modo de construcción SaaS también lo indicó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Casermeiro. Punto 4.1. El docente destacó especialmente la defensa del ciclo de vida híbrido. La clave es que no se justifica por moda sino por la naturaleza de cada grupo de entregables.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Casermeiro. Punto 4.2. Si preguntan por qué once fases y no menos: cada una corta donde hay una decisión de avance o un entregable que otra área tiene que aprobar.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Casermeiro. Punto 4.3. Los solapamientos no son un descuido: están diseñados en la estructura y son el insumo del análisis de sobreasignación del punto 10. Es el punto donde la EDT y el aplanamiento se conectan.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Casermeiro. Punto 5. La pregunta esperable es por qué dos personas en EI y en QA: la respuesta está en el punto 10, con una sola persona por perfil el proyecto pasa de 192 a 215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Lezcano. Punto 6. La idea fuerte: el EPP se consigna siempre como complemento y nunca como respuesta principal. Y el caso del checklist bloqueante en la app es donde el proyecto y la higiene y seguridad se cruzan.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Lezcano. Punto 6, figura 3 del Anexo II. Escala 1:125, norte indicado. Señalar: circulaciones peatonal y vehicular separadas y sin cruces, matafuegos identificados por clase, recorridos de evacuación y punto de encuentro fuera del edificio. Las cotas son mínimos de diseño supuestos, a validar con el Servicio de Higiene y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Lezcano. Punto 6, figura 4 del Anexo II. Cuatro escenas: planta y vista lateral del tendido aéreo, cámara subterránea y domicilio del cliente. El vehículo aguas arriba es barrera física —prevención en el medio—; el checklist bloqueante en la app es prevención en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Lezcano. Puntos 7 y 8, fusionados en una sola tabla como muestra la guía de cátedra. La columna que importa es la última: cada modalidad se elige por una razón de riesgo o de incertidumbre, no por costumbre.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Lezcano. Punto 9. Dos remates: (1) los tres primeros criterios concentran el 65% y se corresponden con los riesgos de la Etapa 2 que el proyecto trata o agrava; (2) hay un umbral de admisibilidad —la propuesta sin alojamiento en la región queda fuera cualquiera sea su puntaje—. No se emite RFQ porque el objeto no es un bien de especificación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Lurati. Punto 10. Insistir en que el cronograma va en meses relativos al día 0 y no en fechas de calendario: la fecha de inicio real no está definida. Fue una decisión del grupo (D2) ante una consulta que el docente no respondió.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Lurati. Punto 10, figura 1 del Anexo II. Actividad en el nodo, en dos bandas. En rojo las 30 críticas con holgura total nula; en azul las 20 con holgura. Cada nodo lleva ES-D-EF arriba y LS-HT-LF abajo. Las etiquetas amarillas son las 8 precedencias que cruzan de una banda a la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Lurati. Punto 10, figura 2.a del Anexo II. Cronograma aplanado adoptado, 192 días. En rojo el camino crítico, en azul las no críticas, en línea de puntos la holgura remanente. Los cuatro hitos verticales: contrato firmado (d58), inicio del piloto (d122), ola 3 en producción (d169) y cierre (d192).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Lurati. Punto 10. En el histograma, las barras celestes claras son los picos de dos personas: son exactamente las ventanas que motivaron el refuerzo de EI y QA. La línea de puntos es la dotación asignada, y no se supera ningún día. Sumar un segundo referente de operaciones solo bajaría a 189 días: no justifica una tercera incorporación.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Lurati. Punto 11. Dos aclaraciones que conviene anticipar: el consultor de la plataforma (784 h) no se computa como RRHH propio porque lo provee el proveedor —va dentro del servicio de implantación—, y la contingencia del 15% no es un porcentaje de estilo: se justifica riesgo por riesgo con R03, R04, R05 y R07 de la Etapa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12. Lo defendible acá es que el supuesto no se escondió: se declaró como riesgo con severidad 20, se le puso un punto de verificación temprano (2.3) y se le escribió un plan alternativo con las tres vías cotizadas en el RFP.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Punto 12. No maquillar el resultado: está escrito así a propósito. La consecuencia práctica está en la conclusión: la decisión de despliegue masivo se toma en el paquete 8.4, después de medir las líneas base en 2.4, no con la aprobación del 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Bonadeo. Cierre. El remate del trabajo es este: hasta el paquete 8.4 el compromiso económico es acotado; a partir de ahí se compromete el grueso del licenciamiento y de los dispositivos. Es una planificación con un punto de decisión explícito, no un plan de una sola vía.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06B"/>
        </a:solidFill>
      </p:bgPr>
    </p:bg>
    <p:spTree>
      <p:nvGrpSpPr>
        <p:cNvPr id="1" name=""/>
        <p:cNvGrpSpPr/>
        <p:nvPr/>
      </p:nvGrpSpPr>
      <p:grpSpPr>
        <a:xfrm>
          <a:off x="0" y="0"/>
          <a:ext cx="0" cy="0"/>
          <a:chOff x="0" y="0"/>
          <a:chExt cx="0" cy="0"/>
        </a:xfrm>
      </p:grpSpPr>
      <p:sp>
        <p:nvSpPr>
          <p:cNvPr id="2" name="Shape 0"/>
          <p:cNvSpPr/>
          <p:nvPr/>
        </p:nvSpPr>
        <p:spPr>
          <a:xfrm>
            <a:off x="9692640" y="-1371600"/>
            <a:ext cx="4754880" cy="4754880"/>
          </a:xfrm>
          <a:prstGeom prst="ellipse">
            <a:avLst/>
          </a:prstGeom>
          <a:solidFill>
            <a:srgbClr val="1C4E7E"/>
          </a:solidFill>
          <a:ln w="12700">
            <a:solidFill>
              <a:srgbClr val="333333"/>
            </a:solidFill>
            <a:prstDash val="solid"/>
          </a:ln>
        </p:spPr>
      </p:sp>
      <p:sp>
        <p:nvSpPr>
          <p:cNvPr id="3" name="Shape 1"/>
          <p:cNvSpPr/>
          <p:nvPr/>
        </p:nvSpPr>
        <p:spPr>
          <a:xfrm>
            <a:off x="10881360" y="4663440"/>
            <a:ext cx="2926080" cy="2926080"/>
          </a:xfrm>
          <a:prstGeom prst="ellipse">
            <a:avLst/>
          </a:prstGeom>
          <a:solidFill>
            <a:srgbClr val="1C4E7E"/>
          </a:solidFill>
          <a:ln w="12700">
            <a:solidFill>
              <a:srgbClr val="333333"/>
            </a:solidFill>
            <a:prstDash val="solid"/>
          </a:ln>
        </p:spPr>
      </p:sp>
      <p:sp>
        <p:nvSpPr>
          <p:cNvPr id="4" name="Text 2"/>
          <p:cNvSpPr txBox="1"/>
          <p:nvPr/>
        </p:nvSpPr>
        <p:spPr>
          <a:xfrm>
            <a:off x="566928" y="658368"/>
            <a:ext cx="9326880" cy="274320"/>
          </a:xfrm>
          <a:prstGeom prst="rect">
            <a:avLst/>
          </a:prstGeom>
          <a:noFill/>
          <a:ln/>
        </p:spPr>
        <p:txBody>
          <a:bodyPr wrap="square" lIns="0" tIns="0" rIns="0" bIns="0" rtlCol="0" anchor="ctr"/>
          <a:lstStyle/>
          <a:p>
            <a:pPr indent="0" marL="0">
              <a:buNone/>
            </a:pPr>
            <a:r>
              <a:rPr lang="en-US" sz="1200" b="1" spc="110" kern="0" dirty="0">
                <a:solidFill>
                  <a:srgbClr val="8FB6DA"/>
                </a:solidFill>
                <a:latin typeface="Calibri" pitchFamily="34" charset="0"/>
                <a:ea typeface="Calibri" pitchFamily="34" charset="-122"/>
                <a:cs typeface="Calibri" pitchFamily="34" charset="-120"/>
              </a:rPr>
              <a:t>UNIVERSIDAD TECNOLÓGICA NACIONAL  ·  ADMINISTRACIÓN DE SISTEMAS DE INFORMACIÓN</a:t>
            </a:r>
            <a:endParaRPr lang="en-US" sz="1200" dirty="0"/>
          </a:p>
        </p:txBody>
      </p:sp>
      <p:sp>
        <p:nvSpPr>
          <p:cNvPr id="5" name="Text 3"/>
          <p:cNvSpPr txBox="1"/>
          <p:nvPr/>
        </p:nvSpPr>
        <p:spPr>
          <a:xfrm>
            <a:off x="566928" y="1234440"/>
            <a:ext cx="8778240" cy="1828800"/>
          </a:xfrm>
          <a:prstGeom prst="rect">
            <a:avLst/>
          </a:prstGeom>
          <a:noFill/>
          <a:ln/>
        </p:spPr>
        <p:txBody>
          <a:bodyPr wrap="square" lIns="0" tIns="0" rIns="0" bIns="0" rtlCol="0" anchor="ctr"/>
          <a:lstStyle/>
          <a:p>
            <a:pPr indent="0" marL="0">
              <a:lnSpc>
                <a:spcPct val="95000"/>
              </a:lnSpc>
              <a:buNone/>
            </a:pPr>
            <a:r>
              <a:rPr lang="en-US" sz="5000" b="1" dirty="0">
                <a:solidFill>
                  <a:srgbClr val="FFFFFF"/>
                </a:solidFill>
                <a:latin typeface="Calibri" pitchFamily="34" charset="0"/>
                <a:ea typeface="Calibri" pitchFamily="34" charset="-122"/>
                <a:cs typeface="Calibri" pitchFamily="34" charset="-120"/>
              </a:rPr>
              <a:t>Planificación de un</a:t>
            </a:r>
            <a:endParaRPr lang="en-US" sz="5000" dirty="0"/>
          </a:p>
          <a:p>
            <a:pPr indent="0" marL="0">
              <a:lnSpc>
                <a:spcPct val="95000"/>
              </a:lnSpc>
              <a:buNone/>
            </a:pPr>
            <a:r>
              <a:rPr lang="en-US" sz="5000" b="1" dirty="0">
                <a:solidFill>
                  <a:srgbClr val="FFFFFF"/>
                </a:solidFill>
                <a:latin typeface="Calibri" pitchFamily="34" charset="0"/>
                <a:ea typeface="Calibri" pitchFamily="34" charset="-122"/>
                <a:cs typeface="Calibri" pitchFamily="34" charset="-120"/>
              </a:rPr>
              <a:t>Proyecto de TI</a:t>
            </a:r>
            <a:endParaRPr lang="en-US" sz="5000" dirty="0"/>
          </a:p>
        </p:txBody>
      </p:sp>
      <p:sp>
        <p:nvSpPr>
          <p:cNvPr id="6" name="Text 4"/>
          <p:cNvSpPr txBox="1"/>
          <p:nvPr/>
        </p:nvSpPr>
        <p:spPr>
          <a:xfrm>
            <a:off x="566928" y="3127248"/>
            <a:ext cx="8778240" cy="365760"/>
          </a:xfrm>
          <a:prstGeom prst="rect">
            <a:avLst/>
          </a:prstGeom>
          <a:noFill/>
          <a:ln/>
        </p:spPr>
        <p:txBody>
          <a:bodyPr wrap="square" lIns="0" tIns="0" rIns="0" bIns="0" rtlCol="0" anchor="ctr"/>
          <a:lstStyle/>
          <a:p>
            <a:pPr indent="0" marL="0">
              <a:buNone/>
            </a:pPr>
            <a:r>
              <a:rPr lang="en-US" sz="1900" dirty="0">
                <a:solidFill>
                  <a:srgbClr val="DCE9F7"/>
                </a:solidFill>
                <a:latin typeface="Calibri" pitchFamily="34" charset="0"/>
                <a:ea typeface="Calibri" pitchFamily="34" charset="-122"/>
                <a:cs typeface="Calibri" pitchFamily="34" charset="-120"/>
              </a:rPr>
              <a:t>Trabajo Práctico Integrador 2026 — Etapa 3</a:t>
            </a:r>
            <a:endParaRPr lang="en-US" sz="1900" dirty="0"/>
          </a:p>
        </p:txBody>
      </p:sp>
      <p:sp>
        <p:nvSpPr>
          <p:cNvPr id="7" name="Shape 5"/>
          <p:cNvSpPr/>
          <p:nvPr/>
        </p:nvSpPr>
        <p:spPr>
          <a:xfrm>
            <a:off x="566928" y="3767328"/>
            <a:ext cx="6858000" cy="841248"/>
          </a:xfrm>
          <a:prstGeom prst="roundRect">
            <a:avLst>
              <a:gd name="adj" fmla="val 6522"/>
            </a:avLst>
          </a:prstGeom>
          <a:solidFill>
            <a:srgbClr val="1C4E7E"/>
          </a:solidFill>
          <a:ln w="12700">
            <a:solidFill>
              <a:srgbClr val="2E6395"/>
            </a:solidFill>
            <a:prstDash val="solid"/>
          </a:ln>
        </p:spPr>
      </p:sp>
      <p:sp>
        <p:nvSpPr>
          <p:cNvPr id="8" name="Text 6"/>
          <p:cNvSpPr txBox="1"/>
          <p:nvPr/>
        </p:nvSpPr>
        <p:spPr>
          <a:xfrm>
            <a:off x="804672" y="3767328"/>
            <a:ext cx="6400800" cy="8412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Personal (Telecom Argentina)  ·  Proceso de instalación de internet con fibra óptica</a:t>
            </a:r>
            <a:endParaRPr lang="en-US" sz="1350" dirty="0"/>
          </a:p>
        </p:txBody>
      </p:sp>
      <p:sp>
        <p:nvSpPr>
          <p:cNvPr id="9" name="Text 7"/>
          <p:cNvSpPr txBox="1"/>
          <p:nvPr/>
        </p:nvSpPr>
        <p:spPr>
          <a:xfrm>
            <a:off x="566928" y="4956048"/>
            <a:ext cx="5486400" cy="256032"/>
          </a:xfrm>
          <a:prstGeom prst="rect">
            <a:avLst/>
          </a:prstGeom>
          <a:noFill/>
          <a:ln/>
        </p:spPr>
        <p:txBody>
          <a:bodyPr wrap="square" lIns="0" tIns="0" rIns="0" bIns="0" rtlCol="0" anchor="ctr"/>
          <a:lstStyle/>
          <a:p>
            <a:pPr indent="0" marL="0">
              <a:buNone/>
            </a:pPr>
            <a:r>
              <a:rPr lang="en-US" sz="1150" b="1" spc="100" kern="0" dirty="0">
                <a:solidFill>
                  <a:srgbClr val="8FB6DA"/>
                </a:solidFill>
                <a:latin typeface="Calibri" pitchFamily="34" charset="0"/>
                <a:ea typeface="Calibri" pitchFamily="34" charset="-122"/>
                <a:cs typeface="Calibri" pitchFamily="34" charset="-120"/>
              </a:rPr>
              <a:t>COMISIÓN 403  ·  GRUPO 310</a:t>
            </a:r>
            <a:endParaRPr lang="en-US" sz="1150" dirty="0"/>
          </a:p>
        </p:txBody>
      </p:sp>
      <p:sp>
        <p:nvSpPr>
          <p:cNvPr id="10" name="Text 8"/>
          <p:cNvSpPr txBox="1"/>
          <p:nvPr/>
        </p:nvSpPr>
        <p:spPr>
          <a:xfrm>
            <a:off x="566928" y="5266944"/>
            <a:ext cx="7680960" cy="731520"/>
          </a:xfrm>
          <a:prstGeom prst="rect">
            <a:avLst/>
          </a:prstGeom>
          <a:noFill/>
          <a:ln/>
        </p:spPr>
        <p:txBody>
          <a:bodyPr wrap="square" lIns="0" tIns="0" rIns="0" bIns="0" rtlCol="0" anchor="ctr"/>
          <a:lstStyle/>
          <a:p>
            <a:pPr indent="0" marL="0">
              <a:lnSpc>
                <a:spcPct val="125000"/>
              </a:lnSpc>
              <a:buNone/>
            </a:pPr>
            <a:r>
              <a:rPr lang="en-US" sz="1300" dirty="0">
                <a:solidFill>
                  <a:srgbClr val="DCE9F7"/>
                </a:solidFill>
                <a:latin typeface="Calibri" pitchFamily="34" charset="0"/>
                <a:ea typeface="Calibri" pitchFamily="34" charset="-122"/>
                <a:cs typeface="Calibri" pitchFamily="34" charset="-120"/>
              </a:rPr>
              <a:t>53535 · Bonadeo, Juan Cruz          52674 · Casermeiro, Gonzalo</a:t>
            </a:r>
            <a:endParaRPr lang="en-US" sz="1300" dirty="0"/>
          </a:p>
          <a:p>
            <a:pPr indent="0" marL="0">
              <a:lnSpc>
                <a:spcPct val="125000"/>
              </a:lnSpc>
              <a:buNone/>
            </a:pPr>
            <a:r>
              <a:rPr lang="en-US" sz="1300" dirty="0">
                <a:solidFill>
                  <a:srgbClr val="DCE9F7"/>
                </a:solidFill>
                <a:latin typeface="Calibri" pitchFamily="34" charset="0"/>
                <a:ea typeface="Calibri" pitchFamily="34" charset="-122"/>
                <a:cs typeface="Calibri" pitchFamily="34" charset="-120"/>
              </a:rPr>
              <a:t>53215 · Lezcano, Diego              52688 · Lurati, Ignacio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El problema detectado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Tres debilidades del proceso de instalación relevadas en las Etapas 1 y 2, hoy sin tratamiento</a:t>
            </a:r>
            <a:endParaRPr lang="en-US" sz="1250" dirty="0"/>
          </a:p>
        </p:txBody>
      </p:sp>
      <p:sp>
        <p:nvSpPr>
          <p:cNvPr id="6" name="Shape 4"/>
          <p:cNvSpPr/>
          <p:nvPr/>
        </p:nvSpPr>
        <p:spPr>
          <a:xfrm>
            <a:off x="566928" y="1517904"/>
            <a:ext cx="3533546" cy="3529584"/>
          </a:xfrm>
          <a:prstGeom prst="roundRect">
            <a:avLst>
              <a:gd name="adj" fmla="val 1554"/>
            </a:avLst>
          </a:prstGeom>
          <a:solidFill>
            <a:srgbClr val="F4F8FC"/>
          </a:solidFill>
          <a:ln w="12700">
            <a:solidFill>
              <a:srgbClr val="DCE9F7"/>
            </a:solidFill>
            <a:prstDash val="solid"/>
          </a:ln>
        </p:spPr>
      </p:sp>
      <p:sp>
        <p:nvSpPr>
          <p:cNvPr id="7" name="Shape 5"/>
          <p:cNvSpPr/>
          <p:nvPr/>
        </p:nvSpPr>
        <p:spPr>
          <a:xfrm>
            <a:off x="822960" y="1773936"/>
            <a:ext cx="402336" cy="402336"/>
          </a:xfrm>
          <a:prstGeom prst="ellipse">
            <a:avLst/>
          </a:prstGeom>
          <a:solidFill>
            <a:srgbClr val="15406B"/>
          </a:solidFill>
          <a:ln w="12700">
            <a:solidFill>
              <a:srgbClr val="333333"/>
            </a:solidFill>
            <a:prstDash val="solid"/>
          </a:ln>
        </p:spPr>
      </p:sp>
      <p:sp>
        <p:nvSpPr>
          <p:cNvPr id="8" name="Text 6"/>
          <p:cNvSpPr txBox="1"/>
          <p:nvPr/>
        </p:nvSpPr>
        <p:spPr>
          <a:xfrm>
            <a:off x="822960"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44168" y="1773936"/>
            <a:ext cx="2527706" cy="402336"/>
          </a:xfrm>
          <a:prstGeom prst="rect">
            <a:avLst/>
          </a:prstGeom>
          <a:noFill/>
          <a:ln/>
        </p:spPr>
        <p:txBody>
          <a:bodyPr wrap="square" lIns="0" tIns="0" rIns="0" bIns="0" rtlCol="0" anchor="ctr"/>
          <a:lstStyle/>
          <a:p>
            <a:pPr indent="0" marL="0">
              <a:buNone/>
            </a:pPr>
            <a:r>
              <a:rPr lang="en-US" sz="1800" b="1" dirty="0">
                <a:solidFill>
                  <a:srgbClr val="15406B"/>
                </a:solidFill>
                <a:latin typeface="Calibri" pitchFamily="34" charset="0"/>
                <a:ea typeface="Calibri" pitchFamily="34" charset="-122"/>
                <a:cs typeface="Calibri" pitchFamily="34" charset="-120"/>
              </a:rPr>
              <a:t>Trazabilidad</a:t>
            </a:r>
            <a:endParaRPr lang="en-US" sz="1800" dirty="0"/>
          </a:p>
        </p:txBody>
      </p:sp>
      <p:sp>
        <p:nvSpPr>
          <p:cNvPr id="10" name="Text 8"/>
          <p:cNvSpPr txBox="1"/>
          <p:nvPr/>
        </p:nvSpPr>
        <p:spPr>
          <a:xfrm>
            <a:off x="822960" y="2386584"/>
            <a:ext cx="3021482" cy="201168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El estado real de la instalación no está disponible en tiempo real. Genera reclamos duplicados y consultas manuales entre Operaciones, NOC y Comercial.</a:t>
            </a:r>
            <a:endParaRPr lang="en-US" sz="1300" dirty="0"/>
          </a:p>
        </p:txBody>
      </p:sp>
      <p:sp>
        <p:nvSpPr>
          <p:cNvPr id="11" name="Text 9"/>
          <p:cNvSpPr txBox="1"/>
          <p:nvPr/>
        </p:nvSpPr>
        <p:spPr>
          <a:xfrm>
            <a:off x="822960" y="4517136"/>
            <a:ext cx="3021482" cy="292608"/>
          </a:xfrm>
          <a:prstGeom prst="rect">
            <a:avLst/>
          </a:prstGeom>
          <a:noFill/>
          <a:ln/>
        </p:spPr>
        <p:txBody>
          <a:bodyPr wrap="square" lIns="0" tIns="0" rIns="0" bIns="0" rtlCol="0" anchor="ctr"/>
          <a:lstStyle/>
          <a:p>
            <a:pPr indent="0" marL="0">
              <a:buNone/>
            </a:pPr>
            <a:r>
              <a:rPr lang="en-US" sz="1150" b="1" dirty="0">
                <a:solidFill>
                  <a:srgbClr val="B23A2E"/>
                </a:solidFill>
                <a:latin typeface="Calibri" pitchFamily="34" charset="0"/>
                <a:ea typeface="Calibri" pitchFamily="34" charset="-122"/>
                <a:cs typeface="Calibri" pitchFamily="34" charset="-120"/>
              </a:rPr>
              <a:t>Origen de R06</a:t>
            </a:r>
            <a:endParaRPr lang="en-US" sz="1150" dirty="0"/>
          </a:p>
        </p:txBody>
      </p:sp>
      <p:sp>
        <p:nvSpPr>
          <p:cNvPr id="12" name="Shape 10"/>
          <p:cNvSpPr/>
          <p:nvPr/>
        </p:nvSpPr>
        <p:spPr>
          <a:xfrm>
            <a:off x="4329074" y="1517904"/>
            <a:ext cx="3533546" cy="3529584"/>
          </a:xfrm>
          <a:prstGeom prst="roundRect">
            <a:avLst>
              <a:gd name="adj" fmla="val 1554"/>
            </a:avLst>
          </a:prstGeom>
          <a:solidFill>
            <a:srgbClr val="F4F8FC"/>
          </a:solidFill>
          <a:ln w="12700">
            <a:solidFill>
              <a:srgbClr val="DCE9F7"/>
            </a:solidFill>
            <a:prstDash val="solid"/>
          </a:ln>
        </p:spPr>
      </p:sp>
      <p:sp>
        <p:nvSpPr>
          <p:cNvPr id="13" name="Shape 11"/>
          <p:cNvSpPr/>
          <p:nvPr/>
        </p:nvSpPr>
        <p:spPr>
          <a:xfrm>
            <a:off x="4585106" y="1773936"/>
            <a:ext cx="402336" cy="402336"/>
          </a:xfrm>
          <a:prstGeom prst="ellipse">
            <a:avLst/>
          </a:prstGeom>
          <a:solidFill>
            <a:srgbClr val="15406B"/>
          </a:solidFill>
          <a:ln w="12700">
            <a:solidFill>
              <a:srgbClr val="333333"/>
            </a:solidFill>
            <a:prstDash val="solid"/>
          </a:ln>
        </p:spPr>
      </p:sp>
      <p:sp>
        <p:nvSpPr>
          <p:cNvPr id="14" name="Text 12"/>
          <p:cNvSpPr txBox="1"/>
          <p:nvPr/>
        </p:nvSpPr>
        <p:spPr>
          <a:xfrm>
            <a:off x="4585106"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106314" y="1773936"/>
            <a:ext cx="2527706" cy="402336"/>
          </a:xfrm>
          <a:prstGeom prst="rect">
            <a:avLst/>
          </a:prstGeom>
          <a:noFill/>
          <a:ln/>
        </p:spPr>
        <p:txBody>
          <a:bodyPr wrap="square" lIns="0" tIns="0" rIns="0" bIns="0" rtlCol="0" anchor="ctr"/>
          <a:lstStyle/>
          <a:p>
            <a:pPr indent="0" marL="0">
              <a:buNone/>
            </a:pPr>
            <a:r>
              <a:rPr lang="en-US" sz="1800" b="1" dirty="0">
                <a:solidFill>
                  <a:srgbClr val="15406B"/>
                </a:solidFill>
                <a:latin typeface="Calibri" pitchFamily="34" charset="0"/>
                <a:ea typeface="Calibri" pitchFamily="34" charset="-122"/>
                <a:cs typeface="Calibri" pitchFamily="34" charset="-120"/>
              </a:rPr>
              <a:t>Priorización</a:t>
            </a:r>
            <a:endParaRPr lang="en-US" sz="1800" dirty="0"/>
          </a:p>
        </p:txBody>
      </p:sp>
      <p:sp>
        <p:nvSpPr>
          <p:cNvPr id="16" name="Text 14"/>
          <p:cNvSpPr txBox="1"/>
          <p:nvPr/>
        </p:nvSpPr>
        <p:spPr>
          <a:xfrm>
            <a:off x="4585106" y="2386584"/>
            <a:ext cx="3021482" cy="201168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La cola de órdenes de trabajo no tiene criterio de priorización. No es posible siquiera medir el cumplimiento del orden de despacho.</a:t>
            </a:r>
            <a:endParaRPr lang="en-US" sz="1300" dirty="0"/>
          </a:p>
        </p:txBody>
      </p:sp>
      <p:sp>
        <p:nvSpPr>
          <p:cNvPr id="17" name="Text 15"/>
          <p:cNvSpPr txBox="1"/>
          <p:nvPr/>
        </p:nvSpPr>
        <p:spPr>
          <a:xfrm>
            <a:off x="4585106" y="4517136"/>
            <a:ext cx="3021482" cy="292608"/>
          </a:xfrm>
          <a:prstGeom prst="rect">
            <a:avLst/>
          </a:prstGeom>
          <a:noFill/>
          <a:ln/>
        </p:spPr>
        <p:txBody>
          <a:bodyPr wrap="square" lIns="0" tIns="0" rIns="0" bIns="0" rtlCol="0" anchor="ctr"/>
          <a:lstStyle/>
          <a:p>
            <a:pPr indent="0" marL="0">
              <a:buNone/>
            </a:pPr>
            <a:r>
              <a:rPr lang="en-US" sz="1150" b="1" dirty="0">
                <a:solidFill>
                  <a:srgbClr val="B23A2E"/>
                </a:solidFill>
                <a:latin typeface="Calibri" pitchFamily="34" charset="0"/>
                <a:ea typeface="Calibri" pitchFamily="34" charset="-122"/>
                <a:cs typeface="Calibri" pitchFamily="34" charset="-120"/>
              </a:rPr>
              <a:t>R07 · severidad 12</a:t>
            </a:r>
            <a:endParaRPr lang="en-US" sz="1150" dirty="0"/>
          </a:p>
        </p:txBody>
      </p:sp>
      <p:sp>
        <p:nvSpPr>
          <p:cNvPr id="18" name="Shape 16"/>
          <p:cNvSpPr/>
          <p:nvPr/>
        </p:nvSpPr>
        <p:spPr>
          <a:xfrm>
            <a:off x="8091221" y="1517904"/>
            <a:ext cx="3533546" cy="3529584"/>
          </a:xfrm>
          <a:prstGeom prst="roundRect">
            <a:avLst>
              <a:gd name="adj" fmla="val 1554"/>
            </a:avLst>
          </a:prstGeom>
          <a:solidFill>
            <a:srgbClr val="F4F8FC"/>
          </a:solidFill>
          <a:ln w="12700">
            <a:solidFill>
              <a:srgbClr val="DCE9F7"/>
            </a:solidFill>
            <a:prstDash val="solid"/>
          </a:ln>
        </p:spPr>
      </p:sp>
      <p:sp>
        <p:nvSpPr>
          <p:cNvPr id="19" name="Shape 17"/>
          <p:cNvSpPr/>
          <p:nvPr/>
        </p:nvSpPr>
        <p:spPr>
          <a:xfrm>
            <a:off x="8347253" y="1773936"/>
            <a:ext cx="402336" cy="402336"/>
          </a:xfrm>
          <a:prstGeom prst="ellipse">
            <a:avLst/>
          </a:prstGeom>
          <a:solidFill>
            <a:srgbClr val="15406B"/>
          </a:solidFill>
          <a:ln w="12700">
            <a:solidFill>
              <a:srgbClr val="333333"/>
            </a:solidFill>
            <a:prstDash val="solid"/>
          </a:ln>
        </p:spPr>
      </p:sp>
      <p:sp>
        <p:nvSpPr>
          <p:cNvPr id="20" name="Text 18"/>
          <p:cNvSpPr txBox="1"/>
          <p:nvPr/>
        </p:nvSpPr>
        <p:spPr>
          <a:xfrm>
            <a:off x="8347253" y="17739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868461" y="1773936"/>
            <a:ext cx="2527706" cy="402336"/>
          </a:xfrm>
          <a:prstGeom prst="rect">
            <a:avLst/>
          </a:prstGeom>
          <a:noFill/>
          <a:ln/>
        </p:spPr>
        <p:txBody>
          <a:bodyPr wrap="square" lIns="0" tIns="0" rIns="0" bIns="0" rtlCol="0" anchor="ctr"/>
          <a:lstStyle/>
          <a:p>
            <a:pPr indent="0" marL="0">
              <a:buNone/>
            </a:pPr>
            <a:r>
              <a:rPr lang="en-US" sz="1800" b="1" dirty="0">
                <a:solidFill>
                  <a:srgbClr val="15406B"/>
                </a:solidFill>
                <a:latin typeface="Calibri" pitchFamily="34" charset="0"/>
                <a:ea typeface="Calibri" pitchFamily="34" charset="-122"/>
                <a:cs typeface="Calibri" pitchFamily="34" charset="-120"/>
              </a:rPr>
              <a:t>Competencias</a:t>
            </a:r>
            <a:endParaRPr lang="en-US" sz="1800" dirty="0"/>
          </a:p>
        </p:txBody>
      </p:sp>
      <p:sp>
        <p:nvSpPr>
          <p:cNvPr id="22" name="Text 20"/>
          <p:cNvSpPr txBox="1"/>
          <p:nvPr/>
        </p:nvSpPr>
        <p:spPr>
          <a:xfrm>
            <a:off x="8347253" y="2386584"/>
            <a:ext cx="3021482" cy="201168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No se controla la competencia técnica al asignar una orden: técnico sin capacitación en el nuevo modelo de ONT.</a:t>
            </a:r>
            <a:endParaRPr lang="en-US" sz="1300" dirty="0"/>
          </a:p>
        </p:txBody>
      </p:sp>
      <p:sp>
        <p:nvSpPr>
          <p:cNvPr id="23" name="Text 21"/>
          <p:cNvSpPr txBox="1"/>
          <p:nvPr/>
        </p:nvSpPr>
        <p:spPr>
          <a:xfrm>
            <a:off x="8347253" y="4517136"/>
            <a:ext cx="3021482" cy="292608"/>
          </a:xfrm>
          <a:prstGeom prst="rect">
            <a:avLst/>
          </a:prstGeom>
          <a:noFill/>
          <a:ln/>
        </p:spPr>
        <p:txBody>
          <a:bodyPr wrap="square" lIns="0" tIns="0" rIns="0" bIns="0" rtlCol="0" anchor="ctr"/>
          <a:lstStyle/>
          <a:p>
            <a:pPr indent="0" marL="0">
              <a:buNone/>
            </a:pPr>
            <a:r>
              <a:rPr lang="en-US" sz="1150" b="1" dirty="0">
                <a:solidFill>
                  <a:srgbClr val="B23A2E"/>
                </a:solidFill>
                <a:latin typeface="Calibri" pitchFamily="34" charset="0"/>
                <a:ea typeface="Calibri" pitchFamily="34" charset="-122"/>
                <a:cs typeface="Calibri" pitchFamily="34" charset="-120"/>
              </a:rPr>
              <a:t>R04 · severidad 12</a:t>
            </a:r>
            <a:endParaRPr lang="en-US" sz="1150" dirty="0"/>
          </a:p>
        </p:txBody>
      </p:sp>
      <p:sp>
        <p:nvSpPr>
          <p:cNvPr id="24" name="Shape 22"/>
          <p:cNvSpPr/>
          <p:nvPr/>
        </p:nvSpPr>
        <p:spPr>
          <a:xfrm>
            <a:off x="566928" y="5230368"/>
            <a:ext cx="11057839" cy="1170432"/>
          </a:xfrm>
          <a:prstGeom prst="roundRect">
            <a:avLst>
              <a:gd name="adj" fmla="val 4688"/>
            </a:avLst>
          </a:prstGeom>
          <a:solidFill>
            <a:srgbClr val="15406B"/>
          </a:solidFill>
          <a:ln w="12700">
            <a:solidFill>
              <a:srgbClr val="15406B"/>
            </a:solidFill>
            <a:prstDash val="solid"/>
          </a:ln>
        </p:spPr>
      </p:sp>
      <p:sp>
        <p:nvSpPr>
          <p:cNvPr id="25" name="Text 23"/>
          <p:cNvSpPr txBox="1"/>
          <p:nvPr/>
        </p:nvSpPr>
        <p:spPr>
          <a:xfrm>
            <a:off x="859536" y="5230368"/>
            <a:ext cx="10472623" cy="117043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R04 y R07 fueron identificados y valorados en la Etapa 2 y quedaron sin planilla de tratamiento. </a:t>
            </a:r>
            <a:pPr indent="0" marL="0">
              <a:buNone/>
            </a:pPr>
            <a:r>
              <a:rPr lang="en-US" sz="1500" b="1" dirty="0">
                <a:solidFill>
                  <a:srgbClr val="DCE9F7"/>
                </a:solidFill>
                <a:latin typeface="Calibri" pitchFamily="34" charset="0"/>
                <a:ea typeface="Calibri" pitchFamily="34" charset="-122"/>
                <a:cs typeface="Calibri" pitchFamily="34" charset="-120"/>
              </a:rPr>
              <a:t>Este proyecto es el tratamiento de ambos.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El proyecto propuesto</a:t>
            </a:r>
            <a:endParaRPr lang="en-US" sz="2900" dirty="0"/>
          </a:p>
        </p:txBody>
      </p:sp>
      <p:sp>
        <p:nvSpPr>
          <p:cNvPr id="5" name="Shape 3"/>
          <p:cNvSpPr/>
          <p:nvPr/>
        </p:nvSpPr>
        <p:spPr>
          <a:xfrm>
            <a:off x="566928" y="1097280"/>
            <a:ext cx="11057839" cy="868680"/>
          </a:xfrm>
          <a:prstGeom prst="roundRect">
            <a:avLst>
              <a:gd name="adj" fmla="val 6316"/>
            </a:avLst>
          </a:prstGeom>
          <a:solidFill>
            <a:srgbClr val="15406B"/>
          </a:solidFill>
          <a:ln w="12700">
            <a:solidFill>
              <a:srgbClr val="15406B"/>
            </a:solidFill>
            <a:prstDash val="solid"/>
          </a:ln>
        </p:spPr>
      </p:sp>
      <p:sp>
        <p:nvSpPr>
          <p:cNvPr id="6" name="Text 4"/>
          <p:cNvSpPr txBox="1"/>
          <p:nvPr/>
        </p:nvSpPr>
        <p:spPr>
          <a:xfrm>
            <a:off x="859536" y="1097280"/>
            <a:ext cx="10472623" cy="86868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Plataforma de gestión de órdenes de trabajo con aplicación móvil de campo</a:t>
            </a:r>
            <a:endParaRPr lang="en-US" sz="2100" dirty="0"/>
          </a:p>
        </p:txBody>
      </p:sp>
      <p:sp>
        <p:nvSpPr>
          <p:cNvPr id="7" name="Shape 5"/>
          <p:cNvSpPr/>
          <p:nvPr/>
        </p:nvSpPr>
        <p:spPr>
          <a:xfrm>
            <a:off x="566928" y="2176272"/>
            <a:ext cx="5391760" cy="3694176"/>
          </a:xfrm>
          <a:prstGeom prst="roundRect">
            <a:avLst>
              <a:gd name="adj" fmla="val 1485"/>
            </a:avLst>
          </a:prstGeom>
          <a:solidFill>
            <a:srgbClr val="F4F8FC"/>
          </a:solidFill>
          <a:ln w="12700">
            <a:solidFill>
              <a:srgbClr val="DCE9F7"/>
            </a:solidFill>
            <a:prstDash val="solid"/>
          </a:ln>
        </p:spPr>
      </p:sp>
      <p:sp>
        <p:nvSpPr>
          <p:cNvPr id="8" name="Text 6"/>
          <p:cNvSpPr txBox="1"/>
          <p:nvPr/>
        </p:nvSpPr>
        <p:spPr>
          <a:xfrm>
            <a:off x="841248" y="2377440"/>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QUÉ INCLUYE</a:t>
            </a:r>
            <a:endParaRPr lang="en-US" sz="1150" dirty="0"/>
          </a:p>
        </p:txBody>
      </p:sp>
      <p:sp>
        <p:nvSpPr>
          <p:cNvPr id="9" name="Text 7"/>
          <p:cNvSpPr txBox="1"/>
          <p:nvPr/>
        </p:nvSpPr>
        <p:spPr>
          <a:xfrm>
            <a:off x="841248" y="2743200"/>
            <a:ext cx="484312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Despacho y priorización con cola única</a:t>
            </a:r>
            <a:endParaRPr lang="en-US" sz="1250" dirty="0"/>
          </a:p>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Motor de asignación por competencia certificada, zona, carga y ventana horaria</a:t>
            </a:r>
            <a:endParaRPr lang="en-US" sz="1250" dirty="0"/>
          </a:p>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Aplicación móvil offline-first: checklist por modelo de ONT, mediciones ópticas, evidencia fotográfica y conformidad del cliente</a:t>
            </a:r>
            <a:endParaRPr lang="en-US" sz="1250" dirty="0"/>
          </a:p>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Integraciones con SGOT, CRM, base de datos y NMS</a:t>
            </a:r>
            <a:endParaRPr lang="en-US" sz="1250" dirty="0"/>
          </a:p>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SSO, doble factor y baja automática de credenciales</a:t>
            </a:r>
            <a:endParaRPr lang="en-US" sz="1250" dirty="0"/>
          </a:p>
          <a:p>
            <a:pPr marL="342900" indent="-342900">
              <a:spcAft>
                <a:spcPts val="800"/>
              </a:spcAft>
              <a:buSzPct val="100000"/>
              <a:buChar char="•"/>
            </a:pPr>
            <a:r>
              <a:rPr lang="en-US" sz="1250" dirty="0">
                <a:solidFill>
                  <a:srgbClr val="2A3B4D"/>
                </a:solidFill>
                <a:latin typeface="Calibri" pitchFamily="34" charset="0"/>
                <a:ea typeface="Calibri" pitchFamily="34" charset="-122"/>
                <a:cs typeface="Calibri" pitchFamily="34" charset="-120"/>
              </a:rPr>
              <a:t>Tablero de indicadores</a:t>
            </a:r>
            <a:endParaRPr lang="en-US" sz="1250" dirty="0"/>
          </a:p>
        </p:txBody>
      </p:sp>
      <p:sp>
        <p:nvSpPr>
          <p:cNvPr id="10" name="Shape 8"/>
          <p:cNvSpPr/>
          <p:nvPr/>
        </p:nvSpPr>
        <p:spPr>
          <a:xfrm>
            <a:off x="6233008" y="2176272"/>
            <a:ext cx="5391760" cy="3694176"/>
          </a:xfrm>
          <a:prstGeom prst="roundRect">
            <a:avLst>
              <a:gd name="adj" fmla="val 1485"/>
            </a:avLst>
          </a:prstGeom>
          <a:solidFill>
            <a:srgbClr val="F4F8FC"/>
          </a:solidFill>
          <a:ln w="12700">
            <a:solidFill>
              <a:srgbClr val="DCE9F7"/>
            </a:solidFill>
            <a:prstDash val="solid"/>
          </a:ln>
        </p:spPr>
      </p:sp>
      <p:sp>
        <p:nvSpPr>
          <p:cNvPr id="11" name="Text 9"/>
          <p:cNvSpPr txBox="1"/>
          <p:nvPr/>
        </p:nvSpPr>
        <p:spPr>
          <a:xfrm>
            <a:off x="6507328" y="2377440"/>
            <a:ext cx="4843120" cy="237744"/>
          </a:xfrm>
          <a:prstGeom prst="rect">
            <a:avLst/>
          </a:prstGeom>
          <a:noFill/>
          <a:ln/>
        </p:spPr>
        <p:txBody>
          <a:bodyPr wrap="square" lIns="0" tIns="0" rIns="0" bIns="0" rtlCol="0" anchor="ctr"/>
          <a:lstStyle/>
          <a:p>
            <a:pPr indent="0" marL="0">
              <a:buNone/>
            </a:pPr>
            <a:r>
              <a:rPr lang="en-US" sz="1150" b="1" spc="80" kern="0" dirty="0">
                <a:solidFill>
                  <a:srgbClr val="4C6480"/>
                </a:solidFill>
                <a:latin typeface="Calibri" pitchFamily="34" charset="0"/>
                <a:ea typeface="Calibri" pitchFamily="34" charset="-122"/>
                <a:cs typeface="Calibri" pitchFamily="34" charset="-120"/>
              </a:rPr>
              <a:t>QUÉ NO INCLUYE</a:t>
            </a:r>
            <a:endParaRPr lang="en-US" sz="1150" dirty="0"/>
          </a:p>
        </p:txBody>
      </p:sp>
      <p:sp>
        <p:nvSpPr>
          <p:cNvPr id="12" name="Text 10"/>
          <p:cNvSpPr txBox="1"/>
          <p:nvPr/>
        </p:nvSpPr>
        <p:spPr>
          <a:xfrm>
            <a:off x="6507328" y="2743200"/>
            <a:ext cx="4843120" cy="29260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Reemplazo o migración del CRM, del SGOT o de la base de datos</a:t>
            </a:r>
            <a:endParaRPr lang="en-US" sz="1250" dirty="0"/>
          </a:p>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Rediseño del escalamiento del CRM (R06), que ya tiene plan propio</a:t>
            </a:r>
            <a:endParaRPr lang="en-US" sz="1250" dirty="0"/>
          </a:p>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Obra civil, tendido troncal y ampliación de nodos (R11)</a:t>
            </a:r>
            <a:endParaRPr lang="en-US" sz="1250" dirty="0"/>
          </a:p>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Reemplazo del firewall (R03) y redundancia del balanceador (R09)</a:t>
            </a:r>
            <a:endParaRPr lang="en-US" sz="1250" dirty="0"/>
          </a:p>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Otros procesos de campo: reparaciones, mudanzas y desinstalaciones</a:t>
            </a:r>
            <a:endParaRPr lang="en-US" sz="1250" dirty="0"/>
          </a:p>
          <a:p>
            <a:pPr marL="342900" indent="-342900">
              <a:spcAft>
                <a:spcPts val="800"/>
              </a:spcAft>
              <a:buSzPct val="100000"/>
              <a:buChar char="•"/>
            </a:pPr>
            <a:r>
              <a:rPr lang="en-US" sz="1250" dirty="0">
                <a:solidFill>
                  <a:srgbClr val="4C6480"/>
                </a:solidFill>
                <a:latin typeface="Calibri" pitchFamily="34" charset="0"/>
                <a:ea typeface="Calibri" pitchFamily="34" charset="-122"/>
                <a:cs typeface="Calibri" pitchFamily="34" charset="-120"/>
              </a:rPr>
              <a:t>Vehículos y fusionadoras</a:t>
            </a:r>
            <a:endParaRPr lang="en-US" sz="1250" dirty="0"/>
          </a:p>
        </p:txBody>
      </p:sp>
      <p:sp>
        <p:nvSpPr>
          <p:cNvPr id="13" name="Text 11"/>
          <p:cNvSpPr txBox="1"/>
          <p:nvPr/>
        </p:nvSpPr>
        <p:spPr>
          <a:xfrm>
            <a:off x="566928" y="6053328"/>
            <a:ext cx="11057839" cy="45720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Interviene las actividades 3 a 9 del proceso modelado en la Etapa 1. Las actividades 1 y 2 —recepción de la solicitud y verificación de cobertura— siguen en el CRM.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Objetivos</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Cada uno con indicador, línea base, meta y plazo. Las líneas base se declaran como supuestos: su medición es un entregable de la fase 2.</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566928"/>
                <a:gridCol w="2606040"/>
                <a:gridCol w="2788920"/>
                <a:gridCol w="2286000"/>
                <a:gridCol w="1508760"/>
                <a:gridCol w="1298448"/>
              </a:tblGrid>
              <a:tr h="530352">
                <a:tc>
                  <a:txBody>
                    <a:bodyPr/>
                    <a:lstStyle/>
                    <a:p>
                      <a:pPr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Objetivo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Indicador</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Línea base</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Meta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Plazo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r>
              <a:tr h="960120">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O1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Aumentar la productividad del técnico de campo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Instalaciones conformes ÷ horas-técnico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0,50 inst./h  (supuesto)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0,525  (+5%)</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6 meses desde producción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960120">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O2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Reducir la latencia de registro del cierre de la orden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 cerradas dentro de los 15 min · tiempo asignación→cierre</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20%  ·  26 h  (supuesto)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≥90%  ·  ≤8 h</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Mes 4, sostenido 3 meses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960120">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O3</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Reducir las visitas fallidas por causa evitable</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Reprogramadas por falta de competencia o kit ÷ despachadas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12%  (supuesto)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6 meses desde producción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960120">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O4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Asegurar el cumplimiento de la priorización de la cola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 despachadas según el motor · cumplimiento del SLA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B23A2E"/>
                          </a:solidFill>
                          <a:latin typeface="Calibri" pitchFamily="34" charset="0"/>
                          <a:ea typeface="Calibri" pitchFamily="34" charset="-122"/>
                          <a:cs typeface="Calibri" pitchFamily="34" charset="-120"/>
                        </a:rPr>
                        <a:t>No medible hoy — esa imposibilidad es R07</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≥95%  ·  ≥90%</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Mes 3 desde producción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6928" y="6144768"/>
            <a:ext cx="11057839" cy="45720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O1 comparte indicador con el objetivo de negocio comprometido en la Etapa 1. O4 no tiene línea base porque la imposibilidad de medirlo es, precisamente, la definición del riesgo R07.</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Alternativas y selección</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Tres proyectos de TI que atacan problemas distintos de la organización, todos detectados en el análisis de riesgos de la Etapa 2</a:t>
            </a:r>
            <a:endParaRPr lang="en-US" sz="1250" dirty="0"/>
          </a:p>
        </p:txBody>
      </p:sp>
      <p:sp>
        <p:nvSpPr>
          <p:cNvPr id="6" name="Shape 4"/>
          <p:cNvSpPr/>
          <p:nvPr/>
        </p:nvSpPr>
        <p:spPr>
          <a:xfrm>
            <a:off x="566928" y="1517904"/>
            <a:ext cx="11057839" cy="987552"/>
          </a:xfrm>
          <a:prstGeom prst="roundRect">
            <a:avLst>
              <a:gd name="adj" fmla="val 5556"/>
            </a:avLst>
          </a:prstGeom>
          <a:solidFill>
            <a:srgbClr val="DCE9F7"/>
          </a:solidFill>
          <a:ln w="12700">
            <a:solidFill>
              <a:srgbClr val="5B7FA6"/>
            </a:solidFill>
            <a:prstDash val="solid"/>
          </a:ln>
        </p:spPr>
      </p:sp>
      <p:sp>
        <p:nvSpPr>
          <p:cNvPr id="7" name="Shape 5"/>
          <p:cNvSpPr/>
          <p:nvPr/>
        </p:nvSpPr>
        <p:spPr>
          <a:xfrm>
            <a:off x="804672" y="1792224"/>
            <a:ext cx="438912" cy="438912"/>
          </a:xfrm>
          <a:prstGeom prst="ellipse">
            <a:avLst/>
          </a:prstGeom>
          <a:solidFill>
            <a:srgbClr val="15406B"/>
          </a:solidFill>
          <a:ln w="12700">
            <a:solidFill>
              <a:srgbClr val="333333"/>
            </a:solidFill>
            <a:prstDash val="solid"/>
          </a:ln>
        </p:spPr>
      </p:sp>
      <p:sp>
        <p:nvSpPr>
          <p:cNvPr id="8" name="Text 6"/>
          <p:cNvSpPr txBox="1"/>
          <p:nvPr/>
        </p:nvSpPr>
        <p:spPr>
          <a:xfrm>
            <a:off x="804672" y="17922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89888" y="1591056"/>
            <a:ext cx="4297680" cy="84124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Plataforma de gestión de órdenes con aplicación móvil de campo</a:t>
            </a:r>
            <a:endParaRPr lang="en-US" sz="1350" dirty="0"/>
          </a:p>
        </p:txBody>
      </p:sp>
      <p:sp>
        <p:nvSpPr>
          <p:cNvPr id="10" name="Text 8"/>
          <p:cNvSpPr txBox="1"/>
          <p:nvPr/>
        </p:nvSpPr>
        <p:spPr>
          <a:xfrm>
            <a:off x="5779008" y="1591056"/>
            <a:ext cx="4709160" cy="841248"/>
          </a:xfrm>
          <a:prstGeom prst="rect">
            <a:avLst/>
          </a:prstGeom>
          <a:noFill/>
          <a:ln/>
        </p:spPr>
        <p:txBody>
          <a:bodyPr wrap="square" lIns="0" tIns="0" rIns="0" bIns="0" rtlCol="0" anchor="ctr"/>
          <a:lstStyle/>
          <a:p>
            <a:pPr indent="0" marL="0">
              <a:buNone/>
            </a:pPr>
            <a:r>
              <a:rPr lang="en-US" sz="1200" dirty="0">
                <a:solidFill>
                  <a:srgbClr val="15406B"/>
                </a:solidFill>
                <a:latin typeface="Calibri" pitchFamily="34" charset="0"/>
                <a:ea typeface="Calibri" pitchFamily="34" charset="-122"/>
                <a:cs typeface="Calibri" pitchFamily="34" charset="-120"/>
              </a:rPr>
              <a:t>Trazabilidad, priorización (R07) y control de competencias (R04)</a:t>
            </a:r>
            <a:endParaRPr lang="en-US" sz="1200" dirty="0"/>
          </a:p>
        </p:txBody>
      </p:sp>
      <p:sp>
        <p:nvSpPr>
          <p:cNvPr id="11" name="Text 9"/>
          <p:cNvSpPr txBox="1"/>
          <p:nvPr/>
        </p:nvSpPr>
        <p:spPr>
          <a:xfrm>
            <a:off x="10116007" y="1591056"/>
            <a:ext cx="1280160" cy="841248"/>
          </a:xfrm>
          <a:prstGeom prst="rect">
            <a:avLst/>
          </a:prstGeom>
          <a:noFill/>
          <a:ln/>
        </p:spPr>
        <p:txBody>
          <a:bodyPr wrap="square" lIns="0" tIns="0" rIns="0" bIns="0" rtlCol="0" anchor="ctr"/>
          <a:lstStyle/>
          <a:p>
            <a:pPr algn="r" indent="0" marL="0">
              <a:buNone/>
            </a:pPr>
            <a:r>
              <a:rPr lang="en-US" sz="1150" b="1" dirty="0">
                <a:solidFill>
                  <a:srgbClr val="B23A2E"/>
                </a:solidFill>
                <a:latin typeface="Calibri" pitchFamily="34" charset="0"/>
                <a:ea typeface="Calibri" pitchFamily="34" charset="-122"/>
                <a:cs typeface="Calibri" pitchFamily="34" charset="-120"/>
              </a:rPr>
              <a:t>SELECCIONADA</a:t>
            </a:r>
            <a:endParaRPr lang="en-US" sz="1150" dirty="0"/>
          </a:p>
        </p:txBody>
      </p:sp>
      <p:sp>
        <p:nvSpPr>
          <p:cNvPr id="12" name="Shape 10"/>
          <p:cNvSpPr/>
          <p:nvPr/>
        </p:nvSpPr>
        <p:spPr>
          <a:xfrm>
            <a:off x="566928" y="2615184"/>
            <a:ext cx="11057839" cy="987552"/>
          </a:xfrm>
          <a:prstGeom prst="roundRect">
            <a:avLst>
              <a:gd name="adj" fmla="val 5556"/>
            </a:avLst>
          </a:prstGeom>
          <a:solidFill>
            <a:srgbClr val="F4F8FC"/>
          </a:solidFill>
          <a:ln w="12700">
            <a:solidFill>
              <a:srgbClr val="DCE9F7"/>
            </a:solidFill>
            <a:prstDash val="solid"/>
          </a:ln>
        </p:spPr>
      </p:sp>
      <p:sp>
        <p:nvSpPr>
          <p:cNvPr id="13" name="Shape 11"/>
          <p:cNvSpPr/>
          <p:nvPr/>
        </p:nvSpPr>
        <p:spPr>
          <a:xfrm>
            <a:off x="804672" y="2889504"/>
            <a:ext cx="438912" cy="438912"/>
          </a:xfrm>
          <a:prstGeom prst="ellipse">
            <a:avLst/>
          </a:prstGeom>
          <a:solidFill>
            <a:srgbClr val="AFC6DC"/>
          </a:solidFill>
          <a:ln w="12700">
            <a:solidFill>
              <a:srgbClr val="333333"/>
            </a:solidFill>
            <a:prstDash val="solid"/>
          </a:ln>
        </p:spPr>
      </p:sp>
      <p:sp>
        <p:nvSpPr>
          <p:cNvPr id="14" name="Text 12"/>
          <p:cNvSpPr txBox="1"/>
          <p:nvPr/>
        </p:nvSpPr>
        <p:spPr>
          <a:xfrm>
            <a:off x="804672" y="288950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1389888" y="2688336"/>
            <a:ext cx="4297680" cy="84124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Seguridad perimetral y gestión de identidades</a:t>
            </a:r>
            <a:endParaRPr lang="en-US" sz="1350" dirty="0"/>
          </a:p>
        </p:txBody>
      </p:sp>
      <p:sp>
        <p:nvSpPr>
          <p:cNvPr id="16" name="Text 14"/>
          <p:cNvSpPr txBox="1"/>
          <p:nvPr/>
        </p:nvSpPr>
        <p:spPr>
          <a:xfrm>
            <a:off x="5779008" y="2688336"/>
            <a:ext cx="4709160" cy="841248"/>
          </a:xfrm>
          <a:prstGeom prst="rect">
            <a:avLst/>
          </a:prstGeom>
          <a:noFill/>
          <a:ln/>
        </p:spPr>
        <p:txBody>
          <a:bodyPr wrap="square" lIns="0" tIns="0" rIns="0" bIns="0" rtlCol="0" anchor="ctr"/>
          <a:lstStyle/>
          <a:p>
            <a:pPr indent="0" marL="0">
              <a:buNone/>
            </a:pPr>
            <a:r>
              <a:rPr lang="en-US" sz="1200" dirty="0">
                <a:solidFill>
                  <a:srgbClr val="4C6480"/>
                </a:solidFill>
                <a:latin typeface="Calibri" pitchFamily="34" charset="0"/>
                <a:ea typeface="Calibri" pitchFamily="34" charset="-122"/>
                <a:cs typeface="Calibri" pitchFamily="34" charset="-120"/>
              </a:rPr>
              <a:t>Perímetro obsoleto sin soporte (R03) y credenciales de contratistas que sobreviven al contrato (R05) — severidad 15</a:t>
            </a:r>
            <a:endParaRPr lang="en-US" sz="1200" dirty="0"/>
          </a:p>
        </p:txBody>
      </p:sp>
      <p:sp>
        <p:nvSpPr>
          <p:cNvPr id="17" name="Text 15"/>
          <p:cNvSpPr txBox="1"/>
          <p:nvPr/>
        </p:nvSpPr>
        <p:spPr>
          <a:xfrm>
            <a:off x="10116007" y="2688336"/>
            <a:ext cx="1280160" cy="841248"/>
          </a:xfrm>
          <a:prstGeom prst="rect">
            <a:avLst/>
          </a:prstGeom>
          <a:noFill/>
          <a:ln/>
        </p:spPr>
        <p:txBody>
          <a:bodyPr wrap="square" lIns="0" tIns="0" rIns="0" bIns="0" rtlCol="0" anchor="ctr"/>
          <a:lstStyle/>
          <a:p>
            <a:pPr algn="r" indent="0" marL="0">
              <a:buNone/>
            </a:pPr>
            <a:r>
              <a:rPr lang="en-US" sz="1200" dirty="0">
                <a:solidFill>
                  <a:srgbClr val="4C6480"/>
                </a:solidFill>
                <a:latin typeface="Calibri" pitchFamily="34" charset="0"/>
                <a:ea typeface="Calibri" pitchFamily="34" charset="-122"/>
                <a:cs typeface="Calibri" pitchFamily="34" charset="-120"/>
              </a:rPr>
              <a:t>Mencionada</a:t>
            </a:r>
            <a:endParaRPr lang="en-US" sz="1200" dirty="0"/>
          </a:p>
        </p:txBody>
      </p:sp>
      <p:sp>
        <p:nvSpPr>
          <p:cNvPr id="18" name="Shape 16"/>
          <p:cNvSpPr/>
          <p:nvPr/>
        </p:nvSpPr>
        <p:spPr>
          <a:xfrm>
            <a:off x="566928" y="3712464"/>
            <a:ext cx="11057839" cy="987552"/>
          </a:xfrm>
          <a:prstGeom prst="roundRect">
            <a:avLst>
              <a:gd name="adj" fmla="val 5556"/>
            </a:avLst>
          </a:prstGeom>
          <a:solidFill>
            <a:srgbClr val="F4F8FC"/>
          </a:solidFill>
          <a:ln w="12700">
            <a:solidFill>
              <a:srgbClr val="DCE9F7"/>
            </a:solidFill>
            <a:prstDash val="solid"/>
          </a:ln>
        </p:spPr>
      </p:sp>
      <p:sp>
        <p:nvSpPr>
          <p:cNvPr id="19" name="Shape 17"/>
          <p:cNvSpPr/>
          <p:nvPr/>
        </p:nvSpPr>
        <p:spPr>
          <a:xfrm>
            <a:off x="804672" y="3986784"/>
            <a:ext cx="438912" cy="438912"/>
          </a:xfrm>
          <a:prstGeom prst="ellipse">
            <a:avLst/>
          </a:prstGeom>
          <a:solidFill>
            <a:srgbClr val="AFC6DC"/>
          </a:solidFill>
          <a:ln w="12700">
            <a:solidFill>
              <a:srgbClr val="333333"/>
            </a:solidFill>
            <a:prstDash val="solid"/>
          </a:ln>
        </p:spPr>
      </p:sp>
      <p:sp>
        <p:nvSpPr>
          <p:cNvPr id="20" name="Text 18"/>
          <p:cNvSpPr txBox="1"/>
          <p:nvPr/>
        </p:nvSpPr>
        <p:spPr>
          <a:xfrm>
            <a:off x="804672" y="3986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1389888" y="3785616"/>
            <a:ext cx="4297680" cy="84124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Capacidad y mantenimiento preventivo de planta externa</a:t>
            </a:r>
            <a:endParaRPr lang="en-US" sz="1350" dirty="0"/>
          </a:p>
        </p:txBody>
      </p:sp>
      <p:sp>
        <p:nvSpPr>
          <p:cNvPr id="22" name="Text 20"/>
          <p:cNvSpPr txBox="1"/>
          <p:nvPr/>
        </p:nvSpPr>
        <p:spPr>
          <a:xfrm>
            <a:off x="5779008" y="3785616"/>
            <a:ext cx="4709160" cy="841248"/>
          </a:xfrm>
          <a:prstGeom prst="rect">
            <a:avLst/>
          </a:prstGeom>
          <a:noFill/>
          <a:ln/>
        </p:spPr>
        <p:txBody>
          <a:bodyPr wrap="square" lIns="0" tIns="0" rIns="0" bIns="0" rtlCol="0" anchor="ctr"/>
          <a:lstStyle/>
          <a:p>
            <a:pPr indent="0" marL="0">
              <a:buNone/>
            </a:pPr>
            <a:r>
              <a:rPr lang="en-US" sz="1200" dirty="0">
                <a:solidFill>
                  <a:srgbClr val="4C6480"/>
                </a:solidFill>
                <a:latin typeface="Calibri" pitchFamily="34" charset="0"/>
                <a:ea typeface="Calibri" pitchFamily="34" charset="-122"/>
                <a:cs typeface="Calibri" pitchFamily="34" charset="-120"/>
              </a:rPr>
              <a:t>Nodos que se saturan sin aviso (R11) y fibra que se degrada sin plan de inspección (R08)</a:t>
            </a:r>
            <a:endParaRPr lang="en-US" sz="1200" dirty="0"/>
          </a:p>
        </p:txBody>
      </p:sp>
      <p:sp>
        <p:nvSpPr>
          <p:cNvPr id="23" name="Text 21"/>
          <p:cNvSpPr txBox="1"/>
          <p:nvPr/>
        </p:nvSpPr>
        <p:spPr>
          <a:xfrm>
            <a:off x="10116007" y="3785616"/>
            <a:ext cx="1280160" cy="841248"/>
          </a:xfrm>
          <a:prstGeom prst="rect">
            <a:avLst/>
          </a:prstGeom>
          <a:noFill/>
          <a:ln/>
        </p:spPr>
        <p:txBody>
          <a:bodyPr wrap="square" lIns="0" tIns="0" rIns="0" bIns="0" rtlCol="0" anchor="ctr"/>
          <a:lstStyle/>
          <a:p>
            <a:pPr algn="r" indent="0" marL="0">
              <a:buNone/>
            </a:pPr>
            <a:r>
              <a:rPr lang="en-US" sz="1200" dirty="0">
                <a:solidFill>
                  <a:srgbClr val="4C6480"/>
                </a:solidFill>
                <a:latin typeface="Calibri" pitchFamily="34" charset="0"/>
                <a:ea typeface="Calibri" pitchFamily="34" charset="-122"/>
                <a:cs typeface="Calibri" pitchFamily="34" charset="-120"/>
              </a:rPr>
              <a:t>Mencionada</a:t>
            </a:r>
            <a:endParaRPr lang="en-US" sz="1200" dirty="0"/>
          </a:p>
        </p:txBody>
      </p:sp>
      <p:sp>
        <p:nvSpPr>
          <p:cNvPr id="24" name="Shape 22"/>
          <p:cNvSpPr/>
          <p:nvPr/>
        </p:nvSpPr>
        <p:spPr>
          <a:xfrm>
            <a:off x="566928" y="4956048"/>
            <a:ext cx="5391760" cy="1591056"/>
          </a:xfrm>
          <a:prstGeom prst="roundRect">
            <a:avLst>
              <a:gd name="adj" fmla="val 3448"/>
            </a:avLst>
          </a:prstGeom>
          <a:solidFill>
            <a:srgbClr val="15406B"/>
          </a:solidFill>
          <a:ln w="12700">
            <a:solidFill>
              <a:srgbClr val="15406B"/>
            </a:solidFill>
            <a:prstDash val="solid"/>
          </a:ln>
        </p:spPr>
      </p:sp>
      <p:sp>
        <p:nvSpPr>
          <p:cNvPr id="25" name="Text 23"/>
          <p:cNvSpPr txBox="1"/>
          <p:nvPr/>
        </p:nvSpPr>
        <p:spPr>
          <a:xfrm>
            <a:off x="841248" y="5120640"/>
            <a:ext cx="4843120" cy="237744"/>
          </a:xfrm>
          <a:prstGeom prst="rect">
            <a:avLst/>
          </a:prstGeom>
          <a:noFill/>
          <a:ln/>
        </p:spPr>
        <p:txBody>
          <a:bodyPr wrap="square" lIns="0" tIns="0" rIns="0" bIns="0" rtlCol="0" anchor="ctr"/>
          <a:lstStyle/>
          <a:p>
            <a:pPr indent="0" marL="0">
              <a:buNone/>
            </a:pPr>
            <a:r>
              <a:rPr lang="en-US" sz="1150" b="1" spc="80" kern="0" dirty="0">
                <a:solidFill>
                  <a:srgbClr val="8FB6DA"/>
                </a:solidFill>
                <a:latin typeface="Calibri" pitchFamily="34" charset="0"/>
                <a:ea typeface="Calibri" pitchFamily="34" charset="-122"/>
                <a:cs typeface="Calibri" pitchFamily="34" charset="-120"/>
              </a:rPr>
              <a:t>MODO DE CONSTRUCCIÓN</a:t>
            </a:r>
            <a:endParaRPr lang="en-US" sz="1150" dirty="0"/>
          </a:p>
        </p:txBody>
      </p:sp>
      <p:sp>
        <p:nvSpPr>
          <p:cNvPr id="26" name="Text 24"/>
          <p:cNvSpPr txBox="1"/>
          <p:nvPr/>
        </p:nvSpPr>
        <p:spPr>
          <a:xfrm>
            <a:off x="841248" y="5468112"/>
            <a:ext cx="4843120" cy="960120"/>
          </a:xfrm>
          <a:prstGeom prst="rect">
            <a:avLst/>
          </a:prstGeom>
          <a:noFill/>
          <a:ln/>
        </p:spPr>
        <p:txBody>
          <a:bodyPr wrap="square" lIns="0" tIns="0" rIns="0" bIns="0" rtlCol="0" anchor="t"/>
          <a:lstStyle/>
          <a:p>
            <a:pPr indent="0" marL="0">
              <a:lnSpc>
                <a:spcPct val="108000"/>
              </a:lnSpc>
              <a:buNone/>
            </a:pPr>
            <a:r>
              <a:rPr lang="en-US" sz="1250" dirty="0">
                <a:solidFill>
                  <a:srgbClr val="FFFFFF"/>
                </a:solidFill>
                <a:latin typeface="Calibri" pitchFamily="34" charset="0"/>
                <a:ea typeface="Calibri" pitchFamily="34" charset="-122"/>
                <a:cs typeface="Calibri" pitchFamily="34" charset="-120"/>
              </a:rPr>
              <a:t>SaaS: plataforma de Field Service Management configurable, contratada como servicio. La organización no construye el producto: lo configura, y construye las integraciones y la capa de seguridad.</a:t>
            </a:r>
            <a:endParaRPr lang="en-US" sz="1250" dirty="0"/>
          </a:p>
        </p:txBody>
      </p:sp>
      <p:sp>
        <p:nvSpPr>
          <p:cNvPr id="27" name="Shape 25"/>
          <p:cNvSpPr/>
          <p:nvPr/>
        </p:nvSpPr>
        <p:spPr>
          <a:xfrm>
            <a:off x="6233008" y="4956048"/>
            <a:ext cx="5391760" cy="1591056"/>
          </a:xfrm>
          <a:prstGeom prst="roundRect">
            <a:avLst>
              <a:gd name="adj" fmla="val 3448"/>
            </a:avLst>
          </a:prstGeom>
          <a:solidFill>
            <a:srgbClr val="F4F8FC"/>
          </a:solidFill>
          <a:ln w="12700">
            <a:solidFill>
              <a:srgbClr val="DCE9F7"/>
            </a:solidFill>
            <a:prstDash val="solid"/>
          </a:ln>
        </p:spPr>
      </p:sp>
      <p:sp>
        <p:nvSpPr>
          <p:cNvPr id="28" name="Text 26"/>
          <p:cNvSpPr txBox="1"/>
          <p:nvPr/>
        </p:nvSpPr>
        <p:spPr>
          <a:xfrm>
            <a:off x="6507328" y="5120640"/>
            <a:ext cx="4843120" cy="237744"/>
          </a:xfrm>
          <a:prstGeom prst="rect">
            <a:avLst/>
          </a:prstGeom>
          <a:noFill/>
          <a:ln/>
        </p:spPr>
        <p:txBody>
          <a:bodyPr wrap="square" lIns="0" tIns="0" rIns="0" bIns="0" rtlCol="0" anchor="ctr"/>
          <a:lstStyle/>
          <a:p>
            <a:pPr indent="0" marL="0">
              <a:buNone/>
            </a:pPr>
            <a:r>
              <a:rPr lang="en-US" sz="1150" b="1" spc="80" kern="0" dirty="0">
                <a:solidFill>
                  <a:srgbClr val="B23A2E"/>
                </a:solidFill>
                <a:latin typeface="Calibri" pitchFamily="34" charset="0"/>
                <a:ea typeface="Calibri" pitchFamily="34" charset="-122"/>
                <a:cs typeface="Calibri" pitchFamily="34" charset="-120"/>
              </a:rPr>
              <a:t>CONTRAPARTIDA ASUMIDA</a:t>
            </a:r>
            <a:endParaRPr lang="en-US" sz="1150" dirty="0"/>
          </a:p>
        </p:txBody>
      </p:sp>
      <p:sp>
        <p:nvSpPr>
          <p:cNvPr id="29" name="Text 27"/>
          <p:cNvSpPr txBox="1"/>
          <p:nvPr/>
        </p:nvSpPr>
        <p:spPr>
          <a:xfrm>
            <a:off x="6507328" y="5468112"/>
            <a:ext cx="4843120" cy="960120"/>
          </a:xfrm>
          <a:prstGeom prst="rect">
            <a:avLst/>
          </a:prstGeom>
          <a:noFill/>
          <a:ln/>
        </p:spPr>
        <p:txBody>
          <a:bodyPr wrap="square" lIns="0" tIns="0" rIns="0" bIns="0" rtlCol="0" anchor="t"/>
          <a:lstStyle/>
          <a:p>
            <a:pPr indent="0" marL="0">
              <a:lnSpc>
                <a:spcPct val="108000"/>
              </a:lnSpc>
              <a:buNone/>
            </a:pPr>
            <a:r>
              <a:rPr lang="en-US" sz="1250" dirty="0">
                <a:solidFill>
                  <a:srgbClr val="2A3B4D"/>
                </a:solidFill>
                <a:latin typeface="Calibri" pitchFamily="34" charset="0"/>
                <a:ea typeface="Calibri" pitchFamily="34" charset="-122"/>
                <a:cs typeface="Calibri" pitchFamily="34" charset="-120"/>
              </a:rPr>
              <a:t>Costo recurrente por usuario, dependencia del proveedor y salida de datos personales del perímetro. Esto último agrava R05 y se compensa por vía contractual (punto 8) y en la factibilidad legal.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Ciclo de vida híbrido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No es una elección de compromiso: cada mitad del proyecto tiene una naturaleza distinta y exige un enfoque distinto</a:t>
            </a:r>
            <a:endParaRPr lang="en-US" sz="1250" dirty="0"/>
          </a:p>
        </p:txBody>
      </p:sp>
      <p:sp>
        <p:nvSpPr>
          <p:cNvPr id="6" name="Shape 4"/>
          <p:cNvSpPr/>
          <p:nvPr/>
        </p:nvSpPr>
        <p:spPr>
          <a:xfrm>
            <a:off x="566928" y="1517904"/>
            <a:ext cx="5391760" cy="2487168"/>
          </a:xfrm>
          <a:prstGeom prst="roundRect">
            <a:avLst>
              <a:gd name="adj" fmla="val 2206"/>
            </a:avLst>
          </a:prstGeom>
          <a:solidFill>
            <a:srgbClr val="DCE9F7"/>
          </a:solidFill>
          <a:ln w="12700">
            <a:solidFill>
              <a:srgbClr val="5B7FA6"/>
            </a:solidFill>
            <a:prstDash val="solid"/>
          </a:ln>
        </p:spPr>
      </p:sp>
      <p:sp>
        <p:nvSpPr>
          <p:cNvPr id="7" name="Text 5"/>
          <p:cNvSpPr txBox="1"/>
          <p:nvPr/>
        </p:nvSpPr>
        <p:spPr>
          <a:xfrm>
            <a:off x="841248" y="17007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PREDICTIVO</a:t>
            </a:r>
            <a:endParaRPr lang="en-US" sz="1150" dirty="0"/>
          </a:p>
        </p:txBody>
      </p:sp>
      <p:sp>
        <p:nvSpPr>
          <p:cNvPr id="8" name="Text 6"/>
          <p:cNvSpPr txBox="1"/>
          <p:nvPr/>
        </p:nvSpPr>
        <p:spPr>
          <a:xfrm>
            <a:off x="841248" y="2048256"/>
            <a:ext cx="4843120" cy="77724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Selección y contratación del proveedor, arquitectura de integración, seguridad y cumplimiento normativo.</a:t>
            </a:r>
            <a:endParaRPr lang="en-US" sz="1300" dirty="0"/>
          </a:p>
        </p:txBody>
      </p:sp>
      <p:sp>
        <p:nvSpPr>
          <p:cNvPr id="9" name="Text 7"/>
          <p:cNvSpPr txBox="1"/>
          <p:nvPr/>
        </p:nvSpPr>
        <p:spPr>
          <a:xfrm>
            <a:off x="841248" y="2889504"/>
            <a:ext cx="4843120" cy="100584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Requerimientos estables y cerrables por anticipado, proceso formal de compras con RFI y RFP, evaluación legal por datos personales. Entregables definidos, con aprobaciones secuenciales, que no admiten iteración.</a:t>
            </a:r>
            <a:endParaRPr lang="en-US" sz="1250" dirty="0"/>
          </a:p>
        </p:txBody>
      </p:sp>
      <p:sp>
        <p:nvSpPr>
          <p:cNvPr id="10" name="Shape 8"/>
          <p:cNvSpPr/>
          <p:nvPr/>
        </p:nvSpPr>
        <p:spPr>
          <a:xfrm>
            <a:off x="6233008" y="1517904"/>
            <a:ext cx="5391760" cy="2487168"/>
          </a:xfrm>
          <a:prstGeom prst="roundRect">
            <a:avLst>
              <a:gd name="adj" fmla="val 2206"/>
            </a:avLst>
          </a:prstGeom>
          <a:solidFill>
            <a:srgbClr val="F4F8FC"/>
          </a:solidFill>
          <a:ln w="12700">
            <a:solidFill>
              <a:srgbClr val="DCE9F7"/>
            </a:solidFill>
            <a:prstDash val="solid"/>
          </a:ln>
        </p:spPr>
      </p:sp>
      <p:sp>
        <p:nvSpPr>
          <p:cNvPr id="11" name="Text 9"/>
          <p:cNvSpPr txBox="1"/>
          <p:nvPr/>
        </p:nvSpPr>
        <p:spPr>
          <a:xfrm>
            <a:off x="6507328" y="17007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INCREMENTAL E ITERATIVO</a:t>
            </a:r>
            <a:endParaRPr lang="en-US" sz="1150" dirty="0"/>
          </a:p>
        </p:txBody>
      </p:sp>
      <p:sp>
        <p:nvSpPr>
          <p:cNvPr id="12" name="Text 10"/>
          <p:cNvSpPr txBox="1"/>
          <p:nvPr/>
        </p:nvSpPr>
        <p:spPr>
          <a:xfrm>
            <a:off x="6507328" y="2048256"/>
            <a:ext cx="4843120" cy="77724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Configuración funcional, experiencia de uso de la aplicación de campo, reglas de priorización y asignación, despliegue territorial.</a:t>
            </a:r>
            <a:endParaRPr lang="en-US" sz="1300" dirty="0"/>
          </a:p>
        </p:txBody>
      </p:sp>
      <p:sp>
        <p:nvSpPr>
          <p:cNvPr id="13" name="Text 11"/>
          <p:cNvSpPr txBox="1"/>
          <p:nvPr/>
        </p:nvSpPr>
        <p:spPr>
          <a:xfrm>
            <a:off x="6507328" y="2889504"/>
            <a:ext cx="4843120" cy="100584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La usabilidad con guantes, bajo sol directo y sin conectividad no se especifica por adelantado, y los pesos del motor se calibran con datos reales. Se resuelve con piloto, ajuste y despliegue por olas.</a:t>
            </a:r>
            <a:endParaRPr lang="en-US" sz="1250" dirty="0"/>
          </a:p>
        </p:txBody>
      </p:sp>
      <p:sp>
        <p:nvSpPr>
          <p:cNvPr id="14" name="Shape 12"/>
          <p:cNvSpPr/>
          <p:nvPr/>
        </p:nvSpPr>
        <p:spPr>
          <a:xfrm>
            <a:off x="566928" y="4242816"/>
            <a:ext cx="5391760" cy="2176272"/>
          </a:xfrm>
          <a:prstGeom prst="roundRect">
            <a:avLst>
              <a:gd name="adj" fmla="val 2521"/>
            </a:avLst>
          </a:prstGeom>
          <a:solidFill>
            <a:srgbClr val="F4F8FC"/>
          </a:solidFill>
          <a:ln w="12700">
            <a:solidFill>
              <a:srgbClr val="DCE9F7"/>
            </a:solidFill>
            <a:prstDash val="solid"/>
          </a:ln>
        </p:spPr>
      </p:sp>
      <p:sp>
        <p:nvSpPr>
          <p:cNvPr id="15" name="Text 13"/>
          <p:cNvSpPr txBox="1"/>
          <p:nvPr/>
        </p:nvSpPr>
        <p:spPr>
          <a:xfrm>
            <a:off x="841248" y="4407408"/>
            <a:ext cx="4843120" cy="237744"/>
          </a:xfrm>
          <a:prstGeom prst="rect">
            <a:avLst/>
          </a:prstGeom>
          <a:noFill/>
          <a:ln/>
        </p:spPr>
        <p:txBody>
          <a:bodyPr wrap="square" lIns="0" tIns="0" rIns="0" bIns="0" rtlCol="0" anchor="ctr"/>
          <a:lstStyle/>
          <a:p>
            <a:pPr indent="0" marL="0">
              <a:buNone/>
            </a:pPr>
            <a:r>
              <a:rPr lang="en-US" sz="1150" b="1" spc="80" kern="0" dirty="0">
                <a:solidFill>
                  <a:srgbClr val="B23A2E"/>
                </a:solidFill>
                <a:latin typeface="Calibri" pitchFamily="34" charset="0"/>
                <a:ea typeface="Calibri" pitchFamily="34" charset="-122"/>
                <a:cs typeface="Calibri" pitchFamily="34" charset="-120"/>
              </a:rPr>
              <a:t>POR QUÉ NO CASCADA PURA</a:t>
            </a:r>
            <a:endParaRPr lang="en-US" sz="1150" dirty="0"/>
          </a:p>
        </p:txBody>
      </p:sp>
      <p:sp>
        <p:nvSpPr>
          <p:cNvPr id="16" name="Text 14"/>
          <p:cNvSpPr txBox="1"/>
          <p:nvPr/>
        </p:nvSpPr>
        <p:spPr>
          <a:xfrm>
            <a:off x="841248" y="4773168"/>
            <a:ext cx="4843120" cy="150876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Si la aplicación se entrega recién al final, el riesgo es una herramienta que los técnicos no adoptan y cuyo uso falsean —cierres cargados en bloque al fin de la jornada—, lo que destruye la medición de O1 y O2.</a:t>
            </a:r>
            <a:endParaRPr lang="en-US" sz="1300" dirty="0"/>
          </a:p>
        </p:txBody>
      </p:sp>
      <p:sp>
        <p:nvSpPr>
          <p:cNvPr id="17" name="Shape 15"/>
          <p:cNvSpPr/>
          <p:nvPr/>
        </p:nvSpPr>
        <p:spPr>
          <a:xfrm>
            <a:off x="6233008" y="4242816"/>
            <a:ext cx="5391760" cy="2176272"/>
          </a:xfrm>
          <a:prstGeom prst="roundRect">
            <a:avLst>
              <a:gd name="adj" fmla="val 2521"/>
            </a:avLst>
          </a:prstGeom>
          <a:solidFill>
            <a:srgbClr val="F4F8FC"/>
          </a:solidFill>
          <a:ln w="12700">
            <a:solidFill>
              <a:srgbClr val="DCE9F7"/>
            </a:solidFill>
            <a:prstDash val="solid"/>
          </a:ln>
        </p:spPr>
      </p:sp>
      <p:sp>
        <p:nvSpPr>
          <p:cNvPr id="18" name="Text 16"/>
          <p:cNvSpPr txBox="1"/>
          <p:nvPr/>
        </p:nvSpPr>
        <p:spPr>
          <a:xfrm>
            <a:off x="6507328" y="4407408"/>
            <a:ext cx="4843120" cy="237744"/>
          </a:xfrm>
          <a:prstGeom prst="rect">
            <a:avLst/>
          </a:prstGeom>
          <a:noFill/>
          <a:ln/>
        </p:spPr>
        <p:txBody>
          <a:bodyPr wrap="square" lIns="0" tIns="0" rIns="0" bIns="0" rtlCol="0" anchor="ctr"/>
          <a:lstStyle/>
          <a:p>
            <a:pPr indent="0" marL="0">
              <a:buNone/>
            </a:pPr>
            <a:r>
              <a:rPr lang="en-US" sz="1150" b="1" spc="80" kern="0" dirty="0">
                <a:solidFill>
                  <a:srgbClr val="B23A2E"/>
                </a:solidFill>
                <a:latin typeface="Calibri" pitchFamily="34" charset="0"/>
                <a:ea typeface="Calibri" pitchFamily="34" charset="-122"/>
                <a:cs typeface="Calibri" pitchFamily="34" charset="-120"/>
              </a:rPr>
              <a:t>POR QUÉ NO ÁGIL PURO</a:t>
            </a:r>
            <a:endParaRPr lang="en-US" sz="1150" dirty="0"/>
          </a:p>
        </p:txBody>
      </p:sp>
      <p:sp>
        <p:nvSpPr>
          <p:cNvPr id="19" name="Text 17"/>
          <p:cNvSpPr txBox="1"/>
          <p:nvPr/>
        </p:nvSpPr>
        <p:spPr>
          <a:xfrm>
            <a:off x="6507328" y="4773168"/>
            <a:ext cx="4843120" cy="150876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Hay compromisos contractuales con un proveedor externo, adquisiciones con plazo de entrega, marco regulatorio de datos personales y un presupuesto que la Gerencia necesita aprobado por anticipado.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4.2</a:t>
            </a:r>
            <a:endParaRPr lang="en-US" sz="13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Las once fases del proyecto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Cada fase cierra con un entregable verificable. El paquete de primer nivel de la EDT se corresponde con la fase.</a:t>
            </a:r>
            <a:endParaRPr lang="en-US" sz="1250" dirty="0"/>
          </a:p>
        </p:txBody>
      </p:sp>
      <p:sp>
        <p:nvSpPr>
          <p:cNvPr id="6" name="Shape 4"/>
          <p:cNvSpPr/>
          <p:nvPr/>
        </p:nvSpPr>
        <p:spPr>
          <a:xfrm>
            <a:off x="566928" y="1517904"/>
            <a:ext cx="420624" cy="420624"/>
          </a:xfrm>
          <a:prstGeom prst="roundRect">
            <a:avLst>
              <a:gd name="adj" fmla="val 26087"/>
            </a:avLst>
          </a:prstGeom>
          <a:solidFill>
            <a:srgbClr val="15406B"/>
          </a:solidFill>
          <a:ln w="12700">
            <a:solidFill>
              <a:srgbClr val="333333"/>
            </a:solidFill>
            <a:prstDash val="solid"/>
          </a:ln>
        </p:spPr>
      </p:sp>
      <p:sp>
        <p:nvSpPr>
          <p:cNvPr id="7" name="Text 5"/>
          <p:cNvSpPr txBox="1"/>
          <p:nvPr/>
        </p:nvSpPr>
        <p:spPr>
          <a:xfrm>
            <a:off x="566928" y="15179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33856" y="1472184"/>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Inicio</a:t>
            </a:r>
            <a:endParaRPr lang="en-US" sz="1350" dirty="0"/>
          </a:p>
        </p:txBody>
      </p:sp>
      <p:sp>
        <p:nvSpPr>
          <p:cNvPr id="9" name="Text 7"/>
          <p:cNvSpPr txBox="1"/>
          <p:nvPr/>
        </p:nvSpPr>
        <p:spPr>
          <a:xfrm>
            <a:off x="1133856" y="1764792"/>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Acta de Proyecto aprobada</a:t>
            </a:r>
            <a:endParaRPr lang="en-US" sz="1200" dirty="0"/>
          </a:p>
        </p:txBody>
      </p:sp>
      <p:sp>
        <p:nvSpPr>
          <p:cNvPr id="10" name="Shape 8"/>
          <p:cNvSpPr/>
          <p:nvPr/>
        </p:nvSpPr>
        <p:spPr>
          <a:xfrm>
            <a:off x="566928" y="2327148"/>
            <a:ext cx="420624" cy="420624"/>
          </a:xfrm>
          <a:prstGeom prst="roundRect">
            <a:avLst>
              <a:gd name="adj" fmla="val 26087"/>
            </a:avLst>
          </a:prstGeom>
          <a:solidFill>
            <a:srgbClr val="15406B"/>
          </a:solidFill>
          <a:ln w="12700">
            <a:solidFill>
              <a:srgbClr val="333333"/>
            </a:solidFill>
            <a:prstDash val="solid"/>
          </a:ln>
        </p:spPr>
      </p:sp>
      <p:sp>
        <p:nvSpPr>
          <p:cNvPr id="11" name="Text 9"/>
          <p:cNvSpPr txBox="1"/>
          <p:nvPr/>
        </p:nvSpPr>
        <p:spPr>
          <a:xfrm>
            <a:off x="566928" y="23271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133856" y="2281428"/>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Relevamiento y análisis</a:t>
            </a:r>
            <a:endParaRPr lang="en-US" sz="1350" dirty="0"/>
          </a:p>
        </p:txBody>
      </p:sp>
      <p:sp>
        <p:nvSpPr>
          <p:cNvPr id="13" name="Text 11"/>
          <p:cNvSpPr txBox="1"/>
          <p:nvPr/>
        </p:nvSpPr>
        <p:spPr>
          <a:xfrm>
            <a:off x="1133856" y="2574036"/>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Requerimientos y medición de las líneas base de O1 a O4</a:t>
            </a:r>
            <a:endParaRPr lang="en-US" sz="1200" dirty="0"/>
          </a:p>
        </p:txBody>
      </p:sp>
      <p:sp>
        <p:nvSpPr>
          <p:cNvPr id="14" name="Shape 12"/>
          <p:cNvSpPr/>
          <p:nvPr/>
        </p:nvSpPr>
        <p:spPr>
          <a:xfrm>
            <a:off x="566928" y="3136392"/>
            <a:ext cx="420624" cy="420624"/>
          </a:xfrm>
          <a:prstGeom prst="roundRect">
            <a:avLst>
              <a:gd name="adj" fmla="val 26087"/>
            </a:avLst>
          </a:prstGeom>
          <a:solidFill>
            <a:srgbClr val="15406B"/>
          </a:solidFill>
          <a:ln w="12700">
            <a:solidFill>
              <a:srgbClr val="333333"/>
            </a:solidFill>
            <a:prstDash val="solid"/>
          </a:ln>
        </p:spPr>
      </p:sp>
      <p:sp>
        <p:nvSpPr>
          <p:cNvPr id="15" name="Text 13"/>
          <p:cNvSpPr txBox="1"/>
          <p:nvPr/>
        </p:nvSpPr>
        <p:spPr>
          <a:xfrm>
            <a:off x="566928" y="3136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133856" y="3090672"/>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Selección de proveedor</a:t>
            </a:r>
            <a:endParaRPr lang="en-US" sz="1350" dirty="0"/>
          </a:p>
        </p:txBody>
      </p:sp>
      <p:sp>
        <p:nvSpPr>
          <p:cNvPr id="17" name="Text 15"/>
          <p:cNvSpPr txBox="1"/>
          <p:nvPr/>
        </p:nvSpPr>
        <p:spPr>
          <a:xfrm>
            <a:off x="1133856" y="3383280"/>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RFI, lista corta, RFP, evaluación y contrato firmado</a:t>
            </a:r>
            <a:endParaRPr lang="en-US" sz="1200" dirty="0"/>
          </a:p>
        </p:txBody>
      </p:sp>
      <p:sp>
        <p:nvSpPr>
          <p:cNvPr id="18" name="Shape 16"/>
          <p:cNvSpPr/>
          <p:nvPr/>
        </p:nvSpPr>
        <p:spPr>
          <a:xfrm>
            <a:off x="566928" y="3945636"/>
            <a:ext cx="420624" cy="420624"/>
          </a:xfrm>
          <a:prstGeom prst="roundRect">
            <a:avLst>
              <a:gd name="adj" fmla="val 26087"/>
            </a:avLst>
          </a:prstGeom>
          <a:solidFill>
            <a:srgbClr val="15406B"/>
          </a:solidFill>
          <a:ln w="12700">
            <a:solidFill>
              <a:srgbClr val="333333"/>
            </a:solidFill>
            <a:prstDash val="solid"/>
          </a:ln>
        </p:spPr>
      </p:sp>
      <p:sp>
        <p:nvSpPr>
          <p:cNvPr id="19" name="Text 17"/>
          <p:cNvSpPr txBox="1"/>
          <p:nvPr/>
        </p:nvSpPr>
        <p:spPr>
          <a:xfrm>
            <a:off x="566928" y="39456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133856" y="3899916"/>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Diseño y configuración</a:t>
            </a:r>
            <a:endParaRPr lang="en-US" sz="1350" dirty="0"/>
          </a:p>
        </p:txBody>
      </p:sp>
      <p:sp>
        <p:nvSpPr>
          <p:cNvPr id="21" name="Text 19"/>
          <p:cNvSpPr txBox="1"/>
          <p:nvPr/>
        </p:nvSpPr>
        <p:spPr>
          <a:xfrm>
            <a:off x="1133856" y="4192524"/>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Flujos, motor de asignación y aplicación de campo configurados</a:t>
            </a:r>
            <a:endParaRPr lang="en-US" sz="1200" dirty="0"/>
          </a:p>
        </p:txBody>
      </p:sp>
      <p:sp>
        <p:nvSpPr>
          <p:cNvPr id="22" name="Shape 20"/>
          <p:cNvSpPr/>
          <p:nvPr/>
        </p:nvSpPr>
        <p:spPr>
          <a:xfrm>
            <a:off x="566928" y="4754880"/>
            <a:ext cx="420624" cy="420624"/>
          </a:xfrm>
          <a:prstGeom prst="roundRect">
            <a:avLst>
              <a:gd name="adj" fmla="val 26087"/>
            </a:avLst>
          </a:prstGeom>
          <a:solidFill>
            <a:srgbClr val="15406B"/>
          </a:solidFill>
          <a:ln w="12700">
            <a:solidFill>
              <a:srgbClr val="333333"/>
            </a:solidFill>
            <a:prstDash val="solid"/>
          </a:ln>
        </p:spPr>
      </p:sp>
      <p:sp>
        <p:nvSpPr>
          <p:cNvPr id="23" name="Text 21"/>
          <p:cNvSpPr txBox="1"/>
          <p:nvPr/>
        </p:nvSpPr>
        <p:spPr>
          <a:xfrm>
            <a:off x="566928" y="4754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133856" y="4709160"/>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Integración y seguridad</a:t>
            </a:r>
            <a:endParaRPr lang="en-US" sz="1350" dirty="0"/>
          </a:p>
        </p:txBody>
      </p:sp>
      <p:sp>
        <p:nvSpPr>
          <p:cNvPr id="25" name="Text 23"/>
          <p:cNvSpPr txBox="1"/>
          <p:nvPr/>
        </p:nvSpPr>
        <p:spPr>
          <a:xfrm>
            <a:off x="1133856" y="5001768"/>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SGOT, CRM, base de datos y NMS operativos; SSO y doble factor</a:t>
            </a:r>
            <a:endParaRPr lang="en-US" sz="1200" dirty="0"/>
          </a:p>
        </p:txBody>
      </p:sp>
      <p:sp>
        <p:nvSpPr>
          <p:cNvPr id="26" name="Shape 24"/>
          <p:cNvSpPr/>
          <p:nvPr/>
        </p:nvSpPr>
        <p:spPr>
          <a:xfrm>
            <a:off x="566928" y="5564124"/>
            <a:ext cx="420624" cy="420624"/>
          </a:xfrm>
          <a:prstGeom prst="roundRect">
            <a:avLst>
              <a:gd name="adj" fmla="val 26087"/>
            </a:avLst>
          </a:prstGeom>
          <a:solidFill>
            <a:srgbClr val="15406B"/>
          </a:solidFill>
          <a:ln w="12700">
            <a:solidFill>
              <a:srgbClr val="333333"/>
            </a:solidFill>
            <a:prstDash val="solid"/>
          </a:ln>
        </p:spPr>
      </p:sp>
      <p:sp>
        <p:nvSpPr>
          <p:cNvPr id="27" name="Text 25"/>
          <p:cNvSpPr txBox="1"/>
          <p:nvPr/>
        </p:nvSpPr>
        <p:spPr>
          <a:xfrm>
            <a:off x="566928" y="55641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1133856" y="5518404"/>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Migración de datos</a:t>
            </a:r>
            <a:endParaRPr lang="en-US" sz="1350" dirty="0"/>
          </a:p>
        </p:txBody>
      </p:sp>
      <p:sp>
        <p:nvSpPr>
          <p:cNvPr id="29" name="Text 27"/>
          <p:cNvSpPr txBox="1"/>
          <p:nvPr/>
        </p:nvSpPr>
        <p:spPr>
          <a:xfrm>
            <a:off x="1133856" y="5811012"/>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Órdenes abiertas, padrón de técnicos y matriz de competencias</a:t>
            </a:r>
            <a:endParaRPr lang="en-US" sz="1200" dirty="0"/>
          </a:p>
        </p:txBody>
      </p:sp>
      <p:sp>
        <p:nvSpPr>
          <p:cNvPr id="30" name="Shape 28"/>
          <p:cNvSpPr/>
          <p:nvPr/>
        </p:nvSpPr>
        <p:spPr>
          <a:xfrm>
            <a:off x="6223864" y="1517904"/>
            <a:ext cx="420624" cy="420624"/>
          </a:xfrm>
          <a:prstGeom prst="roundRect">
            <a:avLst>
              <a:gd name="adj" fmla="val 26087"/>
            </a:avLst>
          </a:prstGeom>
          <a:solidFill>
            <a:srgbClr val="15406B"/>
          </a:solidFill>
          <a:ln w="12700">
            <a:solidFill>
              <a:srgbClr val="333333"/>
            </a:solidFill>
            <a:prstDash val="solid"/>
          </a:ln>
        </p:spPr>
      </p:sp>
      <p:sp>
        <p:nvSpPr>
          <p:cNvPr id="31" name="Text 29"/>
          <p:cNvSpPr txBox="1"/>
          <p:nvPr/>
        </p:nvSpPr>
        <p:spPr>
          <a:xfrm>
            <a:off x="6223864" y="15179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2" name="Text 30"/>
          <p:cNvSpPr txBox="1"/>
          <p:nvPr/>
        </p:nvSpPr>
        <p:spPr>
          <a:xfrm>
            <a:off x="6790792" y="1472184"/>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Pruebas</a:t>
            </a:r>
            <a:endParaRPr lang="en-US" sz="1350" dirty="0"/>
          </a:p>
        </p:txBody>
      </p:sp>
      <p:sp>
        <p:nvSpPr>
          <p:cNvPr id="33" name="Text 31"/>
          <p:cNvSpPr txBox="1"/>
          <p:nvPr/>
        </p:nvSpPr>
        <p:spPr>
          <a:xfrm>
            <a:off x="6790792" y="1764792"/>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Funcionales, de integración, de carga y de seguridad</a:t>
            </a:r>
            <a:endParaRPr lang="en-US" sz="1200" dirty="0"/>
          </a:p>
        </p:txBody>
      </p:sp>
      <p:sp>
        <p:nvSpPr>
          <p:cNvPr id="34" name="Shape 32"/>
          <p:cNvSpPr/>
          <p:nvPr/>
        </p:nvSpPr>
        <p:spPr>
          <a:xfrm>
            <a:off x="6223864" y="2327148"/>
            <a:ext cx="420624" cy="420624"/>
          </a:xfrm>
          <a:prstGeom prst="roundRect">
            <a:avLst>
              <a:gd name="adj" fmla="val 26087"/>
            </a:avLst>
          </a:prstGeom>
          <a:solidFill>
            <a:srgbClr val="15406B"/>
          </a:solidFill>
          <a:ln w="12700">
            <a:solidFill>
              <a:srgbClr val="333333"/>
            </a:solidFill>
            <a:prstDash val="solid"/>
          </a:ln>
        </p:spPr>
      </p:sp>
      <p:sp>
        <p:nvSpPr>
          <p:cNvPr id="35" name="Text 33"/>
          <p:cNvSpPr txBox="1"/>
          <p:nvPr/>
        </p:nvSpPr>
        <p:spPr>
          <a:xfrm>
            <a:off x="6223864" y="23271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6" name="Text 34"/>
          <p:cNvSpPr txBox="1"/>
          <p:nvPr/>
        </p:nvSpPr>
        <p:spPr>
          <a:xfrm>
            <a:off x="6790792" y="2281428"/>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Piloto en zona acotada</a:t>
            </a:r>
            <a:endParaRPr lang="en-US" sz="1350" dirty="0"/>
          </a:p>
        </p:txBody>
      </p:sp>
      <p:sp>
        <p:nvSpPr>
          <p:cNvPr id="37" name="Text 35"/>
          <p:cNvSpPr txBox="1"/>
          <p:nvPr/>
        </p:nvSpPr>
        <p:spPr>
          <a:xfrm>
            <a:off x="6790792" y="2574036"/>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Informe de piloto con ajustes de uso y de priorización</a:t>
            </a:r>
            <a:endParaRPr lang="en-US" sz="1200" dirty="0"/>
          </a:p>
        </p:txBody>
      </p:sp>
      <p:sp>
        <p:nvSpPr>
          <p:cNvPr id="38" name="Shape 36"/>
          <p:cNvSpPr/>
          <p:nvPr/>
        </p:nvSpPr>
        <p:spPr>
          <a:xfrm>
            <a:off x="6223864" y="3136392"/>
            <a:ext cx="420624" cy="420624"/>
          </a:xfrm>
          <a:prstGeom prst="roundRect">
            <a:avLst>
              <a:gd name="adj" fmla="val 26087"/>
            </a:avLst>
          </a:prstGeom>
          <a:solidFill>
            <a:srgbClr val="15406B"/>
          </a:solidFill>
          <a:ln w="12700">
            <a:solidFill>
              <a:srgbClr val="333333"/>
            </a:solidFill>
            <a:prstDash val="solid"/>
          </a:ln>
        </p:spPr>
      </p:sp>
      <p:sp>
        <p:nvSpPr>
          <p:cNvPr id="39" name="Text 37"/>
          <p:cNvSpPr txBox="1"/>
          <p:nvPr/>
        </p:nvSpPr>
        <p:spPr>
          <a:xfrm>
            <a:off x="6223864" y="31363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0" name="Text 38"/>
          <p:cNvSpPr txBox="1"/>
          <p:nvPr/>
        </p:nvSpPr>
        <p:spPr>
          <a:xfrm>
            <a:off x="6790792" y="3090672"/>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Capacitación</a:t>
            </a:r>
            <a:endParaRPr lang="en-US" sz="1350" dirty="0"/>
          </a:p>
        </p:txBody>
      </p:sp>
      <p:sp>
        <p:nvSpPr>
          <p:cNvPr id="41" name="Text 39"/>
          <p:cNvSpPr txBox="1"/>
          <p:nvPr/>
        </p:nvSpPr>
        <p:spPr>
          <a:xfrm>
            <a:off x="6790792" y="3383280"/>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Técnicos, supervisores, NOC y almacén capacitados y evaluados</a:t>
            </a:r>
            <a:endParaRPr lang="en-US" sz="1200" dirty="0"/>
          </a:p>
        </p:txBody>
      </p:sp>
      <p:sp>
        <p:nvSpPr>
          <p:cNvPr id="42" name="Shape 40"/>
          <p:cNvSpPr/>
          <p:nvPr/>
        </p:nvSpPr>
        <p:spPr>
          <a:xfrm>
            <a:off x="6223864" y="3945636"/>
            <a:ext cx="420624" cy="420624"/>
          </a:xfrm>
          <a:prstGeom prst="roundRect">
            <a:avLst>
              <a:gd name="adj" fmla="val 26087"/>
            </a:avLst>
          </a:prstGeom>
          <a:solidFill>
            <a:srgbClr val="15406B"/>
          </a:solidFill>
          <a:ln w="12700">
            <a:solidFill>
              <a:srgbClr val="333333"/>
            </a:solidFill>
            <a:prstDash val="solid"/>
          </a:ln>
        </p:spPr>
      </p:sp>
      <p:sp>
        <p:nvSpPr>
          <p:cNvPr id="43" name="Text 41"/>
          <p:cNvSpPr txBox="1"/>
          <p:nvPr/>
        </p:nvSpPr>
        <p:spPr>
          <a:xfrm>
            <a:off x="6223864" y="39456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4" name="Text 42"/>
          <p:cNvSpPr txBox="1"/>
          <p:nvPr/>
        </p:nvSpPr>
        <p:spPr>
          <a:xfrm>
            <a:off x="6790792" y="3899916"/>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Despliegue por olas</a:t>
            </a:r>
            <a:endParaRPr lang="en-US" sz="1350" dirty="0"/>
          </a:p>
        </p:txBody>
      </p:sp>
      <p:sp>
        <p:nvSpPr>
          <p:cNvPr id="45" name="Text 43"/>
          <p:cNvSpPr txBox="1"/>
          <p:nvPr/>
        </p:nvSpPr>
        <p:spPr>
          <a:xfrm>
            <a:off x="6790792" y="4192524"/>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Sistema en producción en todo el alcance geográfico</a:t>
            </a:r>
            <a:endParaRPr lang="en-US" sz="1200" dirty="0"/>
          </a:p>
        </p:txBody>
      </p:sp>
      <p:sp>
        <p:nvSpPr>
          <p:cNvPr id="46" name="Shape 44"/>
          <p:cNvSpPr/>
          <p:nvPr/>
        </p:nvSpPr>
        <p:spPr>
          <a:xfrm>
            <a:off x="6223864" y="4754880"/>
            <a:ext cx="420624" cy="420624"/>
          </a:xfrm>
          <a:prstGeom prst="roundRect">
            <a:avLst>
              <a:gd name="adj" fmla="val 26087"/>
            </a:avLst>
          </a:prstGeom>
          <a:solidFill>
            <a:srgbClr val="15406B"/>
          </a:solidFill>
          <a:ln w="12700">
            <a:solidFill>
              <a:srgbClr val="333333"/>
            </a:solidFill>
            <a:prstDash val="solid"/>
          </a:ln>
        </p:spPr>
      </p:sp>
      <p:sp>
        <p:nvSpPr>
          <p:cNvPr id="47" name="Text 45"/>
          <p:cNvSpPr txBox="1"/>
          <p:nvPr/>
        </p:nvSpPr>
        <p:spPr>
          <a:xfrm>
            <a:off x="6223864" y="4754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8" name="Text 46"/>
          <p:cNvSpPr txBox="1"/>
          <p:nvPr/>
        </p:nvSpPr>
        <p:spPr>
          <a:xfrm>
            <a:off x="6790792" y="4709160"/>
            <a:ext cx="4833976" cy="292608"/>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Estabilización y cierre</a:t>
            </a:r>
            <a:endParaRPr lang="en-US" sz="1350" dirty="0"/>
          </a:p>
        </p:txBody>
      </p:sp>
      <p:sp>
        <p:nvSpPr>
          <p:cNvPr id="49" name="Text 47"/>
          <p:cNvSpPr txBox="1"/>
          <p:nvPr/>
        </p:nvSpPr>
        <p:spPr>
          <a:xfrm>
            <a:off x="6790792" y="5001768"/>
            <a:ext cx="4833976" cy="420624"/>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Acta de cierre, traspaso a operación y alta del CI en la CMDB</a:t>
            </a:r>
            <a:endParaRPr lang="en-US" sz="1200" dirty="0"/>
          </a:p>
        </p:txBody>
      </p:sp>
      <p:sp>
        <p:nvSpPr>
          <p:cNvPr id="50" name="Text 48"/>
          <p:cNvSpPr txBox="1"/>
          <p:nvPr/>
        </p:nvSpPr>
        <p:spPr>
          <a:xfrm>
            <a:off x="6223864" y="5559552"/>
            <a:ext cx="5400904" cy="91440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La fase 11 cierra el circuito con la Etapa 2: el sistema es un nuevo elemento de configuración en la CMDB y su puesta en producción constituye un cambio normal, que pasa por el CAB.</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4.3</a:t>
            </a:r>
            <a:endParaRPr lang="en-US" sz="13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Estructura de desglose de trabajo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Once paquetes de primer nivel y cincuenta paquetes de trabajo, cada uno con predecesora, duración, perfil y entregable verificable</a:t>
            </a:r>
            <a:endParaRPr lang="en-US" sz="1250" dirty="0"/>
          </a:p>
        </p:txBody>
      </p:sp>
      <p:sp>
        <p:nvSpPr>
          <p:cNvPr id="6" name="Shape 4"/>
          <p:cNvSpPr/>
          <p:nvPr/>
        </p:nvSpPr>
        <p:spPr>
          <a:xfrm>
            <a:off x="566928" y="1517904"/>
            <a:ext cx="2558720" cy="1719072"/>
          </a:xfrm>
          <a:prstGeom prst="roundRect">
            <a:avLst>
              <a:gd name="adj" fmla="val 3191"/>
            </a:avLst>
          </a:prstGeom>
          <a:solidFill>
            <a:srgbClr val="F4F8FC"/>
          </a:solidFill>
          <a:ln w="12700">
            <a:solidFill>
              <a:srgbClr val="DCE9F7"/>
            </a:solidFill>
            <a:prstDash val="solid"/>
          </a:ln>
        </p:spPr>
      </p:sp>
      <p:sp>
        <p:nvSpPr>
          <p:cNvPr id="7" name="Text 5"/>
          <p:cNvSpPr txBox="1"/>
          <p:nvPr/>
        </p:nvSpPr>
        <p:spPr>
          <a:xfrm>
            <a:off x="566928"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11</a:t>
            </a:r>
            <a:endParaRPr lang="en-US" sz="4000" dirty="0"/>
          </a:p>
        </p:txBody>
      </p:sp>
      <p:sp>
        <p:nvSpPr>
          <p:cNvPr id="8" name="Text 6"/>
          <p:cNvSpPr txBox="1"/>
          <p:nvPr/>
        </p:nvSpPr>
        <p:spPr>
          <a:xfrm>
            <a:off x="65836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paquetes de</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primer nivel</a:t>
            </a:r>
            <a:endParaRPr lang="en-US" sz="1100" dirty="0"/>
          </a:p>
        </p:txBody>
      </p:sp>
      <p:sp>
        <p:nvSpPr>
          <p:cNvPr id="9" name="Shape 7"/>
          <p:cNvSpPr/>
          <p:nvPr/>
        </p:nvSpPr>
        <p:spPr>
          <a:xfrm>
            <a:off x="3399968" y="1517904"/>
            <a:ext cx="2558720" cy="1719072"/>
          </a:xfrm>
          <a:prstGeom prst="roundRect">
            <a:avLst>
              <a:gd name="adj" fmla="val 3191"/>
            </a:avLst>
          </a:prstGeom>
          <a:solidFill>
            <a:srgbClr val="F4F8FC"/>
          </a:solidFill>
          <a:ln w="12700">
            <a:solidFill>
              <a:srgbClr val="DCE9F7"/>
            </a:solidFill>
            <a:prstDash val="solid"/>
          </a:ln>
        </p:spPr>
      </p:sp>
      <p:sp>
        <p:nvSpPr>
          <p:cNvPr id="10" name="Text 8"/>
          <p:cNvSpPr txBox="1"/>
          <p:nvPr/>
        </p:nvSpPr>
        <p:spPr>
          <a:xfrm>
            <a:off x="3399968"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50</a:t>
            </a:r>
            <a:endParaRPr lang="en-US" sz="4000" dirty="0"/>
          </a:p>
        </p:txBody>
      </p:sp>
      <p:sp>
        <p:nvSpPr>
          <p:cNvPr id="11" name="Text 9"/>
          <p:cNvSpPr txBox="1"/>
          <p:nvPr/>
        </p:nvSpPr>
        <p:spPr>
          <a:xfrm>
            <a:off x="349140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paquetes de</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trabajo</a:t>
            </a:r>
            <a:endParaRPr lang="en-US" sz="1100" dirty="0"/>
          </a:p>
        </p:txBody>
      </p:sp>
      <p:sp>
        <p:nvSpPr>
          <p:cNvPr id="12" name="Shape 10"/>
          <p:cNvSpPr/>
          <p:nvPr/>
        </p:nvSpPr>
        <p:spPr>
          <a:xfrm>
            <a:off x="6233008" y="1517904"/>
            <a:ext cx="2558720" cy="1719072"/>
          </a:xfrm>
          <a:prstGeom prst="roundRect">
            <a:avLst>
              <a:gd name="adj" fmla="val 3191"/>
            </a:avLst>
          </a:prstGeom>
          <a:solidFill>
            <a:srgbClr val="F4F8FC"/>
          </a:solidFill>
          <a:ln w="12700">
            <a:solidFill>
              <a:srgbClr val="DCE9F7"/>
            </a:solidFill>
            <a:prstDash val="solid"/>
          </a:ln>
        </p:spPr>
      </p:sp>
      <p:sp>
        <p:nvSpPr>
          <p:cNvPr id="13" name="Text 11"/>
          <p:cNvSpPr txBox="1"/>
          <p:nvPr/>
        </p:nvSpPr>
        <p:spPr>
          <a:xfrm>
            <a:off x="6233008"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9</a:t>
            </a:r>
            <a:endParaRPr lang="en-US" sz="4000" dirty="0"/>
          </a:p>
        </p:txBody>
      </p:sp>
      <p:sp>
        <p:nvSpPr>
          <p:cNvPr id="14" name="Text 12"/>
          <p:cNvSpPr txBox="1"/>
          <p:nvPr/>
        </p:nvSpPr>
        <p:spPr>
          <a:xfrm>
            <a:off x="632444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perfiles</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asignados</a:t>
            </a:r>
            <a:endParaRPr lang="en-US" sz="1100" dirty="0"/>
          </a:p>
        </p:txBody>
      </p:sp>
      <p:sp>
        <p:nvSpPr>
          <p:cNvPr id="15" name="Shape 13"/>
          <p:cNvSpPr/>
          <p:nvPr/>
        </p:nvSpPr>
        <p:spPr>
          <a:xfrm>
            <a:off x="9066047" y="1517904"/>
            <a:ext cx="2558720" cy="1719072"/>
          </a:xfrm>
          <a:prstGeom prst="roundRect">
            <a:avLst>
              <a:gd name="adj" fmla="val 3191"/>
            </a:avLst>
          </a:prstGeom>
          <a:solidFill>
            <a:srgbClr val="F4F8FC"/>
          </a:solidFill>
          <a:ln w="12700">
            <a:solidFill>
              <a:srgbClr val="DCE9F7"/>
            </a:solidFill>
            <a:prstDash val="solid"/>
          </a:ln>
        </p:spPr>
      </p:sp>
      <p:sp>
        <p:nvSpPr>
          <p:cNvPr id="16" name="Text 14"/>
          <p:cNvSpPr txBox="1"/>
          <p:nvPr/>
        </p:nvSpPr>
        <p:spPr>
          <a:xfrm>
            <a:off x="9066047"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30</a:t>
            </a:r>
            <a:endParaRPr lang="en-US" sz="4000" dirty="0"/>
          </a:p>
        </p:txBody>
      </p:sp>
      <p:sp>
        <p:nvSpPr>
          <p:cNvPr id="17" name="Text 15"/>
          <p:cNvSpPr txBox="1"/>
          <p:nvPr/>
        </p:nvSpPr>
        <p:spPr>
          <a:xfrm>
            <a:off x="9157487"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actividades en el</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camino crítico</a:t>
            </a:r>
            <a:endParaRPr lang="en-US" sz="1100" dirty="0"/>
          </a:p>
        </p:txBody>
      </p:sp>
      <p:sp>
        <p:nvSpPr>
          <p:cNvPr id="18" name="Shape 16"/>
          <p:cNvSpPr/>
          <p:nvPr/>
        </p:nvSpPr>
        <p:spPr>
          <a:xfrm>
            <a:off x="566928" y="3493008"/>
            <a:ext cx="5391760" cy="2926080"/>
          </a:xfrm>
          <a:prstGeom prst="roundRect">
            <a:avLst>
              <a:gd name="adj" fmla="val 1875"/>
            </a:avLst>
          </a:prstGeom>
          <a:solidFill>
            <a:srgbClr val="F4F8FC"/>
          </a:solidFill>
          <a:ln w="12700">
            <a:solidFill>
              <a:srgbClr val="DCE9F7"/>
            </a:solidFill>
            <a:prstDash val="solid"/>
          </a:ln>
        </p:spPr>
      </p:sp>
      <p:sp>
        <p:nvSpPr>
          <p:cNvPr id="19" name="Text 17"/>
          <p:cNvSpPr txBox="1"/>
          <p:nvPr/>
        </p:nvSpPr>
        <p:spPr>
          <a:xfrm>
            <a:off x="841248" y="3675888"/>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CRITERIO DE DESCOMPOSICIÓN</a:t>
            </a:r>
            <a:endParaRPr lang="en-US" sz="1150" dirty="0"/>
          </a:p>
        </p:txBody>
      </p:sp>
      <p:sp>
        <p:nvSpPr>
          <p:cNvPr id="20" name="Text 18"/>
          <p:cNvSpPr txBox="1"/>
          <p:nvPr/>
        </p:nvSpPr>
        <p:spPr>
          <a:xfrm>
            <a:off x="841248" y="4041648"/>
            <a:ext cx="4843120" cy="868680"/>
          </a:xfrm>
          <a:prstGeom prst="rect">
            <a:avLst/>
          </a:prstGeom>
          <a:noFill/>
          <a:ln/>
        </p:spPr>
        <p:txBody>
          <a:bodyPr wrap="square" lIns="0" tIns="0" rIns="0" bIns="0" rtlCol="0" anchor="t"/>
          <a:lstStyle/>
          <a:p>
            <a:pPr indent="0" marL="0">
              <a:lnSpc>
                <a:spcPct val="108000"/>
              </a:lnSpc>
              <a:buNone/>
            </a:pPr>
            <a:r>
              <a:rPr lang="en-US" sz="1350" dirty="0">
                <a:solidFill>
                  <a:srgbClr val="2A3B4D"/>
                </a:solidFill>
                <a:latin typeface="Calibri" pitchFamily="34" charset="0"/>
                <a:ea typeface="Calibri" pitchFamily="34" charset="-122"/>
                <a:cs typeface="Calibri" pitchFamily="34" charset="-120"/>
              </a:rPr>
              <a:t>No se descompone por debajo del nivel en que un paquete tiene un único entregable verificable y un responsable identificable.</a:t>
            </a:r>
            <a:endParaRPr lang="en-US" sz="1350" dirty="0"/>
          </a:p>
        </p:txBody>
      </p:sp>
      <p:sp>
        <p:nvSpPr>
          <p:cNvPr id="21" name="Text 19"/>
          <p:cNvSpPr txBox="1"/>
          <p:nvPr/>
        </p:nvSpPr>
        <p:spPr>
          <a:xfrm>
            <a:off x="841248" y="5065776"/>
            <a:ext cx="4843120" cy="1005840"/>
          </a:xfrm>
          <a:prstGeom prst="rect">
            <a:avLst/>
          </a:prstGeom>
          <a:noFill/>
          <a:ln/>
        </p:spPr>
        <p:txBody>
          <a:bodyPr wrap="square" lIns="0" tIns="0" rIns="0" bIns="0" rtlCol="0" anchor="t"/>
          <a:lstStyle/>
          <a:p>
            <a:pPr indent="0" marL="0">
              <a:lnSpc>
                <a:spcPct val="108000"/>
              </a:lnSpc>
              <a:buNone/>
            </a:pPr>
            <a:r>
              <a:rPr lang="en-US" sz="1300" dirty="0">
                <a:solidFill>
                  <a:srgbClr val="4C6480"/>
                </a:solidFill>
                <a:latin typeface="Calibri" pitchFamily="34" charset="0"/>
                <a:ea typeface="Calibri" pitchFamily="34" charset="-122"/>
                <a:cs typeface="Calibri" pitchFamily="34" charset="-120"/>
              </a:rPr>
              <a:t>Las fases 9 y 10 se abren por ola de despliegue, porque cada ola es una entrega con valor propio y admite decisión de avance o retroceso.</a:t>
            </a:r>
            <a:endParaRPr lang="en-US" sz="1300" dirty="0"/>
          </a:p>
        </p:txBody>
      </p:sp>
      <p:sp>
        <p:nvSpPr>
          <p:cNvPr id="22" name="Shape 20"/>
          <p:cNvSpPr/>
          <p:nvPr/>
        </p:nvSpPr>
        <p:spPr>
          <a:xfrm>
            <a:off x="6233008" y="3493008"/>
            <a:ext cx="5391760" cy="2926080"/>
          </a:xfrm>
          <a:prstGeom prst="roundRect">
            <a:avLst>
              <a:gd name="adj" fmla="val 1875"/>
            </a:avLst>
          </a:prstGeom>
          <a:solidFill>
            <a:srgbClr val="DCE9F7"/>
          </a:solidFill>
          <a:ln w="12700">
            <a:solidFill>
              <a:srgbClr val="5B7FA6"/>
            </a:solidFill>
            <a:prstDash val="solid"/>
          </a:ln>
        </p:spPr>
      </p:sp>
      <p:sp>
        <p:nvSpPr>
          <p:cNvPr id="23" name="Text 21"/>
          <p:cNvSpPr txBox="1"/>
          <p:nvPr/>
        </p:nvSpPr>
        <p:spPr>
          <a:xfrm>
            <a:off x="6507328" y="3675888"/>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SOLAPAMIENTOS PREVISTOS DESDE EL DISEÑO</a:t>
            </a:r>
            <a:endParaRPr lang="en-US" sz="1150" dirty="0"/>
          </a:p>
        </p:txBody>
      </p:sp>
      <p:sp>
        <p:nvSpPr>
          <p:cNvPr id="24" name="Text 22"/>
          <p:cNvSpPr txBox="1"/>
          <p:nvPr/>
        </p:nvSpPr>
        <p:spPr>
          <a:xfrm>
            <a:off x="6507328" y="4041648"/>
            <a:ext cx="4843120" cy="22860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2A3B4D"/>
                </a:solidFill>
                <a:latin typeface="Calibri" pitchFamily="34" charset="0"/>
                <a:ea typeface="Calibri" pitchFamily="34" charset="-122"/>
                <a:cs typeface="Calibri" pitchFamily="34" charset="-120"/>
              </a:rPr>
              <a:t>AF — 2.2, 2.3 y 2.4 arrancan a la vez; la medición de línea base es la actividad más larga de la fase</a:t>
            </a:r>
            <a:endParaRPr lang="en-US" sz="1250" dirty="0"/>
          </a:p>
          <a:p>
            <a:pPr marL="342900" indent="-342900">
              <a:spcAft>
                <a:spcPts val="900"/>
              </a:spcAft>
              <a:buSzPct val="100000"/>
              <a:buChar char="•"/>
            </a:pPr>
            <a:r>
              <a:rPr lang="en-US" sz="1250" dirty="0">
                <a:solidFill>
                  <a:srgbClr val="2A3B4D"/>
                </a:solidFill>
                <a:latin typeface="Calibri" pitchFamily="34" charset="0"/>
                <a:ea typeface="Calibri" pitchFamily="34" charset="-122"/>
                <a:cs typeface="Calibri" pitchFamily="34" charset="-120"/>
              </a:rPr>
              <a:t>EI — 5.1 a 5.4 encadenadas sobre un único especialista, con 5.6 y 6.1 en la misma ventana: el conflicto de mayor impacto</a:t>
            </a:r>
            <a:endParaRPr lang="en-US" sz="1250" dirty="0"/>
          </a:p>
          <a:p>
            <a:pPr marL="342900" indent="-342900">
              <a:spcAft>
                <a:spcPts val="900"/>
              </a:spcAft>
              <a:buSzPct val="100000"/>
              <a:buChar char="•"/>
            </a:pPr>
            <a:r>
              <a:rPr lang="en-US" sz="1250" dirty="0">
                <a:solidFill>
                  <a:srgbClr val="2A3B4D"/>
                </a:solidFill>
                <a:latin typeface="Calibri" pitchFamily="34" charset="0"/>
                <a:ea typeface="Calibri" pitchFamily="34" charset="-122"/>
                <a:cs typeface="Calibri" pitchFamily="34" charset="-120"/>
              </a:rPr>
              <a:t>ES — interviene en 3.3 y 3.4, y luego en 5.5 y 5.6</a:t>
            </a:r>
            <a:endParaRPr lang="en-US" sz="1250" dirty="0"/>
          </a:p>
          <a:p>
            <a:pPr marL="342900" indent="-342900">
              <a:spcAft>
                <a:spcPts val="900"/>
              </a:spcAft>
              <a:buSzPct val="100000"/>
              <a:buChar char="•"/>
            </a:pPr>
            <a:r>
              <a:rPr lang="en-US" sz="1250" dirty="0">
                <a:solidFill>
                  <a:srgbClr val="2A3B4D"/>
                </a:solidFill>
                <a:latin typeface="Calibri" pitchFamily="34" charset="0"/>
                <a:ea typeface="Calibri" pitchFamily="34" charset="-122"/>
                <a:cs typeface="Calibri" pitchFamily="34" charset="-120"/>
              </a:rPr>
              <a:t>CP — 4.6, 4.7 y 5.1 comparten ventana; después 8.3, 10.1 y 11.1</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Recursos humanos</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Ningún perfil figura acá sin ser responsable de al menos un paquete de la EDT. La carga sale de sumar las duraciones de esos paquetes.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2880360"/>
                <a:gridCol w="658368"/>
                <a:gridCol w="777240"/>
                <a:gridCol w="1298448"/>
                <a:gridCol w="713232"/>
                <a:gridCol w="4727448"/>
              </a:tblGrid>
              <a:tr h="457200">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Perfil</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Pers.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Horas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Ventana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Ded.</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Origen del recurso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Analista funcional (AF)</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848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d6 – d189</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58%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Consultor de la plataforma (CP)</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784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d58 – d184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Provisto por el proveedor</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Referente de operaciones (RO)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704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d6 – d184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49%</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 — Gerencia de Operaciones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Especialista de integraciones (EI)</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560</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d14 – d172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Uno interno y uno por bolsa de horas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Jefe de proyecto (JP)</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408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d0 – d192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 — Tecnología y Sistemas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Especialista de seguridad (ES)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312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d14 – d109</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41%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 — Seguridad de la Información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Responsable de pruebas (QA)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232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d27 – d109</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Capacitador (CA)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d105 – d164</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 — RR.HH. con Supervisión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Diseño de experiencia de uso (UX)</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192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d58 – d145</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4C6480"/>
                          </a:solidFill>
                          <a:latin typeface="Calibri" pitchFamily="34" charset="0"/>
                          <a:ea typeface="Calibri" pitchFamily="34" charset="-122"/>
                          <a:cs typeface="Calibri" pitchFamily="34" charset="-120"/>
                        </a:rPr>
                        <a:t>Interno; si no existe el rol, por obra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4.240</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d0 – d192</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530 días-persona sobre 9 perfiles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6928" y="6217920"/>
            <a:ext cx="11057839" cy="548640"/>
          </a:xfrm>
          <a:prstGeom prst="rect">
            <a:avLst/>
          </a:prstGeom>
          <a:noFill/>
          <a:ln/>
        </p:spPr>
        <p:txBody>
          <a:bodyPr wrap="square" lIns="0" tIns="0" rIns="0" bIns="0" rtlCol="0" anchor="t"/>
          <a:lstStyle/>
          <a:p>
            <a:pPr indent="0" marL="0">
              <a:lnSpc>
                <a:spcPct val="108000"/>
              </a:lnSpc>
              <a:buNone/>
            </a:pPr>
            <a:r>
              <a:rPr lang="en-US" sz="1250" dirty="0">
                <a:solidFill>
                  <a:srgbClr val="4C6480"/>
                </a:solidFill>
                <a:latin typeface="Calibri" pitchFamily="34" charset="0"/>
                <a:ea typeface="Calibri" pitchFamily="34" charset="-122"/>
                <a:cs typeface="Calibri" pitchFamily="34" charset="-120"/>
              </a:rPr>
              <a:t>Ningún perfil alcanza dedicación completa: todos se afectan parcialmente y conservan sus responsabilidades de línea. La duplicación en EI y QA no responde a volumen sino al aplanamiento de recursos —evita 23 días hábiles de atraso—.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Higiene y seguridad laboral</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Se analizan los sectores del proceso crítico —incluido el trabajo de campo—, no los sectores donde se ejecuta el proyecto</a:t>
            </a:r>
            <a:endParaRPr lang="en-US" sz="1250" dirty="0"/>
          </a:p>
        </p:txBody>
      </p:sp>
      <p:sp>
        <p:nvSpPr>
          <p:cNvPr id="6" name="Text 4"/>
          <p:cNvSpPr txBox="1"/>
          <p:nvPr/>
        </p:nvSpPr>
        <p:spPr>
          <a:xfrm>
            <a:off x="566928" y="1517904"/>
            <a:ext cx="11057839"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PREVENCIÓN PRIMARIA · CUATRO ACCIONES JERARQUIZADAS DE MAYOR A MENOR EFICACIA</a:t>
            </a:r>
            <a:endParaRPr lang="en-US" sz="1150" dirty="0"/>
          </a:p>
        </p:txBody>
      </p:sp>
      <p:sp>
        <p:nvSpPr>
          <p:cNvPr id="7" name="Shape 5"/>
          <p:cNvSpPr/>
          <p:nvPr/>
        </p:nvSpPr>
        <p:spPr>
          <a:xfrm>
            <a:off x="566928" y="1883664"/>
            <a:ext cx="2627300" cy="2121408"/>
          </a:xfrm>
          <a:prstGeom prst="roundRect">
            <a:avLst>
              <a:gd name="adj" fmla="val 2586"/>
            </a:avLst>
          </a:prstGeom>
          <a:solidFill>
            <a:srgbClr val="15406B"/>
          </a:solidFill>
          <a:ln w="12700">
            <a:solidFill>
              <a:srgbClr val="15406B"/>
            </a:solidFill>
            <a:prstDash val="solid"/>
          </a:ln>
        </p:spPr>
      </p:sp>
      <p:sp>
        <p:nvSpPr>
          <p:cNvPr id="8" name="Text 6"/>
          <p:cNvSpPr txBox="1"/>
          <p:nvPr/>
        </p:nvSpPr>
        <p:spPr>
          <a:xfrm>
            <a:off x="786384" y="2011680"/>
            <a:ext cx="457200" cy="411480"/>
          </a:xfrm>
          <a:prstGeom prst="rect">
            <a:avLst/>
          </a:prstGeom>
          <a:noFill/>
          <a:ln/>
        </p:spPr>
        <p:txBody>
          <a:bodyPr wrap="square" lIns="0" tIns="0" rIns="0" bIns="0" rtlCol="0" anchor="ctr"/>
          <a:lstStyle/>
          <a:p>
            <a:pPr indent="0" marL="0">
              <a:buNone/>
            </a:pPr>
            <a:r>
              <a:rPr lang="en-US" sz="2600" b="1" dirty="0">
                <a:solidFill>
                  <a:srgbClr val="8FB6DA"/>
                </a:solidFill>
                <a:latin typeface="Calibri" pitchFamily="34" charset="0"/>
                <a:ea typeface="Calibri" pitchFamily="34" charset="-122"/>
                <a:cs typeface="Calibri" pitchFamily="34" charset="-120"/>
              </a:rPr>
              <a:t>1</a:t>
            </a:r>
            <a:endParaRPr lang="en-US" sz="2600" dirty="0"/>
          </a:p>
        </p:txBody>
      </p:sp>
      <p:sp>
        <p:nvSpPr>
          <p:cNvPr id="9" name="Text 7"/>
          <p:cNvSpPr txBox="1"/>
          <p:nvPr/>
        </p:nvSpPr>
        <p:spPr>
          <a:xfrm>
            <a:off x="786384" y="2468880"/>
            <a:ext cx="2188388"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 el diseño</a:t>
            </a:r>
            <a:endParaRPr lang="en-US" sz="1450" dirty="0"/>
          </a:p>
        </p:txBody>
      </p:sp>
      <p:sp>
        <p:nvSpPr>
          <p:cNvPr id="10" name="Text 8"/>
          <p:cNvSpPr txBox="1"/>
          <p:nvPr/>
        </p:nvSpPr>
        <p:spPr>
          <a:xfrm>
            <a:off x="786384" y="2816352"/>
            <a:ext cx="2188388" cy="1051560"/>
          </a:xfrm>
          <a:prstGeom prst="rect">
            <a:avLst/>
          </a:prstGeom>
          <a:noFill/>
          <a:ln/>
        </p:spPr>
        <p:txBody>
          <a:bodyPr wrap="square" lIns="0" tIns="0" rIns="0" bIns="0" rtlCol="0" anchor="t"/>
          <a:lstStyle/>
          <a:p>
            <a:pPr indent="0" marL="0">
              <a:buNone/>
            </a:pPr>
            <a:r>
              <a:rPr lang="en-US" sz="1200" dirty="0">
                <a:solidFill>
                  <a:srgbClr val="DCE9F7"/>
                </a:solidFill>
                <a:latin typeface="Calibri" pitchFamily="34" charset="0"/>
                <a:ea typeface="Calibri" pitchFamily="34" charset="-122"/>
                <a:cs typeface="Calibri" pitchFamily="34" charset="-120"/>
              </a:rPr>
              <a:t>De instalaciones, equipos y puestos. El layout es el instrumento que la materializa.</a:t>
            </a:r>
            <a:endParaRPr lang="en-US" sz="1200" dirty="0"/>
          </a:p>
        </p:txBody>
      </p:sp>
      <p:sp>
        <p:nvSpPr>
          <p:cNvPr id="11" name="Shape 9"/>
          <p:cNvSpPr/>
          <p:nvPr/>
        </p:nvSpPr>
        <p:spPr>
          <a:xfrm>
            <a:off x="3377108" y="1883664"/>
            <a:ext cx="2627300" cy="2121408"/>
          </a:xfrm>
          <a:prstGeom prst="roundRect">
            <a:avLst>
              <a:gd name="adj" fmla="val 2586"/>
            </a:avLst>
          </a:prstGeom>
          <a:solidFill>
            <a:srgbClr val="1C4E7E"/>
          </a:solidFill>
          <a:ln w="12700">
            <a:solidFill>
              <a:srgbClr val="1C4E7E"/>
            </a:solidFill>
            <a:prstDash val="solid"/>
          </a:ln>
        </p:spPr>
      </p:sp>
      <p:sp>
        <p:nvSpPr>
          <p:cNvPr id="12" name="Text 10"/>
          <p:cNvSpPr txBox="1"/>
          <p:nvPr/>
        </p:nvSpPr>
        <p:spPr>
          <a:xfrm>
            <a:off x="3596564" y="2011680"/>
            <a:ext cx="457200" cy="411480"/>
          </a:xfrm>
          <a:prstGeom prst="rect">
            <a:avLst/>
          </a:prstGeom>
          <a:noFill/>
          <a:ln/>
        </p:spPr>
        <p:txBody>
          <a:bodyPr wrap="square" lIns="0" tIns="0" rIns="0" bIns="0" rtlCol="0" anchor="ctr"/>
          <a:lstStyle/>
          <a:p>
            <a:pPr indent="0" marL="0">
              <a:buNone/>
            </a:pPr>
            <a:r>
              <a:rPr lang="en-US" sz="2600" b="1" dirty="0">
                <a:solidFill>
                  <a:srgbClr val="8FB6DA"/>
                </a:solidFill>
                <a:latin typeface="Calibri" pitchFamily="34" charset="0"/>
                <a:ea typeface="Calibri" pitchFamily="34" charset="-122"/>
                <a:cs typeface="Calibri" pitchFamily="34" charset="-120"/>
              </a:rPr>
              <a:t>2</a:t>
            </a:r>
            <a:endParaRPr lang="en-US" sz="2600" dirty="0"/>
          </a:p>
        </p:txBody>
      </p:sp>
      <p:sp>
        <p:nvSpPr>
          <p:cNvPr id="13" name="Text 11"/>
          <p:cNvSpPr txBox="1"/>
          <p:nvPr/>
        </p:nvSpPr>
        <p:spPr>
          <a:xfrm>
            <a:off x="3596564" y="2468880"/>
            <a:ext cx="2188388"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 el origen</a:t>
            </a:r>
            <a:endParaRPr lang="en-US" sz="1450" dirty="0"/>
          </a:p>
        </p:txBody>
      </p:sp>
      <p:sp>
        <p:nvSpPr>
          <p:cNvPr id="14" name="Text 12"/>
          <p:cNvSpPr txBox="1"/>
          <p:nvPr/>
        </p:nvSpPr>
        <p:spPr>
          <a:xfrm>
            <a:off x="3596564" y="2816352"/>
            <a:ext cx="2188388" cy="1051560"/>
          </a:xfrm>
          <a:prstGeom prst="rect">
            <a:avLst/>
          </a:prstGeom>
          <a:noFill/>
          <a:ln/>
        </p:spPr>
        <p:txBody>
          <a:bodyPr wrap="square" lIns="0" tIns="0" rIns="0" bIns="0" rtlCol="0" anchor="t"/>
          <a:lstStyle/>
          <a:p>
            <a:pPr indent="0" marL="0">
              <a:buNone/>
            </a:pPr>
            <a:r>
              <a:rPr lang="en-US" sz="1200" dirty="0">
                <a:solidFill>
                  <a:srgbClr val="DCE9F7"/>
                </a:solidFill>
                <a:latin typeface="Calibri" pitchFamily="34" charset="0"/>
                <a:ea typeface="Calibri" pitchFamily="34" charset="-122"/>
                <a:cs typeface="Calibri" pitchFamily="34" charset="-120"/>
              </a:rPr>
              <a:t>Se elimina o sustituye la fuente del riesgo.</a:t>
            </a:r>
            <a:endParaRPr lang="en-US" sz="1200" dirty="0"/>
          </a:p>
        </p:txBody>
      </p:sp>
      <p:sp>
        <p:nvSpPr>
          <p:cNvPr id="15" name="Shape 13"/>
          <p:cNvSpPr/>
          <p:nvPr/>
        </p:nvSpPr>
        <p:spPr>
          <a:xfrm>
            <a:off x="6187288" y="1883664"/>
            <a:ext cx="2627300" cy="2121408"/>
          </a:xfrm>
          <a:prstGeom prst="roundRect">
            <a:avLst>
              <a:gd name="adj" fmla="val 2586"/>
            </a:avLst>
          </a:prstGeom>
          <a:solidFill>
            <a:srgbClr val="3E7099"/>
          </a:solidFill>
          <a:ln w="12700">
            <a:solidFill>
              <a:srgbClr val="3E7099"/>
            </a:solidFill>
            <a:prstDash val="solid"/>
          </a:ln>
        </p:spPr>
      </p:sp>
      <p:sp>
        <p:nvSpPr>
          <p:cNvPr id="16" name="Text 14"/>
          <p:cNvSpPr txBox="1"/>
          <p:nvPr/>
        </p:nvSpPr>
        <p:spPr>
          <a:xfrm>
            <a:off x="6406744" y="2011680"/>
            <a:ext cx="457200" cy="411480"/>
          </a:xfrm>
          <a:prstGeom prst="rect">
            <a:avLst/>
          </a:prstGeom>
          <a:noFill/>
          <a:ln/>
        </p:spPr>
        <p:txBody>
          <a:bodyPr wrap="square" lIns="0" tIns="0" rIns="0" bIns="0" rtlCol="0" anchor="ctr"/>
          <a:lstStyle/>
          <a:p>
            <a:pPr indent="0" marL="0">
              <a:buNone/>
            </a:pPr>
            <a:r>
              <a:rPr lang="en-US" sz="2600" b="1" dirty="0">
                <a:solidFill>
                  <a:srgbClr val="8FB6DA"/>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6406744" y="2468880"/>
            <a:ext cx="2188388"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 el medio</a:t>
            </a:r>
            <a:endParaRPr lang="en-US" sz="1450" dirty="0"/>
          </a:p>
        </p:txBody>
      </p:sp>
      <p:sp>
        <p:nvSpPr>
          <p:cNvPr id="18" name="Text 16"/>
          <p:cNvSpPr txBox="1"/>
          <p:nvPr/>
        </p:nvSpPr>
        <p:spPr>
          <a:xfrm>
            <a:off x="6406744" y="2816352"/>
            <a:ext cx="2188388" cy="1051560"/>
          </a:xfrm>
          <a:prstGeom prst="rect">
            <a:avLst/>
          </a:prstGeom>
          <a:noFill/>
          <a:ln/>
        </p:spPr>
        <p:txBody>
          <a:bodyPr wrap="square" lIns="0" tIns="0" rIns="0" bIns="0" rtlCol="0" anchor="t"/>
          <a:lstStyle/>
          <a:p>
            <a:pPr indent="0" marL="0">
              <a:buNone/>
            </a:pPr>
            <a:r>
              <a:rPr lang="en-US" sz="1200" dirty="0">
                <a:solidFill>
                  <a:srgbClr val="DCE9F7"/>
                </a:solidFill>
                <a:latin typeface="Calibri" pitchFamily="34" charset="0"/>
                <a:ea typeface="Calibri" pitchFamily="34" charset="-122"/>
                <a:cs typeface="Calibri" pitchFamily="34" charset="-120"/>
              </a:rPr>
              <a:t>Barreras entre la fuente y la persona: vallado, vehículo como barrera física.</a:t>
            </a:r>
            <a:endParaRPr lang="en-US" sz="1200" dirty="0"/>
          </a:p>
        </p:txBody>
      </p:sp>
      <p:sp>
        <p:nvSpPr>
          <p:cNvPr id="19" name="Shape 17"/>
          <p:cNvSpPr/>
          <p:nvPr/>
        </p:nvSpPr>
        <p:spPr>
          <a:xfrm>
            <a:off x="8997467" y="1883664"/>
            <a:ext cx="2627300" cy="2121408"/>
          </a:xfrm>
          <a:prstGeom prst="roundRect">
            <a:avLst>
              <a:gd name="adj" fmla="val 2586"/>
            </a:avLst>
          </a:prstGeom>
          <a:solidFill>
            <a:srgbClr val="8FA9C2"/>
          </a:solidFill>
          <a:ln w="12700">
            <a:solidFill>
              <a:srgbClr val="8FA9C2"/>
            </a:solidFill>
            <a:prstDash val="solid"/>
          </a:ln>
        </p:spPr>
      </p:sp>
      <p:sp>
        <p:nvSpPr>
          <p:cNvPr id="20" name="Text 18"/>
          <p:cNvSpPr txBox="1"/>
          <p:nvPr/>
        </p:nvSpPr>
        <p:spPr>
          <a:xfrm>
            <a:off x="9216923" y="2011680"/>
            <a:ext cx="457200" cy="4114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1" name="Text 19"/>
          <p:cNvSpPr txBox="1"/>
          <p:nvPr/>
        </p:nvSpPr>
        <p:spPr>
          <a:xfrm>
            <a:off x="9216923" y="2468880"/>
            <a:ext cx="2188388" cy="3017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Sobre la persona</a:t>
            </a:r>
            <a:endParaRPr lang="en-US" sz="1450" dirty="0"/>
          </a:p>
        </p:txBody>
      </p:sp>
      <p:sp>
        <p:nvSpPr>
          <p:cNvPr id="22" name="Text 20"/>
          <p:cNvSpPr txBox="1"/>
          <p:nvPr/>
        </p:nvSpPr>
        <p:spPr>
          <a:xfrm>
            <a:off x="9216923" y="2816352"/>
            <a:ext cx="2188388" cy="1051560"/>
          </a:xfrm>
          <a:prstGeom prst="rect">
            <a:avLst/>
          </a:prstGeom>
          <a:noFill/>
          <a:ln/>
        </p:spPr>
        <p:txBody>
          <a:bodyPr wrap="square" lIns="0" tIns="0" rIns="0" bIns="0" rtlCol="0" anchor="t"/>
          <a:lstStyle/>
          <a:p>
            <a:pPr indent="0" marL="0">
              <a:buNone/>
            </a:pPr>
            <a:r>
              <a:rPr lang="en-US" sz="1200" dirty="0">
                <a:solidFill>
                  <a:srgbClr val="1B3A57"/>
                </a:solidFill>
                <a:latin typeface="Calibri" pitchFamily="34" charset="0"/>
                <a:ea typeface="Calibri" pitchFamily="34" charset="-122"/>
                <a:cs typeface="Calibri" pitchFamily="34" charset="-120"/>
              </a:rPr>
              <a:t>EPP, capacitación, vigilancia de la salud. El escalón más débil.</a:t>
            </a:r>
            <a:endParaRPr lang="en-US" sz="1200" dirty="0"/>
          </a:p>
        </p:txBody>
      </p:sp>
      <p:sp>
        <p:nvSpPr>
          <p:cNvPr id="23" name="Shape 21"/>
          <p:cNvSpPr/>
          <p:nvPr/>
        </p:nvSpPr>
        <p:spPr>
          <a:xfrm>
            <a:off x="566928" y="4279392"/>
            <a:ext cx="5391760" cy="2121408"/>
          </a:xfrm>
          <a:prstGeom prst="roundRect">
            <a:avLst>
              <a:gd name="adj" fmla="val 2586"/>
            </a:avLst>
          </a:prstGeom>
          <a:solidFill>
            <a:srgbClr val="F4F8FC"/>
          </a:solidFill>
          <a:ln w="12700">
            <a:solidFill>
              <a:srgbClr val="DCE9F7"/>
            </a:solidFill>
            <a:prstDash val="solid"/>
          </a:ln>
        </p:spPr>
      </p:sp>
      <p:sp>
        <p:nvSpPr>
          <p:cNvPr id="24" name="Text 22"/>
          <p:cNvSpPr txBox="1"/>
          <p:nvPr/>
        </p:nvSpPr>
        <p:spPr>
          <a:xfrm>
            <a:off x="841248" y="44439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SECTORES ANALIZADOS</a:t>
            </a:r>
            <a:endParaRPr lang="en-US" sz="1150" dirty="0"/>
          </a:p>
        </p:txBody>
      </p:sp>
      <p:sp>
        <p:nvSpPr>
          <p:cNvPr id="25" name="Text 23"/>
          <p:cNvSpPr txBox="1"/>
          <p:nvPr/>
        </p:nvSpPr>
        <p:spPr>
          <a:xfrm>
            <a:off x="841248" y="4809744"/>
            <a:ext cx="4843120" cy="1481328"/>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Base operativa — depósito y pañol, playa de carga, oficina del NOC, mesa de despacho, sala técnica y aula.</a:t>
            </a:r>
            <a:endParaRPr lang="en-US" sz="1300" dirty="0"/>
          </a:p>
          <a:p>
            <a:pPr indent="0" marL="0">
              <a:lnSpc>
                <a:spcPct val="108000"/>
              </a:lnSpc>
              <a:buNone/>
            </a:pPr>
            <a:endParaRPr lang="en-US" sz="1300" dirty="0"/>
          </a:p>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Campo — tendido aéreo en vía pública, cámara subterránea (espacio confinado) y domicilio del cliente.</a:t>
            </a:r>
            <a:endParaRPr lang="en-US" sz="1300" dirty="0"/>
          </a:p>
        </p:txBody>
      </p:sp>
      <p:sp>
        <p:nvSpPr>
          <p:cNvPr id="26" name="Shape 24"/>
          <p:cNvSpPr/>
          <p:nvPr/>
        </p:nvSpPr>
        <p:spPr>
          <a:xfrm>
            <a:off x="6233008" y="4279392"/>
            <a:ext cx="5391760" cy="2121408"/>
          </a:xfrm>
          <a:prstGeom prst="roundRect">
            <a:avLst>
              <a:gd name="adj" fmla="val 2586"/>
            </a:avLst>
          </a:prstGeom>
          <a:solidFill>
            <a:srgbClr val="DCE9F7"/>
          </a:solidFill>
          <a:ln w="12700">
            <a:solidFill>
              <a:srgbClr val="5B7FA6"/>
            </a:solidFill>
            <a:prstDash val="solid"/>
          </a:ln>
        </p:spPr>
      </p:sp>
      <p:sp>
        <p:nvSpPr>
          <p:cNvPr id="27" name="Text 25"/>
          <p:cNvSpPr txBox="1"/>
          <p:nvPr/>
        </p:nvSpPr>
        <p:spPr>
          <a:xfrm>
            <a:off x="6507328" y="44439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DONDE EL SISTEMA ES LA MEDIDA PREVENTIVA</a:t>
            </a:r>
            <a:endParaRPr lang="en-US" sz="1150" dirty="0"/>
          </a:p>
        </p:txBody>
      </p:sp>
      <p:sp>
        <p:nvSpPr>
          <p:cNvPr id="28" name="Text 26"/>
          <p:cNvSpPr txBox="1"/>
          <p:nvPr/>
        </p:nvSpPr>
        <p:spPr>
          <a:xfrm>
            <a:off x="6507328" y="4809744"/>
            <a:ext cx="4843120" cy="1481328"/>
          </a:xfrm>
          <a:prstGeom prst="rect">
            <a:avLst/>
          </a:prstGeom>
          <a:noFill/>
          <a:ln/>
        </p:spPr>
        <p:txBody>
          <a:bodyPr wrap="square" lIns="0" tIns="0" rIns="0" bIns="0" rtlCol="0" anchor="t"/>
          <a:lstStyle/>
          <a:p>
            <a:pPr indent="0" marL="0">
              <a:lnSpc>
                <a:spcPct val="108000"/>
              </a:lnSpc>
              <a:buNone/>
            </a:pPr>
            <a:r>
              <a:rPr lang="en-US" sz="1250" dirty="0">
                <a:solidFill>
                  <a:srgbClr val="2A3B4D"/>
                </a:solidFill>
                <a:latin typeface="Calibri" pitchFamily="34" charset="0"/>
                <a:ea typeface="Calibri" pitchFamily="34" charset="-122"/>
                <a:cs typeface="Calibri" pitchFamily="34" charset="-120"/>
              </a:rPr>
              <a:t>La habilitación vigente para trabajo en altura y riesgo eléctrico pasa a ser condición de despacho: una orden que requiere altura no puede asignarse a un técnico con certificación vencida. El control deja de depender de la memoria del técnico y se vuelve prevención en el diseño del flujo. Es, a la vez, el tratamiento de R04.</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ivate/tmp/claude-501/-Users-juanbonadeo-Desktop-UTN/8155766a-ead1-4642-9abc-dd512f5585d8/scratchpad/figs/fig3-plano.png">    </p:cNvPr>
          <p:cNvPicPr>
            <a:picLocks noChangeAspect="1"/>
          </p:cNvPicPr>
          <p:nvPr/>
        </p:nvPicPr>
        <p:blipFill>
          <a:blip r:embed="rId1"/>
          <a:stretch>
            <a:fillRect/>
          </a:stretch>
        </p:blipFill>
        <p:spPr>
          <a:xfrm>
            <a:off x="2135276" y="173736"/>
            <a:ext cx="7921142" cy="65105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ivate/tmp/claude-501/-Users-juanbonadeo-Desktop-UTN/8155766a-ead1-4642-9abc-dd512f5585d8/scratchpad/figs/fig4-campo.png">    </p:cNvPr>
          <p:cNvPicPr>
            <a:picLocks noChangeAspect="1"/>
          </p:cNvPicPr>
          <p:nvPr/>
        </p:nvPicPr>
        <p:blipFill>
          <a:blip r:embed="rId1"/>
          <a:stretch>
            <a:fillRect/>
          </a:stretch>
        </p:blipFill>
        <p:spPr>
          <a:xfrm>
            <a:off x="1268126" y="173736"/>
            <a:ext cx="9655444" cy="651052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7·8</a:t>
            </a:r>
            <a:endParaRPr lang="en-US" sz="13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Activos a adquirir y forma de adquisición</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Dimensionado sobre el alcance del proyecto: operación de fibra óptica en el Gran Rosario, 60 técnicos. No es la operación nacional.</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2651760"/>
                <a:gridCol w="868680"/>
                <a:gridCol w="2103120"/>
                <a:gridCol w="5431536"/>
              </a:tblGrid>
              <a:tr h="475488">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Activo o servicio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algn="ctr" indent="0" marL="0">
                        <a:buNone/>
                      </a:pPr>
                      <a:r>
                        <a:rPr lang="en-US" sz="1150" b="1" dirty="0">
                          <a:solidFill>
                            <a:srgbClr val="15406B"/>
                          </a:solidFill>
                          <a:latin typeface="Calibri" pitchFamily="34" charset="0"/>
                          <a:ea typeface="Calibri" pitchFamily="34" charset="-122"/>
                          <a:cs typeface="Calibri" pitchFamily="34" charset="-120"/>
                        </a:rPr>
                        <a:t>Cantidad</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Forma de adquisición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Por qué así</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DCE9F7"/>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Licencias de la plataforma FSM</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78</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Suscripción anual</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En SaaS no hay licencia perpetua. La anual fija el precio durante la implantación y los 6 meses de medición; el compromiso plurianual consolidaría la dependencia antes del piloto</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Servicio de implantación y configuración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784 h</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Bolsa de horas con tope</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El precio cerrado exigiría congelar la configuración antes del piloto, cuando 8.3 prevé ajustar reglas con datos reales</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Consultoría de integración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560 h</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Servicios por hora, con tope</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El esfuerzo depende del estado real de los sistemas heredados, que se conoce recién en 2.3</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Dispositivos móviles rugerizados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63</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Compra directa</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Vida útil superior al horizonte del proyecto y uso permanente. Quedan como activo y se incorporan a la CMDB</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Unidades de evaluación de dispositivos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Comodato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Se necesitan antes de decidir la compra y se devuelven: traslada el costo de la prueba al oferente</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Servicio de mapas y geolocalización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por uso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Pago por uso, con tope mensual</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El volumen es proporcional a las órdenes y no es estimable antes de la medición de líneas base</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5406B"/>
                          </a:solidFill>
                          <a:latin typeface="Calibri" pitchFamily="34" charset="0"/>
                          <a:ea typeface="Calibri" pitchFamily="34" charset="-122"/>
                          <a:cs typeface="Calibri" pitchFamily="34" charset="-120"/>
                        </a:rPr>
                        <a:t>Soporte premium de estabilización</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A3B4D"/>
                          </a:solidFill>
                          <a:latin typeface="Calibri" pitchFamily="34" charset="0"/>
                          <a:ea typeface="Calibri" pitchFamily="34" charset="-122"/>
                          <a:cs typeface="Calibri" pitchFamily="34" charset="-120"/>
                        </a:rPr>
                        <a:t>12 meses</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2A3B4D"/>
                          </a:solidFill>
                          <a:latin typeface="Calibri" pitchFamily="34" charset="0"/>
                          <a:ea typeface="Calibri" pitchFamily="34" charset="-122"/>
                          <a:cs typeface="Calibri" pitchFamily="34" charset="-120"/>
                        </a:rPr>
                        <a:t>Suscripción de plazo acotado</a:t>
                      </a:r>
                      <a:endParaRPr lang="en-US" sz="115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00" dirty="0">
                          <a:solidFill>
                            <a:srgbClr val="4C6480"/>
                          </a:solidFill>
                          <a:latin typeface="Calibri" pitchFamily="34" charset="0"/>
                          <a:ea typeface="Calibri" pitchFamily="34" charset="-122"/>
                          <a:cs typeface="Calibri" pitchFamily="34" charset="-120"/>
                        </a:rPr>
                        <a:t>Se descarta el pago por incidente: incentiva a no reportar y distorsiona el indicador</a:t>
                      </a:r>
                      <a:endParaRPr lang="en-US" sz="1100" dirty="0">
                        <a:latin typeface="Calibri" charset="0"/>
                        <a:ea typeface="Calibri" charset="0"/>
                        <a:cs typeface="Calibri" charset="0"/>
                      </a:endParaRPr>
                    </a:p>
                  </a:txBody>
                  <a:tcPr marL="91440" marR="91440" marT="45720" marB="45720" anchor="ctr">
                    <a:lnL w="12700" cap="flat" cmpd="sng" algn="ctr">
                      <a:solidFill>
                        <a:srgbClr val="DCE9F7"/>
                      </a:solidFill>
                      <a:prstDash val="solid"/>
                      <a:round/>
                      <a:headEnd type="none" w="med" len="med"/>
                      <a:tailEnd type="none" w="med" len="med"/>
                    </a:lnL>
                    <a:lnR w="12700" cap="flat" cmpd="sng" algn="ctr">
                      <a:solidFill>
                        <a:srgbClr val="DCE9F7"/>
                      </a:solidFill>
                      <a:prstDash val="solid"/>
                      <a:round/>
                      <a:headEnd type="none" w="med" len="med"/>
                      <a:tailEnd type="none" w="med" len="med"/>
                    </a:lnR>
                    <a:lnT w="12700" cap="flat" cmpd="sng" algn="ctr">
                      <a:solidFill>
                        <a:srgbClr val="DCE9F7"/>
                      </a:solidFill>
                      <a:prstDash val="solid"/>
                      <a:round/>
                      <a:headEnd type="none" w="med" len="med"/>
                      <a:tailEnd type="none" w="med" len="med"/>
                    </a:lnT>
                    <a:lnB w="12700" cap="flat" cmpd="sng" algn="ctr">
                      <a:solidFill>
                        <a:srgbClr val="DCE9F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RFI y RFP</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Dos instrumentos distintos y sucesivos: el RFI reduce la incertidumbre sobre el mercado, el RFP reduce la incertidumbre sobre la oferta</a:t>
            </a:r>
            <a:endParaRPr lang="en-US" sz="1250" dirty="0"/>
          </a:p>
        </p:txBody>
      </p:sp>
      <p:sp>
        <p:nvSpPr>
          <p:cNvPr id="6" name="Shape 4"/>
          <p:cNvSpPr/>
          <p:nvPr/>
        </p:nvSpPr>
        <p:spPr>
          <a:xfrm>
            <a:off x="566928" y="1517904"/>
            <a:ext cx="5391760" cy="3200400"/>
          </a:xfrm>
          <a:prstGeom prst="roundRect">
            <a:avLst>
              <a:gd name="adj" fmla="val 1714"/>
            </a:avLst>
          </a:prstGeom>
          <a:solidFill>
            <a:srgbClr val="DCE9F7"/>
          </a:solidFill>
          <a:ln w="12700">
            <a:solidFill>
              <a:srgbClr val="5B7FA6"/>
            </a:solidFill>
            <a:prstDash val="solid"/>
          </a:ln>
        </p:spPr>
      </p:sp>
      <p:sp>
        <p:nvSpPr>
          <p:cNvPr id="7" name="Text 5"/>
          <p:cNvSpPr txBox="1"/>
          <p:nvPr/>
        </p:nvSpPr>
        <p:spPr>
          <a:xfrm>
            <a:off x="841248" y="17007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RFI · PEDIDO DE INFORMACIÓN</a:t>
            </a:r>
            <a:endParaRPr lang="en-US" sz="1150" dirty="0"/>
          </a:p>
        </p:txBody>
      </p:sp>
      <p:sp>
        <p:nvSpPr>
          <p:cNvPr id="8" name="Text 6"/>
          <p:cNvSpPr txBox="1"/>
          <p:nvPr/>
        </p:nvSpPr>
        <p:spPr>
          <a:xfrm>
            <a:off x="841248" y="2066544"/>
            <a:ext cx="4843120" cy="25146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Momento — etapa temprana, antes de fijar especificaciones</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Se pide — capacidades, arquitectura, modelos de licenciamiento y rangos de precio</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Se obtiene — un mapa del mercado que depura los requerimientos</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No vinculante para ninguna de las partes</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Acá: paquete 3.1, 5 días, crítico. Relevar integración nativa, alojamiento de datos y alcance real del modo offline</a:t>
            </a:r>
            <a:endParaRPr lang="en-US" sz="1250" dirty="0"/>
          </a:p>
        </p:txBody>
      </p:sp>
      <p:sp>
        <p:nvSpPr>
          <p:cNvPr id="9" name="Shape 7"/>
          <p:cNvSpPr/>
          <p:nvPr/>
        </p:nvSpPr>
        <p:spPr>
          <a:xfrm>
            <a:off x="6233008" y="1517904"/>
            <a:ext cx="5391760" cy="3200400"/>
          </a:xfrm>
          <a:prstGeom prst="roundRect">
            <a:avLst>
              <a:gd name="adj" fmla="val 1714"/>
            </a:avLst>
          </a:prstGeom>
          <a:solidFill>
            <a:srgbClr val="F4F8FC"/>
          </a:solidFill>
          <a:ln w="12700">
            <a:solidFill>
              <a:srgbClr val="DCE9F7"/>
            </a:solidFill>
            <a:prstDash val="solid"/>
          </a:ln>
        </p:spPr>
      </p:sp>
      <p:sp>
        <p:nvSpPr>
          <p:cNvPr id="10" name="Text 8"/>
          <p:cNvSpPr txBox="1"/>
          <p:nvPr/>
        </p:nvSpPr>
        <p:spPr>
          <a:xfrm>
            <a:off x="6507328" y="1700784"/>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RFP · PEDIDO DE PROPUESTA</a:t>
            </a:r>
            <a:endParaRPr lang="en-US" sz="1150" dirty="0"/>
          </a:p>
        </p:txBody>
      </p:sp>
      <p:sp>
        <p:nvSpPr>
          <p:cNvPr id="11" name="Text 9"/>
          <p:cNvSpPr txBox="1"/>
          <p:nvPr/>
        </p:nvSpPr>
        <p:spPr>
          <a:xfrm>
            <a:off x="6507328" y="2066544"/>
            <a:ext cx="4843120" cy="25146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Momento — con la lista corta hecha y el pliego cerrado</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Se pide — propuesta técnica y económica, cronograma, equipo, SLA y condiciones contractuales</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Se obtiene — ofertas comparables y puntuables, base de la negociación</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Vinculante para el oferente por el plazo de validez</a:t>
            </a:r>
            <a:endParaRPr lang="en-US" sz="1250" dirty="0"/>
          </a:p>
          <a:p>
            <a:pPr marL="342900" indent="-342900">
              <a:spcAft>
                <a:spcPts val="1000"/>
              </a:spcAft>
              <a:buSzPct val="100000"/>
              <a:buChar char="•"/>
            </a:pPr>
            <a:r>
              <a:rPr lang="en-US" sz="1250" dirty="0">
                <a:solidFill>
                  <a:srgbClr val="2A3B4D"/>
                </a:solidFill>
                <a:latin typeface="Calibri" pitchFamily="34" charset="0"/>
                <a:ea typeface="Calibri" pitchFamily="34" charset="-122"/>
                <a:cs typeface="Calibri" pitchFamily="34" charset="-120"/>
              </a:rPr>
              <a:t>Acá: paquete 3.3, 7 días, crítico. Solo a la lista corta y sobre los requerimientos aprobados en 2.6</a:t>
            </a:r>
            <a:endParaRPr lang="en-US" sz="1250" dirty="0"/>
          </a:p>
        </p:txBody>
      </p:sp>
      <p:sp>
        <p:nvSpPr>
          <p:cNvPr id="12" name="Shape 10"/>
          <p:cNvSpPr/>
          <p:nvPr/>
        </p:nvSpPr>
        <p:spPr>
          <a:xfrm>
            <a:off x="566928" y="4937760"/>
            <a:ext cx="11057839" cy="1481328"/>
          </a:xfrm>
          <a:prstGeom prst="roundRect">
            <a:avLst>
              <a:gd name="adj" fmla="val 3704"/>
            </a:avLst>
          </a:prstGeom>
          <a:solidFill>
            <a:srgbClr val="15406B"/>
          </a:solidFill>
          <a:ln w="12700">
            <a:solidFill>
              <a:srgbClr val="15406B"/>
            </a:solidFill>
            <a:prstDash val="solid"/>
          </a:ln>
        </p:spPr>
      </p:sp>
      <p:sp>
        <p:nvSpPr>
          <p:cNvPr id="13" name="Text 11"/>
          <p:cNvSpPr txBox="1"/>
          <p:nvPr/>
        </p:nvSpPr>
        <p:spPr>
          <a:xfrm>
            <a:off x="841248" y="5074920"/>
            <a:ext cx="10509199" cy="237744"/>
          </a:xfrm>
          <a:prstGeom prst="rect">
            <a:avLst/>
          </a:prstGeom>
          <a:noFill/>
          <a:ln/>
        </p:spPr>
        <p:txBody>
          <a:bodyPr wrap="square" lIns="0" tIns="0" rIns="0" bIns="0" rtlCol="0" anchor="ctr"/>
          <a:lstStyle/>
          <a:p>
            <a:pPr indent="0" marL="0">
              <a:buNone/>
            </a:pPr>
            <a:r>
              <a:rPr lang="en-US" sz="1150" b="1" spc="80" kern="0" dirty="0">
                <a:solidFill>
                  <a:srgbClr val="8FB6DA"/>
                </a:solidFill>
                <a:latin typeface="Calibri" pitchFamily="34" charset="0"/>
                <a:ea typeface="Calibri" pitchFamily="34" charset="-122"/>
                <a:cs typeface="Calibri" pitchFamily="34" charset="-120"/>
              </a:rPr>
              <a:t>CRITERIOS PONDERADOS DE EVALUACIÓN, DEFINIDOS ANTES DE ABRIR LAS PROPUESTAS</a:t>
            </a:r>
            <a:endParaRPr lang="en-US" sz="1150" dirty="0"/>
          </a:p>
        </p:txBody>
      </p:sp>
      <p:sp>
        <p:nvSpPr>
          <p:cNvPr id="14" name="Text 12"/>
          <p:cNvSpPr txBox="1"/>
          <p:nvPr/>
        </p:nvSpPr>
        <p:spPr>
          <a:xfrm>
            <a:off x="841248" y="5449824"/>
            <a:ext cx="1614373" cy="347472"/>
          </a:xfrm>
          <a:prstGeom prst="rect">
            <a:avLst/>
          </a:prstGeom>
          <a:noFill/>
          <a:ln/>
        </p:spPr>
        <p:txBody>
          <a:bodyPr wrap="square" lIns="0" tIns="0" rIns="0" bIns="0" rtlCol="0" anchor="ctr"/>
          <a:lstStyle/>
          <a:p>
            <a:pPr indent="0" marL="0">
              <a:buNone/>
            </a:pPr>
            <a:r>
              <a:rPr lang="en-US" sz="1900" b="1" dirty="0">
                <a:solidFill>
                  <a:srgbClr val="DCE9F7"/>
                </a:solidFill>
                <a:latin typeface="Calibri" pitchFamily="34" charset="0"/>
                <a:ea typeface="Calibri" pitchFamily="34" charset="-122"/>
                <a:cs typeface="Calibri" pitchFamily="34" charset="-120"/>
              </a:rPr>
              <a:t>25%</a:t>
            </a:r>
            <a:endParaRPr lang="en-US" sz="1900" dirty="0"/>
          </a:p>
        </p:txBody>
      </p:sp>
      <p:sp>
        <p:nvSpPr>
          <p:cNvPr id="15" name="Text 13"/>
          <p:cNvSpPr txBox="1"/>
          <p:nvPr/>
        </p:nvSpPr>
        <p:spPr>
          <a:xfrm>
            <a:off x="841248"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Seguridad y</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protección de datos</a:t>
            </a:r>
            <a:endParaRPr lang="en-US" sz="1050" dirty="0"/>
          </a:p>
        </p:txBody>
      </p:sp>
      <p:sp>
        <p:nvSpPr>
          <p:cNvPr id="16" name="Text 14"/>
          <p:cNvSpPr txBox="1"/>
          <p:nvPr/>
        </p:nvSpPr>
        <p:spPr>
          <a:xfrm>
            <a:off x="2592781" y="5449824"/>
            <a:ext cx="1614373" cy="347472"/>
          </a:xfrm>
          <a:prstGeom prst="rect">
            <a:avLst/>
          </a:prstGeom>
          <a:noFill/>
          <a:ln/>
        </p:spPr>
        <p:txBody>
          <a:bodyPr wrap="square" lIns="0" tIns="0" rIns="0" bIns="0" rtlCol="0" anchor="ctr"/>
          <a:lstStyle/>
          <a:p>
            <a:pPr indent="0" marL="0">
              <a:buNone/>
            </a:pPr>
            <a:r>
              <a:rPr lang="en-US" sz="1900" b="1" dirty="0">
                <a:solidFill>
                  <a:srgbClr val="DCE9F7"/>
                </a:solidFill>
                <a:latin typeface="Calibri" pitchFamily="34" charset="0"/>
                <a:ea typeface="Calibri" pitchFamily="34" charset="-122"/>
                <a:cs typeface="Calibri" pitchFamily="34" charset="-120"/>
              </a:rPr>
              <a:t>20%</a:t>
            </a:r>
            <a:endParaRPr lang="en-US" sz="1900" dirty="0"/>
          </a:p>
        </p:txBody>
      </p:sp>
      <p:sp>
        <p:nvSpPr>
          <p:cNvPr id="17" name="Text 15"/>
          <p:cNvSpPr txBox="1"/>
          <p:nvPr/>
        </p:nvSpPr>
        <p:spPr>
          <a:xfrm>
            <a:off x="2592781"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Capacidad de</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integración</a:t>
            </a:r>
            <a:endParaRPr lang="en-US" sz="1050" dirty="0"/>
          </a:p>
        </p:txBody>
      </p:sp>
      <p:sp>
        <p:nvSpPr>
          <p:cNvPr id="18" name="Text 16"/>
          <p:cNvSpPr txBox="1"/>
          <p:nvPr/>
        </p:nvSpPr>
        <p:spPr>
          <a:xfrm>
            <a:off x="4344314" y="5449824"/>
            <a:ext cx="1614373" cy="347472"/>
          </a:xfrm>
          <a:prstGeom prst="rect">
            <a:avLst/>
          </a:prstGeom>
          <a:noFill/>
          <a:ln/>
        </p:spPr>
        <p:txBody>
          <a:bodyPr wrap="square" lIns="0" tIns="0" rIns="0" bIns="0" rtlCol="0" anchor="ctr"/>
          <a:lstStyle/>
          <a:p>
            <a:pPr indent="0" marL="0">
              <a:buNone/>
            </a:pPr>
            <a:r>
              <a:rPr lang="en-US" sz="1900" b="1" dirty="0">
                <a:solidFill>
                  <a:srgbClr val="DCE9F7"/>
                </a:solidFill>
                <a:latin typeface="Calibri" pitchFamily="34" charset="0"/>
                <a:ea typeface="Calibri" pitchFamily="34" charset="-122"/>
                <a:cs typeface="Calibri" pitchFamily="34" charset="-120"/>
              </a:rPr>
              <a:t>20%</a:t>
            </a:r>
            <a:endParaRPr lang="en-US" sz="1900" dirty="0"/>
          </a:p>
        </p:txBody>
      </p:sp>
      <p:sp>
        <p:nvSpPr>
          <p:cNvPr id="19" name="Text 17"/>
          <p:cNvSpPr txBox="1"/>
          <p:nvPr/>
        </p:nvSpPr>
        <p:spPr>
          <a:xfrm>
            <a:off x="4344314"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Motor de asignación</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y modo offline</a:t>
            </a:r>
            <a:endParaRPr lang="en-US" sz="1050" dirty="0"/>
          </a:p>
        </p:txBody>
      </p:sp>
      <p:sp>
        <p:nvSpPr>
          <p:cNvPr id="20" name="Text 18"/>
          <p:cNvSpPr txBox="1"/>
          <p:nvPr/>
        </p:nvSpPr>
        <p:spPr>
          <a:xfrm>
            <a:off x="6095848" y="5449824"/>
            <a:ext cx="1614373" cy="347472"/>
          </a:xfrm>
          <a:prstGeom prst="rect">
            <a:avLst/>
          </a:prstGeom>
          <a:noFill/>
          <a:ln/>
        </p:spPr>
        <p:txBody>
          <a:bodyPr wrap="square" lIns="0" tIns="0" rIns="0" bIns="0" rtlCol="0" anchor="ctr"/>
          <a:lstStyle/>
          <a:p>
            <a:pPr indent="0" marL="0">
              <a:buNone/>
            </a:pPr>
            <a:r>
              <a:rPr lang="en-US" sz="1900" b="1" dirty="0">
                <a:solidFill>
                  <a:srgbClr val="8FB6DA"/>
                </a:solidFill>
                <a:latin typeface="Calibri" pitchFamily="34" charset="0"/>
                <a:ea typeface="Calibri" pitchFamily="34" charset="-122"/>
                <a:cs typeface="Calibri" pitchFamily="34" charset="-120"/>
              </a:rPr>
              <a:t>15%</a:t>
            </a:r>
            <a:endParaRPr lang="en-US" sz="1900" dirty="0"/>
          </a:p>
        </p:txBody>
      </p:sp>
      <p:sp>
        <p:nvSpPr>
          <p:cNvPr id="21" name="Text 19"/>
          <p:cNvSpPr txBox="1"/>
          <p:nvPr/>
        </p:nvSpPr>
        <p:spPr>
          <a:xfrm>
            <a:off x="6095848"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Costo total de</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propiedad a 3 años</a:t>
            </a:r>
            <a:endParaRPr lang="en-US" sz="1050" dirty="0"/>
          </a:p>
        </p:txBody>
      </p:sp>
      <p:sp>
        <p:nvSpPr>
          <p:cNvPr id="22" name="Text 20"/>
          <p:cNvSpPr txBox="1"/>
          <p:nvPr/>
        </p:nvSpPr>
        <p:spPr>
          <a:xfrm>
            <a:off x="7847381" y="5449824"/>
            <a:ext cx="1614373" cy="347472"/>
          </a:xfrm>
          <a:prstGeom prst="rect">
            <a:avLst/>
          </a:prstGeom>
          <a:noFill/>
          <a:ln/>
        </p:spPr>
        <p:txBody>
          <a:bodyPr wrap="square" lIns="0" tIns="0" rIns="0" bIns="0" rtlCol="0" anchor="ctr"/>
          <a:lstStyle/>
          <a:p>
            <a:pPr indent="0" marL="0">
              <a:buNone/>
            </a:pPr>
            <a:r>
              <a:rPr lang="en-US" sz="1900" b="1" dirty="0">
                <a:solidFill>
                  <a:srgbClr val="8FB6DA"/>
                </a:solidFill>
                <a:latin typeface="Calibri" pitchFamily="34" charset="0"/>
                <a:ea typeface="Calibri" pitchFamily="34" charset="-122"/>
                <a:cs typeface="Calibri" pitchFamily="34" charset="-120"/>
              </a:rPr>
              <a:t>10%</a:t>
            </a:r>
            <a:endParaRPr lang="en-US" sz="1900" dirty="0"/>
          </a:p>
        </p:txBody>
      </p:sp>
      <p:sp>
        <p:nvSpPr>
          <p:cNvPr id="23" name="Text 21"/>
          <p:cNvSpPr txBox="1"/>
          <p:nvPr/>
        </p:nvSpPr>
        <p:spPr>
          <a:xfrm>
            <a:off x="7847381"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Plazo de</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implantación</a:t>
            </a:r>
            <a:endParaRPr lang="en-US" sz="1050" dirty="0"/>
          </a:p>
        </p:txBody>
      </p:sp>
      <p:sp>
        <p:nvSpPr>
          <p:cNvPr id="24" name="Text 22"/>
          <p:cNvSpPr txBox="1"/>
          <p:nvPr/>
        </p:nvSpPr>
        <p:spPr>
          <a:xfrm>
            <a:off x="9598914" y="5449824"/>
            <a:ext cx="1614373" cy="347472"/>
          </a:xfrm>
          <a:prstGeom prst="rect">
            <a:avLst/>
          </a:prstGeom>
          <a:noFill/>
          <a:ln/>
        </p:spPr>
        <p:txBody>
          <a:bodyPr wrap="square" lIns="0" tIns="0" rIns="0" bIns="0" rtlCol="0" anchor="ctr"/>
          <a:lstStyle/>
          <a:p>
            <a:pPr indent="0" marL="0">
              <a:buNone/>
            </a:pPr>
            <a:r>
              <a:rPr lang="en-US" sz="1900" b="1" dirty="0">
                <a:solidFill>
                  <a:srgbClr val="8FB6DA"/>
                </a:solidFill>
                <a:latin typeface="Calibri" pitchFamily="34" charset="0"/>
                <a:ea typeface="Calibri" pitchFamily="34" charset="-122"/>
                <a:cs typeface="Calibri" pitchFamily="34" charset="-120"/>
              </a:rPr>
              <a:t>10%</a:t>
            </a:r>
            <a:endParaRPr lang="en-US" sz="1900" dirty="0"/>
          </a:p>
        </p:txBody>
      </p:sp>
      <p:sp>
        <p:nvSpPr>
          <p:cNvPr id="25" name="Text 23"/>
          <p:cNvSpPr txBox="1"/>
          <p:nvPr/>
        </p:nvSpPr>
        <p:spPr>
          <a:xfrm>
            <a:off x="9598914" y="5815584"/>
            <a:ext cx="1614373" cy="457200"/>
          </a:xfrm>
          <a:prstGeom prst="rect">
            <a:avLst/>
          </a:prstGeom>
          <a:noFill/>
          <a:ln/>
        </p:spPr>
        <p:txBody>
          <a:bodyPr wrap="square" lIns="0" tIns="0" rIns="0" bIns="0" rtlCol="0" anchor="t"/>
          <a:lstStyle/>
          <a:p>
            <a:pPr indent="0" marL="0">
              <a:buNone/>
            </a:pPr>
            <a:r>
              <a:rPr lang="en-US" sz="1050" dirty="0">
                <a:solidFill>
                  <a:srgbClr val="B7CFE6"/>
                </a:solidFill>
                <a:latin typeface="Calibri" pitchFamily="34" charset="0"/>
                <a:ea typeface="Calibri" pitchFamily="34" charset="-122"/>
                <a:cs typeface="Calibri" pitchFamily="34" charset="-120"/>
              </a:rPr>
              <a:t>Soporte local</a:t>
            </a:r>
            <a:endParaRPr lang="en-US" sz="1050" dirty="0"/>
          </a:p>
          <a:p>
            <a:pPr indent="0" marL="0">
              <a:buNone/>
            </a:pPr>
            <a:r>
              <a:rPr lang="en-US" sz="1050" dirty="0">
                <a:solidFill>
                  <a:srgbClr val="B7CFE6"/>
                </a:solidFill>
                <a:latin typeface="Calibri" pitchFamily="34" charset="0"/>
                <a:ea typeface="Calibri" pitchFamily="34" charset="-122"/>
                <a:cs typeface="Calibri" pitchFamily="34" charset="-120"/>
              </a:rPr>
              <a:t>y SLA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Tiempos del proyecto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Estimación determinística por camino crítico sobre los 50 paquetes. En días hábiles y meses relativos al día 0, la aprobación del Acta.</a:t>
            </a:r>
            <a:endParaRPr lang="en-US" sz="1250" dirty="0"/>
          </a:p>
        </p:txBody>
      </p:sp>
      <p:sp>
        <p:nvSpPr>
          <p:cNvPr id="6" name="Shape 4"/>
          <p:cNvSpPr/>
          <p:nvPr/>
        </p:nvSpPr>
        <p:spPr>
          <a:xfrm>
            <a:off x="566928" y="1517904"/>
            <a:ext cx="2558720" cy="1719072"/>
          </a:xfrm>
          <a:prstGeom prst="roundRect">
            <a:avLst>
              <a:gd name="adj" fmla="val 3191"/>
            </a:avLst>
          </a:prstGeom>
          <a:solidFill>
            <a:srgbClr val="F4F8FC"/>
          </a:solidFill>
          <a:ln w="12700">
            <a:solidFill>
              <a:srgbClr val="DCE9F7"/>
            </a:solidFill>
            <a:prstDash val="solid"/>
          </a:ln>
        </p:spPr>
      </p:sp>
      <p:sp>
        <p:nvSpPr>
          <p:cNvPr id="7" name="Text 5"/>
          <p:cNvSpPr txBox="1"/>
          <p:nvPr/>
        </p:nvSpPr>
        <p:spPr>
          <a:xfrm>
            <a:off x="566928"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187</a:t>
            </a:r>
            <a:endParaRPr lang="en-US" sz="4000" dirty="0"/>
          </a:p>
        </p:txBody>
      </p:sp>
      <p:sp>
        <p:nvSpPr>
          <p:cNvPr id="8" name="Text 6"/>
          <p:cNvSpPr txBox="1"/>
          <p:nvPr/>
        </p:nvSpPr>
        <p:spPr>
          <a:xfrm>
            <a:off x="65836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días hábiles a fechas</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tempranas (CPM)</a:t>
            </a:r>
            <a:endParaRPr lang="en-US" sz="1100" dirty="0"/>
          </a:p>
        </p:txBody>
      </p:sp>
      <p:sp>
        <p:nvSpPr>
          <p:cNvPr id="9" name="Shape 7"/>
          <p:cNvSpPr/>
          <p:nvPr/>
        </p:nvSpPr>
        <p:spPr>
          <a:xfrm>
            <a:off x="3399968" y="1517904"/>
            <a:ext cx="2558720" cy="1719072"/>
          </a:xfrm>
          <a:prstGeom prst="roundRect">
            <a:avLst>
              <a:gd name="adj" fmla="val 3191"/>
            </a:avLst>
          </a:prstGeom>
          <a:solidFill>
            <a:srgbClr val="DCE9F7"/>
          </a:solidFill>
          <a:ln w="12700">
            <a:solidFill>
              <a:srgbClr val="5B7FA6"/>
            </a:solidFill>
            <a:prstDash val="solid"/>
          </a:ln>
        </p:spPr>
      </p:sp>
      <p:sp>
        <p:nvSpPr>
          <p:cNvPr id="10" name="Text 8"/>
          <p:cNvSpPr txBox="1"/>
          <p:nvPr/>
        </p:nvSpPr>
        <p:spPr>
          <a:xfrm>
            <a:off x="3399968" y="1636776"/>
            <a:ext cx="2558720" cy="658368"/>
          </a:xfrm>
          <a:prstGeom prst="rect">
            <a:avLst/>
          </a:prstGeom>
          <a:noFill/>
          <a:ln/>
        </p:spPr>
        <p:txBody>
          <a:bodyPr wrap="square" lIns="0" tIns="0" rIns="0" bIns="0" rtlCol="0" anchor="ctr"/>
          <a:lstStyle/>
          <a:p>
            <a:pPr algn="ctr" indent="0" marL="0">
              <a:buNone/>
            </a:pPr>
            <a:r>
              <a:rPr lang="en-US" sz="4000" b="1" dirty="0">
                <a:solidFill>
                  <a:srgbClr val="B23A2E"/>
                </a:solidFill>
                <a:latin typeface="Calibri" pitchFamily="34" charset="0"/>
                <a:ea typeface="Calibri" pitchFamily="34" charset="-122"/>
                <a:cs typeface="Calibri" pitchFamily="34" charset="-120"/>
              </a:rPr>
              <a:t>192</a:t>
            </a:r>
            <a:endParaRPr lang="en-US" sz="4000" dirty="0"/>
          </a:p>
        </p:txBody>
      </p:sp>
      <p:sp>
        <p:nvSpPr>
          <p:cNvPr id="11" name="Text 9"/>
          <p:cNvSpPr txBox="1"/>
          <p:nvPr/>
        </p:nvSpPr>
        <p:spPr>
          <a:xfrm>
            <a:off x="349140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días hábiles de duración</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adoptada  ≈ 9,1 meses</a:t>
            </a:r>
            <a:endParaRPr lang="en-US" sz="1100" dirty="0"/>
          </a:p>
        </p:txBody>
      </p:sp>
      <p:sp>
        <p:nvSpPr>
          <p:cNvPr id="12" name="Shape 10"/>
          <p:cNvSpPr/>
          <p:nvPr/>
        </p:nvSpPr>
        <p:spPr>
          <a:xfrm>
            <a:off x="6233008" y="1517904"/>
            <a:ext cx="2558720" cy="1719072"/>
          </a:xfrm>
          <a:prstGeom prst="roundRect">
            <a:avLst>
              <a:gd name="adj" fmla="val 3191"/>
            </a:avLst>
          </a:prstGeom>
          <a:solidFill>
            <a:srgbClr val="F4F8FC"/>
          </a:solidFill>
          <a:ln w="12700">
            <a:solidFill>
              <a:srgbClr val="DCE9F7"/>
            </a:solidFill>
            <a:prstDash val="solid"/>
          </a:ln>
        </p:spPr>
      </p:sp>
      <p:sp>
        <p:nvSpPr>
          <p:cNvPr id="13" name="Text 11"/>
          <p:cNvSpPr txBox="1"/>
          <p:nvPr/>
        </p:nvSpPr>
        <p:spPr>
          <a:xfrm>
            <a:off x="6233008" y="1636776"/>
            <a:ext cx="2558720" cy="658368"/>
          </a:xfrm>
          <a:prstGeom prst="rect">
            <a:avLst/>
          </a:prstGeom>
          <a:noFill/>
          <a:ln/>
        </p:spPr>
        <p:txBody>
          <a:bodyPr wrap="square" lIns="0" tIns="0" rIns="0" bIns="0" rtlCol="0" anchor="ctr"/>
          <a:lstStyle/>
          <a:p>
            <a:pPr algn="ctr" indent="0" marL="0">
              <a:buNone/>
            </a:pPr>
            <a:r>
              <a:rPr lang="en-US" sz="3200" b="1" dirty="0">
                <a:solidFill>
                  <a:srgbClr val="15406B"/>
                </a:solidFill>
                <a:latin typeface="Calibri" pitchFamily="34" charset="0"/>
                <a:ea typeface="Calibri" pitchFamily="34" charset="-122"/>
                <a:cs typeface="Calibri" pitchFamily="34" charset="-120"/>
              </a:rPr>
              <a:t>30 / 50</a:t>
            </a:r>
            <a:endParaRPr lang="en-US" sz="3200" dirty="0"/>
          </a:p>
        </p:txBody>
      </p:sp>
      <p:sp>
        <p:nvSpPr>
          <p:cNvPr id="14" name="Text 12"/>
          <p:cNvSpPr txBox="1"/>
          <p:nvPr/>
        </p:nvSpPr>
        <p:spPr>
          <a:xfrm>
            <a:off x="632444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actividades en el</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camino crítico</a:t>
            </a:r>
            <a:endParaRPr lang="en-US" sz="1100" dirty="0"/>
          </a:p>
        </p:txBody>
      </p:sp>
      <p:sp>
        <p:nvSpPr>
          <p:cNvPr id="15" name="Shape 13"/>
          <p:cNvSpPr/>
          <p:nvPr/>
        </p:nvSpPr>
        <p:spPr>
          <a:xfrm>
            <a:off x="9066047" y="1517904"/>
            <a:ext cx="2558720" cy="1719072"/>
          </a:xfrm>
          <a:prstGeom prst="roundRect">
            <a:avLst>
              <a:gd name="adj" fmla="val 3191"/>
            </a:avLst>
          </a:prstGeom>
          <a:solidFill>
            <a:srgbClr val="F4F8FC"/>
          </a:solidFill>
          <a:ln w="12700">
            <a:solidFill>
              <a:srgbClr val="DCE9F7"/>
            </a:solidFill>
            <a:prstDash val="solid"/>
          </a:ln>
        </p:spPr>
      </p:sp>
      <p:sp>
        <p:nvSpPr>
          <p:cNvPr id="16" name="Text 14"/>
          <p:cNvSpPr txBox="1"/>
          <p:nvPr/>
        </p:nvSpPr>
        <p:spPr>
          <a:xfrm>
            <a:off x="9066047" y="1636776"/>
            <a:ext cx="2558720" cy="658368"/>
          </a:xfrm>
          <a:prstGeom prst="rect">
            <a:avLst/>
          </a:prstGeom>
          <a:noFill/>
          <a:ln/>
        </p:spPr>
        <p:txBody>
          <a:bodyPr wrap="square" lIns="0" tIns="0" rIns="0" bIns="0" rtlCol="0" anchor="ctr"/>
          <a:lstStyle/>
          <a:p>
            <a:pPr algn="ctr" indent="0" marL="0">
              <a:buNone/>
            </a:pPr>
            <a:r>
              <a:rPr lang="en-US" sz="4000" b="1" dirty="0">
                <a:solidFill>
                  <a:srgbClr val="15406B"/>
                </a:solidFill>
                <a:latin typeface="Calibri" pitchFamily="34" charset="0"/>
                <a:ea typeface="Calibri" pitchFamily="34" charset="-122"/>
                <a:cs typeface="Calibri" pitchFamily="34" charset="-120"/>
              </a:rPr>
              <a:t>6</a:t>
            </a:r>
            <a:endParaRPr lang="en-US" sz="4000" dirty="0"/>
          </a:p>
        </p:txBody>
      </p:sp>
      <p:sp>
        <p:nvSpPr>
          <p:cNvPr id="17" name="Text 15"/>
          <p:cNvSpPr txBox="1"/>
          <p:nvPr/>
        </p:nvSpPr>
        <p:spPr>
          <a:xfrm>
            <a:off x="9157487"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tramos de sobreasignación</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detectados</a:t>
            </a:r>
            <a:endParaRPr lang="en-US" sz="1100" dirty="0"/>
          </a:p>
        </p:txBody>
      </p:sp>
      <p:sp>
        <p:nvSpPr>
          <p:cNvPr id="18" name="Shape 16"/>
          <p:cNvSpPr/>
          <p:nvPr/>
        </p:nvSpPr>
        <p:spPr>
          <a:xfrm>
            <a:off x="566928" y="3493008"/>
            <a:ext cx="5391760" cy="2926080"/>
          </a:xfrm>
          <a:prstGeom prst="roundRect">
            <a:avLst>
              <a:gd name="adj" fmla="val 1875"/>
            </a:avLst>
          </a:prstGeom>
          <a:solidFill>
            <a:srgbClr val="F4F8FC"/>
          </a:solidFill>
          <a:ln w="12700">
            <a:solidFill>
              <a:srgbClr val="DCE9F7"/>
            </a:solidFill>
            <a:prstDash val="solid"/>
          </a:ln>
        </p:spPr>
      </p:sp>
      <p:sp>
        <p:nvSpPr>
          <p:cNvPr id="19" name="Text 17"/>
          <p:cNvSpPr txBox="1"/>
          <p:nvPr/>
        </p:nvSpPr>
        <p:spPr>
          <a:xfrm>
            <a:off x="841248" y="3657600"/>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POR DÓNDE PASA EL CAMINO CRÍTICO</a:t>
            </a:r>
            <a:endParaRPr lang="en-US" sz="1150" dirty="0"/>
          </a:p>
        </p:txBody>
      </p:sp>
      <p:sp>
        <p:nvSpPr>
          <p:cNvPr id="20" name="Text 18"/>
          <p:cNvSpPr txBox="1"/>
          <p:nvPr/>
        </p:nvSpPr>
        <p:spPr>
          <a:xfrm>
            <a:off x="841248" y="4041648"/>
            <a:ext cx="4843120" cy="2286000"/>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2A3B4D"/>
                </a:solidFill>
                <a:latin typeface="Calibri" pitchFamily="34" charset="0"/>
                <a:ea typeface="Calibri" pitchFamily="34" charset="-122"/>
                <a:cs typeface="Calibri" pitchFamily="34" charset="-120"/>
              </a:rPr>
              <a:t>Arranque y relevamiento</a:t>
            </a:r>
            <a:endParaRPr lang="en-US" sz="1250" dirty="0"/>
          </a:p>
          <a:p>
            <a:pPr marL="342900" indent="-342900">
              <a:spcAft>
                <a:spcPts val="1100"/>
              </a:spcAft>
              <a:buSzPct val="100000"/>
              <a:buChar char="•"/>
            </a:pPr>
            <a:r>
              <a:rPr lang="en-US" sz="1250" dirty="0">
                <a:solidFill>
                  <a:srgbClr val="2A3B4D"/>
                </a:solidFill>
                <a:latin typeface="Calibri" pitchFamily="34" charset="0"/>
                <a:ea typeface="Calibri" pitchFamily="34" charset="-122"/>
                <a:cs typeface="Calibri" pitchFamily="34" charset="-120"/>
              </a:rPr>
              <a:t>Selección del proveedor — 31 días hábiles consecutivos, el tramo más largo y menos comprimible: depende de plazos de mercado y de la firma del contrato</a:t>
            </a:r>
            <a:endParaRPr lang="en-US" sz="1250" dirty="0"/>
          </a:p>
          <a:p>
            <a:pPr marL="342900" indent="-342900">
              <a:spcAft>
                <a:spcPts val="1100"/>
              </a:spcAft>
              <a:buSzPct val="100000"/>
              <a:buChar char="•"/>
            </a:pPr>
            <a:r>
              <a:rPr lang="en-US" sz="1250" dirty="0">
                <a:solidFill>
                  <a:srgbClr val="2A3B4D"/>
                </a:solidFill>
                <a:latin typeface="Calibri" pitchFamily="34" charset="0"/>
                <a:ea typeface="Calibri" pitchFamily="34" charset="-122"/>
                <a:cs typeface="Calibri" pitchFamily="34" charset="-120"/>
              </a:rPr>
              <a:t>Las cuatro integraciones encadenadas sobre un mismo especialista</a:t>
            </a:r>
            <a:endParaRPr lang="en-US" sz="1250" dirty="0"/>
          </a:p>
          <a:p>
            <a:pPr marL="342900" indent="-342900">
              <a:spcAft>
                <a:spcPts val="1100"/>
              </a:spcAft>
              <a:buSzPct val="100000"/>
              <a:buChar char="•"/>
            </a:pPr>
            <a:r>
              <a:rPr lang="en-US" sz="1250" dirty="0">
                <a:solidFill>
                  <a:srgbClr val="2A3B4D"/>
                </a:solidFill>
                <a:latin typeface="Calibri" pitchFamily="34" charset="0"/>
                <a:ea typeface="Calibri" pitchFamily="34" charset="-122"/>
                <a:cs typeface="Calibri" pitchFamily="34" charset="-120"/>
              </a:rPr>
              <a:t>Pruebas, piloto, capacitación de gestión, tres olas de despliegue y estabilización</a:t>
            </a:r>
            <a:endParaRPr lang="en-US" sz="1250" dirty="0"/>
          </a:p>
        </p:txBody>
      </p:sp>
      <p:sp>
        <p:nvSpPr>
          <p:cNvPr id="21" name="Shape 19"/>
          <p:cNvSpPr/>
          <p:nvPr/>
        </p:nvSpPr>
        <p:spPr>
          <a:xfrm>
            <a:off x="6233008" y="3493008"/>
            <a:ext cx="5391760" cy="2926080"/>
          </a:xfrm>
          <a:prstGeom prst="roundRect">
            <a:avLst>
              <a:gd name="adj" fmla="val 1875"/>
            </a:avLst>
          </a:prstGeom>
          <a:solidFill>
            <a:srgbClr val="DCE9F7"/>
          </a:solidFill>
          <a:ln w="12700">
            <a:solidFill>
              <a:srgbClr val="5B7FA6"/>
            </a:solidFill>
            <a:prstDash val="solid"/>
          </a:ln>
        </p:spPr>
      </p:sp>
      <p:sp>
        <p:nvSpPr>
          <p:cNvPr id="22" name="Text 20"/>
          <p:cNvSpPr txBox="1"/>
          <p:nvPr/>
        </p:nvSpPr>
        <p:spPr>
          <a:xfrm>
            <a:off x="6507328" y="3657600"/>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LAS 20 ACTIVIDADES CON HOLGURA</a:t>
            </a:r>
            <a:endParaRPr lang="en-US" sz="1150" dirty="0"/>
          </a:p>
        </p:txBody>
      </p:sp>
      <p:sp>
        <p:nvSpPr>
          <p:cNvPr id="23" name="Text 21"/>
          <p:cNvSpPr txBox="1"/>
          <p:nvPr/>
        </p:nvSpPr>
        <p:spPr>
          <a:xfrm>
            <a:off x="6507328" y="4041648"/>
            <a:ext cx="4843120" cy="1051560"/>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Entre 1 y 84 días hábiles. Las de mayor margen son la medición de líneas base (2.4, 84 días) y el diseño del plan de pruebas (7.1, 64 días); la más ajustada es la migración de órdenes abiertas (6.1, 1 día).</a:t>
            </a:r>
            <a:endParaRPr lang="en-US" sz="1300" dirty="0"/>
          </a:p>
        </p:txBody>
      </p:sp>
      <p:sp>
        <p:nvSpPr>
          <p:cNvPr id="24" name="Text 22"/>
          <p:cNvSpPr txBox="1"/>
          <p:nvPr/>
        </p:nvSpPr>
        <p:spPr>
          <a:xfrm>
            <a:off x="6507328" y="5276088"/>
            <a:ext cx="4843120" cy="960120"/>
          </a:xfrm>
          <a:prstGeom prst="rect">
            <a:avLst/>
          </a:prstGeom>
          <a:noFill/>
          <a:ln/>
        </p:spPr>
        <p:txBody>
          <a:bodyPr wrap="square" lIns="0" tIns="0" rIns="0" bIns="0" rtlCol="0" anchor="t"/>
          <a:lstStyle/>
          <a:p>
            <a:pPr indent="0" marL="0">
              <a:lnSpc>
                <a:spcPct val="108000"/>
              </a:lnSpc>
              <a:buNone/>
            </a:pPr>
            <a:r>
              <a:rPr lang="en-US" sz="1300" dirty="0">
                <a:solidFill>
                  <a:srgbClr val="4C6480"/>
                </a:solidFill>
                <a:latin typeface="Calibri" pitchFamily="34" charset="0"/>
                <a:ea typeface="Calibri" pitchFamily="34" charset="-122"/>
                <a:cs typeface="Calibri" pitchFamily="34" charset="-120"/>
              </a:rPr>
              <a:t>Esa holgura es exactamente lo que el aplanamiento consume para resolver los conflictos de recurso sin extender el proyecto.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ivate/tmp/claude-501/-Users-juanbonadeo-Desktop-UTN/8155766a-ead1-4642-9abc-dd512f5585d8/scratchpad/figs/fig1-red.png">    </p:cNvPr>
          <p:cNvPicPr>
            <a:picLocks noChangeAspect="1"/>
          </p:cNvPicPr>
          <p:nvPr/>
        </p:nvPicPr>
        <p:blipFill>
          <a:blip r:embed="rId1"/>
          <a:stretch>
            <a:fillRect/>
          </a:stretch>
        </p:blipFill>
        <p:spPr>
          <a:xfrm>
            <a:off x="740537" y="173736"/>
            <a:ext cx="10710622" cy="651052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ivate/tmp/claude-501/-Users-juanbonadeo-Desktop-UTN/8155766a-ead1-4642-9abc-dd512f5585d8/scratchpad/figs/fig2a-gantt.png">    </p:cNvPr>
          <p:cNvPicPr>
            <a:picLocks noChangeAspect="1"/>
          </p:cNvPicPr>
          <p:nvPr/>
        </p:nvPicPr>
        <p:blipFill>
          <a:blip r:embed="rId1"/>
          <a:stretch>
            <a:fillRect/>
          </a:stretch>
        </p:blipFill>
        <p:spPr>
          <a:xfrm>
            <a:off x="1610248" y="173736"/>
            <a:ext cx="8971200" cy="65105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Aplanamiento de recursos</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Seis tramos con dos actividades simultáneas sobre un mismo perfil, detectados contra una dotación de una persona por perfil</a:t>
            </a:r>
            <a:endParaRPr lang="en-US" sz="1250" dirty="0"/>
          </a:p>
        </p:txBody>
      </p:sp>
      <p:sp>
        <p:nvSpPr>
          <p:cNvPr id="6" name="Shape 4"/>
          <p:cNvSpPr/>
          <p:nvPr/>
        </p:nvSpPr>
        <p:spPr>
          <a:xfrm>
            <a:off x="566928" y="1517904"/>
            <a:ext cx="3977640" cy="1133856"/>
          </a:xfrm>
          <a:prstGeom prst="roundRect">
            <a:avLst>
              <a:gd name="adj" fmla="val 4839"/>
            </a:avLst>
          </a:prstGeom>
          <a:solidFill>
            <a:srgbClr val="F4F8FC"/>
          </a:solidFill>
          <a:ln w="12700">
            <a:solidFill>
              <a:srgbClr val="DCE9F7"/>
            </a:solidFill>
            <a:prstDash val="solid"/>
          </a:ln>
        </p:spPr>
      </p:sp>
      <p:sp>
        <p:nvSpPr>
          <p:cNvPr id="7" name="Text 5"/>
          <p:cNvSpPr txBox="1"/>
          <p:nvPr/>
        </p:nvSpPr>
        <p:spPr>
          <a:xfrm>
            <a:off x="804672" y="1627632"/>
            <a:ext cx="3502152" cy="365760"/>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CPM a fechas tempranas — recursos ilimitados</a:t>
            </a:r>
            <a:endParaRPr lang="en-US" sz="1250" dirty="0"/>
          </a:p>
        </p:txBody>
      </p:sp>
      <p:sp>
        <p:nvSpPr>
          <p:cNvPr id="8" name="Text 6"/>
          <p:cNvSpPr txBox="1"/>
          <p:nvPr/>
        </p:nvSpPr>
        <p:spPr>
          <a:xfrm>
            <a:off x="804672" y="2020824"/>
            <a:ext cx="1417320" cy="512064"/>
          </a:xfrm>
          <a:prstGeom prst="rect">
            <a:avLst/>
          </a:prstGeom>
          <a:noFill/>
          <a:ln/>
        </p:spPr>
        <p:txBody>
          <a:bodyPr wrap="square" lIns="0" tIns="0" rIns="0" bIns="0" rtlCol="0" anchor="ctr"/>
          <a:lstStyle/>
          <a:p>
            <a:pPr indent="0" marL="0">
              <a:buNone/>
            </a:pPr>
            <a:r>
              <a:rPr lang="en-US" sz="2300" b="1" dirty="0">
                <a:solidFill>
                  <a:srgbClr val="4C6480"/>
                </a:solidFill>
                <a:latin typeface="Calibri" pitchFamily="34" charset="0"/>
                <a:ea typeface="Calibri" pitchFamily="34" charset="-122"/>
                <a:cs typeface="Calibri" pitchFamily="34" charset="-120"/>
              </a:rPr>
              <a:t>187 días</a:t>
            </a:r>
            <a:endParaRPr lang="en-US" sz="2300" dirty="0"/>
          </a:p>
        </p:txBody>
      </p:sp>
      <p:sp>
        <p:nvSpPr>
          <p:cNvPr id="9" name="Text 7"/>
          <p:cNvSpPr txBox="1"/>
          <p:nvPr/>
        </p:nvSpPr>
        <p:spPr>
          <a:xfrm>
            <a:off x="2267712" y="2020824"/>
            <a:ext cx="2039112" cy="512064"/>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Teórica, no ejecutable</a:t>
            </a:r>
            <a:endParaRPr lang="en-US" sz="1100" dirty="0"/>
          </a:p>
        </p:txBody>
      </p:sp>
      <p:sp>
        <p:nvSpPr>
          <p:cNvPr id="10" name="Shape 8"/>
          <p:cNvSpPr/>
          <p:nvPr/>
        </p:nvSpPr>
        <p:spPr>
          <a:xfrm>
            <a:off x="566928" y="2779776"/>
            <a:ext cx="3977640" cy="1133856"/>
          </a:xfrm>
          <a:prstGeom prst="roundRect">
            <a:avLst>
              <a:gd name="adj" fmla="val 4839"/>
            </a:avLst>
          </a:prstGeom>
          <a:solidFill>
            <a:srgbClr val="F4F8FC"/>
          </a:solidFill>
          <a:ln w="12700">
            <a:solidFill>
              <a:srgbClr val="DCE9F7"/>
            </a:solidFill>
            <a:prstDash val="solid"/>
          </a:ln>
        </p:spPr>
      </p:sp>
      <p:sp>
        <p:nvSpPr>
          <p:cNvPr id="11" name="Text 9"/>
          <p:cNvSpPr txBox="1"/>
          <p:nvPr/>
        </p:nvSpPr>
        <p:spPr>
          <a:xfrm>
            <a:off x="804672" y="2889504"/>
            <a:ext cx="3502152" cy="365760"/>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(a) Nivelación pura — una persona por perfil</a:t>
            </a:r>
            <a:endParaRPr lang="en-US" sz="1250" dirty="0"/>
          </a:p>
        </p:txBody>
      </p:sp>
      <p:sp>
        <p:nvSpPr>
          <p:cNvPr id="12" name="Text 10"/>
          <p:cNvSpPr txBox="1"/>
          <p:nvPr/>
        </p:nvSpPr>
        <p:spPr>
          <a:xfrm>
            <a:off x="804672" y="3282696"/>
            <a:ext cx="1417320" cy="512064"/>
          </a:xfrm>
          <a:prstGeom prst="rect">
            <a:avLst/>
          </a:prstGeom>
          <a:noFill/>
          <a:ln/>
        </p:spPr>
        <p:txBody>
          <a:bodyPr wrap="square" lIns="0" tIns="0" rIns="0" bIns="0" rtlCol="0" anchor="ctr"/>
          <a:lstStyle/>
          <a:p>
            <a:pPr indent="0" marL="0">
              <a:buNone/>
            </a:pPr>
            <a:r>
              <a:rPr lang="en-US" sz="2300" b="1" dirty="0">
                <a:solidFill>
                  <a:srgbClr val="4C6480"/>
                </a:solidFill>
                <a:latin typeface="Calibri" pitchFamily="34" charset="0"/>
                <a:ea typeface="Calibri" pitchFamily="34" charset="-122"/>
                <a:cs typeface="Calibri" pitchFamily="34" charset="-120"/>
              </a:rPr>
              <a:t>215 días</a:t>
            </a:r>
            <a:endParaRPr lang="en-US" sz="2300" dirty="0"/>
          </a:p>
        </p:txBody>
      </p:sp>
      <p:sp>
        <p:nvSpPr>
          <p:cNvPr id="13" name="Text 11"/>
          <p:cNvSpPr txBox="1"/>
          <p:nvPr/>
        </p:nvSpPr>
        <p:spPr>
          <a:xfrm>
            <a:off x="2267712" y="3282696"/>
            <a:ext cx="2039112" cy="512064"/>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+28 días (+15%) · 9 personas</a:t>
            </a:r>
            <a:endParaRPr lang="en-US" sz="1100" dirty="0"/>
          </a:p>
        </p:txBody>
      </p:sp>
      <p:sp>
        <p:nvSpPr>
          <p:cNvPr id="14" name="Shape 12"/>
          <p:cNvSpPr/>
          <p:nvPr/>
        </p:nvSpPr>
        <p:spPr>
          <a:xfrm>
            <a:off x="566928" y="4041648"/>
            <a:ext cx="3977640" cy="1133856"/>
          </a:xfrm>
          <a:prstGeom prst="roundRect">
            <a:avLst>
              <a:gd name="adj" fmla="val 4839"/>
            </a:avLst>
          </a:prstGeom>
          <a:solidFill>
            <a:srgbClr val="DCE9F7"/>
          </a:solidFill>
          <a:ln w="12700">
            <a:solidFill>
              <a:srgbClr val="5B7FA6"/>
            </a:solidFill>
            <a:prstDash val="solid"/>
          </a:ln>
        </p:spPr>
      </p:sp>
      <p:sp>
        <p:nvSpPr>
          <p:cNvPr id="15" name="Text 13"/>
          <p:cNvSpPr txBox="1"/>
          <p:nvPr/>
        </p:nvSpPr>
        <p:spPr>
          <a:xfrm>
            <a:off x="804672" y="4151376"/>
            <a:ext cx="3502152" cy="365760"/>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(b) Refuerzo de EI y QA con una persona parcial</a:t>
            </a:r>
            <a:endParaRPr lang="en-US" sz="1250" dirty="0"/>
          </a:p>
        </p:txBody>
      </p:sp>
      <p:sp>
        <p:nvSpPr>
          <p:cNvPr id="16" name="Text 14"/>
          <p:cNvSpPr txBox="1"/>
          <p:nvPr/>
        </p:nvSpPr>
        <p:spPr>
          <a:xfrm>
            <a:off x="804672" y="4544568"/>
            <a:ext cx="1417320" cy="512064"/>
          </a:xfrm>
          <a:prstGeom prst="rect">
            <a:avLst/>
          </a:prstGeom>
          <a:noFill/>
          <a:ln/>
        </p:spPr>
        <p:txBody>
          <a:bodyPr wrap="square" lIns="0" tIns="0" rIns="0" bIns="0" rtlCol="0" anchor="ctr"/>
          <a:lstStyle/>
          <a:p>
            <a:pPr indent="0" marL="0">
              <a:buNone/>
            </a:pPr>
            <a:r>
              <a:rPr lang="en-US" sz="2300" b="1" dirty="0">
                <a:solidFill>
                  <a:srgbClr val="B23A2E"/>
                </a:solidFill>
                <a:latin typeface="Calibri" pitchFamily="34" charset="0"/>
                <a:ea typeface="Calibri" pitchFamily="34" charset="-122"/>
                <a:cs typeface="Calibri" pitchFamily="34" charset="-120"/>
              </a:rPr>
              <a:t>192 días</a:t>
            </a:r>
            <a:endParaRPr lang="en-US" sz="2300" dirty="0"/>
          </a:p>
        </p:txBody>
      </p:sp>
      <p:sp>
        <p:nvSpPr>
          <p:cNvPr id="17" name="Text 15"/>
          <p:cNvSpPr txBox="1"/>
          <p:nvPr/>
        </p:nvSpPr>
        <p:spPr>
          <a:xfrm>
            <a:off x="2267712" y="4544568"/>
            <a:ext cx="1078992" cy="512064"/>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+5 días · 11 personas</a:t>
            </a:r>
            <a:endParaRPr lang="en-US" sz="1100" dirty="0"/>
          </a:p>
        </p:txBody>
      </p:sp>
      <p:sp>
        <p:nvSpPr>
          <p:cNvPr id="18" name="Text 16"/>
          <p:cNvSpPr txBox="1"/>
          <p:nvPr/>
        </p:nvSpPr>
        <p:spPr>
          <a:xfrm>
            <a:off x="3401568" y="4544568"/>
            <a:ext cx="914400" cy="512064"/>
          </a:xfrm>
          <a:prstGeom prst="rect">
            <a:avLst/>
          </a:prstGeom>
          <a:noFill/>
          <a:ln/>
        </p:spPr>
        <p:txBody>
          <a:bodyPr wrap="square" lIns="0" tIns="0" rIns="0" bIns="0" rtlCol="0" anchor="ctr"/>
          <a:lstStyle/>
          <a:p>
            <a:pPr algn="r" indent="0" marL="0">
              <a:buNone/>
            </a:pPr>
            <a:r>
              <a:rPr lang="en-US" sz="1050" b="1" dirty="0">
                <a:solidFill>
                  <a:srgbClr val="B23A2E"/>
                </a:solidFill>
                <a:latin typeface="Calibri" pitchFamily="34" charset="0"/>
                <a:ea typeface="Calibri" pitchFamily="34" charset="-122"/>
                <a:cs typeface="Calibri" pitchFamily="34" charset="-120"/>
              </a:rPr>
              <a:t>ADOPTADA</a:t>
            </a:r>
            <a:endParaRPr lang="en-US" sz="1050" dirty="0"/>
          </a:p>
        </p:txBody>
      </p:sp>
      <p:sp>
        <p:nvSpPr>
          <p:cNvPr id="19" name="Text 17"/>
          <p:cNvSpPr txBox="1"/>
          <p:nvPr/>
        </p:nvSpPr>
        <p:spPr>
          <a:xfrm>
            <a:off x="566928" y="5394960"/>
            <a:ext cx="3977640" cy="1737360"/>
          </a:xfrm>
          <a:prstGeom prst="rect">
            <a:avLst/>
          </a:prstGeom>
          <a:noFill/>
          <a:ln/>
        </p:spPr>
        <p:txBody>
          <a:bodyPr wrap="square" lIns="0" tIns="0" rIns="0" bIns="0" rtlCol="0" anchor="t"/>
          <a:lstStyle/>
          <a:p>
            <a:pPr indent="0" marL="0">
              <a:lnSpc>
                <a:spcPct val="108000"/>
              </a:lnSpc>
              <a:buNone/>
            </a:pPr>
            <a:r>
              <a:rPr lang="en-US" sz="1250" dirty="0">
                <a:solidFill>
                  <a:srgbClr val="2A3B4D"/>
                </a:solidFill>
                <a:latin typeface="Calibri" pitchFamily="34" charset="0"/>
                <a:ea typeface="Calibri" pitchFamily="34" charset="-122"/>
                <a:cs typeface="Calibri" pitchFamily="34" charset="-120"/>
              </a:rPr>
              <a:t>El fundamento es económico: dos personas parciales durante ventanas acotadas cuestan menos que 23 días hábiles adicionales de proyecto, que arrastran licenciamiento, estructura y el diferimiento de todos los beneficios. Los conflictos que el refuerzo no elimina se resuelven corriendo 24 actividades dentro de su holgura.</a:t>
            </a:r>
            <a:endParaRPr lang="en-US" sz="1250" dirty="0"/>
          </a:p>
        </p:txBody>
      </p:sp>
      <p:pic>
        <p:nvPicPr>
          <p:cNvPr id="20" name="Image 0" descr="/private/tmp/claude-501/-Users-juanbonadeo-Desktop-UTN/8155766a-ead1-4642-9abc-dd512f5585d8/scratchpad/figs/fig2b-histo.png">    </p:cNvPr>
          <p:cNvPicPr>
            <a:picLocks noChangeAspect="1"/>
          </p:cNvPicPr>
          <p:nvPr/>
        </p:nvPicPr>
        <p:blipFill>
          <a:blip r:embed="rId1"/>
          <a:stretch>
            <a:fillRect/>
          </a:stretch>
        </p:blipFill>
        <p:spPr>
          <a:xfrm>
            <a:off x="4855464" y="1463040"/>
            <a:ext cx="6769303" cy="4719171"/>
          </a:xfrm>
          <a:prstGeom prst="rect">
            <a:avLst/>
          </a:prstGeom>
        </p:spPr>
      </p:pic>
      <p:sp>
        <p:nvSpPr>
          <p:cNvPr id="21" name="Text 18"/>
          <p:cNvSpPr txBox="1"/>
          <p:nvPr/>
        </p:nvSpPr>
        <p:spPr>
          <a:xfrm>
            <a:off x="4855464" y="6273651"/>
            <a:ext cx="6769303" cy="274320"/>
          </a:xfrm>
          <a:prstGeom prst="rect">
            <a:avLst/>
          </a:prstGeom>
          <a:noFill/>
          <a:ln/>
        </p:spPr>
        <p:txBody>
          <a:bodyPr wrap="square" lIns="0" tIns="0" rIns="0" bIns="0" rtlCol="0" anchor="ctr"/>
          <a:lstStyle/>
          <a:p>
            <a:pPr indent="0" marL="0">
              <a:buNone/>
            </a:pPr>
            <a:r>
              <a:rPr lang="en-US" sz="1050" i="1" dirty="0">
                <a:solidFill>
                  <a:srgbClr val="4C6480"/>
                </a:solidFill>
                <a:latin typeface="Calibri" pitchFamily="34" charset="0"/>
                <a:ea typeface="Calibri" pitchFamily="34" charset="-122"/>
                <a:cs typeface="Calibri" pitchFamily="34" charset="-120"/>
              </a:rPr>
              <a:t>Figura 2.b del Anexo II — histograma de recursos por perfil, sobre el mismo eje de tiempo y a la misma escala que el Gantt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11</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Variables de costo</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Todos los valores son supuestos declarados, a validar contra cotizaciones reales y contra las respuestas al RFI y al RFP. Expresados en dólares.</a:t>
            </a:r>
            <a:endParaRPr lang="en-US" sz="1250" dirty="0"/>
          </a:p>
        </p:txBody>
      </p:sp>
      <p:sp>
        <p:nvSpPr>
          <p:cNvPr id="6" name="Shape 4"/>
          <p:cNvSpPr/>
          <p:nvPr/>
        </p:nvSpPr>
        <p:spPr>
          <a:xfrm>
            <a:off x="566928" y="1517904"/>
            <a:ext cx="5486400" cy="4901184"/>
          </a:xfrm>
          <a:prstGeom prst="roundRect">
            <a:avLst>
              <a:gd name="adj" fmla="val 1119"/>
            </a:avLst>
          </a:prstGeom>
          <a:solidFill>
            <a:srgbClr val="F4F8FC"/>
          </a:solidFill>
          <a:ln w="12700">
            <a:solidFill>
              <a:srgbClr val="DCE9F7"/>
            </a:solidFill>
            <a:prstDash val="solid"/>
          </a:ln>
        </p:spPr>
      </p:sp>
      <p:sp>
        <p:nvSpPr>
          <p:cNvPr id="7" name="Text 5"/>
          <p:cNvSpPr txBox="1"/>
          <p:nvPr/>
        </p:nvSpPr>
        <p:spPr>
          <a:xfrm>
            <a:off x="841248" y="1719072"/>
            <a:ext cx="493776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ESTRUCTURA DEL COSTO — AÑO 1  (USD)</a:t>
            </a:r>
            <a:endParaRPr lang="en-US" sz="1150" dirty="0"/>
          </a:p>
        </p:txBody>
      </p:sp>
      <p:sp>
        <p:nvSpPr>
          <p:cNvPr id="8" name="Text 6"/>
          <p:cNvSpPr txBox="1"/>
          <p:nvPr/>
        </p:nvSpPr>
        <p:spPr>
          <a:xfrm>
            <a:off x="841248" y="2176272"/>
            <a:ext cx="2331720" cy="457200"/>
          </a:xfrm>
          <a:prstGeom prst="rect">
            <a:avLst/>
          </a:prstGeom>
          <a:noFill/>
          <a:ln/>
        </p:spPr>
        <p:txBody>
          <a:bodyPr wrap="square" lIns="0" tIns="0" rIns="0" bIns="0" rtlCol="0" anchor="ctr"/>
          <a:lstStyle/>
          <a:p>
            <a:pPr indent="0" marL="0">
              <a:buNone/>
            </a:pPr>
            <a:r>
              <a:rPr lang="en-US" sz="1250" dirty="0">
                <a:solidFill>
                  <a:srgbClr val="15406B"/>
                </a:solidFill>
                <a:latin typeface="Calibri" pitchFamily="34" charset="0"/>
                <a:ea typeface="Calibri" pitchFamily="34" charset="-122"/>
                <a:cs typeface="Calibri" pitchFamily="34" charset="-120"/>
              </a:rPr>
              <a:t>Recursos humanos propios</a:t>
            </a:r>
            <a:endParaRPr lang="en-US" sz="1250" dirty="0"/>
          </a:p>
        </p:txBody>
      </p:sp>
      <p:sp>
        <p:nvSpPr>
          <p:cNvPr id="9" name="Text 7"/>
          <p:cNvSpPr txBox="1"/>
          <p:nvPr/>
        </p:nvSpPr>
        <p:spPr>
          <a:xfrm>
            <a:off x="3218688" y="2176272"/>
            <a:ext cx="1874520" cy="457200"/>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3.456 h al valor hora por perfil</a:t>
            </a:r>
            <a:endParaRPr lang="en-US" sz="1100" dirty="0"/>
          </a:p>
        </p:txBody>
      </p:sp>
      <p:sp>
        <p:nvSpPr>
          <p:cNvPr id="10" name="Text 8"/>
          <p:cNvSpPr txBox="1"/>
          <p:nvPr/>
        </p:nvSpPr>
        <p:spPr>
          <a:xfrm>
            <a:off x="4681728" y="2176272"/>
            <a:ext cx="1097280" cy="457200"/>
          </a:xfrm>
          <a:prstGeom prst="rect">
            <a:avLst/>
          </a:prstGeom>
          <a:noFill/>
          <a:ln/>
        </p:spPr>
        <p:txBody>
          <a:bodyPr wrap="square" lIns="0" tIns="0" rIns="0" bIns="0" rtlCol="0" anchor="ctr"/>
          <a:lstStyle/>
          <a:p>
            <a:pPr algn="r" indent="0" marL="0">
              <a:buNone/>
            </a:pPr>
            <a:r>
              <a:rPr lang="en-US" sz="1300" b="1" dirty="0">
                <a:solidFill>
                  <a:srgbClr val="2A3B4D"/>
                </a:solidFill>
                <a:latin typeface="Calibri" pitchFamily="34" charset="0"/>
                <a:ea typeface="Calibri" pitchFamily="34" charset="-122"/>
                <a:cs typeface="Calibri" pitchFamily="34" charset="-120"/>
              </a:rPr>
              <a:t>112.624</a:t>
            </a:r>
            <a:endParaRPr lang="en-US" sz="1300" dirty="0"/>
          </a:p>
        </p:txBody>
      </p:sp>
      <p:sp>
        <p:nvSpPr>
          <p:cNvPr id="11" name="Text 9"/>
          <p:cNvSpPr txBox="1"/>
          <p:nvPr/>
        </p:nvSpPr>
        <p:spPr>
          <a:xfrm>
            <a:off x="841248" y="2670048"/>
            <a:ext cx="2331720" cy="457200"/>
          </a:xfrm>
          <a:prstGeom prst="rect">
            <a:avLst/>
          </a:prstGeom>
          <a:noFill/>
          <a:ln/>
        </p:spPr>
        <p:txBody>
          <a:bodyPr wrap="square" lIns="0" tIns="0" rIns="0" bIns="0" rtlCol="0" anchor="ctr"/>
          <a:lstStyle/>
          <a:p>
            <a:pPr indent="0" marL="0">
              <a:buNone/>
            </a:pPr>
            <a:r>
              <a:rPr lang="en-US" sz="1250" dirty="0">
                <a:solidFill>
                  <a:srgbClr val="15406B"/>
                </a:solidFill>
                <a:latin typeface="Calibri" pitchFamily="34" charset="0"/>
                <a:ea typeface="Calibri" pitchFamily="34" charset="-122"/>
                <a:cs typeface="Calibri" pitchFamily="34" charset="-120"/>
              </a:rPr>
              <a:t>Adquisiciones (bienes)</a:t>
            </a:r>
            <a:endParaRPr lang="en-US" sz="1250" dirty="0"/>
          </a:p>
        </p:txBody>
      </p:sp>
      <p:sp>
        <p:nvSpPr>
          <p:cNvPr id="12" name="Text 10"/>
          <p:cNvSpPr txBox="1"/>
          <p:nvPr/>
        </p:nvSpPr>
        <p:spPr>
          <a:xfrm>
            <a:off x="3218688" y="2670048"/>
            <a:ext cx="1874520" cy="457200"/>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63 dispositivos rugerizados</a:t>
            </a:r>
            <a:endParaRPr lang="en-US" sz="1100" dirty="0"/>
          </a:p>
        </p:txBody>
      </p:sp>
      <p:sp>
        <p:nvSpPr>
          <p:cNvPr id="13" name="Text 11"/>
          <p:cNvSpPr txBox="1"/>
          <p:nvPr/>
        </p:nvSpPr>
        <p:spPr>
          <a:xfrm>
            <a:off x="4681728" y="2670048"/>
            <a:ext cx="1097280" cy="457200"/>
          </a:xfrm>
          <a:prstGeom prst="rect">
            <a:avLst/>
          </a:prstGeom>
          <a:noFill/>
          <a:ln/>
        </p:spPr>
        <p:txBody>
          <a:bodyPr wrap="square" lIns="0" tIns="0" rIns="0" bIns="0" rtlCol="0" anchor="ctr"/>
          <a:lstStyle/>
          <a:p>
            <a:pPr algn="r" indent="0" marL="0">
              <a:buNone/>
            </a:pPr>
            <a:r>
              <a:rPr lang="en-US" sz="1300" b="1" dirty="0">
                <a:solidFill>
                  <a:srgbClr val="2A3B4D"/>
                </a:solidFill>
                <a:latin typeface="Calibri" pitchFamily="34" charset="0"/>
                <a:ea typeface="Calibri" pitchFamily="34" charset="-122"/>
                <a:cs typeface="Calibri" pitchFamily="34" charset="-120"/>
              </a:rPr>
              <a:t>39.060</a:t>
            </a:r>
            <a:endParaRPr lang="en-US" sz="1300" dirty="0"/>
          </a:p>
        </p:txBody>
      </p:sp>
      <p:sp>
        <p:nvSpPr>
          <p:cNvPr id="14" name="Text 12"/>
          <p:cNvSpPr txBox="1"/>
          <p:nvPr/>
        </p:nvSpPr>
        <p:spPr>
          <a:xfrm>
            <a:off x="841248" y="3163824"/>
            <a:ext cx="2331720" cy="457200"/>
          </a:xfrm>
          <a:prstGeom prst="rect">
            <a:avLst/>
          </a:prstGeom>
          <a:noFill/>
          <a:ln/>
        </p:spPr>
        <p:txBody>
          <a:bodyPr wrap="square" lIns="0" tIns="0" rIns="0" bIns="0" rtlCol="0" anchor="ctr"/>
          <a:lstStyle/>
          <a:p>
            <a:pPr indent="0" marL="0">
              <a:buNone/>
            </a:pPr>
            <a:r>
              <a:rPr lang="en-US" sz="1250" dirty="0">
                <a:solidFill>
                  <a:srgbClr val="15406B"/>
                </a:solidFill>
                <a:latin typeface="Calibri" pitchFamily="34" charset="0"/>
                <a:ea typeface="Calibri" pitchFamily="34" charset="-122"/>
                <a:cs typeface="Calibri" pitchFamily="34" charset="-120"/>
              </a:rPr>
              <a:t>Servicios</a:t>
            </a:r>
            <a:endParaRPr lang="en-US" sz="1250" dirty="0"/>
          </a:p>
        </p:txBody>
      </p:sp>
      <p:sp>
        <p:nvSpPr>
          <p:cNvPr id="15" name="Text 13"/>
          <p:cNvSpPr txBox="1"/>
          <p:nvPr/>
        </p:nvSpPr>
        <p:spPr>
          <a:xfrm>
            <a:off x="3218688" y="3163824"/>
            <a:ext cx="1874520" cy="457200"/>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Licencias, implantación, MDM, mapas y soporte</a:t>
            </a:r>
            <a:endParaRPr lang="en-US" sz="1100" dirty="0"/>
          </a:p>
        </p:txBody>
      </p:sp>
      <p:sp>
        <p:nvSpPr>
          <p:cNvPr id="16" name="Text 14"/>
          <p:cNvSpPr txBox="1"/>
          <p:nvPr/>
        </p:nvSpPr>
        <p:spPr>
          <a:xfrm>
            <a:off x="4681728" y="3163824"/>
            <a:ext cx="1097280" cy="457200"/>
          </a:xfrm>
          <a:prstGeom prst="rect">
            <a:avLst/>
          </a:prstGeom>
          <a:noFill/>
          <a:ln/>
        </p:spPr>
        <p:txBody>
          <a:bodyPr wrap="square" lIns="0" tIns="0" rIns="0" bIns="0" rtlCol="0" anchor="ctr"/>
          <a:lstStyle/>
          <a:p>
            <a:pPr algn="r" indent="0" marL="0">
              <a:buNone/>
            </a:pPr>
            <a:r>
              <a:rPr lang="en-US" sz="1300" b="1" dirty="0">
                <a:solidFill>
                  <a:srgbClr val="2A3B4D"/>
                </a:solidFill>
                <a:latin typeface="Calibri" pitchFamily="34" charset="0"/>
                <a:ea typeface="Calibri" pitchFamily="34" charset="-122"/>
                <a:cs typeface="Calibri" pitchFamily="34" charset="-120"/>
              </a:rPr>
              <a:t>103.150</a:t>
            </a:r>
            <a:endParaRPr lang="en-US" sz="1300" dirty="0"/>
          </a:p>
        </p:txBody>
      </p:sp>
      <p:sp>
        <p:nvSpPr>
          <p:cNvPr id="17" name="Text 15"/>
          <p:cNvSpPr txBox="1"/>
          <p:nvPr/>
        </p:nvSpPr>
        <p:spPr>
          <a:xfrm>
            <a:off x="841248" y="3657600"/>
            <a:ext cx="2331720" cy="457200"/>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Subtotal costo directo</a:t>
            </a:r>
            <a:endParaRPr lang="en-US" sz="1250" dirty="0"/>
          </a:p>
        </p:txBody>
      </p:sp>
      <p:sp>
        <p:nvSpPr>
          <p:cNvPr id="18" name="Text 16"/>
          <p:cNvSpPr txBox="1"/>
          <p:nvPr/>
        </p:nvSpPr>
        <p:spPr>
          <a:xfrm>
            <a:off x="3218688" y="3657600"/>
            <a:ext cx="1874520" cy="457200"/>
          </a:xfrm>
          <a:prstGeom prst="rect">
            <a:avLst/>
          </a:prstGeom>
          <a:noFill/>
          <a:ln/>
        </p:spPr>
        <p:txBody>
          <a:bodyPr wrap="square" lIns="0" tIns="0" rIns="0" bIns="0" rtlCol="0" anchor="ctr"/>
          <a:lstStyle/>
          <a:p>
            <a:pPr indent="0" marL="0">
              <a:buNone/>
            </a:pPr>
            <a:endParaRPr lang="en-US" sz="1100" dirty="0"/>
          </a:p>
        </p:txBody>
      </p:sp>
      <p:sp>
        <p:nvSpPr>
          <p:cNvPr id="19" name="Text 17"/>
          <p:cNvSpPr txBox="1"/>
          <p:nvPr/>
        </p:nvSpPr>
        <p:spPr>
          <a:xfrm>
            <a:off x="4681728" y="3657600"/>
            <a:ext cx="1097280" cy="457200"/>
          </a:xfrm>
          <a:prstGeom prst="rect">
            <a:avLst/>
          </a:prstGeom>
          <a:noFill/>
          <a:ln/>
        </p:spPr>
        <p:txBody>
          <a:bodyPr wrap="square" lIns="0" tIns="0" rIns="0" bIns="0" rtlCol="0" anchor="ctr"/>
          <a:lstStyle/>
          <a:p>
            <a:pPr algn="r" indent="0" marL="0">
              <a:buNone/>
            </a:pPr>
            <a:r>
              <a:rPr lang="en-US" sz="1300" b="1" dirty="0">
                <a:solidFill>
                  <a:srgbClr val="15406B"/>
                </a:solidFill>
                <a:latin typeface="Calibri" pitchFamily="34" charset="0"/>
                <a:ea typeface="Calibri" pitchFamily="34" charset="-122"/>
                <a:cs typeface="Calibri" pitchFamily="34" charset="-120"/>
              </a:rPr>
              <a:t>254.834</a:t>
            </a:r>
            <a:endParaRPr lang="en-US" sz="1300" dirty="0"/>
          </a:p>
        </p:txBody>
      </p:sp>
      <p:sp>
        <p:nvSpPr>
          <p:cNvPr id="20" name="Text 18"/>
          <p:cNvSpPr txBox="1"/>
          <p:nvPr/>
        </p:nvSpPr>
        <p:spPr>
          <a:xfrm>
            <a:off x="841248" y="4151376"/>
            <a:ext cx="2331720" cy="457200"/>
          </a:xfrm>
          <a:prstGeom prst="rect">
            <a:avLst/>
          </a:prstGeom>
          <a:noFill/>
          <a:ln/>
        </p:spPr>
        <p:txBody>
          <a:bodyPr wrap="square" lIns="0" tIns="0" rIns="0" bIns="0" rtlCol="0" anchor="ctr"/>
          <a:lstStyle/>
          <a:p>
            <a:pPr indent="0" marL="0">
              <a:buNone/>
            </a:pPr>
            <a:r>
              <a:rPr lang="en-US" sz="1250" dirty="0">
                <a:solidFill>
                  <a:srgbClr val="15406B"/>
                </a:solidFill>
                <a:latin typeface="Calibri" pitchFamily="34" charset="0"/>
                <a:ea typeface="Calibri" pitchFamily="34" charset="-122"/>
                <a:cs typeface="Calibri" pitchFamily="34" charset="-120"/>
              </a:rPr>
              <a:t>Costos indirectos</a:t>
            </a:r>
            <a:endParaRPr lang="en-US" sz="1250" dirty="0"/>
          </a:p>
        </p:txBody>
      </p:sp>
      <p:sp>
        <p:nvSpPr>
          <p:cNvPr id="21" name="Text 19"/>
          <p:cNvSpPr txBox="1"/>
          <p:nvPr/>
        </p:nvSpPr>
        <p:spPr>
          <a:xfrm>
            <a:off x="3218688" y="4151376"/>
            <a:ext cx="1874520" cy="457200"/>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12% sobre el costo directo</a:t>
            </a:r>
            <a:endParaRPr lang="en-US" sz="1100" dirty="0"/>
          </a:p>
        </p:txBody>
      </p:sp>
      <p:sp>
        <p:nvSpPr>
          <p:cNvPr id="22" name="Text 20"/>
          <p:cNvSpPr txBox="1"/>
          <p:nvPr/>
        </p:nvSpPr>
        <p:spPr>
          <a:xfrm>
            <a:off x="4681728" y="4151376"/>
            <a:ext cx="1097280" cy="457200"/>
          </a:xfrm>
          <a:prstGeom prst="rect">
            <a:avLst/>
          </a:prstGeom>
          <a:noFill/>
          <a:ln/>
        </p:spPr>
        <p:txBody>
          <a:bodyPr wrap="square" lIns="0" tIns="0" rIns="0" bIns="0" rtlCol="0" anchor="ctr"/>
          <a:lstStyle/>
          <a:p>
            <a:pPr algn="r" indent="0" marL="0">
              <a:buNone/>
            </a:pPr>
            <a:r>
              <a:rPr lang="en-US" sz="1300" b="1" dirty="0">
                <a:solidFill>
                  <a:srgbClr val="2A3B4D"/>
                </a:solidFill>
                <a:latin typeface="Calibri" pitchFamily="34" charset="0"/>
                <a:ea typeface="Calibri" pitchFamily="34" charset="-122"/>
                <a:cs typeface="Calibri" pitchFamily="34" charset="-120"/>
              </a:rPr>
              <a:t>30.580</a:t>
            </a:r>
            <a:endParaRPr lang="en-US" sz="1300" dirty="0"/>
          </a:p>
        </p:txBody>
      </p:sp>
      <p:sp>
        <p:nvSpPr>
          <p:cNvPr id="23" name="Text 21"/>
          <p:cNvSpPr txBox="1"/>
          <p:nvPr/>
        </p:nvSpPr>
        <p:spPr>
          <a:xfrm>
            <a:off x="841248" y="4645152"/>
            <a:ext cx="2331720" cy="457200"/>
          </a:xfrm>
          <a:prstGeom prst="rect">
            <a:avLst/>
          </a:prstGeom>
          <a:noFill/>
          <a:ln/>
        </p:spPr>
        <p:txBody>
          <a:bodyPr wrap="square" lIns="0" tIns="0" rIns="0" bIns="0" rtlCol="0" anchor="ctr"/>
          <a:lstStyle/>
          <a:p>
            <a:pPr indent="0" marL="0">
              <a:buNone/>
            </a:pPr>
            <a:r>
              <a:rPr lang="en-US" sz="1250" dirty="0">
                <a:solidFill>
                  <a:srgbClr val="15406B"/>
                </a:solidFill>
                <a:latin typeface="Calibri" pitchFamily="34" charset="0"/>
                <a:ea typeface="Calibri" pitchFamily="34" charset="-122"/>
                <a:cs typeface="Calibri" pitchFamily="34" charset="-120"/>
              </a:rPr>
              <a:t>Reserva de contingencia</a:t>
            </a:r>
            <a:endParaRPr lang="en-US" sz="1250" dirty="0"/>
          </a:p>
        </p:txBody>
      </p:sp>
      <p:sp>
        <p:nvSpPr>
          <p:cNvPr id="24" name="Text 22"/>
          <p:cNvSpPr txBox="1"/>
          <p:nvPr/>
        </p:nvSpPr>
        <p:spPr>
          <a:xfrm>
            <a:off x="3218688" y="4645152"/>
            <a:ext cx="1874520" cy="457200"/>
          </a:xfrm>
          <a:prstGeom prst="rect">
            <a:avLst/>
          </a:prstGeom>
          <a:noFill/>
          <a:ln/>
        </p:spPr>
        <p:txBody>
          <a:bodyPr wrap="square" lIns="0" tIns="0" rIns="0" bIns="0" rtlCol="0" anchor="ctr"/>
          <a:lstStyle/>
          <a:p>
            <a:pPr indent="0" marL="0">
              <a:buNone/>
            </a:pPr>
            <a:r>
              <a:rPr lang="en-US" sz="1100" dirty="0">
                <a:solidFill>
                  <a:srgbClr val="4C6480"/>
                </a:solidFill>
                <a:latin typeface="Calibri" pitchFamily="34" charset="0"/>
                <a:ea typeface="Calibri" pitchFamily="34" charset="-122"/>
                <a:cs typeface="Calibri" pitchFamily="34" charset="-120"/>
              </a:rPr>
              <a:t>15% — responde a R03, R04, R05 y R07</a:t>
            </a:r>
            <a:endParaRPr lang="en-US" sz="1100" dirty="0"/>
          </a:p>
        </p:txBody>
      </p:sp>
      <p:sp>
        <p:nvSpPr>
          <p:cNvPr id="25" name="Text 23"/>
          <p:cNvSpPr txBox="1"/>
          <p:nvPr/>
        </p:nvSpPr>
        <p:spPr>
          <a:xfrm>
            <a:off x="4681728" y="4645152"/>
            <a:ext cx="1097280" cy="457200"/>
          </a:xfrm>
          <a:prstGeom prst="rect">
            <a:avLst/>
          </a:prstGeom>
          <a:noFill/>
          <a:ln/>
        </p:spPr>
        <p:txBody>
          <a:bodyPr wrap="square" lIns="0" tIns="0" rIns="0" bIns="0" rtlCol="0" anchor="ctr"/>
          <a:lstStyle/>
          <a:p>
            <a:pPr algn="r" indent="0" marL="0">
              <a:buNone/>
            </a:pPr>
            <a:r>
              <a:rPr lang="en-US" sz="1300" b="1" dirty="0">
                <a:solidFill>
                  <a:srgbClr val="2A3B4D"/>
                </a:solidFill>
                <a:latin typeface="Calibri" pitchFamily="34" charset="0"/>
                <a:ea typeface="Calibri" pitchFamily="34" charset="-122"/>
                <a:cs typeface="Calibri" pitchFamily="34" charset="-120"/>
              </a:rPr>
              <a:t>42.812</a:t>
            </a:r>
            <a:endParaRPr lang="en-US" sz="1300" dirty="0"/>
          </a:p>
        </p:txBody>
      </p:sp>
      <p:sp>
        <p:nvSpPr>
          <p:cNvPr id="26" name="Shape 24"/>
          <p:cNvSpPr/>
          <p:nvPr/>
        </p:nvSpPr>
        <p:spPr>
          <a:xfrm>
            <a:off x="841248" y="5230368"/>
            <a:ext cx="4937760" cy="896112"/>
          </a:xfrm>
          <a:prstGeom prst="roundRect">
            <a:avLst>
              <a:gd name="adj" fmla="val 6122"/>
            </a:avLst>
          </a:prstGeom>
          <a:solidFill>
            <a:srgbClr val="15406B"/>
          </a:solidFill>
          <a:ln w="12700">
            <a:solidFill>
              <a:srgbClr val="15406B"/>
            </a:solidFill>
            <a:prstDash val="solid"/>
          </a:ln>
        </p:spPr>
      </p:sp>
      <p:sp>
        <p:nvSpPr>
          <p:cNvPr id="27" name="Text 25"/>
          <p:cNvSpPr txBox="1"/>
          <p:nvPr/>
        </p:nvSpPr>
        <p:spPr>
          <a:xfrm>
            <a:off x="1069848" y="5230368"/>
            <a:ext cx="2743200" cy="8961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Costo total del año 1</a:t>
            </a:r>
            <a:endParaRPr lang="en-US" sz="1400" dirty="0"/>
          </a:p>
        </p:txBody>
      </p:sp>
      <p:sp>
        <p:nvSpPr>
          <p:cNvPr id="28" name="Text 26"/>
          <p:cNvSpPr txBox="1"/>
          <p:nvPr/>
        </p:nvSpPr>
        <p:spPr>
          <a:xfrm>
            <a:off x="4041648" y="5230368"/>
            <a:ext cx="1691640" cy="896112"/>
          </a:xfrm>
          <a:prstGeom prst="rect">
            <a:avLst/>
          </a:prstGeom>
          <a:noFill/>
          <a:ln/>
        </p:spPr>
        <p:txBody>
          <a:bodyPr wrap="square" lIns="0" tIns="0" rIns="0" bIns="0" rtlCol="0" anchor="ctr"/>
          <a:lstStyle/>
          <a:p>
            <a:pPr algn="r" indent="0" marL="0">
              <a:buNone/>
            </a:pPr>
            <a:r>
              <a:rPr lang="en-US" sz="2400" b="1" dirty="0">
                <a:solidFill>
                  <a:srgbClr val="DCE9F7"/>
                </a:solidFill>
                <a:latin typeface="Calibri" pitchFamily="34" charset="0"/>
                <a:ea typeface="Calibri" pitchFamily="34" charset="-122"/>
                <a:cs typeface="Calibri" pitchFamily="34" charset="-120"/>
              </a:rPr>
              <a:t>328.226</a:t>
            </a:r>
            <a:endParaRPr lang="en-US" sz="2400" dirty="0"/>
          </a:p>
        </p:txBody>
      </p:sp>
      <p:sp>
        <p:nvSpPr>
          <p:cNvPr id="29" name="Shape 27"/>
          <p:cNvSpPr/>
          <p:nvPr/>
        </p:nvSpPr>
        <p:spPr>
          <a:xfrm>
            <a:off x="6345936" y="1517904"/>
            <a:ext cx="5278831" cy="4901184"/>
          </a:xfrm>
          <a:prstGeom prst="roundRect">
            <a:avLst>
              <a:gd name="adj" fmla="val 1119"/>
            </a:avLst>
          </a:prstGeom>
          <a:solidFill>
            <a:srgbClr val="DCE9F7"/>
          </a:solidFill>
          <a:ln w="12700">
            <a:solidFill>
              <a:srgbClr val="5B7FA6"/>
            </a:solidFill>
            <a:prstDash val="solid"/>
          </a:ln>
        </p:spPr>
      </p:sp>
      <p:sp>
        <p:nvSpPr>
          <p:cNvPr id="30" name="Text 28"/>
          <p:cNvSpPr txBox="1"/>
          <p:nvPr/>
        </p:nvSpPr>
        <p:spPr>
          <a:xfrm>
            <a:off x="6620256" y="1719072"/>
            <a:ext cx="4730191"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COSTO TOTAL DE PROPIEDAD A TRES AÑOS  (USD)</a:t>
            </a:r>
            <a:endParaRPr lang="en-US" sz="1150" dirty="0"/>
          </a:p>
        </p:txBody>
      </p:sp>
      <p:sp>
        <p:nvSpPr>
          <p:cNvPr id="31" name="Text 29"/>
          <p:cNvSpPr txBox="1"/>
          <p:nvPr/>
        </p:nvSpPr>
        <p:spPr>
          <a:xfrm>
            <a:off x="6620256" y="2249424"/>
            <a:ext cx="914400" cy="420624"/>
          </a:xfrm>
          <a:prstGeom prst="rect">
            <a:avLst/>
          </a:prstGeom>
          <a:noFill/>
          <a:ln/>
        </p:spPr>
        <p:txBody>
          <a:bodyPr wrap="square" lIns="0" tIns="0" rIns="0" bIns="0" rtlCol="0" anchor="ctr"/>
          <a:lstStyle/>
          <a:p>
            <a:pPr indent="0" marL="0">
              <a:buNone/>
            </a:pPr>
            <a:r>
              <a:rPr lang="en-US" sz="1300" b="1" dirty="0">
                <a:solidFill>
                  <a:srgbClr val="15406B"/>
                </a:solidFill>
                <a:latin typeface="Calibri" pitchFamily="34" charset="0"/>
                <a:ea typeface="Calibri" pitchFamily="34" charset="-122"/>
                <a:cs typeface="Calibri" pitchFamily="34" charset="-120"/>
              </a:rPr>
              <a:t>Año 1</a:t>
            </a:r>
            <a:endParaRPr lang="en-US" sz="1300" dirty="0"/>
          </a:p>
        </p:txBody>
      </p:sp>
      <p:sp>
        <p:nvSpPr>
          <p:cNvPr id="32" name="Text 30"/>
          <p:cNvSpPr txBox="1"/>
          <p:nvPr/>
        </p:nvSpPr>
        <p:spPr>
          <a:xfrm>
            <a:off x="7443216" y="2249424"/>
            <a:ext cx="1371600" cy="420624"/>
          </a:xfrm>
          <a:prstGeom prst="rect">
            <a:avLst/>
          </a:prstGeom>
          <a:noFill/>
          <a:ln/>
        </p:spPr>
        <p:txBody>
          <a:bodyPr wrap="square" lIns="0" tIns="0" rIns="0" bIns="0" rtlCol="0" anchor="ctr"/>
          <a:lstStyle/>
          <a:p>
            <a:pPr algn="r" indent="0" marL="0">
              <a:buNone/>
            </a:pPr>
            <a:r>
              <a:rPr lang="en-US" sz="1500" b="1" dirty="0">
                <a:solidFill>
                  <a:srgbClr val="15406B"/>
                </a:solidFill>
                <a:latin typeface="Calibri" pitchFamily="34" charset="0"/>
                <a:ea typeface="Calibri" pitchFamily="34" charset="-122"/>
                <a:cs typeface="Calibri" pitchFamily="34" charset="-120"/>
              </a:rPr>
              <a:t>328.226</a:t>
            </a:r>
            <a:endParaRPr lang="en-US" sz="1500" dirty="0"/>
          </a:p>
        </p:txBody>
      </p:sp>
      <p:sp>
        <p:nvSpPr>
          <p:cNvPr id="33" name="Text 31"/>
          <p:cNvSpPr txBox="1"/>
          <p:nvPr/>
        </p:nvSpPr>
        <p:spPr>
          <a:xfrm>
            <a:off x="8997696" y="2249424"/>
            <a:ext cx="2352751" cy="420624"/>
          </a:xfrm>
          <a:prstGeom prst="rect">
            <a:avLst/>
          </a:prstGeom>
          <a:noFill/>
          <a:ln/>
        </p:spPr>
        <p:txBody>
          <a:bodyPr wrap="square" lIns="0" tIns="0" rIns="0" bIns="0" rtlCol="0" anchor="ctr"/>
          <a:lstStyle/>
          <a:p>
            <a:pPr indent="0" marL="0">
              <a:buNone/>
            </a:pPr>
            <a:r>
              <a:rPr lang="en-US" sz="1150" dirty="0">
                <a:solidFill>
                  <a:srgbClr val="4C6480"/>
                </a:solidFill>
                <a:latin typeface="Calibri" pitchFamily="34" charset="0"/>
                <a:ea typeface="Calibri" pitchFamily="34" charset="-122"/>
                <a:cs typeface="Calibri" pitchFamily="34" charset="-120"/>
              </a:rPr>
              <a:t>ejecución del proyecto</a:t>
            </a:r>
            <a:endParaRPr lang="en-US" sz="1150" dirty="0"/>
          </a:p>
        </p:txBody>
      </p:sp>
      <p:sp>
        <p:nvSpPr>
          <p:cNvPr id="34" name="Text 32"/>
          <p:cNvSpPr txBox="1"/>
          <p:nvPr/>
        </p:nvSpPr>
        <p:spPr>
          <a:xfrm>
            <a:off x="6620256" y="2761488"/>
            <a:ext cx="914400" cy="420624"/>
          </a:xfrm>
          <a:prstGeom prst="rect">
            <a:avLst/>
          </a:prstGeom>
          <a:noFill/>
          <a:ln/>
        </p:spPr>
        <p:txBody>
          <a:bodyPr wrap="square" lIns="0" tIns="0" rIns="0" bIns="0" rtlCol="0" anchor="ctr"/>
          <a:lstStyle/>
          <a:p>
            <a:pPr indent="0" marL="0">
              <a:buNone/>
            </a:pPr>
            <a:r>
              <a:rPr lang="en-US" sz="1300" b="1" dirty="0">
                <a:solidFill>
                  <a:srgbClr val="15406B"/>
                </a:solidFill>
                <a:latin typeface="Calibri" pitchFamily="34" charset="0"/>
                <a:ea typeface="Calibri" pitchFamily="34" charset="-122"/>
                <a:cs typeface="Calibri" pitchFamily="34" charset="-120"/>
              </a:rPr>
              <a:t>Año 2</a:t>
            </a:r>
            <a:endParaRPr lang="en-US" sz="1300" dirty="0"/>
          </a:p>
        </p:txBody>
      </p:sp>
      <p:sp>
        <p:nvSpPr>
          <p:cNvPr id="35" name="Text 33"/>
          <p:cNvSpPr txBox="1"/>
          <p:nvPr/>
        </p:nvSpPr>
        <p:spPr>
          <a:xfrm>
            <a:off x="7443216" y="2761488"/>
            <a:ext cx="1371600" cy="420624"/>
          </a:xfrm>
          <a:prstGeom prst="rect">
            <a:avLst/>
          </a:prstGeom>
          <a:noFill/>
          <a:ln/>
        </p:spPr>
        <p:txBody>
          <a:bodyPr wrap="square" lIns="0" tIns="0" rIns="0" bIns="0" rtlCol="0" anchor="ctr"/>
          <a:lstStyle/>
          <a:p>
            <a:pPr algn="r" indent="0" marL="0">
              <a:buNone/>
            </a:pPr>
            <a:r>
              <a:rPr lang="en-US" sz="1500" b="1" dirty="0">
                <a:solidFill>
                  <a:srgbClr val="15406B"/>
                </a:solidFill>
                <a:latin typeface="Calibri" pitchFamily="34" charset="0"/>
                <a:ea typeface="Calibri" pitchFamily="34" charset="-122"/>
                <a:cs typeface="Calibri" pitchFamily="34" charset="-120"/>
              </a:rPr>
              <a:t>100.379</a:t>
            </a:r>
            <a:endParaRPr lang="en-US" sz="1500" dirty="0"/>
          </a:p>
        </p:txBody>
      </p:sp>
      <p:sp>
        <p:nvSpPr>
          <p:cNvPr id="36" name="Text 34"/>
          <p:cNvSpPr txBox="1"/>
          <p:nvPr/>
        </p:nvSpPr>
        <p:spPr>
          <a:xfrm>
            <a:off x="8997696" y="2761488"/>
            <a:ext cx="2352751" cy="420624"/>
          </a:xfrm>
          <a:prstGeom prst="rect">
            <a:avLst/>
          </a:prstGeom>
          <a:noFill/>
          <a:ln/>
        </p:spPr>
        <p:txBody>
          <a:bodyPr wrap="square" lIns="0" tIns="0" rIns="0" bIns="0" rtlCol="0" anchor="ctr"/>
          <a:lstStyle/>
          <a:p>
            <a:pPr indent="0" marL="0">
              <a:buNone/>
            </a:pPr>
            <a:r>
              <a:rPr lang="en-US" sz="1150" dirty="0">
                <a:solidFill>
                  <a:srgbClr val="4C6480"/>
                </a:solidFill>
                <a:latin typeface="Calibri" pitchFamily="34" charset="0"/>
                <a:ea typeface="Calibri" pitchFamily="34" charset="-122"/>
                <a:cs typeface="Calibri" pitchFamily="34" charset="-120"/>
              </a:rPr>
              <a:t>operación en régimen</a:t>
            </a:r>
            <a:endParaRPr lang="en-US" sz="1150" dirty="0"/>
          </a:p>
        </p:txBody>
      </p:sp>
      <p:sp>
        <p:nvSpPr>
          <p:cNvPr id="37" name="Text 35"/>
          <p:cNvSpPr txBox="1"/>
          <p:nvPr/>
        </p:nvSpPr>
        <p:spPr>
          <a:xfrm>
            <a:off x="6620256" y="3273552"/>
            <a:ext cx="914400" cy="420624"/>
          </a:xfrm>
          <a:prstGeom prst="rect">
            <a:avLst/>
          </a:prstGeom>
          <a:noFill/>
          <a:ln/>
        </p:spPr>
        <p:txBody>
          <a:bodyPr wrap="square" lIns="0" tIns="0" rIns="0" bIns="0" rtlCol="0" anchor="ctr"/>
          <a:lstStyle/>
          <a:p>
            <a:pPr indent="0" marL="0">
              <a:buNone/>
            </a:pPr>
            <a:r>
              <a:rPr lang="en-US" sz="1300" b="1" dirty="0">
                <a:solidFill>
                  <a:srgbClr val="15406B"/>
                </a:solidFill>
                <a:latin typeface="Calibri" pitchFamily="34" charset="0"/>
                <a:ea typeface="Calibri" pitchFamily="34" charset="-122"/>
                <a:cs typeface="Calibri" pitchFamily="34" charset="-120"/>
              </a:rPr>
              <a:t>Año 3</a:t>
            </a:r>
            <a:endParaRPr lang="en-US" sz="1300" dirty="0"/>
          </a:p>
        </p:txBody>
      </p:sp>
      <p:sp>
        <p:nvSpPr>
          <p:cNvPr id="38" name="Text 36"/>
          <p:cNvSpPr txBox="1"/>
          <p:nvPr/>
        </p:nvSpPr>
        <p:spPr>
          <a:xfrm>
            <a:off x="7443216" y="3273552"/>
            <a:ext cx="1371600" cy="420624"/>
          </a:xfrm>
          <a:prstGeom prst="rect">
            <a:avLst/>
          </a:prstGeom>
          <a:noFill/>
          <a:ln/>
        </p:spPr>
        <p:txBody>
          <a:bodyPr wrap="square" lIns="0" tIns="0" rIns="0" bIns="0" rtlCol="0" anchor="ctr"/>
          <a:lstStyle/>
          <a:p>
            <a:pPr algn="r" indent="0" marL="0">
              <a:buNone/>
            </a:pPr>
            <a:r>
              <a:rPr lang="en-US" sz="1500" b="1" dirty="0">
                <a:solidFill>
                  <a:srgbClr val="15406B"/>
                </a:solidFill>
                <a:latin typeface="Calibri" pitchFamily="34" charset="0"/>
                <a:ea typeface="Calibri" pitchFamily="34" charset="-122"/>
                <a:cs typeface="Calibri" pitchFamily="34" charset="-120"/>
              </a:rPr>
              <a:t>102.855</a:t>
            </a:r>
            <a:endParaRPr lang="en-US" sz="1500" dirty="0"/>
          </a:p>
        </p:txBody>
      </p:sp>
      <p:sp>
        <p:nvSpPr>
          <p:cNvPr id="39" name="Text 37"/>
          <p:cNvSpPr txBox="1"/>
          <p:nvPr/>
        </p:nvSpPr>
        <p:spPr>
          <a:xfrm>
            <a:off x="8997696" y="3273552"/>
            <a:ext cx="2352751" cy="420624"/>
          </a:xfrm>
          <a:prstGeom prst="rect">
            <a:avLst/>
          </a:prstGeom>
          <a:noFill/>
          <a:ln/>
        </p:spPr>
        <p:txBody>
          <a:bodyPr wrap="square" lIns="0" tIns="0" rIns="0" bIns="0" rtlCol="0" anchor="ctr"/>
          <a:lstStyle/>
          <a:p>
            <a:pPr indent="0" marL="0">
              <a:buNone/>
            </a:pPr>
            <a:r>
              <a:rPr lang="en-US" sz="1150" dirty="0">
                <a:solidFill>
                  <a:srgbClr val="4C6480"/>
                </a:solidFill>
                <a:latin typeface="Calibri" pitchFamily="34" charset="0"/>
                <a:ea typeface="Calibri" pitchFamily="34" charset="-122"/>
                <a:cs typeface="Calibri" pitchFamily="34" charset="-120"/>
              </a:rPr>
              <a:t>con indexación contractual del 5%</a:t>
            </a:r>
            <a:endParaRPr lang="en-US" sz="1150" dirty="0"/>
          </a:p>
        </p:txBody>
      </p:sp>
      <p:sp>
        <p:nvSpPr>
          <p:cNvPr id="40" name="Text 38"/>
          <p:cNvSpPr txBox="1"/>
          <p:nvPr/>
        </p:nvSpPr>
        <p:spPr>
          <a:xfrm>
            <a:off x="6620256" y="3858768"/>
            <a:ext cx="4730191" cy="658368"/>
          </a:xfrm>
          <a:prstGeom prst="rect">
            <a:avLst/>
          </a:prstGeom>
          <a:noFill/>
          <a:ln/>
        </p:spPr>
        <p:txBody>
          <a:bodyPr wrap="square" lIns="0" tIns="0" rIns="0" bIns="0" rtlCol="0" anchor="ctr"/>
          <a:lstStyle/>
          <a:p>
            <a:pPr indent="0" marL="0">
              <a:buNone/>
            </a:pPr>
            <a:r>
              <a:rPr lang="en-US" sz="3400" b="1" dirty="0">
                <a:solidFill>
                  <a:srgbClr val="15406B"/>
                </a:solidFill>
                <a:latin typeface="Calibri" pitchFamily="34" charset="0"/>
                <a:ea typeface="Calibri" pitchFamily="34" charset="-122"/>
                <a:cs typeface="Calibri" pitchFamily="34" charset="-120"/>
              </a:rPr>
              <a:t>531.460</a:t>
            </a:r>
            <a:pPr indent="0" marL="0">
              <a:buNone/>
            </a:pPr>
            <a:r>
              <a:rPr lang="en-US" sz="1350" dirty="0">
                <a:solidFill>
                  <a:srgbClr val="4C6480"/>
                </a:solidFill>
                <a:latin typeface="Calibri" pitchFamily="34" charset="0"/>
                <a:ea typeface="Calibri" pitchFamily="34" charset="-122"/>
                <a:cs typeface="Calibri" pitchFamily="34" charset="-120"/>
              </a:rPr>
              <a:t>   total a 3 años</a:t>
            </a:r>
            <a:endParaRPr lang="en-US" sz="3400" dirty="0"/>
          </a:p>
        </p:txBody>
      </p:sp>
      <p:sp>
        <p:nvSpPr>
          <p:cNvPr id="41" name="Text 39"/>
          <p:cNvSpPr txBox="1"/>
          <p:nvPr/>
        </p:nvSpPr>
        <p:spPr>
          <a:xfrm>
            <a:off x="6620256" y="4645152"/>
            <a:ext cx="4730191" cy="1600200"/>
          </a:xfrm>
          <a:prstGeom prst="rect">
            <a:avLst/>
          </a:prstGeom>
          <a:noFill/>
          <a:ln/>
        </p:spPr>
        <p:txBody>
          <a:bodyPr wrap="square" lIns="0" tIns="0" rIns="0" bIns="0" rtlCol="0" anchor="t"/>
          <a:lstStyle/>
          <a:p>
            <a:pPr indent="0" marL="0">
              <a:lnSpc>
                <a:spcPct val="108000"/>
              </a:lnSpc>
              <a:buNone/>
            </a:pPr>
            <a:r>
              <a:rPr lang="en-US" sz="1250" dirty="0">
                <a:solidFill>
                  <a:srgbClr val="2A3B4D"/>
                </a:solidFill>
                <a:latin typeface="Calibri" pitchFamily="34" charset="0"/>
                <a:ea typeface="Calibri" pitchFamily="34" charset="-122"/>
                <a:cs typeface="Calibri" pitchFamily="34" charset="-120"/>
              </a:rPr>
              <a:t>El año de ejecución concentra el 62% del total; el 38% restante es recurrente. Ese 38% es el rasgo económico distintivo del modelo contratado como servicio: el compromiso presupuestario no termina con la puesta en producción y crece con la dotación licenciada. Un desarrollo propio habría invertido la proporción.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Factibilidad técnica</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El proyecto no requiere tecnología por desarrollar: las plataformas FSM configuradas como servicio son un producto maduro. El problema está en otro lado.</a:t>
            </a:r>
            <a:endParaRPr lang="en-US" sz="1250" dirty="0"/>
          </a:p>
        </p:txBody>
      </p:sp>
      <p:sp>
        <p:nvSpPr>
          <p:cNvPr id="6" name="Shape 4"/>
          <p:cNvSpPr/>
          <p:nvPr/>
        </p:nvSpPr>
        <p:spPr>
          <a:xfrm>
            <a:off x="566928" y="1517904"/>
            <a:ext cx="11057839" cy="1572768"/>
          </a:xfrm>
          <a:prstGeom prst="roundRect">
            <a:avLst>
              <a:gd name="adj" fmla="val 3488"/>
            </a:avLst>
          </a:prstGeom>
          <a:solidFill>
            <a:srgbClr val="15406B"/>
          </a:solidFill>
          <a:ln w="12700">
            <a:solidFill>
              <a:srgbClr val="15406B"/>
            </a:solidFill>
            <a:prstDash val="solid"/>
          </a:ln>
        </p:spPr>
      </p:sp>
      <p:sp>
        <p:nvSpPr>
          <p:cNvPr id="7" name="Text 5"/>
          <p:cNvSpPr txBox="1"/>
          <p:nvPr/>
        </p:nvSpPr>
        <p:spPr>
          <a:xfrm>
            <a:off x="859536" y="1664208"/>
            <a:ext cx="10472623" cy="237744"/>
          </a:xfrm>
          <a:prstGeom prst="rect">
            <a:avLst/>
          </a:prstGeom>
          <a:noFill/>
          <a:ln/>
        </p:spPr>
        <p:txBody>
          <a:bodyPr wrap="square" lIns="0" tIns="0" rIns="0" bIns="0" rtlCol="0" anchor="ctr"/>
          <a:lstStyle/>
          <a:p>
            <a:pPr indent="0" marL="0">
              <a:buNone/>
            </a:pPr>
            <a:r>
              <a:rPr lang="en-US" sz="1150" b="1" spc="80" kern="0" dirty="0">
                <a:solidFill>
                  <a:srgbClr val="8FB6DA"/>
                </a:solidFill>
                <a:latin typeface="Calibri" pitchFamily="34" charset="0"/>
                <a:ea typeface="Calibri" pitchFamily="34" charset="-122"/>
                <a:cs typeface="Calibri" pitchFamily="34" charset="-120"/>
              </a:rPr>
              <a:t>EL SUPUESTO CRÍTICO, DECLARADO COMO RIESGO ABIERTO Y NO COMO HIPÓTESIS FAVORABLE</a:t>
            </a:r>
            <a:endParaRPr lang="en-US" sz="1150" dirty="0"/>
          </a:p>
        </p:txBody>
      </p:sp>
      <p:sp>
        <p:nvSpPr>
          <p:cNvPr id="8" name="Text 6"/>
          <p:cNvSpPr txBox="1"/>
          <p:nvPr/>
        </p:nvSpPr>
        <p:spPr>
          <a:xfrm>
            <a:off x="859536" y="2048256"/>
            <a:ext cx="10472623" cy="960120"/>
          </a:xfrm>
          <a:prstGeom prst="rect">
            <a:avLst/>
          </a:prstGeom>
          <a:noFill/>
          <a:ln/>
        </p:spPr>
        <p:txBody>
          <a:bodyPr wrap="square" lIns="0" tIns="0" rIns="0" bIns="0" rtlCol="0" anchor="t"/>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No está documentado si el SGOT, el CRM y el NMS exponen interfaces de programación aptas. </a:t>
            </a:r>
            <a:pPr indent="0" marL="0">
              <a:lnSpc>
                <a:spcPct val="105000"/>
              </a:lnSpc>
              <a:buNone/>
            </a:pPr>
            <a:r>
              <a:rPr lang="en-US" sz="1350" dirty="0">
                <a:solidFill>
                  <a:srgbClr val="DCE9F7"/>
                </a:solidFill>
                <a:latin typeface="Calibri" pitchFamily="34" charset="0"/>
                <a:ea typeface="Calibri" pitchFamily="34" charset="-122"/>
                <a:cs typeface="Calibri" pitchFamily="34" charset="-120"/>
              </a:rPr>
              <a:t>De ese hecho depende la viabilidad de los paquetes 5.1 a 5.4, que están sobre el camino crítico y concentran 560 horas del especialista de integraciones. El punto de verificación es el paquete 2.3, que tiene apenas 4 días de holgura.</a:t>
            </a:r>
            <a:endParaRPr lang="en-US" sz="1350" dirty="0"/>
          </a:p>
        </p:txBody>
      </p:sp>
      <p:sp>
        <p:nvSpPr>
          <p:cNvPr id="9" name="Text 7"/>
          <p:cNvSpPr txBox="1"/>
          <p:nvPr/>
        </p:nvSpPr>
        <p:spPr>
          <a:xfrm>
            <a:off x="566928" y="3346704"/>
            <a:ext cx="11057839"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PLAN ALTERNATIVO ANTE LA AUSENCIA DE API, EN ORDEN DECRECIENTE DE PREFERENCIA</a:t>
            </a:r>
            <a:endParaRPr lang="en-US" sz="1150" dirty="0"/>
          </a:p>
        </p:txBody>
      </p:sp>
      <p:sp>
        <p:nvSpPr>
          <p:cNvPr id="10" name="Shape 8"/>
          <p:cNvSpPr/>
          <p:nvPr/>
        </p:nvSpPr>
        <p:spPr>
          <a:xfrm>
            <a:off x="566928" y="3712464"/>
            <a:ext cx="3503066" cy="1691640"/>
          </a:xfrm>
          <a:prstGeom prst="roundRect">
            <a:avLst>
              <a:gd name="adj" fmla="val 3243"/>
            </a:avLst>
          </a:prstGeom>
          <a:solidFill>
            <a:srgbClr val="F4F8FC"/>
          </a:solidFill>
          <a:ln w="12700">
            <a:solidFill>
              <a:srgbClr val="DCE9F7"/>
            </a:solidFill>
            <a:prstDash val="solid"/>
          </a:ln>
        </p:spPr>
      </p:sp>
      <p:sp>
        <p:nvSpPr>
          <p:cNvPr id="11" name="Text 9"/>
          <p:cNvSpPr txBox="1"/>
          <p:nvPr/>
        </p:nvSpPr>
        <p:spPr>
          <a:xfrm>
            <a:off x="822960" y="3803904"/>
            <a:ext cx="640080" cy="320040"/>
          </a:xfrm>
          <a:prstGeom prst="rect">
            <a:avLst/>
          </a:prstGeom>
          <a:noFill/>
          <a:ln/>
        </p:spPr>
        <p:txBody>
          <a:bodyPr wrap="square" lIns="0" tIns="0" rIns="0" bIns="0" rtlCol="0" anchor="ctr"/>
          <a:lstStyle/>
          <a:p>
            <a:pPr indent="0" marL="0">
              <a:buNone/>
            </a:pPr>
            <a:r>
              <a:rPr lang="en-US" sz="1600" b="1" dirty="0">
                <a:solidFill>
                  <a:srgbClr val="5B7FA6"/>
                </a:solidFill>
                <a:latin typeface="Calibri" pitchFamily="34" charset="0"/>
                <a:ea typeface="Calibri" pitchFamily="34" charset="-122"/>
                <a:cs typeface="Calibri" pitchFamily="34" charset="-120"/>
              </a:rPr>
              <a:t>i</a:t>
            </a:r>
            <a:endParaRPr lang="en-US" sz="1600" dirty="0"/>
          </a:p>
        </p:txBody>
      </p:sp>
      <p:sp>
        <p:nvSpPr>
          <p:cNvPr id="12" name="Text 10"/>
          <p:cNvSpPr txBox="1"/>
          <p:nvPr/>
        </p:nvSpPr>
        <p:spPr>
          <a:xfrm>
            <a:off x="822960" y="4133088"/>
            <a:ext cx="2991002" cy="301752"/>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Base de datos intermedia</a:t>
            </a:r>
            <a:endParaRPr lang="en-US" sz="1350" dirty="0"/>
          </a:p>
        </p:txBody>
      </p:sp>
      <p:sp>
        <p:nvSpPr>
          <p:cNvPr id="13" name="Text 11"/>
          <p:cNvSpPr txBox="1"/>
          <p:nvPr/>
        </p:nvSpPr>
        <p:spPr>
          <a:xfrm>
            <a:off x="822960" y="4480560"/>
            <a:ext cx="2991002" cy="868680"/>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Esquema de intercambio y procesos programados contra vistas controladas del sistema de origen.</a:t>
            </a:r>
            <a:endParaRPr lang="en-US" sz="1200" dirty="0"/>
          </a:p>
        </p:txBody>
      </p:sp>
      <p:sp>
        <p:nvSpPr>
          <p:cNvPr id="14" name="Shape 12"/>
          <p:cNvSpPr/>
          <p:nvPr/>
        </p:nvSpPr>
        <p:spPr>
          <a:xfrm>
            <a:off x="4344314" y="3712464"/>
            <a:ext cx="3503066" cy="1691640"/>
          </a:xfrm>
          <a:prstGeom prst="roundRect">
            <a:avLst>
              <a:gd name="adj" fmla="val 3243"/>
            </a:avLst>
          </a:prstGeom>
          <a:solidFill>
            <a:srgbClr val="F4F8FC"/>
          </a:solidFill>
          <a:ln w="12700">
            <a:solidFill>
              <a:srgbClr val="DCE9F7"/>
            </a:solidFill>
            <a:prstDash val="solid"/>
          </a:ln>
        </p:spPr>
      </p:sp>
      <p:sp>
        <p:nvSpPr>
          <p:cNvPr id="15" name="Text 13"/>
          <p:cNvSpPr txBox="1"/>
          <p:nvPr/>
        </p:nvSpPr>
        <p:spPr>
          <a:xfrm>
            <a:off x="4600346" y="3803904"/>
            <a:ext cx="640080" cy="320040"/>
          </a:xfrm>
          <a:prstGeom prst="rect">
            <a:avLst/>
          </a:prstGeom>
          <a:noFill/>
          <a:ln/>
        </p:spPr>
        <p:txBody>
          <a:bodyPr wrap="square" lIns="0" tIns="0" rIns="0" bIns="0" rtlCol="0" anchor="ctr"/>
          <a:lstStyle/>
          <a:p>
            <a:pPr indent="0" marL="0">
              <a:buNone/>
            </a:pPr>
            <a:r>
              <a:rPr lang="en-US" sz="1600" b="1" dirty="0">
                <a:solidFill>
                  <a:srgbClr val="5B7FA6"/>
                </a:solidFill>
                <a:latin typeface="Calibri" pitchFamily="34" charset="0"/>
                <a:ea typeface="Calibri" pitchFamily="34" charset="-122"/>
                <a:cs typeface="Calibri" pitchFamily="34" charset="-120"/>
              </a:rPr>
              <a:t>ii</a:t>
            </a:r>
            <a:endParaRPr lang="en-US" sz="1600" dirty="0"/>
          </a:p>
        </p:txBody>
      </p:sp>
      <p:sp>
        <p:nvSpPr>
          <p:cNvPr id="16" name="Text 14"/>
          <p:cNvSpPr txBox="1"/>
          <p:nvPr/>
        </p:nvSpPr>
        <p:spPr>
          <a:xfrm>
            <a:off x="4600346" y="4133088"/>
            <a:ext cx="2991002" cy="301752"/>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Intercambio por lotes</a:t>
            </a:r>
            <a:endParaRPr lang="en-US" sz="1350" dirty="0"/>
          </a:p>
        </p:txBody>
      </p:sp>
      <p:sp>
        <p:nvSpPr>
          <p:cNvPr id="17" name="Text 15"/>
          <p:cNvSpPr txBox="1"/>
          <p:nvPr/>
        </p:nvSpPr>
        <p:spPr>
          <a:xfrm>
            <a:off x="4600346" y="4480560"/>
            <a:ext cx="2991002" cy="868680"/>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En ventanas pactadas, con acuse y reproceso. Degrada la trazabilidad a cuasi tiempo real.</a:t>
            </a:r>
            <a:endParaRPr lang="en-US" sz="1200" dirty="0"/>
          </a:p>
        </p:txBody>
      </p:sp>
      <p:sp>
        <p:nvSpPr>
          <p:cNvPr id="18" name="Shape 16"/>
          <p:cNvSpPr/>
          <p:nvPr/>
        </p:nvSpPr>
        <p:spPr>
          <a:xfrm>
            <a:off x="8121701" y="3712464"/>
            <a:ext cx="3503066" cy="1691640"/>
          </a:xfrm>
          <a:prstGeom prst="roundRect">
            <a:avLst>
              <a:gd name="adj" fmla="val 3243"/>
            </a:avLst>
          </a:prstGeom>
          <a:solidFill>
            <a:srgbClr val="F4F8FC"/>
          </a:solidFill>
          <a:ln w="12700">
            <a:solidFill>
              <a:srgbClr val="DCE9F7"/>
            </a:solidFill>
            <a:prstDash val="solid"/>
          </a:ln>
        </p:spPr>
      </p:sp>
      <p:sp>
        <p:nvSpPr>
          <p:cNvPr id="19" name="Text 17"/>
          <p:cNvSpPr txBox="1"/>
          <p:nvPr/>
        </p:nvSpPr>
        <p:spPr>
          <a:xfrm>
            <a:off x="8377733" y="3803904"/>
            <a:ext cx="640080" cy="320040"/>
          </a:xfrm>
          <a:prstGeom prst="rect">
            <a:avLst/>
          </a:prstGeom>
          <a:noFill/>
          <a:ln/>
        </p:spPr>
        <p:txBody>
          <a:bodyPr wrap="square" lIns="0" tIns="0" rIns="0" bIns="0" rtlCol="0" anchor="ctr"/>
          <a:lstStyle/>
          <a:p>
            <a:pPr indent="0" marL="0">
              <a:buNone/>
            </a:pPr>
            <a:r>
              <a:rPr lang="en-US" sz="1600" b="1" dirty="0">
                <a:solidFill>
                  <a:srgbClr val="5B7FA6"/>
                </a:solidFill>
                <a:latin typeface="Calibri" pitchFamily="34" charset="0"/>
                <a:ea typeface="Calibri" pitchFamily="34" charset="-122"/>
                <a:cs typeface="Calibri" pitchFamily="34" charset="-120"/>
              </a:rPr>
              <a:t>iii</a:t>
            </a:r>
            <a:endParaRPr lang="en-US" sz="1600" dirty="0"/>
          </a:p>
        </p:txBody>
      </p:sp>
      <p:sp>
        <p:nvSpPr>
          <p:cNvPr id="20" name="Text 18"/>
          <p:cNvSpPr txBox="1"/>
          <p:nvPr/>
        </p:nvSpPr>
        <p:spPr>
          <a:xfrm>
            <a:off x="8377733" y="4133088"/>
            <a:ext cx="2991002" cy="301752"/>
          </a:xfrm>
          <a:prstGeom prst="rect">
            <a:avLst/>
          </a:prstGeom>
          <a:noFill/>
          <a:ln/>
        </p:spPr>
        <p:txBody>
          <a:bodyPr wrap="square" lIns="0" tIns="0" rIns="0" bIns="0" rtlCol="0" anchor="ctr"/>
          <a:lstStyle/>
          <a:p>
            <a:pPr indent="0" marL="0">
              <a:buNone/>
            </a:pPr>
            <a:r>
              <a:rPr lang="en-US" sz="1350" b="1" dirty="0">
                <a:solidFill>
                  <a:srgbClr val="15406B"/>
                </a:solidFill>
                <a:latin typeface="Calibri" pitchFamily="34" charset="0"/>
                <a:ea typeface="Calibri" pitchFamily="34" charset="-122"/>
                <a:cs typeface="Calibri" pitchFamily="34" charset="-120"/>
              </a:rPr>
              <a:t>Automatización de interfaz</a:t>
            </a:r>
            <a:endParaRPr lang="en-US" sz="1350" dirty="0"/>
          </a:p>
        </p:txBody>
      </p:sp>
      <p:sp>
        <p:nvSpPr>
          <p:cNvPr id="21" name="Text 19"/>
          <p:cNvSpPr txBox="1"/>
          <p:nvPr/>
        </p:nvSpPr>
        <p:spPr>
          <a:xfrm>
            <a:off x="8377733" y="4480560"/>
            <a:ext cx="2991002" cy="868680"/>
          </a:xfrm>
          <a:prstGeom prst="rect">
            <a:avLst/>
          </a:prstGeom>
          <a:noFill/>
          <a:ln/>
        </p:spPr>
        <p:txBody>
          <a:bodyPr wrap="square" lIns="0" tIns="0" rIns="0" bIns="0" rtlCol="0" anchor="t"/>
          <a:lstStyle/>
          <a:p>
            <a:pPr indent="0" marL="0">
              <a:buNone/>
            </a:pPr>
            <a:r>
              <a:rPr lang="en-US" sz="1200" dirty="0">
                <a:solidFill>
                  <a:srgbClr val="4C6480"/>
                </a:solidFill>
                <a:latin typeface="Calibri" pitchFamily="34" charset="0"/>
                <a:ea typeface="Calibri" pitchFamily="34" charset="-122"/>
                <a:cs typeface="Calibri" pitchFamily="34" charset="-120"/>
              </a:rPr>
              <a:t>Solo como recurso transitorio: frágil ante cambios de pantalla y caro de mantener.</a:t>
            </a:r>
            <a:endParaRPr lang="en-US" sz="1200" dirty="0"/>
          </a:p>
        </p:txBody>
      </p:sp>
      <p:sp>
        <p:nvSpPr>
          <p:cNvPr id="22" name="Shape 20"/>
          <p:cNvSpPr/>
          <p:nvPr/>
        </p:nvSpPr>
        <p:spPr>
          <a:xfrm>
            <a:off x="566928" y="5632704"/>
            <a:ext cx="11057839" cy="1207008"/>
          </a:xfrm>
          <a:prstGeom prst="roundRect">
            <a:avLst>
              <a:gd name="adj" fmla="val 4545"/>
            </a:avLst>
          </a:prstGeom>
          <a:solidFill>
            <a:srgbClr val="F4F8FC"/>
          </a:solidFill>
          <a:ln w="12700">
            <a:solidFill>
              <a:srgbClr val="DCE9F7"/>
            </a:solidFill>
            <a:prstDash val="solid"/>
          </a:ln>
        </p:spPr>
      </p:sp>
      <p:sp>
        <p:nvSpPr>
          <p:cNvPr id="23" name="Text 21"/>
          <p:cNvSpPr txBox="1"/>
          <p:nvPr/>
        </p:nvSpPr>
        <p:spPr>
          <a:xfrm>
            <a:off x="841248" y="5760720"/>
            <a:ext cx="10509199"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OTROS RIESGOS TÉCNICOS RELEVANTES</a:t>
            </a:r>
            <a:endParaRPr lang="en-US" sz="1150" dirty="0"/>
          </a:p>
        </p:txBody>
      </p:sp>
      <p:sp>
        <p:nvSpPr>
          <p:cNvPr id="24" name="Text 22"/>
          <p:cNvSpPr txBox="1"/>
          <p:nvPr/>
        </p:nvSpPr>
        <p:spPr>
          <a:xfrm>
            <a:off x="841248" y="6108192"/>
            <a:ext cx="10509199" cy="658368"/>
          </a:xfrm>
          <a:prstGeom prst="rect">
            <a:avLst/>
          </a:prstGeom>
          <a:noFill/>
          <a:ln/>
        </p:spPr>
        <p:txBody>
          <a:bodyPr wrap="square" lIns="0" tIns="0" rIns="0" bIns="0" rtlCol="0" anchor="t"/>
          <a:lstStyle/>
          <a:p>
            <a:pPr indent="0" marL="0">
              <a:lnSpc>
                <a:spcPct val="105000"/>
              </a:lnSpc>
              <a:buNone/>
            </a:pPr>
            <a:r>
              <a:rPr lang="en-US" sz="1250" b="1" dirty="0">
                <a:solidFill>
                  <a:srgbClr val="15406B"/>
                </a:solidFill>
                <a:latin typeface="Calibri" pitchFamily="34" charset="0"/>
                <a:ea typeface="Calibri" pitchFamily="34" charset="-122"/>
                <a:cs typeface="Calibri" pitchFamily="34" charset="-120"/>
              </a:rPr>
              <a:t>RT2 · sev 12 — </a:t>
            </a:r>
            <a:pPr indent="0" marL="0">
              <a:lnSpc>
                <a:spcPct val="105000"/>
              </a:lnSpc>
              <a:buNone/>
            </a:pPr>
            <a:r>
              <a:rPr lang="en-US" sz="1250" dirty="0">
                <a:solidFill>
                  <a:srgbClr val="2A3B4D"/>
                </a:solidFill>
                <a:latin typeface="Calibri" pitchFamily="34" charset="0"/>
                <a:ea typeface="Calibri" pitchFamily="34" charset="-122"/>
                <a:cs typeface="Calibri" pitchFamily="34" charset="-120"/>
              </a:rPr>
              <a:t>la interfaz del SGOT no soporta el caudal de sincronización (240 órdenes diarias con pico al cierre de jornada). Se valida en 7.4.     </a:t>
            </a:r>
            <a:pPr indent="0" marL="0">
              <a:lnSpc>
                <a:spcPct val="105000"/>
              </a:lnSpc>
              <a:buNone/>
            </a:pPr>
            <a:r>
              <a:rPr lang="en-US" sz="1250" b="1" dirty="0">
                <a:solidFill>
                  <a:srgbClr val="15406B"/>
                </a:solidFill>
                <a:latin typeface="Calibri" pitchFamily="34" charset="0"/>
                <a:ea typeface="Calibri" pitchFamily="34" charset="-122"/>
                <a:cs typeface="Calibri" pitchFamily="34" charset="-120"/>
              </a:rPr>
              <a:t>RT5 · sev 10 — </a:t>
            </a:r>
            <a:pPr indent="0" marL="0">
              <a:lnSpc>
                <a:spcPct val="105000"/>
              </a:lnSpc>
              <a:buNone/>
            </a:pPr>
            <a:r>
              <a:rPr lang="en-US" sz="1250" dirty="0">
                <a:solidFill>
                  <a:srgbClr val="2A3B4D"/>
                </a:solidFill>
                <a:latin typeface="Calibri" pitchFamily="34" charset="0"/>
                <a:ea typeface="Calibri" pitchFamily="34" charset="-122"/>
                <a:cs typeface="Calibri" pitchFamily="34" charset="-120"/>
              </a:rPr>
              <a:t>indisponibilidad del canal por R03 (firewall sin soporte) y R09 (balanceador sin redundancia): dependencia externa declarada, fuera del alcance.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406B"/>
          </a:solidFill>
          <a:ln w="12700">
            <a:solidFill>
              <a:srgbClr val="15406B"/>
            </a:solidFill>
            <a:prstDash val="solid"/>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4" name="Text 2"/>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15406B"/>
                </a:solidFill>
                <a:latin typeface="Calibri" pitchFamily="34" charset="0"/>
                <a:ea typeface="Calibri" pitchFamily="34" charset="-122"/>
                <a:cs typeface="Calibri" pitchFamily="34" charset="-120"/>
              </a:rPr>
              <a:t>Factibilidad económica</a:t>
            </a:r>
            <a:endParaRPr lang="en-US" sz="2900" dirty="0"/>
          </a:p>
        </p:txBody>
      </p:sp>
      <p:sp>
        <p:nvSpPr>
          <p:cNvPr id="5" name="Text 3"/>
          <p:cNvSpPr txBox="1"/>
          <p:nvPr/>
        </p:nvSpPr>
        <p:spPr>
          <a:xfrm>
            <a:off x="1353312" y="932688"/>
            <a:ext cx="10271455" cy="475488"/>
          </a:xfrm>
          <a:prstGeom prst="rect">
            <a:avLst/>
          </a:prstGeom>
          <a:noFill/>
          <a:ln/>
        </p:spPr>
        <p:txBody>
          <a:bodyPr wrap="square" lIns="0" tIns="0" rIns="0" bIns="0" rtlCol="0" anchor="t"/>
          <a:lstStyle/>
          <a:p>
            <a:pPr indent="0" marL="0">
              <a:buNone/>
            </a:pPr>
            <a:r>
              <a:rPr lang="en-US" sz="1250" dirty="0">
                <a:solidFill>
                  <a:srgbClr val="4C6480"/>
                </a:solidFill>
                <a:latin typeface="Calibri" pitchFamily="34" charset="0"/>
                <a:ea typeface="Calibri" pitchFamily="34" charset="-122"/>
                <a:cs typeface="Calibri" pitchFamily="34" charset="-120"/>
              </a:rPr>
              <a:t>Inversión descontada de USD 285.414 —costo directo más indirectos, sin la reserva— contra beneficios anuales de USD 222.400. Tasa de corte 15%, horizonte 5 años.</a:t>
            </a:r>
            <a:endParaRPr lang="en-US" sz="1250" dirty="0"/>
          </a:p>
        </p:txBody>
      </p:sp>
      <p:sp>
        <p:nvSpPr>
          <p:cNvPr id="6" name="Shape 4"/>
          <p:cNvSpPr/>
          <p:nvPr/>
        </p:nvSpPr>
        <p:spPr>
          <a:xfrm>
            <a:off x="566928" y="1517904"/>
            <a:ext cx="2558720" cy="1719072"/>
          </a:xfrm>
          <a:prstGeom prst="roundRect">
            <a:avLst>
              <a:gd name="adj" fmla="val 3191"/>
            </a:avLst>
          </a:prstGeom>
          <a:solidFill>
            <a:srgbClr val="F4F8FC"/>
          </a:solidFill>
          <a:ln w="12700">
            <a:solidFill>
              <a:srgbClr val="DCE9F7"/>
            </a:solidFill>
            <a:prstDash val="solid"/>
          </a:ln>
        </p:spPr>
      </p:sp>
      <p:sp>
        <p:nvSpPr>
          <p:cNvPr id="7" name="Text 5"/>
          <p:cNvSpPr txBox="1"/>
          <p:nvPr/>
        </p:nvSpPr>
        <p:spPr>
          <a:xfrm>
            <a:off x="566928" y="1636776"/>
            <a:ext cx="2558720" cy="658368"/>
          </a:xfrm>
          <a:prstGeom prst="rect">
            <a:avLst/>
          </a:prstGeom>
          <a:noFill/>
          <a:ln/>
        </p:spPr>
        <p:txBody>
          <a:bodyPr wrap="square" lIns="0" tIns="0" rIns="0" bIns="0" rtlCol="0" anchor="ctr"/>
          <a:lstStyle/>
          <a:p>
            <a:pPr algn="ctr" indent="0" marL="0">
              <a:buNone/>
            </a:pPr>
            <a:r>
              <a:rPr lang="en-US" sz="3400" b="1" dirty="0">
                <a:solidFill>
                  <a:srgbClr val="15406B"/>
                </a:solidFill>
                <a:latin typeface="Calibri" pitchFamily="34" charset="0"/>
                <a:ea typeface="Calibri" pitchFamily="34" charset="-122"/>
                <a:cs typeface="Calibri" pitchFamily="34" charset="-120"/>
              </a:rPr>
              <a:t>+31.515</a:t>
            </a:r>
            <a:endParaRPr lang="en-US" sz="3400" dirty="0"/>
          </a:p>
        </p:txBody>
      </p:sp>
      <p:sp>
        <p:nvSpPr>
          <p:cNvPr id="8" name="Text 6"/>
          <p:cNvSpPr txBox="1"/>
          <p:nvPr/>
        </p:nvSpPr>
        <p:spPr>
          <a:xfrm>
            <a:off x="65836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VAN a 5 años al 15% (USD)</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11% de la inversión</a:t>
            </a:r>
            <a:endParaRPr lang="en-US" sz="1100" dirty="0"/>
          </a:p>
        </p:txBody>
      </p:sp>
      <p:sp>
        <p:nvSpPr>
          <p:cNvPr id="9" name="Shape 7"/>
          <p:cNvSpPr/>
          <p:nvPr/>
        </p:nvSpPr>
        <p:spPr>
          <a:xfrm>
            <a:off x="3399968" y="1517904"/>
            <a:ext cx="2558720" cy="1719072"/>
          </a:xfrm>
          <a:prstGeom prst="roundRect">
            <a:avLst>
              <a:gd name="adj" fmla="val 3191"/>
            </a:avLst>
          </a:prstGeom>
          <a:solidFill>
            <a:srgbClr val="F4F8FC"/>
          </a:solidFill>
          <a:ln w="12700">
            <a:solidFill>
              <a:srgbClr val="DCE9F7"/>
            </a:solidFill>
            <a:prstDash val="solid"/>
          </a:ln>
        </p:spPr>
      </p:sp>
      <p:sp>
        <p:nvSpPr>
          <p:cNvPr id="10" name="Text 8"/>
          <p:cNvSpPr txBox="1"/>
          <p:nvPr/>
        </p:nvSpPr>
        <p:spPr>
          <a:xfrm>
            <a:off x="3399968" y="1636776"/>
            <a:ext cx="2558720" cy="658368"/>
          </a:xfrm>
          <a:prstGeom prst="rect">
            <a:avLst/>
          </a:prstGeom>
          <a:noFill/>
          <a:ln/>
        </p:spPr>
        <p:txBody>
          <a:bodyPr wrap="square" lIns="0" tIns="0" rIns="0" bIns="0" rtlCol="0" anchor="ctr"/>
          <a:lstStyle/>
          <a:p>
            <a:pPr algn="ctr" indent="0" marL="0">
              <a:buNone/>
            </a:pPr>
            <a:r>
              <a:rPr lang="en-US" sz="3400" b="1" dirty="0">
                <a:solidFill>
                  <a:srgbClr val="15406B"/>
                </a:solidFill>
                <a:latin typeface="Calibri" pitchFamily="34" charset="0"/>
                <a:ea typeface="Calibri" pitchFamily="34" charset="-122"/>
                <a:cs typeface="Calibri" pitchFamily="34" charset="-120"/>
              </a:rPr>
              <a:t>19,0%</a:t>
            </a:r>
            <a:endParaRPr lang="en-US" sz="3400" dirty="0"/>
          </a:p>
        </p:txBody>
      </p:sp>
      <p:sp>
        <p:nvSpPr>
          <p:cNvPr id="11" name="Text 9"/>
          <p:cNvSpPr txBox="1"/>
          <p:nvPr/>
        </p:nvSpPr>
        <p:spPr>
          <a:xfrm>
            <a:off x="349140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TIR, cuatro puntos sobre</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la tasa de corte</a:t>
            </a:r>
            <a:endParaRPr lang="en-US" sz="1100" dirty="0"/>
          </a:p>
        </p:txBody>
      </p:sp>
      <p:sp>
        <p:nvSpPr>
          <p:cNvPr id="12" name="Shape 10"/>
          <p:cNvSpPr/>
          <p:nvPr/>
        </p:nvSpPr>
        <p:spPr>
          <a:xfrm>
            <a:off x="6233008" y="1517904"/>
            <a:ext cx="2558720" cy="1719072"/>
          </a:xfrm>
          <a:prstGeom prst="roundRect">
            <a:avLst>
              <a:gd name="adj" fmla="val 3191"/>
            </a:avLst>
          </a:prstGeom>
          <a:solidFill>
            <a:srgbClr val="F4F8FC"/>
          </a:solidFill>
          <a:ln w="12700">
            <a:solidFill>
              <a:srgbClr val="DCE9F7"/>
            </a:solidFill>
            <a:prstDash val="solid"/>
          </a:ln>
        </p:spPr>
      </p:sp>
      <p:sp>
        <p:nvSpPr>
          <p:cNvPr id="13" name="Text 11"/>
          <p:cNvSpPr txBox="1"/>
          <p:nvPr/>
        </p:nvSpPr>
        <p:spPr>
          <a:xfrm>
            <a:off x="6233008" y="1636776"/>
            <a:ext cx="2558720" cy="658368"/>
          </a:xfrm>
          <a:prstGeom prst="rect">
            <a:avLst/>
          </a:prstGeom>
          <a:noFill/>
          <a:ln/>
        </p:spPr>
        <p:txBody>
          <a:bodyPr wrap="square" lIns="0" tIns="0" rIns="0" bIns="0" rtlCol="0" anchor="ctr"/>
          <a:lstStyle/>
          <a:p>
            <a:pPr algn="ctr" indent="0" marL="0">
              <a:buNone/>
            </a:pPr>
            <a:r>
              <a:rPr lang="en-US" sz="3400" b="1" dirty="0">
                <a:solidFill>
                  <a:srgbClr val="15406B"/>
                </a:solidFill>
                <a:latin typeface="Calibri" pitchFamily="34" charset="0"/>
                <a:ea typeface="Calibri" pitchFamily="34" charset="-122"/>
                <a:cs typeface="Calibri" pitchFamily="34" charset="-120"/>
              </a:rPr>
              <a:t>3,14</a:t>
            </a:r>
            <a:endParaRPr lang="en-US" sz="3400" dirty="0"/>
          </a:p>
        </p:txBody>
      </p:sp>
      <p:sp>
        <p:nvSpPr>
          <p:cNvPr id="14" name="Text 12"/>
          <p:cNvSpPr txBox="1"/>
          <p:nvPr/>
        </p:nvSpPr>
        <p:spPr>
          <a:xfrm>
            <a:off x="6324448"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años de repago desde el Acta</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 2,4 desde producción</a:t>
            </a:r>
            <a:endParaRPr lang="en-US" sz="1100" dirty="0"/>
          </a:p>
        </p:txBody>
      </p:sp>
      <p:sp>
        <p:nvSpPr>
          <p:cNvPr id="15" name="Shape 13"/>
          <p:cNvSpPr/>
          <p:nvPr/>
        </p:nvSpPr>
        <p:spPr>
          <a:xfrm>
            <a:off x="9066047" y="1517904"/>
            <a:ext cx="2558720" cy="1719072"/>
          </a:xfrm>
          <a:prstGeom prst="roundRect">
            <a:avLst>
              <a:gd name="adj" fmla="val 3191"/>
            </a:avLst>
          </a:prstGeom>
          <a:solidFill>
            <a:srgbClr val="DCE9F7"/>
          </a:solidFill>
          <a:ln w="12700">
            <a:solidFill>
              <a:srgbClr val="5B7FA6"/>
            </a:solidFill>
            <a:prstDash val="solid"/>
          </a:ln>
        </p:spPr>
      </p:sp>
      <p:sp>
        <p:nvSpPr>
          <p:cNvPr id="16" name="Text 14"/>
          <p:cNvSpPr txBox="1"/>
          <p:nvPr/>
        </p:nvSpPr>
        <p:spPr>
          <a:xfrm>
            <a:off x="9066047" y="1636776"/>
            <a:ext cx="2558720" cy="658368"/>
          </a:xfrm>
          <a:prstGeom prst="rect">
            <a:avLst/>
          </a:prstGeom>
          <a:noFill/>
          <a:ln/>
        </p:spPr>
        <p:txBody>
          <a:bodyPr wrap="square" lIns="0" tIns="0" rIns="0" bIns="0" rtlCol="0" anchor="ctr"/>
          <a:lstStyle/>
          <a:p>
            <a:pPr algn="ctr" indent="0" marL="0">
              <a:buNone/>
            </a:pPr>
            <a:r>
              <a:rPr lang="en-US" sz="3400" b="1" dirty="0">
                <a:solidFill>
                  <a:srgbClr val="B23A2E"/>
                </a:solidFill>
                <a:latin typeface="Calibri" pitchFamily="34" charset="0"/>
                <a:ea typeface="Calibri" pitchFamily="34" charset="-122"/>
                <a:cs typeface="Calibri" pitchFamily="34" charset="-120"/>
              </a:rPr>
              <a:t>85%</a:t>
            </a:r>
            <a:endParaRPr lang="en-US" sz="3400" dirty="0"/>
          </a:p>
        </p:txBody>
      </p:sp>
      <p:sp>
        <p:nvSpPr>
          <p:cNvPr id="17" name="Text 15"/>
          <p:cNvSpPr txBox="1"/>
          <p:nvPr/>
        </p:nvSpPr>
        <p:spPr>
          <a:xfrm>
            <a:off x="9157487" y="2295144"/>
            <a:ext cx="2375840" cy="850392"/>
          </a:xfrm>
          <a:prstGeom prst="rect">
            <a:avLst/>
          </a:prstGeom>
          <a:noFill/>
          <a:ln/>
        </p:spPr>
        <p:txBody>
          <a:bodyPr wrap="square" lIns="0" tIns="0" rIns="0" bIns="0" rtlCol="0" anchor="t"/>
          <a:lstStyle/>
          <a:p>
            <a:pPr algn="ctr" indent="0" marL="0">
              <a:buNone/>
            </a:pPr>
            <a:r>
              <a:rPr lang="en-US" sz="1100" dirty="0">
                <a:solidFill>
                  <a:srgbClr val="4C6480"/>
                </a:solidFill>
                <a:latin typeface="Calibri" pitchFamily="34" charset="0"/>
                <a:ea typeface="Calibri" pitchFamily="34" charset="-122"/>
                <a:cs typeface="Calibri" pitchFamily="34" charset="-120"/>
              </a:rPr>
              <a:t>de realización de beneficios:</a:t>
            </a:r>
            <a:endParaRPr lang="en-US" sz="1100" dirty="0"/>
          </a:p>
          <a:p>
            <a:pPr algn="ctr" indent="0" marL="0">
              <a:buNone/>
            </a:pPr>
            <a:r>
              <a:rPr lang="en-US" sz="1100" dirty="0">
                <a:solidFill>
                  <a:srgbClr val="4C6480"/>
                </a:solidFill>
                <a:latin typeface="Calibri" pitchFamily="34" charset="0"/>
                <a:ea typeface="Calibri" pitchFamily="34" charset="-122"/>
                <a:cs typeface="Calibri" pitchFamily="34" charset="-120"/>
              </a:rPr>
              <a:t>umbral de indiferencia</a:t>
            </a:r>
            <a:endParaRPr lang="en-US" sz="1100" dirty="0"/>
          </a:p>
        </p:txBody>
      </p:sp>
      <p:sp>
        <p:nvSpPr>
          <p:cNvPr id="18" name="Shape 16"/>
          <p:cNvSpPr/>
          <p:nvPr/>
        </p:nvSpPr>
        <p:spPr>
          <a:xfrm>
            <a:off x="566928" y="3493008"/>
            <a:ext cx="5391760" cy="2926080"/>
          </a:xfrm>
          <a:prstGeom prst="roundRect">
            <a:avLst>
              <a:gd name="adj" fmla="val 1875"/>
            </a:avLst>
          </a:prstGeom>
          <a:solidFill>
            <a:srgbClr val="F4F8FC"/>
          </a:solidFill>
          <a:ln w="12700">
            <a:solidFill>
              <a:srgbClr val="DCE9F7"/>
            </a:solidFill>
            <a:prstDash val="solid"/>
          </a:ln>
        </p:spPr>
      </p:sp>
      <p:sp>
        <p:nvSpPr>
          <p:cNvPr id="19" name="Text 17"/>
          <p:cNvSpPr txBox="1"/>
          <p:nvPr/>
        </p:nvSpPr>
        <p:spPr>
          <a:xfrm>
            <a:off x="841248" y="3694176"/>
            <a:ext cx="4843120" cy="237744"/>
          </a:xfrm>
          <a:prstGeom prst="rect">
            <a:avLst/>
          </a:prstGeom>
          <a:noFill/>
          <a:ln/>
        </p:spPr>
        <p:txBody>
          <a:bodyPr wrap="square" lIns="0" tIns="0" rIns="0" bIns="0" rtlCol="0" anchor="ctr"/>
          <a:lstStyle/>
          <a:p>
            <a:pPr indent="0" marL="0">
              <a:buNone/>
            </a:pPr>
            <a:r>
              <a:rPr lang="en-US" sz="1150" b="1" spc="80" kern="0" dirty="0">
                <a:solidFill>
                  <a:srgbClr val="15406B"/>
                </a:solidFill>
                <a:latin typeface="Calibri" pitchFamily="34" charset="0"/>
                <a:ea typeface="Calibri" pitchFamily="34" charset="-122"/>
                <a:cs typeface="Calibri" pitchFamily="34" charset="-120"/>
              </a:rPr>
              <a:t>DE DÓNDE SALEN LOS BENEFICIOS  (USD por año)</a:t>
            </a:r>
            <a:endParaRPr lang="en-US" sz="1150" dirty="0"/>
          </a:p>
        </p:txBody>
      </p:sp>
      <p:sp>
        <p:nvSpPr>
          <p:cNvPr id="20" name="Text 18"/>
          <p:cNvSpPr txBox="1"/>
          <p:nvPr/>
        </p:nvSpPr>
        <p:spPr>
          <a:xfrm>
            <a:off x="841248" y="4169664"/>
            <a:ext cx="457200" cy="402336"/>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O3</a:t>
            </a:r>
            <a:endParaRPr lang="en-US" sz="1250" dirty="0"/>
          </a:p>
        </p:txBody>
      </p:sp>
      <p:sp>
        <p:nvSpPr>
          <p:cNvPr id="21" name="Text 19"/>
          <p:cNvSpPr txBox="1"/>
          <p:nvPr/>
        </p:nvSpPr>
        <p:spPr>
          <a:xfrm>
            <a:off x="1316736" y="4169664"/>
            <a:ext cx="3425800" cy="402336"/>
          </a:xfrm>
          <a:prstGeom prst="rect">
            <a:avLst/>
          </a:prstGeom>
          <a:noFill/>
          <a:ln/>
        </p:spPr>
        <p:txBody>
          <a:bodyPr wrap="square" lIns="0" tIns="0" rIns="0" bIns="0" rtlCol="0" anchor="ctr"/>
          <a:lstStyle/>
          <a:p>
            <a:pPr indent="0" marL="0">
              <a:buNone/>
            </a:pPr>
            <a:r>
              <a:rPr lang="en-US" sz="1200" dirty="0">
                <a:solidFill>
                  <a:srgbClr val="2A3B4D"/>
                </a:solidFill>
                <a:latin typeface="Calibri" pitchFamily="34" charset="0"/>
                <a:ea typeface="Calibri" pitchFamily="34" charset="-122"/>
                <a:cs typeface="Calibri" pitchFamily="34" charset="-120"/>
              </a:rPr>
              <a:t>Visitas fallidas evitables reducidas del 12% al 6%</a:t>
            </a:r>
            <a:endParaRPr lang="en-US" sz="1200" dirty="0"/>
          </a:p>
        </p:txBody>
      </p:sp>
      <p:sp>
        <p:nvSpPr>
          <p:cNvPr id="22" name="Text 20"/>
          <p:cNvSpPr txBox="1"/>
          <p:nvPr/>
        </p:nvSpPr>
        <p:spPr>
          <a:xfrm>
            <a:off x="4724248" y="4169664"/>
            <a:ext cx="960120" cy="402336"/>
          </a:xfrm>
          <a:prstGeom prst="rect">
            <a:avLst/>
          </a:prstGeom>
          <a:noFill/>
          <a:ln/>
        </p:spPr>
        <p:txBody>
          <a:bodyPr wrap="square" lIns="0" tIns="0" rIns="0" bIns="0" rtlCol="0" anchor="ctr"/>
          <a:lstStyle/>
          <a:p>
            <a:pPr algn="r" indent="0" marL="0">
              <a:buNone/>
            </a:pPr>
            <a:r>
              <a:rPr lang="en-US" sz="1300" b="1" dirty="0">
                <a:solidFill>
                  <a:srgbClr val="15406B"/>
                </a:solidFill>
                <a:latin typeface="Calibri" pitchFamily="34" charset="0"/>
                <a:ea typeface="Calibri" pitchFamily="34" charset="-122"/>
                <a:cs typeface="Calibri" pitchFamily="34" charset="-120"/>
              </a:rPr>
              <a:t>103.000</a:t>
            </a:r>
            <a:endParaRPr lang="en-US" sz="1300" dirty="0"/>
          </a:p>
        </p:txBody>
      </p:sp>
      <p:sp>
        <p:nvSpPr>
          <p:cNvPr id="23" name="Text 21"/>
          <p:cNvSpPr txBox="1"/>
          <p:nvPr/>
        </p:nvSpPr>
        <p:spPr>
          <a:xfrm>
            <a:off x="841248" y="4608576"/>
            <a:ext cx="457200" cy="402336"/>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O2</a:t>
            </a:r>
            <a:endParaRPr lang="en-US" sz="1250" dirty="0"/>
          </a:p>
        </p:txBody>
      </p:sp>
      <p:sp>
        <p:nvSpPr>
          <p:cNvPr id="24" name="Text 22"/>
          <p:cNvSpPr txBox="1"/>
          <p:nvPr/>
        </p:nvSpPr>
        <p:spPr>
          <a:xfrm>
            <a:off x="1316736" y="4608576"/>
            <a:ext cx="3425800" cy="402336"/>
          </a:xfrm>
          <a:prstGeom prst="rect">
            <a:avLst/>
          </a:prstGeom>
          <a:noFill/>
          <a:ln/>
        </p:spPr>
        <p:txBody>
          <a:bodyPr wrap="square" lIns="0" tIns="0" rIns="0" bIns="0" rtlCol="0" anchor="ctr"/>
          <a:lstStyle/>
          <a:p>
            <a:pPr indent="0" marL="0">
              <a:buNone/>
            </a:pPr>
            <a:r>
              <a:rPr lang="en-US" sz="1200" dirty="0">
                <a:solidFill>
                  <a:srgbClr val="2A3B4D"/>
                </a:solidFill>
                <a:latin typeface="Calibri" pitchFamily="34" charset="0"/>
                <a:ea typeface="Calibri" pitchFamily="34" charset="-122"/>
                <a:cs typeface="Calibri" pitchFamily="34" charset="-120"/>
              </a:rPr>
              <a:t>70% de las órdenes pasa a cerrarse en el momento</a:t>
            </a:r>
            <a:endParaRPr lang="en-US" sz="1200" dirty="0"/>
          </a:p>
        </p:txBody>
      </p:sp>
      <p:sp>
        <p:nvSpPr>
          <p:cNvPr id="25" name="Text 23"/>
          <p:cNvSpPr txBox="1"/>
          <p:nvPr/>
        </p:nvSpPr>
        <p:spPr>
          <a:xfrm>
            <a:off x="4724248" y="4608576"/>
            <a:ext cx="960120" cy="402336"/>
          </a:xfrm>
          <a:prstGeom prst="rect">
            <a:avLst/>
          </a:prstGeom>
          <a:noFill/>
          <a:ln/>
        </p:spPr>
        <p:txBody>
          <a:bodyPr wrap="square" lIns="0" tIns="0" rIns="0" bIns="0" rtlCol="0" anchor="ctr"/>
          <a:lstStyle/>
          <a:p>
            <a:pPr algn="r" indent="0" marL="0">
              <a:buNone/>
            </a:pPr>
            <a:r>
              <a:rPr lang="en-US" sz="1300" b="1" dirty="0">
                <a:solidFill>
                  <a:srgbClr val="15406B"/>
                </a:solidFill>
                <a:latin typeface="Calibri" pitchFamily="34" charset="0"/>
                <a:ea typeface="Calibri" pitchFamily="34" charset="-122"/>
                <a:cs typeface="Calibri" pitchFamily="34" charset="-120"/>
              </a:rPr>
              <a:t>57.700</a:t>
            </a:r>
            <a:endParaRPr lang="en-US" sz="1300" dirty="0"/>
          </a:p>
        </p:txBody>
      </p:sp>
      <p:sp>
        <p:nvSpPr>
          <p:cNvPr id="26" name="Text 24"/>
          <p:cNvSpPr txBox="1"/>
          <p:nvPr/>
        </p:nvSpPr>
        <p:spPr>
          <a:xfrm>
            <a:off x="841248" y="5047488"/>
            <a:ext cx="457200" cy="402336"/>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O1</a:t>
            </a:r>
            <a:endParaRPr lang="en-US" sz="1250" dirty="0"/>
          </a:p>
        </p:txBody>
      </p:sp>
      <p:sp>
        <p:nvSpPr>
          <p:cNvPr id="27" name="Text 25"/>
          <p:cNvSpPr txBox="1"/>
          <p:nvPr/>
        </p:nvSpPr>
        <p:spPr>
          <a:xfrm>
            <a:off x="1316736" y="5047488"/>
            <a:ext cx="3425800" cy="402336"/>
          </a:xfrm>
          <a:prstGeom prst="rect">
            <a:avLst/>
          </a:prstGeom>
          <a:noFill/>
          <a:ln/>
        </p:spPr>
        <p:txBody>
          <a:bodyPr wrap="square" lIns="0" tIns="0" rIns="0" bIns="0" rtlCol="0" anchor="ctr"/>
          <a:lstStyle/>
          <a:p>
            <a:pPr indent="0" marL="0">
              <a:buNone/>
            </a:pPr>
            <a:r>
              <a:rPr lang="en-US" sz="1200" dirty="0">
                <a:solidFill>
                  <a:srgbClr val="2A3B4D"/>
                </a:solidFill>
                <a:latin typeface="Calibri" pitchFamily="34" charset="0"/>
                <a:ea typeface="Calibri" pitchFamily="34" charset="-122"/>
                <a:cs typeface="Calibri" pitchFamily="34" charset="-120"/>
              </a:rPr>
              <a:t>+5% de productividad = 3 técnicos de capacidad</a:t>
            </a:r>
            <a:endParaRPr lang="en-US" sz="1200" dirty="0"/>
          </a:p>
        </p:txBody>
      </p:sp>
      <p:sp>
        <p:nvSpPr>
          <p:cNvPr id="28" name="Text 26"/>
          <p:cNvSpPr txBox="1"/>
          <p:nvPr/>
        </p:nvSpPr>
        <p:spPr>
          <a:xfrm>
            <a:off x="4724248" y="5047488"/>
            <a:ext cx="960120" cy="402336"/>
          </a:xfrm>
          <a:prstGeom prst="rect">
            <a:avLst/>
          </a:prstGeom>
          <a:noFill/>
          <a:ln/>
        </p:spPr>
        <p:txBody>
          <a:bodyPr wrap="square" lIns="0" tIns="0" rIns="0" bIns="0" rtlCol="0" anchor="ctr"/>
          <a:lstStyle/>
          <a:p>
            <a:pPr algn="r" indent="0" marL="0">
              <a:buNone/>
            </a:pPr>
            <a:r>
              <a:rPr lang="en-US" sz="1300" b="1" dirty="0">
                <a:solidFill>
                  <a:srgbClr val="15406B"/>
                </a:solidFill>
                <a:latin typeface="Calibri" pitchFamily="34" charset="0"/>
                <a:ea typeface="Calibri" pitchFamily="34" charset="-122"/>
                <a:cs typeface="Calibri" pitchFamily="34" charset="-120"/>
              </a:rPr>
              <a:t>54.000</a:t>
            </a:r>
            <a:endParaRPr lang="en-US" sz="1300" dirty="0"/>
          </a:p>
        </p:txBody>
      </p:sp>
      <p:sp>
        <p:nvSpPr>
          <p:cNvPr id="29" name="Text 27"/>
          <p:cNvSpPr txBox="1"/>
          <p:nvPr/>
        </p:nvSpPr>
        <p:spPr>
          <a:xfrm>
            <a:off x="841248" y="5486400"/>
            <a:ext cx="457200" cy="402336"/>
          </a:xfrm>
          <a:prstGeom prst="rect">
            <a:avLst/>
          </a:prstGeom>
          <a:noFill/>
          <a:ln/>
        </p:spPr>
        <p:txBody>
          <a:bodyPr wrap="square" lIns="0" tIns="0" rIns="0" bIns="0" rtlCol="0" anchor="ctr"/>
          <a:lstStyle/>
          <a:p>
            <a:pPr indent="0" marL="0">
              <a:buNone/>
            </a:pPr>
            <a:r>
              <a:rPr lang="en-US" sz="1250" b="1" dirty="0">
                <a:solidFill>
                  <a:srgbClr val="15406B"/>
                </a:solidFill>
                <a:latin typeface="Calibri" pitchFamily="34" charset="0"/>
                <a:ea typeface="Calibri" pitchFamily="34" charset="-122"/>
                <a:cs typeface="Calibri" pitchFamily="34" charset="-120"/>
              </a:rPr>
              <a:t>—</a:t>
            </a:r>
            <a:endParaRPr lang="en-US" sz="1250" dirty="0"/>
          </a:p>
        </p:txBody>
      </p:sp>
      <p:sp>
        <p:nvSpPr>
          <p:cNvPr id="30" name="Text 28"/>
          <p:cNvSpPr txBox="1"/>
          <p:nvPr/>
        </p:nvSpPr>
        <p:spPr>
          <a:xfrm>
            <a:off x="1316736" y="5486400"/>
            <a:ext cx="3425800" cy="402336"/>
          </a:xfrm>
          <a:prstGeom prst="rect">
            <a:avLst/>
          </a:prstGeom>
          <a:noFill/>
          <a:ln/>
        </p:spPr>
        <p:txBody>
          <a:bodyPr wrap="square" lIns="0" tIns="0" rIns="0" bIns="0" rtlCol="0" anchor="ctr"/>
          <a:lstStyle/>
          <a:p>
            <a:pPr indent="0" marL="0">
              <a:buNone/>
            </a:pPr>
            <a:r>
              <a:rPr lang="en-US" sz="1200" dirty="0">
                <a:solidFill>
                  <a:srgbClr val="2A3B4D"/>
                </a:solidFill>
                <a:latin typeface="Calibri" pitchFamily="34" charset="0"/>
                <a:ea typeface="Calibri" pitchFamily="34" charset="-122"/>
                <a:cs typeface="Calibri" pitchFamily="34" charset="-120"/>
              </a:rPr>
              <a:t>Reclamos y consultas duplicadas evitados</a:t>
            </a:r>
            <a:endParaRPr lang="en-US" sz="1200" dirty="0"/>
          </a:p>
        </p:txBody>
      </p:sp>
      <p:sp>
        <p:nvSpPr>
          <p:cNvPr id="31" name="Text 29"/>
          <p:cNvSpPr txBox="1"/>
          <p:nvPr/>
        </p:nvSpPr>
        <p:spPr>
          <a:xfrm>
            <a:off x="4724248" y="5486400"/>
            <a:ext cx="960120" cy="402336"/>
          </a:xfrm>
          <a:prstGeom prst="rect">
            <a:avLst/>
          </a:prstGeom>
          <a:noFill/>
          <a:ln/>
        </p:spPr>
        <p:txBody>
          <a:bodyPr wrap="square" lIns="0" tIns="0" rIns="0" bIns="0" rtlCol="0" anchor="ctr"/>
          <a:lstStyle/>
          <a:p>
            <a:pPr algn="r" indent="0" marL="0">
              <a:buNone/>
            </a:pPr>
            <a:r>
              <a:rPr lang="en-US" sz="1300" b="1" dirty="0">
                <a:solidFill>
                  <a:srgbClr val="15406B"/>
                </a:solidFill>
                <a:latin typeface="Calibri" pitchFamily="34" charset="0"/>
                <a:ea typeface="Calibri" pitchFamily="34" charset="-122"/>
                <a:cs typeface="Calibri" pitchFamily="34" charset="-120"/>
              </a:rPr>
              <a:t>7.700</a:t>
            </a:r>
            <a:endParaRPr lang="en-US" sz="1300" dirty="0"/>
          </a:p>
        </p:txBody>
      </p:sp>
      <p:sp>
        <p:nvSpPr>
          <p:cNvPr id="32" name="Shape 30"/>
          <p:cNvSpPr/>
          <p:nvPr/>
        </p:nvSpPr>
        <p:spPr>
          <a:xfrm>
            <a:off x="841248" y="5888736"/>
            <a:ext cx="4843120" cy="402336"/>
          </a:xfrm>
          <a:prstGeom prst="roundRect">
            <a:avLst>
              <a:gd name="adj" fmla="val 13636"/>
            </a:avLst>
          </a:prstGeom>
          <a:solidFill>
            <a:srgbClr val="DCE9F7"/>
          </a:solidFill>
          <a:ln w="12700">
            <a:solidFill>
              <a:srgbClr val="DCE9F7"/>
            </a:solidFill>
            <a:prstDash val="solid"/>
          </a:ln>
        </p:spPr>
      </p:sp>
      <p:sp>
        <p:nvSpPr>
          <p:cNvPr id="33" name="Text 31"/>
          <p:cNvSpPr txBox="1"/>
          <p:nvPr/>
        </p:nvSpPr>
        <p:spPr>
          <a:xfrm>
            <a:off x="1005840" y="5888736"/>
            <a:ext cx="4513936" cy="402336"/>
          </a:xfrm>
          <a:prstGeom prst="rect">
            <a:avLst/>
          </a:prstGeom>
          <a:noFill/>
          <a:ln/>
        </p:spPr>
        <p:txBody>
          <a:bodyPr wrap="square" lIns="0" tIns="0" rIns="0" bIns="0" rtlCol="0" anchor="ctr"/>
          <a:lstStyle/>
          <a:p>
            <a:pPr indent="0" marL="0">
              <a:buNone/>
            </a:pPr>
            <a:r>
              <a:rPr lang="en-US" sz="1700" b="1" dirty="0">
                <a:solidFill>
                  <a:srgbClr val="15406B"/>
                </a:solidFill>
                <a:latin typeface="Calibri" pitchFamily="34" charset="0"/>
                <a:ea typeface="Calibri" pitchFamily="34" charset="-122"/>
                <a:cs typeface="Calibri" pitchFamily="34" charset="-120"/>
              </a:rPr>
              <a:t>222.400</a:t>
            </a:r>
            <a:pPr indent="0" marL="0">
              <a:buNone/>
            </a:pPr>
            <a:r>
              <a:rPr lang="en-US" sz="1200" dirty="0">
                <a:solidFill>
                  <a:srgbClr val="4C6480"/>
                </a:solidFill>
                <a:latin typeface="Calibri" pitchFamily="34" charset="0"/>
                <a:ea typeface="Calibri" pitchFamily="34" charset="-122"/>
                <a:cs typeface="Calibri" pitchFamily="34" charset="-120"/>
              </a:rPr>
              <a:t>   total anual en régimen</a:t>
            </a:r>
            <a:endParaRPr lang="en-US" sz="1700" dirty="0"/>
          </a:p>
        </p:txBody>
      </p:sp>
      <p:sp>
        <p:nvSpPr>
          <p:cNvPr id="34" name="Shape 32"/>
          <p:cNvSpPr/>
          <p:nvPr/>
        </p:nvSpPr>
        <p:spPr>
          <a:xfrm>
            <a:off x="6233008" y="3493008"/>
            <a:ext cx="5391760" cy="2926080"/>
          </a:xfrm>
          <a:prstGeom prst="roundRect">
            <a:avLst>
              <a:gd name="adj" fmla="val 1875"/>
            </a:avLst>
          </a:prstGeom>
          <a:solidFill>
            <a:srgbClr val="DCE9F7"/>
          </a:solidFill>
          <a:ln w="12700">
            <a:solidFill>
              <a:srgbClr val="5B7FA6"/>
            </a:solidFill>
            <a:prstDash val="solid"/>
          </a:ln>
        </p:spPr>
      </p:sp>
      <p:sp>
        <p:nvSpPr>
          <p:cNvPr id="35" name="Text 33"/>
          <p:cNvSpPr txBox="1"/>
          <p:nvPr/>
        </p:nvSpPr>
        <p:spPr>
          <a:xfrm>
            <a:off x="6507328" y="3694176"/>
            <a:ext cx="4843120" cy="237744"/>
          </a:xfrm>
          <a:prstGeom prst="rect">
            <a:avLst/>
          </a:prstGeom>
          <a:noFill/>
          <a:ln/>
        </p:spPr>
        <p:txBody>
          <a:bodyPr wrap="square" lIns="0" tIns="0" rIns="0" bIns="0" rtlCol="0" anchor="ctr"/>
          <a:lstStyle/>
          <a:p>
            <a:pPr indent="0" marL="0">
              <a:buNone/>
            </a:pPr>
            <a:r>
              <a:rPr lang="en-US" sz="1150" b="1" spc="80" kern="0" dirty="0">
                <a:solidFill>
                  <a:srgbClr val="B23A2E"/>
                </a:solidFill>
                <a:latin typeface="Calibri" pitchFamily="34" charset="0"/>
                <a:ea typeface="Calibri" pitchFamily="34" charset="-122"/>
                <a:cs typeface="Calibri" pitchFamily="34" charset="-120"/>
              </a:rPr>
              <a:t>LECTURA HONESTA DEL RESULTADO</a:t>
            </a:r>
            <a:endParaRPr lang="en-US" sz="1150" dirty="0"/>
          </a:p>
        </p:txBody>
      </p:sp>
      <p:sp>
        <p:nvSpPr>
          <p:cNvPr id="36" name="Text 34"/>
          <p:cNvSpPr txBox="1"/>
          <p:nvPr/>
        </p:nvSpPr>
        <p:spPr>
          <a:xfrm>
            <a:off x="6507328" y="4059936"/>
            <a:ext cx="4843120" cy="749808"/>
          </a:xfrm>
          <a:prstGeom prst="rect">
            <a:avLst/>
          </a:prstGeom>
          <a:noFill/>
          <a:ln/>
        </p:spPr>
        <p:txBody>
          <a:bodyPr wrap="square" lIns="0" tIns="0" rIns="0" bIns="0" rtlCol="0" anchor="t"/>
          <a:lstStyle/>
          <a:p>
            <a:pPr indent="0" marL="0">
              <a:lnSpc>
                <a:spcPct val="108000"/>
              </a:lnSpc>
              <a:buNone/>
            </a:pPr>
            <a:r>
              <a:rPr lang="en-US" sz="1300" dirty="0">
                <a:solidFill>
                  <a:srgbClr val="2A3B4D"/>
                </a:solidFill>
                <a:latin typeface="Calibri" pitchFamily="34" charset="0"/>
                <a:ea typeface="Calibri" pitchFamily="34" charset="-122"/>
                <a:cs typeface="Calibri" pitchFamily="34" charset="-120"/>
              </a:rPr>
              <a:t>El proyecto es viable, pero el margen es ajustado. A tres años todavía no se repaga: necesita el cuarto y el quinto año de operación para justificarse.</a:t>
            </a:r>
            <a:endParaRPr lang="en-US" sz="1300" dirty="0"/>
          </a:p>
        </p:txBody>
      </p:sp>
      <p:sp>
        <p:nvSpPr>
          <p:cNvPr id="37" name="Text 35"/>
          <p:cNvSpPr txBox="1"/>
          <p:nvPr/>
        </p:nvSpPr>
        <p:spPr>
          <a:xfrm>
            <a:off x="6507328" y="4864608"/>
            <a:ext cx="4843120" cy="1417320"/>
          </a:xfrm>
          <a:prstGeom prst="rect">
            <a:avLst/>
          </a:prstGeom>
          <a:noFill/>
          <a:ln/>
        </p:spPr>
        <p:txBody>
          <a:bodyPr wrap="square" lIns="0" tIns="0" rIns="0" bIns="0" rtlCol="0" anchor="t"/>
          <a:lstStyle/>
          <a:p>
            <a:pPr indent="0" marL="0">
              <a:lnSpc>
                <a:spcPct val="108000"/>
              </a:lnSpc>
              <a:buNone/>
            </a:pPr>
            <a:r>
              <a:rPr lang="en-US" sz="1250" dirty="0">
                <a:solidFill>
                  <a:srgbClr val="2A3B4D"/>
                </a:solidFill>
                <a:latin typeface="Calibri" pitchFamily="34" charset="0"/>
                <a:ea typeface="Calibri" pitchFamily="34" charset="-122"/>
                <a:cs typeface="Calibri" pitchFamily="34" charset="-120"/>
              </a:rPr>
              <a:t>La sensibilidad no está en los costos, que son acotados, sino en los beneficios. En un escenario de realización sostenida del 60% —posible, porque las líneas base son supuestos y no mediciones— el VAN cae a −189.336. El origen más frágil es O1: la productividad solo se convierte en resultado si hay demanda insatisfecha que absorba la capacidad liberada.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406B"/>
        </a:solidFill>
      </p:bgPr>
    </p:bg>
    <p:spTree>
      <p:nvGrpSpPr>
        <p:cNvPr id="1" name=""/>
        <p:cNvGrpSpPr/>
        <p:nvPr/>
      </p:nvGrpSpPr>
      <p:grpSpPr>
        <a:xfrm>
          <a:off x="0" y="0"/>
          <a:ext cx="0" cy="0"/>
          <a:chOff x="0" y="0"/>
          <a:chExt cx="0" cy="0"/>
        </a:xfrm>
      </p:grpSpPr>
      <p:sp>
        <p:nvSpPr>
          <p:cNvPr id="2" name="Shape 0"/>
          <p:cNvSpPr/>
          <p:nvPr/>
        </p:nvSpPr>
        <p:spPr>
          <a:xfrm>
            <a:off x="10424160" y="-1737360"/>
            <a:ext cx="4206240" cy="4206240"/>
          </a:xfrm>
          <a:prstGeom prst="ellipse">
            <a:avLst/>
          </a:prstGeom>
          <a:solidFill>
            <a:srgbClr val="1C4E7E"/>
          </a:solidFill>
          <a:ln w="12700">
            <a:solidFill>
              <a:srgbClr val="333333"/>
            </a:solidFill>
            <a:prstDash val="solid"/>
          </a:ln>
        </p:spPr>
      </p:sp>
      <p:sp>
        <p:nvSpPr>
          <p:cNvPr id="3" name="Shape 1"/>
          <p:cNvSpPr/>
          <p:nvPr/>
        </p:nvSpPr>
        <p:spPr>
          <a:xfrm>
            <a:off x="566928" y="384048"/>
            <a:ext cx="566928" cy="566928"/>
          </a:xfrm>
          <a:prstGeom prst="ellipse">
            <a:avLst/>
          </a:prstGeom>
          <a:solidFill>
            <a:srgbClr val="DCE9F7"/>
          </a:solidFill>
          <a:ln w="12700">
            <a:solidFill>
              <a:srgbClr val="DCE9F7"/>
            </a:solidFill>
            <a:prstDash val="solid"/>
          </a:ln>
        </p:spPr>
      </p:sp>
      <p:sp>
        <p:nvSpPr>
          <p:cNvPr id="4" name="Text 2"/>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700" b="1" dirty="0">
                <a:solidFill>
                  <a:srgbClr val="15406B"/>
                </a:solidFill>
                <a:latin typeface="Calibri" pitchFamily="34" charset="0"/>
                <a:ea typeface="Calibri" pitchFamily="34" charset="-122"/>
                <a:cs typeface="Calibri" pitchFamily="34" charset="-120"/>
              </a:rPr>
              <a:t>12</a:t>
            </a:r>
            <a:endParaRPr lang="en-US" sz="1700" dirty="0"/>
          </a:p>
        </p:txBody>
      </p:sp>
      <p:sp>
        <p:nvSpPr>
          <p:cNvPr id="5" name="Text 3"/>
          <p:cNvSpPr txBox="1"/>
          <p:nvPr/>
        </p:nvSpPr>
        <p:spPr>
          <a:xfrm>
            <a:off x="1353312" y="347472"/>
            <a:ext cx="10271455" cy="566928"/>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Factibilidad legal y conclusión</a:t>
            </a:r>
            <a:endParaRPr lang="en-US" sz="2900" dirty="0"/>
          </a:p>
        </p:txBody>
      </p:sp>
      <p:sp>
        <p:nvSpPr>
          <p:cNvPr id="6" name="Text 4"/>
          <p:cNvSpPr txBox="1"/>
          <p:nvPr/>
        </p:nvSpPr>
        <p:spPr>
          <a:xfrm>
            <a:off x="1353312" y="932688"/>
            <a:ext cx="9594799" cy="329184"/>
          </a:xfrm>
          <a:prstGeom prst="rect">
            <a:avLst/>
          </a:prstGeom>
          <a:noFill/>
          <a:ln/>
        </p:spPr>
        <p:txBody>
          <a:bodyPr wrap="square" lIns="0" tIns="0" rIns="0" bIns="0" rtlCol="0" anchor="ctr"/>
          <a:lstStyle/>
          <a:p>
            <a:pPr indent="0" marL="0">
              <a:buNone/>
            </a:pPr>
            <a:r>
              <a:rPr lang="en-US" sz="1250" dirty="0">
                <a:solidFill>
                  <a:srgbClr val="8FB6DA"/>
                </a:solidFill>
                <a:latin typeface="Calibri" pitchFamily="34" charset="0"/>
                <a:ea typeface="Calibri" pitchFamily="34" charset="-122"/>
                <a:cs typeface="Calibri" pitchFamily="34" charset="-120"/>
              </a:rPr>
              <a:t>Alojar datos personales de clientes en una plataforma contratada como servicio los saca del perímetro de la organización. Eso tiene consecuencias jurídicas concretas.</a:t>
            </a:r>
            <a:endParaRPr lang="en-US" sz="1250" dirty="0"/>
          </a:p>
        </p:txBody>
      </p:sp>
      <p:sp>
        <p:nvSpPr>
          <p:cNvPr id="7" name="Shape 5"/>
          <p:cNvSpPr/>
          <p:nvPr/>
        </p:nvSpPr>
        <p:spPr>
          <a:xfrm>
            <a:off x="566928" y="1481328"/>
            <a:ext cx="3503066" cy="2212848"/>
          </a:xfrm>
          <a:prstGeom prst="roundRect">
            <a:avLst>
              <a:gd name="adj" fmla="val 2479"/>
            </a:avLst>
          </a:prstGeom>
          <a:solidFill>
            <a:srgbClr val="1C4E7E"/>
          </a:solidFill>
          <a:ln w="12700">
            <a:solidFill>
              <a:srgbClr val="2E6395"/>
            </a:solidFill>
            <a:prstDash val="solid"/>
          </a:ln>
        </p:spPr>
      </p:sp>
      <p:sp>
        <p:nvSpPr>
          <p:cNvPr id="8" name="Text 6"/>
          <p:cNvSpPr txBox="1"/>
          <p:nvPr/>
        </p:nvSpPr>
        <p:spPr>
          <a:xfrm>
            <a:off x="822960" y="1609344"/>
            <a:ext cx="2991002"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Ley 25.326</a:t>
            </a:r>
            <a:endParaRPr lang="en-US" sz="1600" dirty="0"/>
          </a:p>
        </p:txBody>
      </p:sp>
      <p:sp>
        <p:nvSpPr>
          <p:cNvPr id="9" name="Text 7"/>
          <p:cNvSpPr txBox="1"/>
          <p:nvPr/>
        </p:nvSpPr>
        <p:spPr>
          <a:xfrm>
            <a:off x="822960" y="1920240"/>
            <a:ext cx="2991002" cy="256032"/>
          </a:xfrm>
          <a:prstGeom prst="rect">
            <a:avLst/>
          </a:prstGeom>
          <a:noFill/>
          <a:ln/>
        </p:spPr>
        <p:txBody>
          <a:bodyPr wrap="square" lIns="0" tIns="0" rIns="0" bIns="0" rtlCol="0" anchor="ctr"/>
          <a:lstStyle/>
          <a:p>
            <a:pPr indent="0" marL="0">
              <a:buNone/>
            </a:pPr>
            <a:r>
              <a:rPr lang="en-US" sz="1150" b="1" dirty="0">
                <a:solidFill>
                  <a:srgbClr val="8FB6DA"/>
                </a:solidFill>
                <a:latin typeface="Calibri" pitchFamily="34" charset="0"/>
                <a:ea typeface="Calibri" pitchFamily="34" charset="-122"/>
                <a:cs typeface="Calibri" pitchFamily="34" charset="-120"/>
              </a:rPr>
              <a:t>Datos personales</a:t>
            </a:r>
            <a:endParaRPr lang="en-US" sz="1150" dirty="0"/>
          </a:p>
        </p:txBody>
      </p:sp>
      <p:sp>
        <p:nvSpPr>
          <p:cNvPr id="10" name="Text 8"/>
          <p:cNvSpPr txBox="1"/>
          <p:nvPr/>
        </p:nvSpPr>
        <p:spPr>
          <a:xfrm>
            <a:off x="822960" y="2249424"/>
            <a:ext cx="2991002" cy="1325880"/>
          </a:xfrm>
          <a:prstGeom prst="rect">
            <a:avLst/>
          </a:prstGeom>
          <a:noFill/>
          <a:ln/>
        </p:spPr>
        <p:txBody>
          <a:bodyPr wrap="square" lIns="0" tIns="0" rIns="0" bIns="0" rtlCol="0" anchor="t"/>
          <a:lstStyle/>
          <a:p>
            <a:pPr indent="0" marL="0">
              <a:lnSpc>
                <a:spcPct val="105000"/>
              </a:lnSpc>
              <a:buNone/>
            </a:pPr>
            <a:r>
              <a:rPr lang="en-US" sz="1100" dirty="0">
                <a:solidFill>
                  <a:srgbClr val="DCE9F7"/>
                </a:solidFill>
                <a:latin typeface="Calibri" pitchFamily="34" charset="0"/>
                <a:ea typeface="Calibri" pitchFamily="34" charset="-122"/>
                <a:cs typeface="Calibri" pitchFamily="34" charset="-120"/>
              </a:rPr>
              <a:t>El proveedor es encargado del tratamiento (art. 25); el alojamiento fuera del país es transferencia internacional (art. 12) y se vuelve requisito eliminatorio del RFP. Subsisten el deber de seguridad y confidencialidad.</a:t>
            </a:r>
            <a:endParaRPr lang="en-US" sz="1100" dirty="0"/>
          </a:p>
        </p:txBody>
      </p:sp>
      <p:sp>
        <p:nvSpPr>
          <p:cNvPr id="11" name="Shape 9"/>
          <p:cNvSpPr/>
          <p:nvPr/>
        </p:nvSpPr>
        <p:spPr>
          <a:xfrm>
            <a:off x="4344314" y="1481328"/>
            <a:ext cx="3503066" cy="2212848"/>
          </a:xfrm>
          <a:prstGeom prst="roundRect">
            <a:avLst>
              <a:gd name="adj" fmla="val 2479"/>
            </a:avLst>
          </a:prstGeom>
          <a:solidFill>
            <a:srgbClr val="1C4E7E"/>
          </a:solidFill>
          <a:ln w="12700">
            <a:solidFill>
              <a:srgbClr val="2E6395"/>
            </a:solidFill>
            <a:prstDash val="solid"/>
          </a:ln>
        </p:spPr>
      </p:sp>
      <p:sp>
        <p:nvSpPr>
          <p:cNvPr id="12" name="Text 10"/>
          <p:cNvSpPr txBox="1"/>
          <p:nvPr/>
        </p:nvSpPr>
        <p:spPr>
          <a:xfrm>
            <a:off x="4600346" y="1609344"/>
            <a:ext cx="2991002"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Ley 25.506</a:t>
            </a:r>
            <a:endParaRPr lang="en-US" sz="1600" dirty="0"/>
          </a:p>
        </p:txBody>
      </p:sp>
      <p:sp>
        <p:nvSpPr>
          <p:cNvPr id="13" name="Text 11"/>
          <p:cNvSpPr txBox="1"/>
          <p:nvPr/>
        </p:nvSpPr>
        <p:spPr>
          <a:xfrm>
            <a:off x="4600346" y="1920240"/>
            <a:ext cx="2991002" cy="256032"/>
          </a:xfrm>
          <a:prstGeom prst="rect">
            <a:avLst/>
          </a:prstGeom>
          <a:noFill/>
          <a:ln/>
        </p:spPr>
        <p:txBody>
          <a:bodyPr wrap="square" lIns="0" tIns="0" rIns="0" bIns="0" rtlCol="0" anchor="ctr"/>
          <a:lstStyle/>
          <a:p>
            <a:pPr indent="0" marL="0">
              <a:buNone/>
            </a:pPr>
            <a:r>
              <a:rPr lang="en-US" sz="1150" b="1" dirty="0">
                <a:solidFill>
                  <a:srgbClr val="8FB6DA"/>
                </a:solidFill>
                <a:latin typeface="Calibri" pitchFamily="34" charset="0"/>
                <a:ea typeface="Calibri" pitchFamily="34" charset="-122"/>
                <a:cs typeface="Calibri" pitchFamily="34" charset="-120"/>
              </a:rPr>
              <a:t>Firma digital</a:t>
            </a:r>
            <a:endParaRPr lang="en-US" sz="1150" dirty="0"/>
          </a:p>
        </p:txBody>
      </p:sp>
      <p:sp>
        <p:nvSpPr>
          <p:cNvPr id="14" name="Text 12"/>
          <p:cNvSpPr txBox="1"/>
          <p:nvPr/>
        </p:nvSpPr>
        <p:spPr>
          <a:xfrm>
            <a:off x="4600346" y="2249424"/>
            <a:ext cx="2991002" cy="1325880"/>
          </a:xfrm>
          <a:prstGeom prst="rect">
            <a:avLst/>
          </a:prstGeom>
          <a:noFill/>
          <a:ln/>
        </p:spPr>
        <p:txBody>
          <a:bodyPr wrap="square" lIns="0" tIns="0" rIns="0" bIns="0" rtlCol="0" anchor="t"/>
          <a:lstStyle/>
          <a:p>
            <a:pPr indent="0" marL="0">
              <a:lnSpc>
                <a:spcPct val="105000"/>
              </a:lnSpc>
              <a:buNone/>
            </a:pPr>
            <a:r>
              <a:rPr lang="en-US" sz="1100" dirty="0">
                <a:solidFill>
                  <a:srgbClr val="DCE9F7"/>
                </a:solidFill>
                <a:latin typeface="Calibri" pitchFamily="34" charset="0"/>
                <a:ea typeface="Calibri" pitchFamily="34" charset="-122"/>
                <a:cs typeface="Calibri" pitchFamily="34" charset="-120"/>
              </a:rPr>
              <a:t>La conformidad trazada en pantalla es firma electrónica, no digital: quien la invoca debe acreditar su validez. Se compensa con geolocalización, marca temporal, fotos, mediciones y auditoría inalterable.</a:t>
            </a:r>
            <a:endParaRPr lang="en-US" sz="1100" dirty="0"/>
          </a:p>
        </p:txBody>
      </p:sp>
      <p:sp>
        <p:nvSpPr>
          <p:cNvPr id="15" name="Shape 13"/>
          <p:cNvSpPr/>
          <p:nvPr/>
        </p:nvSpPr>
        <p:spPr>
          <a:xfrm>
            <a:off x="8121701" y="1481328"/>
            <a:ext cx="3503066" cy="2212848"/>
          </a:xfrm>
          <a:prstGeom prst="roundRect">
            <a:avLst>
              <a:gd name="adj" fmla="val 2479"/>
            </a:avLst>
          </a:prstGeom>
          <a:solidFill>
            <a:srgbClr val="1C4E7E"/>
          </a:solidFill>
          <a:ln w="12700">
            <a:solidFill>
              <a:srgbClr val="2E6395"/>
            </a:solidFill>
            <a:prstDash val="solid"/>
          </a:ln>
        </p:spPr>
      </p:sp>
      <p:sp>
        <p:nvSpPr>
          <p:cNvPr id="16" name="Text 14"/>
          <p:cNvSpPr txBox="1"/>
          <p:nvPr/>
        </p:nvSpPr>
        <p:spPr>
          <a:xfrm>
            <a:off x="8377733" y="1609344"/>
            <a:ext cx="2991002"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Ley 20.744</a:t>
            </a:r>
            <a:endParaRPr lang="en-US" sz="1600" dirty="0"/>
          </a:p>
        </p:txBody>
      </p:sp>
      <p:sp>
        <p:nvSpPr>
          <p:cNvPr id="17" name="Text 15"/>
          <p:cNvSpPr txBox="1"/>
          <p:nvPr/>
        </p:nvSpPr>
        <p:spPr>
          <a:xfrm>
            <a:off x="8377733" y="1920240"/>
            <a:ext cx="2991002" cy="256032"/>
          </a:xfrm>
          <a:prstGeom prst="rect">
            <a:avLst/>
          </a:prstGeom>
          <a:noFill/>
          <a:ln/>
        </p:spPr>
        <p:txBody>
          <a:bodyPr wrap="square" lIns="0" tIns="0" rIns="0" bIns="0" rtlCol="0" anchor="ctr"/>
          <a:lstStyle/>
          <a:p>
            <a:pPr indent="0" marL="0">
              <a:buNone/>
            </a:pPr>
            <a:r>
              <a:rPr lang="en-US" sz="1150" b="1" dirty="0">
                <a:solidFill>
                  <a:srgbClr val="8FB6DA"/>
                </a:solidFill>
                <a:latin typeface="Calibri" pitchFamily="34" charset="0"/>
                <a:ea typeface="Calibri" pitchFamily="34" charset="-122"/>
                <a:cs typeface="Calibri" pitchFamily="34" charset="-120"/>
              </a:rPr>
              <a:t>Contratistas y control</a:t>
            </a:r>
            <a:endParaRPr lang="en-US" sz="1150" dirty="0"/>
          </a:p>
        </p:txBody>
      </p:sp>
      <p:sp>
        <p:nvSpPr>
          <p:cNvPr id="18" name="Text 16"/>
          <p:cNvSpPr txBox="1"/>
          <p:nvPr/>
        </p:nvSpPr>
        <p:spPr>
          <a:xfrm>
            <a:off x="8377733" y="2249424"/>
            <a:ext cx="2991002" cy="1325880"/>
          </a:xfrm>
          <a:prstGeom prst="rect">
            <a:avLst/>
          </a:prstGeom>
          <a:noFill/>
          <a:ln/>
        </p:spPr>
        <p:txBody>
          <a:bodyPr wrap="square" lIns="0" tIns="0" rIns="0" bIns="0" rtlCol="0" anchor="t"/>
          <a:lstStyle/>
          <a:p>
            <a:pPr indent="0" marL="0">
              <a:lnSpc>
                <a:spcPct val="105000"/>
              </a:lnSpc>
              <a:buNone/>
            </a:pPr>
            <a:r>
              <a:rPr lang="en-US" sz="1100" dirty="0">
                <a:solidFill>
                  <a:srgbClr val="DCE9F7"/>
                </a:solidFill>
                <a:latin typeface="Calibri" pitchFamily="34" charset="0"/>
                <a:ea typeface="Calibri" pitchFamily="34" charset="-122"/>
                <a:cs typeface="Calibri" pitchFamily="34" charset="-120"/>
              </a:rPr>
              <a:t>El art. 30 impone responsabilidad solidaria por el contratista. La matriz de competencias que bloquea la asignación es el registro documentado de ese deber de control. La geolocalización se limita a la jornada y a hitos.</a:t>
            </a:r>
            <a:endParaRPr lang="en-US" sz="1100" dirty="0"/>
          </a:p>
        </p:txBody>
      </p:sp>
      <p:sp>
        <p:nvSpPr>
          <p:cNvPr id="19" name="Text 17"/>
          <p:cNvSpPr txBox="1"/>
          <p:nvPr/>
        </p:nvSpPr>
        <p:spPr>
          <a:xfrm>
            <a:off x="566928" y="3986784"/>
            <a:ext cx="11057839" cy="274320"/>
          </a:xfrm>
          <a:prstGeom prst="rect">
            <a:avLst/>
          </a:prstGeom>
          <a:noFill/>
          <a:ln/>
        </p:spPr>
        <p:txBody>
          <a:bodyPr wrap="square" lIns="0" tIns="0" rIns="0" bIns="0" rtlCol="0" anchor="ctr"/>
          <a:lstStyle/>
          <a:p>
            <a:pPr indent="0" marL="0">
              <a:buNone/>
            </a:pPr>
            <a:r>
              <a:rPr lang="en-US" sz="1150" b="1" spc="100" kern="0" dirty="0">
                <a:solidFill>
                  <a:srgbClr val="8FB6DA"/>
                </a:solidFill>
                <a:latin typeface="Calibri" pitchFamily="34" charset="0"/>
                <a:ea typeface="Calibri" pitchFamily="34" charset="-122"/>
                <a:cs typeface="Calibri" pitchFamily="34" charset="-120"/>
              </a:rPr>
              <a:t>CONCLUSIÓN DEL ANÁLISIS DE FACTIBILIDAD</a:t>
            </a:r>
            <a:endParaRPr lang="en-US" sz="1150" dirty="0"/>
          </a:p>
        </p:txBody>
      </p:sp>
      <p:sp>
        <p:nvSpPr>
          <p:cNvPr id="20" name="Shape 18"/>
          <p:cNvSpPr/>
          <p:nvPr/>
        </p:nvSpPr>
        <p:spPr>
          <a:xfrm>
            <a:off x="603504" y="4443984"/>
            <a:ext cx="146304" cy="146304"/>
          </a:xfrm>
          <a:prstGeom prst="ellipse">
            <a:avLst/>
          </a:prstGeom>
          <a:solidFill>
            <a:srgbClr val="DCE9F7"/>
          </a:solidFill>
          <a:ln w="12700">
            <a:solidFill>
              <a:srgbClr val="333333"/>
            </a:solidFill>
            <a:prstDash val="solid"/>
          </a:ln>
        </p:spPr>
      </p:sp>
      <p:sp>
        <p:nvSpPr>
          <p:cNvPr id="21" name="Text 19"/>
          <p:cNvSpPr txBox="1"/>
          <p:nvPr/>
        </p:nvSpPr>
        <p:spPr>
          <a:xfrm>
            <a:off x="896112" y="4315968"/>
            <a:ext cx="10728655"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Técnicamente factible </a:t>
            </a:r>
            <a:pPr indent="0" marL="0">
              <a:buNone/>
            </a:pPr>
            <a:r>
              <a:rPr lang="en-US" sz="1300" dirty="0">
                <a:solidFill>
                  <a:srgbClr val="B7CFE6"/>
                </a:solidFill>
                <a:latin typeface="Calibri" pitchFamily="34" charset="0"/>
                <a:ea typeface="Calibri" pitchFamily="34" charset="-122"/>
                <a:cs typeface="Calibri" pitchFamily="34" charset="-120"/>
              </a:rPr>
              <a:t>con un supuesto crítico declarado: que el SGOT, el CRM y el NMS expongan interfaces de programación. Se verifica en 2.3.</a:t>
            </a:r>
            <a:endParaRPr lang="en-US" sz="1300" dirty="0"/>
          </a:p>
        </p:txBody>
      </p:sp>
      <p:sp>
        <p:nvSpPr>
          <p:cNvPr id="22" name="Shape 20"/>
          <p:cNvSpPr/>
          <p:nvPr/>
        </p:nvSpPr>
        <p:spPr>
          <a:xfrm>
            <a:off x="603504" y="4901184"/>
            <a:ext cx="146304" cy="146304"/>
          </a:xfrm>
          <a:prstGeom prst="ellipse">
            <a:avLst/>
          </a:prstGeom>
          <a:solidFill>
            <a:srgbClr val="DCE9F7"/>
          </a:solidFill>
          <a:ln w="12700">
            <a:solidFill>
              <a:srgbClr val="333333"/>
            </a:solidFill>
            <a:prstDash val="solid"/>
          </a:ln>
        </p:spPr>
      </p:sp>
      <p:sp>
        <p:nvSpPr>
          <p:cNvPr id="23" name="Text 21"/>
          <p:cNvSpPr txBox="1"/>
          <p:nvPr/>
        </p:nvSpPr>
        <p:spPr>
          <a:xfrm>
            <a:off x="896112" y="4773168"/>
            <a:ext cx="10728655"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Económicamente viable, de margen estrecho </a:t>
            </a:r>
            <a:pPr indent="0" marL="0">
              <a:buNone/>
            </a:pPr>
            <a:r>
              <a:rPr lang="en-US" sz="1300" dirty="0">
                <a:solidFill>
                  <a:srgbClr val="B7CFE6"/>
                </a:solidFill>
                <a:latin typeface="Calibri" pitchFamily="34" charset="0"/>
                <a:ea typeface="Calibri" pitchFamily="34" charset="-122"/>
                <a:cs typeface="Calibri" pitchFamily="34" charset="-120"/>
              </a:rPr>
              <a:t>VAN +31.515, TIR 19,0%, repago 3,14 años. A tres años el proyecto todavía no se repaga.</a:t>
            </a:r>
            <a:endParaRPr lang="en-US" sz="1300" dirty="0"/>
          </a:p>
        </p:txBody>
      </p:sp>
      <p:sp>
        <p:nvSpPr>
          <p:cNvPr id="24" name="Shape 22"/>
          <p:cNvSpPr/>
          <p:nvPr/>
        </p:nvSpPr>
        <p:spPr>
          <a:xfrm>
            <a:off x="603504" y="5358384"/>
            <a:ext cx="146304" cy="146304"/>
          </a:xfrm>
          <a:prstGeom prst="ellipse">
            <a:avLst/>
          </a:prstGeom>
          <a:solidFill>
            <a:srgbClr val="DCE9F7"/>
          </a:solidFill>
          <a:ln w="12700">
            <a:solidFill>
              <a:srgbClr val="333333"/>
            </a:solidFill>
            <a:prstDash val="solid"/>
          </a:ln>
        </p:spPr>
      </p:sp>
      <p:sp>
        <p:nvSpPr>
          <p:cNvPr id="25" name="Text 23"/>
          <p:cNvSpPr txBox="1"/>
          <p:nvPr/>
        </p:nvSpPr>
        <p:spPr>
          <a:xfrm>
            <a:off x="896112" y="5230368"/>
            <a:ext cx="10728655"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Legalmente factible bajo condición contractual </a:t>
            </a:r>
            <a:pPr indent="0" marL="0">
              <a:buNone/>
            </a:pPr>
            <a:r>
              <a:rPr lang="en-US" sz="1300" dirty="0">
                <a:solidFill>
                  <a:srgbClr val="B7CFE6"/>
                </a:solidFill>
                <a:latin typeface="Calibri" pitchFamily="34" charset="0"/>
                <a:ea typeface="Calibri" pitchFamily="34" charset="-122"/>
                <a:cs typeface="Calibri" pitchFamily="34" charset="-120"/>
              </a:rPr>
              <a:t>sin las cláusulas del punto 8 el proyecto agravaría R05 en lugar de contenerlo.</a:t>
            </a:r>
            <a:endParaRPr lang="en-US" sz="1300" dirty="0"/>
          </a:p>
        </p:txBody>
      </p:sp>
      <p:sp>
        <p:nvSpPr>
          <p:cNvPr id="26" name="Shape 24"/>
          <p:cNvSpPr/>
          <p:nvPr/>
        </p:nvSpPr>
        <p:spPr>
          <a:xfrm>
            <a:off x="566928" y="5779008"/>
            <a:ext cx="11057839" cy="713232"/>
          </a:xfrm>
          <a:prstGeom prst="roundRect">
            <a:avLst>
              <a:gd name="adj" fmla="val 7692"/>
            </a:avLst>
          </a:prstGeom>
          <a:solidFill>
            <a:srgbClr val="1C4E7E"/>
          </a:solidFill>
          <a:ln w="12700">
            <a:solidFill>
              <a:srgbClr val="B23A2E"/>
            </a:solidFill>
            <a:prstDash val="solid"/>
          </a:ln>
        </p:spPr>
      </p:sp>
      <p:sp>
        <p:nvSpPr>
          <p:cNvPr id="27" name="Text 25"/>
          <p:cNvSpPr txBox="1"/>
          <p:nvPr/>
        </p:nvSpPr>
        <p:spPr>
          <a:xfrm>
            <a:off x="859536" y="5779008"/>
            <a:ext cx="10472623" cy="7132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Por eso la decisión de despliegue masivo no se adopta con la aprobación del Acta, sino en el paquete 8.4: </a:t>
            </a:r>
            <a:pPr indent="0" marL="0">
              <a:buNone/>
            </a:pPr>
            <a:r>
              <a:rPr lang="en-US" sz="1300" dirty="0">
                <a:solidFill>
                  <a:srgbClr val="DCE9F7"/>
                </a:solidFill>
                <a:latin typeface="Calibri" pitchFamily="34" charset="0"/>
                <a:ea typeface="Calibri" pitchFamily="34" charset="-122"/>
                <a:cs typeface="Calibri" pitchFamily="34" charset="-120"/>
              </a:rPr>
              <a:t>una vez medidas las líneas base (2.4), verificadas las interfaces (2.3) y cerrados los precios en el contrato (3.5).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 - TP Integrador Etapa 3</dc:title>
  <dc:subject>PptxGenJS Presentation</dc:subject>
  <dc:creator>Grupo 310 - Comision 403</dc:creator>
  <cp:lastModifiedBy>Grupo 310 - Comision 403</cp:lastModifiedBy>
  <cp:revision>1</cp:revision>
  <dcterms:created xsi:type="dcterms:W3CDTF">2026-08-30T21:23:59Z</dcterms:created>
  <dcterms:modified xsi:type="dcterms:W3CDTF">2026-08-30T21:23:59Z</dcterms:modified>
</cp:coreProperties>
</file>