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5fa09dd3f34fb4" /><Relationship Type="http://schemas.openxmlformats.org/officeDocument/2006/relationships/extended-properties" Target="/docProps/app.xml" Id="R2836bf9a60a44a8d" /><Relationship Type="http://schemas.openxmlformats.org/officeDocument/2006/relationships/officeDocument" Target="/ppt/presentation.xml" Id="R9a695c14007a4e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db1bf6cba448d6"/>
  </p:sldMasterIdLst>
  <p:notesMasterIdLst>
    <p:notesMasterId xmlns:r="http://schemas.openxmlformats.org/officeDocument/2006/relationships" r:id="R22ab0a3ce9b54998"/>
  </p:notesMasterIdLst>
  <p:sldIdLst>
    <p:sldId xmlns:r="http://schemas.openxmlformats.org/officeDocument/2006/relationships" id="256" r:id="R12134fb85d674470"/>
    <p:sldId xmlns:r="http://schemas.openxmlformats.org/officeDocument/2006/relationships" id="257" r:id="R8d60ef1b18044f22"/>
    <p:sldId xmlns:r="http://schemas.openxmlformats.org/officeDocument/2006/relationships" id="258" r:id="Re714620b0d1d4ed2"/>
    <p:sldId xmlns:r="http://schemas.openxmlformats.org/officeDocument/2006/relationships" id="259" r:id="R293e68323bf1455b"/>
    <p:sldId xmlns:r="http://schemas.openxmlformats.org/officeDocument/2006/relationships" id="260" r:id="R7cb026484d2c4103"/>
    <p:sldId xmlns:r="http://schemas.openxmlformats.org/officeDocument/2006/relationships" id="261" r:id="R0bcefed1c93047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db518d408a414b" /><Relationship Type="http://schemas.openxmlformats.org/officeDocument/2006/relationships/slideMaster" Target="/ppt/slideMasters/slideMaster1.xml" Id="Rf5db1bf6cba448d6" /><Relationship Type="http://schemas.openxmlformats.org/officeDocument/2006/relationships/notesMaster" Target="/ppt/notesMasters/notesMaster1.xml" Id="R22ab0a3ce9b54998" /><Relationship Type="http://schemas.openxmlformats.org/officeDocument/2006/relationships/presProps" Target="/ppt/presProps.xml" Id="R4e3aa841c6b4431d" /><Relationship Type="http://schemas.openxmlformats.org/officeDocument/2006/relationships/tableStyles" Target="/ppt/tableStyles.xml" Id="Rab8877e6da84421f" /><Relationship Type="http://schemas.openxmlformats.org/officeDocument/2006/relationships/slide" Target="/ppt/slides/slide1.xml" Id="R12134fb85d674470" /><Relationship Type="http://schemas.openxmlformats.org/officeDocument/2006/relationships/slide" Target="/ppt/slides/slide2.xml" Id="R8d60ef1b18044f22" /><Relationship Type="http://schemas.openxmlformats.org/officeDocument/2006/relationships/slide" Target="/ppt/slides/slide3.xml" Id="Re714620b0d1d4ed2" /><Relationship Type="http://schemas.openxmlformats.org/officeDocument/2006/relationships/slide" Target="/ppt/slides/slide4.xml" Id="R293e68323bf1455b" /><Relationship Type="http://schemas.openxmlformats.org/officeDocument/2006/relationships/slide" Target="/ppt/slides/slide5.xml" Id="R7cb026484d2c4103" /><Relationship Type="http://schemas.openxmlformats.org/officeDocument/2006/relationships/slide" Target="/ppt/slides/slide6.xml" Id="R0bcefed1c93047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32fbfb5f6f46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77b5f80a0d4307" /><Relationship Type="http://schemas.openxmlformats.org/officeDocument/2006/relationships/notesMaster" Target="/ppt/notesMasters/notesMaster1.xml" Id="R26de9dc0b4894a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c2c219ce4d4b2a" /><Relationship Type="http://schemas.openxmlformats.org/officeDocument/2006/relationships/notesMaster" Target="/ppt/notesMasters/notesMaster1.xml" Id="R638c7b4e42584f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1f3c5e88364270" /><Relationship Type="http://schemas.openxmlformats.org/officeDocument/2006/relationships/notesMaster" Target="/ppt/notesMasters/notesMaster1.xml" Id="R1663fefbc15141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522877f40a4220" /><Relationship Type="http://schemas.openxmlformats.org/officeDocument/2006/relationships/notesMaster" Target="/ppt/notesMasters/notesMaster1.xml" Id="R46f7cb05230944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3c72dbd1264877" /><Relationship Type="http://schemas.openxmlformats.org/officeDocument/2006/relationships/notesMaster" Target="/ppt/notesMasters/notesMaster1.xml" Id="Rce45c047ac5141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6c454fbd3a4765" /><Relationship Type="http://schemas.openxmlformats.org/officeDocument/2006/relationships/notesMaster" Target="/ppt/notesMasters/notesMaster1.xml" Id="R2af35dbbcd3941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Apertura, 0:00-0:20. Presentar el problema y la franja. Fuente: definición del caso del TPI.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0:20-0:42. Fuente: BA Data, Subte - Viajes Molinetes, enero-junio de 2026. Elaboración propia con scripts/sbase-perfil.py. Valores: promedio por ventana de 15 minutos, vestíbulo Principal, 117 días hábiles.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0:42-1:02. Explicar el límite del modelo analítico estacionario y el drenaje posterior al cierre. Fuente: modelo conceptual documentado en 02-modelo-anylogic.md.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1:02-1:25. Luego cambiar una sola vez a AnyLogic y mostrar PeatonalE0 o PeatonalE1 en ejecución entre 1:25 y 1:48. E2 y E3 se mencionan como extensiones, no como resultados cerrados.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1:48-2:18. No presentar números sintéticos. Reemplazar los campos entre corchetes con la hoja Resumen de 04-resultados-corridas.xlsx después de completar 30 pares calibrados.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2:18-2:45. Leer únicamente la rama respaldada por la planilla. Cerrar ambos integrantes con un agradecimiento. La limitación de validación debe permanecer visible.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5817709d644e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0fbb4bdf734dee" /><Relationship Type="http://schemas.openxmlformats.org/officeDocument/2006/relationships/slideLayout" Target="/ppt/slideLayouts/slideLayout1.xml" Id="R6c02cd49f52043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02cd49f52043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8882292b74d6f" /><Relationship Type="http://schemas.openxmlformats.org/officeDocument/2006/relationships/notesSlide" Target="/ppt/notesSlides/notesSlide1.xml" Id="R1596e585b3bc45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e757198d74f82" /><Relationship Type="http://schemas.openxmlformats.org/officeDocument/2006/relationships/chart" Target="/ppt/slides/charts/chart1.xml" Id="R08064d558a184faf" /><Relationship Type="http://schemas.openxmlformats.org/officeDocument/2006/relationships/notesSlide" Target="/ppt/notesSlides/notesSlide2.xml" Id="R48f7407b46e441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8726a163d43b6" /><Relationship Type="http://schemas.openxmlformats.org/officeDocument/2006/relationships/notesSlide" Target="/ppt/notesSlides/notesSlide3.xml" Id="Rec191c826cd449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da8bcc4db4ff5" /><Relationship Type="http://schemas.openxmlformats.org/officeDocument/2006/relationships/notesSlide" Target="/ppt/notesSlides/notesSlide4.xml" Id="R37e09ef411aa4c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113811abb4e99" /><Relationship Type="http://schemas.openxmlformats.org/officeDocument/2006/relationships/notesSlide" Target="/ppt/notesSlides/notesSlide5.xml" Id="Re4152458364c4e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066dd960049a7" /><Relationship Type="http://schemas.openxmlformats.org/officeDocument/2006/relationships/notesSlide" Target="/ppt/notesSlides/notesSlide6.xml" Id="Rd2937721731e406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Pasajeros</c:v>
          </c:tx>
          <c:spPr>
            <a:solidFill xmlns:a="http://schemas.openxmlformats.org/drawingml/2006/main">
              <a:srgbClr val="0879BE"/>
            </a:solidFill>
          </c:spPr>
          <c:cat>
            <c:strRef>
              <c:f>'Chart Data'!$A$2:$A$11</c:f>
              <c:strCache>
                <c:ptCount val="10"/>
                <c:pt idx="0">
                  <c:v>07:00</c:v>
                </c:pt>
                <c:pt idx="1">
                  <c:v>07:15</c:v>
                </c:pt>
                <c:pt idx="2">
                  <c:v>07:30</c:v>
                </c:pt>
                <c:pt idx="3">
                  <c:v>07:45</c:v>
                </c:pt>
                <c:pt idx="4">
                  <c:v>08:00</c:v>
                </c:pt>
                <c:pt idx="5">
                  <c:v>08:15</c:v>
                </c:pt>
                <c:pt idx="6">
                  <c:v>08:30</c:v>
                </c:pt>
                <c:pt idx="7">
                  <c:v>08:45</c:v>
                </c:pt>
                <c:pt idx="8">
                  <c:v>09:00</c:v>
                </c:pt>
                <c:pt idx="9">
                  <c:v>09:15</c:v>
                </c:pt>
              </c:strCache>
            </c:strRef>
          </c:cat>
          <c:val>
            <c:numRef>
              <c:f>'Chart Data'!$B$2:$B$11</c:f>
              <c:numCache>
                <c:formatCode>General</c:formatCode>
                <c:ptCount val="10"/>
                <c:pt idx="0">
                  <c:v>1437</c:v>
                </c:pt>
                <c:pt idx="1">
                  <c:v>1578</c:v>
                </c:pt>
                <c:pt idx="2">
                  <c:v>1765</c:v>
                </c:pt>
                <c:pt idx="3">
                  <c:v>1824</c:v>
                </c:pt>
                <c:pt idx="4">
                  <c:v>1799</c:v>
                </c:pt>
                <c:pt idx="5">
                  <c:v>2054</c:v>
                </c:pt>
                <c:pt idx="6">
                  <c:v>2066</c:v>
                </c:pt>
                <c:pt idx="7">
                  <c:v>1742</c:v>
                </c:pt>
                <c:pt idx="8">
                  <c:v>1581</c:v>
                </c:pt>
                <c:pt idx="9">
                  <c:v>1636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venir Next"/>
                  <a:ea typeface="Avenir Next"/>
                  <a:cs typeface="Avenir N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781F1-0036-4C6A-ABC3-F4A6B9B2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410B2-3416-4366-8A2E-4EEE087B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838200"/>
            <a:ext cx="2238375" cy="2238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B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E5994-2B11-4B3D-933F-98EBAE04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781050"/>
            <a:ext cx="223837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8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8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F8B53-030E-4DA6-915A-0588E69D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Simulación de los molinetes</a:t>
            </a:r>
          </a:p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 Constitución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5858B-5084-49EE-8090-D3BE4578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7E6F1"/>
                </a:solidFill>
                <a:latin typeface="Avenir Next"/>
                <a:ea typeface="Avenir Next"/>
                <a:cs typeface="Avenir Next"/>
              </a:defRPr>
            </a:pPr>
            <a:r>
              <a:rPr sz="1800">
                <a:solidFill>
                  <a:srgbClr val="D7E6F1"/>
                </a:solidFill>
                <a:latin typeface="Avenir Next"/>
                <a:ea typeface="Avenir Next"/>
                <a:cs typeface="Avenir Next"/>
              </a:rPr>
              <a:t>Congestión transitoria por arribos en tandas</a:t>
            </a:r>
          </a:p>
          <a:p xmlns:a="http://schemas.openxmlformats.org/drawingml/2006/main">
            <a:pPr>
              <a:defRPr sz="1800">
                <a:solidFill>
                  <a:srgbClr val="D7E6F1"/>
                </a:solidFill>
                <a:latin typeface="Avenir Next"/>
                <a:ea typeface="Avenir Next"/>
                <a:cs typeface="Avenir Next"/>
              </a:defRPr>
            </a:pPr>
            <a:r>
              <a:rPr sz="1800">
                <a:solidFill>
                  <a:srgbClr val="D7E6F1"/>
                </a:solidFill>
                <a:latin typeface="Avenir Next"/>
                <a:ea typeface="Avenir Next"/>
                <a:cs typeface="Avenir Next"/>
              </a:rPr>
              <a:t>Vestíbulo Principal · 07:00 a 09:30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4CC34-E029-414A-892D-68DE6A73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4C95D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4C95D"/>
                </a:solidFill>
                <a:latin typeface="Avenir Next"/>
                <a:ea typeface="Avenir Next"/>
                <a:cs typeface="Avenir Next"/>
              </a:rPr>
              <a:t>Juan Cruz Bonadeo · Matías Estevez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D28D0-1A99-4A4E-9293-AF43CCFD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817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FC3D2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AFC3D2"/>
                </a:solidFill>
                <a:latin typeface="Avenir Next"/>
                <a:ea typeface="Avenir Next"/>
                <a:cs typeface="Avenir Next"/>
              </a:rPr>
              <a:t>UTN · Simulación · Comisión 401</a:t>
            </a:r>
          </a:p>
        </p:txBody>
      </p:sp>
    </p:spTree>
    <p:extLst>
      <p:ext uri="{BB962C8B-B14F-4D97-AF65-F5344CB8AC3E}">
        <p14:creationId xmlns:p14="http://schemas.microsoft.com/office/powerpoint/2010/main" val="14551804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C6D83-7095-4050-ABB9-C0301B65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9BE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879BE"/>
                </a:solidFill>
                <a:latin typeface="Avenir Next"/>
                <a:ea typeface="Avenir Next"/>
                <a:cs typeface="Avenir Next"/>
              </a:rPr>
              <a:t>EVIDENCIA OBSERVADA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3E887-C3AC-4A5F-9F47-159CF6CD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El pico se concentra entre 08:15 y 08:45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732AE-090B-42D8-9174-A080F99C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4DE"/>
            </a:solidFill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7715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064d558a184fa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A17C4-4004-4C81-BDA5-0943C5CB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52625"/>
            <a:ext cx="26193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DDF1F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1D7A3-FEEB-488E-8D15-BE01DFA8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3300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17.482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108088-74A3-4461-A32E-ECEBDE2E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336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validaciones por mañana hábil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59E92-57AE-4CED-B9C8-0C3BABFD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43325"/>
            <a:ext cx="2619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53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62534"/>
                </a:solidFill>
                <a:latin typeface="Avenir Next"/>
                <a:ea typeface="Avenir Next"/>
                <a:cs typeface="Avenir Next"/>
              </a:rPr>
              <a:t>Constitución concentra las 14 ventanas de 15 minutos más cargadas de la 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2CB9D9-0066-4EA1-AD3F-8B36E600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048250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Media sobre 117 días hábiles depurados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4437D-A246-46ED-8375-27B769AA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90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SIM · TPI Constitución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8D214-7BD1-40A9-9D81-EEA55FAC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90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410169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16119F-5FFC-4B14-A742-96F5134B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9BE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879BE"/>
                </a:solidFill>
                <a:latin typeface="Avenir Next"/>
                <a:ea typeface="Avenir Next"/>
                <a:cs typeface="Avenir Next"/>
              </a:rPr>
              <a:t>MODELO CONCEPTUAL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CF515-D087-4D34-B04B-93733BAA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Un sistema terminal alimentado por oleadas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D30C9-1E01-401F-9DEB-5012F935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4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CF63E-E387-49BE-BA83-19C43E7A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4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7F681-C179-4E3D-84F4-A74F6A10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43175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Llegada del Roca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64017-C193-4AED-A59B-F291FF11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Tandas de pasajeros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008E2-52C5-40F4-96DC-2ADA1DA2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81300"/>
            <a:ext cx="10477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495C6-88E6-4ABA-8EE2-89DC7DF5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4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0049A-D4ED-4720-9273-18D4CC3D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43175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Cola FIFO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EA148-41BD-4885-97EB-148791E3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6705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Espera individual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77F13-21C0-49FE-9625-192F37A3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81300"/>
            <a:ext cx="10477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3C34D-2A5A-4E49-839D-8A830670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33625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DF1FC"/>
          </a:solidFill>
          <a:ln xmlns:a="http://schemas.openxmlformats.org/drawingml/2006/main" w="9525">
            <a:solidFill>
              <a:srgbClr val="C7D4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B9E8C7-F06C-48A5-A22E-30361F53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43175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Molinetes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9283A8-DBF6-490A-9CD0-ECA90845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6705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20 en E0 · 28 en E1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D9932-36E2-4C1F-9178-2F760505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81300"/>
            <a:ext cx="10477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E01239-B73C-4466-BE31-735C8B3F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4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5B89F7-D2BA-41F7-8B2B-B40EA9C1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43175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Salida Línea 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8BF87C-8C14-416E-A023-C137C593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6705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Drenaje completo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CDC458-42E9-4072-88AB-A2E22197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9BE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879BE"/>
                </a:solidFill>
                <a:latin typeface="Avenir Next"/>
                <a:ea typeface="Avenir Next"/>
                <a:cs typeface="Avenir Next"/>
              </a:rPr>
              <a:t>t = 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8E718B-84B6-4D25-94D9-0A783AD9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07:00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56C709-CBB8-40F6-A177-55863B65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7524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4D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694A6A-769F-4A96-B573-D1A0F884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9BE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879BE"/>
                </a:solidFill>
                <a:latin typeface="Avenir Next"/>
                <a:ea typeface="Avenir Next"/>
                <a:cs typeface="Avenir Next"/>
              </a:rPr>
              <a:t>Corte de arribos: 09:30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D71AAB-C124-4703-9160-9A0FE9D3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624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La réplica termina cuando sale la cohorte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F03DD0-7C8A-4E73-BE92-BF7D22F7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381625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La tasa media no alcanza: la cola nace por la concentración temporal de los arribos.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2F45A4-453F-49AB-9692-561ECBE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90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SIM · TPI Constitución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C885E2-F7D9-4D0F-9F08-ABFCF52B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90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156379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B53A44-8BCC-4B93-B1AC-F33D5828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9BE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879BE"/>
                </a:solidFill>
                <a:latin typeface="Avenir Next"/>
                <a:ea typeface="Avenir Next"/>
                <a:cs typeface="Avenir Next"/>
              </a:rPr>
              <a:t>ESCENARIOS E0 Y E1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3682A-4DBB-4F7B-8213-D1ED9E70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La comparación cambia una sola decisión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0095C-287E-426F-B2AB-DEC73D8E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4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0BFBF-8BD7-40F5-97FF-1DDACCEC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57375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9BE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0879BE"/>
                </a:solidFill>
                <a:latin typeface="Avenir Next"/>
                <a:ea typeface="Avenir Next"/>
                <a:cs typeface="Avenir Next"/>
              </a:rPr>
              <a:t>E0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E56FD-C0B8-4994-A11D-4749E8F2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33625"/>
            <a:ext cx="2190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6150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CE3C2-2651-44FB-BD61-8713555B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66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molinetes habilitados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45303-F130-41FB-A759-EB02A3A5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2534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162534"/>
                </a:solidFill>
                <a:latin typeface="Avenir Next"/>
                <a:ea typeface="Avenir Next"/>
                <a:cs typeface="Avenir Next"/>
              </a:rPr>
              <a:t>Configuración base aproximada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C756B-1A75-487D-BBF7-4936B873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57375"/>
            <a:ext cx="9525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4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D27B1-32B3-4C4B-B138-1E847AE7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57375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7875D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27875D"/>
                </a:solidFill>
                <a:latin typeface="Avenir Next"/>
                <a:ea typeface="Avenir Next"/>
                <a:cs typeface="Avenir Next"/>
              </a:rPr>
              <a:t>E1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A189D-FBFE-4897-A0AD-6CA8678F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33625"/>
            <a:ext cx="2190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6150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40E89-F59D-4DC5-BA0C-F7EB46B8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766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molinetes habilitados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8F9761-9BB0-43DF-B82A-E610D6CF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005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2534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162534"/>
                </a:solidFill>
                <a:latin typeface="Avenir Next"/>
                <a:ea typeface="Avenir Next"/>
                <a:cs typeface="Avenir Next"/>
              </a:rPr>
              <a:t>Toda la capacidad instalada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BDA3B-E4A2-4FDA-B1A2-97956DC8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95875"/>
            <a:ext cx="7429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DF1F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91207F-3B34-4D7D-AC6A-B023F51F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19700"/>
            <a:ext cx="689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Misma demanda, geometría, servicio y semilla dentro de cada par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64143B-66D3-4951-88C1-AF40DB5B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90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SIM · TPI Constitución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A1C1CF-D049-4ED3-AB28-B5520509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90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002733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BDF025-9D4B-4213-B00D-4DEE5ADF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4C95D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C95D"/>
                </a:solidFill>
                <a:latin typeface="Avenir Next"/>
                <a:ea typeface="Avenir Next"/>
                <a:cs typeface="Avenir Next"/>
              </a:rPr>
              <a:t>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85E4A-9D1E-4DE7-B7DA-B01DCE66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Comparación apareada E1 menos E0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CF346-9CD8-4134-807D-D4E19320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D566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C1038-34FE-4A41-82A9-B0AF0B6F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32D45"/>
          </a:solidFill>
          <a:ln xmlns:a="http://schemas.openxmlformats.org/drawingml/2006/main" w="9525">
            <a:solidFill>
              <a:srgbClr val="35536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43681-BC05-49EE-A7EE-B6231F10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907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FC3D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AFC3D2"/>
                </a:solidFill>
                <a:latin typeface="Avenir Next"/>
                <a:ea typeface="Avenir Next"/>
                <a:cs typeface="Avenir Next"/>
              </a:rPr>
              <a:t>P90 E0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9CEA6-19AA-4F04-98BB-0C153C89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F4C95D"/>
                </a:solidFill>
                <a:latin typeface="Avenir Next"/>
                <a:ea typeface="Avenir Next"/>
                <a:cs typeface="Avenir Next"/>
              </a:defRPr>
            </a:pPr>
            <a:r>
              <a:rPr sz="3075" b="1">
                <a:solidFill>
                  <a:srgbClr val="F4C95D"/>
                </a:solidFill>
                <a:latin typeface="Avenir Next"/>
                <a:ea typeface="Avenir Next"/>
                <a:cs typeface="Avenir Next"/>
              </a:rPr>
              <a:t>[E0]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C9712-31D5-47AC-9877-643DC17A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433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D7E6F1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D7E6F1"/>
                </a:solidFill>
                <a:latin typeface="Avenir Next"/>
                <a:ea typeface="Avenir Next"/>
                <a:cs typeface="Avenir Next"/>
              </a:rPr>
              <a:t>Resultado de 30 réplicas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F6A89-0B22-4A4C-84FB-4F54B985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32D45"/>
          </a:solidFill>
          <a:ln xmlns:a="http://schemas.openxmlformats.org/drawingml/2006/main" w="9525">
            <a:solidFill>
              <a:srgbClr val="35536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6FB2E-946B-4B7F-8797-2F70EDA1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FC3D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AFC3D2"/>
                </a:solidFill>
                <a:latin typeface="Avenir Next"/>
                <a:ea typeface="Avenir Next"/>
                <a:cs typeface="Avenir Next"/>
              </a:rPr>
              <a:t>P90 E1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567C6-5E83-4955-B5CE-78162387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F4C95D"/>
                </a:solidFill>
                <a:latin typeface="Avenir Next"/>
                <a:ea typeface="Avenir Next"/>
                <a:cs typeface="Avenir Next"/>
              </a:defRPr>
            </a:pPr>
            <a:r>
              <a:rPr sz="3075" b="1">
                <a:solidFill>
                  <a:srgbClr val="F4C95D"/>
                </a:solidFill>
                <a:latin typeface="Avenir Next"/>
                <a:ea typeface="Avenir Next"/>
                <a:cs typeface="Avenir Next"/>
              </a:rPr>
              <a:t>[E1]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542127-1CAE-40C1-9C87-7744E68A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433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D7E6F1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D7E6F1"/>
                </a:solidFill>
                <a:latin typeface="Avenir Next"/>
                <a:ea typeface="Avenir Next"/>
                <a:cs typeface="Avenir Next"/>
              </a:rPr>
              <a:t>Mismas semillas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4BB2C-9077-4758-AB62-C11E37E9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52625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32D45"/>
          </a:solidFill>
          <a:ln xmlns:a="http://schemas.openxmlformats.org/drawingml/2006/main" w="9525">
            <a:solidFill>
              <a:srgbClr val="35536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F57833-27E5-41CF-8A2B-6566E944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907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FC3D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AFC3D2"/>
                </a:solidFill>
                <a:latin typeface="Avenir Next"/>
                <a:ea typeface="Avenir Next"/>
                <a:cs typeface="Avenir Next"/>
              </a:rPr>
              <a:t>Diferencia media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52F2C4-7AC5-4BC2-B341-3B07CDAC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14625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F4C95D"/>
                </a:solidFill>
                <a:latin typeface="Avenir Next"/>
                <a:ea typeface="Avenir Next"/>
                <a:cs typeface="Avenir Next"/>
              </a:defRPr>
            </a:pPr>
            <a:r>
              <a:rPr sz="3075" b="1">
                <a:solidFill>
                  <a:srgbClr val="F4C95D"/>
                </a:solidFill>
                <a:latin typeface="Avenir Next"/>
                <a:ea typeface="Avenir Next"/>
                <a:cs typeface="Avenir Next"/>
              </a:rPr>
              <a:t>[DIF]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1AA72-7176-41F6-A8D3-AE65E7C9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433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D7E6F1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D7E6F1"/>
                </a:solidFill>
                <a:latin typeface="Avenir Next"/>
                <a:ea typeface="Avenir Next"/>
                <a:cs typeface="Avenir Next"/>
              </a:rPr>
              <a:t>IC: [INF; SUP]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AD8AF-4442-456A-A3E5-515680C2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672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Completar solo con corridas calibradas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44B757-C48F-444F-BE82-C030448A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578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AFC3D2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AFC3D2"/>
                </a:solidFill>
                <a:latin typeface="Avenir Next"/>
                <a:ea typeface="Avenir Next"/>
                <a:cs typeface="Avenir Next"/>
              </a:rPr>
              <a:t>Control adicional: throughput con drenaje y proporción con espera mayor a 30 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BE0AF4-BD1A-4DC6-9B67-14391347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FA7B9"/>
                </a:solidFill>
                <a:latin typeface="Avenir Next"/>
                <a:ea typeface="Avenir Next"/>
                <a:cs typeface="Avenir Next"/>
              </a:defRPr>
            </a:pPr>
            <a:r>
              <a:rPr sz="900">
                <a:solidFill>
                  <a:srgbClr val="8FA7B9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090373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46AF4-0791-4FA5-8776-F6A6BF73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9BE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879BE"/>
                </a:solidFill>
                <a:latin typeface="Avenir Next"/>
                <a:ea typeface="Avenir Next"/>
                <a:cs typeface="Avenir Next"/>
              </a:rPr>
              <a:t>CONCLUSIÓN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65F89-3764-46A5-8A13-6EFA2D25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La recomendación depende del intervalo del P90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12099-D354-4884-B47E-D5330B61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4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20186-6410-40CF-97F9-F1652052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9525">
            <a:solidFill>
              <a:srgbClr val="A9D4B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8F8B6-AE3A-45A4-9D5A-B8CBE575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7875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27875D"/>
                </a:solidFill>
                <a:latin typeface="Avenir Next"/>
                <a:ea typeface="Avenir Next"/>
                <a:cs typeface="Avenir Next"/>
              </a:rPr>
              <a:t>IC completamente bajo cero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E2220-71F1-4EA0-A3BE-A45940EA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813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2534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62534"/>
                </a:solidFill>
                <a:latin typeface="Avenir Next"/>
                <a:ea typeface="Avenir Next"/>
                <a:cs typeface="Avenir Next"/>
              </a:rPr>
              <a:t>Recomendar E1 si el throughput no empeora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E4375-30BD-4B58-900F-74809C35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9525">
            <a:solidFill>
              <a:srgbClr val="E6C66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B666E-2C7B-4BAF-96AE-51494429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A6A0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9A6A00"/>
                </a:solidFill>
                <a:latin typeface="Avenir Next"/>
                <a:ea typeface="Avenir Next"/>
                <a:cs typeface="Avenir Next"/>
              </a:rPr>
              <a:t>IC contiene cero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8612B-6D16-4BF1-9C78-A4FA102F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813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2534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62534"/>
                </a:solidFill>
                <a:latin typeface="Avenir Next"/>
                <a:ea typeface="Avenir Next"/>
                <a:cs typeface="Avenir Next"/>
              </a:rPr>
              <a:t>Informar que no hay evidencia suficiente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A1E52-95DD-4A48-9994-C7CDC8C6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Alcance de la conclusión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A7D00-6B8D-4A94-98CB-D64ECCF0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1575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Vestíbulo Principal · supuestos calibrados · geometría validada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773216-1337-4F45-9A8D-689C81F3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73B3B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C73B3B"/>
                </a:solidFill>
                <a:latin typeface="Avenir Next"/>
                <a:ea typeface="Avenir Next"/>
                <a:cs typeface="Avenir Next"/>
              </a:rPr>
              <a:t>La espera real requiere datos de campo o validación operativa documentada.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FBCEB-D552-4BC8-8D80-81FFE069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90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SIM · TPI Constitución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E57E07-102C-4873-B9B6-AB3A95F3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90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488769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2026-09-24T13:02:13.9010000Z</dcterms:created>
  <dcterms:modified xsi:type="dcterms:W3CDTF">2026-09-24T13:02:13.9010000Z</dcterms:modified>
</coreProperties>
</file>