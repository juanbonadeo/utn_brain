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tapa 1 · Modelado" id="{e50d6414-50db-fc8d-05b1-68888e2b3de6}">
          <p14:sldIdLst>
            <p14:sldId id="256"/>
            <p14:sldId id="257"/>
          </p14:sldIdLst>
        </p14:section>
        <p14:section name="Etapa 2 · Sensibilidad y PLE" id="{2eb4c66f-7a24-ba96-10e7-2dc17b582bdc}">
          <p14:sldIdLst>
            <p14:sldId id="258"/>
            <p14:sldId id="259"/>
          </p14:sldIdLst>
        </p14:section>
        <p14:section name="Etapa 3 · Gestión de stock" id="{7f456a8c-8ec9-7e8b-4873-1ecf538a1da9}">
          <p14:sldIdLst>
            <p14:sldId id="260"/>
            <p14:sldId id="261"/>
            <p14:sldId id="262"/>
            <p14:sldId id="263"/>
            <p14:sldId id="264"/>
            <p14:sldId id="265"/>
          </p14:sldIdLst>
        </p14:section>
        <p14:section name="Cierre" id="{764af5a2-444a-5a71-df36-3d761144b366}">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somos el Grupo 1 de la comisión 402 y vamos a presentar la defensa final de nuestro trabajo integrador de Investigación Operativa. Nuestro caso es una fábrica autopartista que produce tres tipos de juntas de corcho para motores: de tapa de cilindros, de cárter y de múltiple.
A lo largo del año trabajamos el caso en tres etapas. En la primera formulamos el modelo lineal y encontramos el plan de producción óptimo. En la segunda analizamos cuánto vale cada recurso y qué decisiones se desprenden de esa solución.
En la tercera pasamos de la producción a las compras: definimos cuánto y cuándo pedir el corcho, que es nuestro insumo principal. Vamos a recorrer las tres etapas y cerrar con las conclusiones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variables son los lotes semanales de cada tipo de junta; cada lote equivale a cien juntas. Maximizamos el beneficio, en miles de pesos, con cuatro restricciones: el corcho disponible, las horas de troquelado, la capacidad de despacho y un mínimo contractual de ciento cincuenta lotes.
Lo resolvimos con el método Simplex, usando el método de la M grande por la restricción de mayor o igual. El óptimo es fabricar ochenta lotes de tapa de cilindros, veinte de cárter y cincuenta de múltiple, con un beneficio de seis millones seiscientos mil pesos por semana.
Lo más importante para lo que sigue es qué recursos se agotan. Las horas de máquina, el despacho y el mínimo contractual quedan justos. El corcho, en cambio, sobra: usamos trescientos treinta de los seiscientos metros cuadrados. Ese consumo y ese sobrante son el hilo del resto del proyecto. Luis sigue con la etapa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segunda etapa planteamos el modelo dual. Sus variables son los precios sombra: el valor de una unidad adicional de cada recurso.
El corcho vale cero, porque ya sobra. Una hora más de máquina aporta veinte mil pesos y un lote más de capacidad de despacho, treinta mil. El mínimo contractual tiene precio sombra negativo: cada lote extra que nos exijan nos cuesta sesenta mil pesos.
Además calculamos dos rangos de sensibilidad. La ganancia del cárter puede subir hasta cuarenta mil pesos por lote sin que cambie el plan. Las horas de máquina pueden moverse entre cuatrocientas y quinientas por semana manteniendo la misma base: si conseguimos veinte horas más, el beneficio sube cuatrocientos mil pesos y llega a siete millones semanales. Fuera de esos rangos hay que volver a optimizar.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esos precios sombra evaluamos dos decisiones. La primera era fabricar un producto nuevo, la junta de bomba de agua, con una ganancia de cuarenta y cinco mil pesos por lote. Valorando los recursos que consume, su costo de oportunidad es de sesenta mil. El costo reducido da menos quince mil: aunque deja ganancia, no conviene, porque desplaza producción que rinde más.
La segunda fue aprovechar los doscientos setenta metros cuadrados de corcho sobrante con pedidos especiales de terceros. Como cada pedido se acepta entero o se rechaza, lo planteamos como un problema de mochila binaria y lo resolvimos con Branch and Bound.
La relajación dio una cota de trescientos cuarenta y nueve, y el óptimo entero es aceptar los pedidos uno, dos y cuatro: trescientos cuarenta y cinco mil pesos más por semana, usando todo el sobrante. Stéfano sigue con la etapa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tercera etapa pasamos de cuánto producir a cómo abastecernos. Elegimos el corcho por dos razones: es el insumo principal de las tres juntas y es el único recurso con sobrante, así que hay margen para replantear cuánto y cuándo comprarlo sin afectar la producción.
La demanda sale del plan óptimo: trescientos treinta metros cuadrados por semana, por cincuenta y dos semanas, da diecisiete mil ciento sesenta metros cuadrados al año. También incorporamos el sellador que usa la bañadora, porque comparte el depósito con el corcho.
Aplicamos tres modelos, y cada uno responde una pregunta. El determinístico con descuento dice cuánto conviene pedir por costo. El modelo con restricción verifica si ese lote entra en el depósito. Y el aleatorio dice cuándo pedir para no quedarnos sin corcho.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proveedor cobra dos mil quinientos pesos el metro cuadrado, pero baja a dos mil trescientos cincuenta si el pedido es de dos mil metros o más. Cada pedido cuesta cuarenta y cinco mil pesos y mantener el stock cuesta el veintiocho por ciento anual del precio.
Primero calculamos el lote óptimo con el precio con descuento: da mil quinientos treinta y dos metros cuadrados. Como no llega al umbral de dos mil, el descuento no se gana solo y hay que comparar costos totales.
Con el precio normal, el lote óptimo es de mil cuatrocientos ochenta y cinco metros y el costo anual es de casi cuarenta y cuatro millones. Si forzamos el pedido a dos mil metros para acceder al descuento, el costo baja a cuarenta y un millones trescientos setenta mil: un ahorro de unos dos millones quinientos setenta mil pesos por año.
Pero hay un detalle: dos mil metros cuadrados de corcho ocupan cien metros cúbicos de depósito. Martín va a mostrar qué pasa con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corcho y el sellador comparten un depósito de sesenta metros cúbicos. El corcho ocupa cinco centésimos de metro cúbico por metro cuadrado y el sellador, dos centésimos por litro.
Si pedimos cada insumo con su lote óptimo sin restricción, mil cuatrocientos ochenta y cinco metros de corcho y trescientos nueve litros de sellador, necesitamos ochenta coma cuatro metros cúbicos. No entra, así que la restricción es efectiva y la resolvemos con multiplicadores de Lagrange.
El multiplicador lambda se suma al costo de mantener cada insumo en proporción al espacio que ocupa. Fuimos subiendo lambda hasta que el espacio usado quedó exactamente en sesenta: eso pasa con lambda igual a cinco mil ochocientos veinte pesos por metro cúbico. Los lotes óptimos quedan en mil noventa y ocho metros cuadrados de corcho y doscientos cincuenta y cinco litros de sellador, un veintiséis y un diecisiete por ciento menos que sin restricción.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juntamos los dos modelos aparece la conclusión clave de la etapa: el lote de dos mil metros que pedía el descuento ocupa cien metros cúbicos, y el depósito tiene sesenta. Con la infraestructura actual el descuento no se puede aprovechar, y por eso la política correcta es la del modelo restringido, pagando el precio normal.
Lambda nos da el valor del espacio: cinco mil ochocientos veinte pesos por año por cada metro cúbico adicional, en el margen. Pero para llegar al descuento no alcanza con un metro más: hay que ampliar el depósito a unos ciento seis metros cúbicos, cuarenta y seis más que hoy.
Con esa ampliación, el costo anual conjunto baja de cuarenta y seis millones trescientos mil a cuarenta y tres millones setecientos mil pesos: un ahorro de unos dos millones seiscientos mil por año. Ampliar conviene si cuesta menos de cincuenta y seis mil setecientos cincuenta pesos por metro cúbico y por 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supusimos una demanda constante, pero el consumo de corcho varía semana a semana según el mix de juntas que se vende. Por eso aplicamos un modelo aleatorio.
La demanda diaria media es de cuarenta y siete metros cuadrados, con un desvío de ocho. El proveedor tarda diez días en entregar. Durante ese plazo, la demanda esperada es de cuatrocientos setenta metros cuadrados y su desvío es ocho por raíz de diez, unos veinticinco metros.
Aceptamos un riesgo de faltante del cinco por ciento, que en la distribución normal corresponde a zeta igual a uno coma seiscientos cuarenta y cinco. El stock de seguridad es zeta por el desvío: cuarenta y dos metros cuadrados. Y el punto de pedido es la demanda esperada más ese colchón: quinientos doce metros cuadrados.
Si pidiéramos justo a cuatrocientos setenta, sin colchón, nos quedaríamos sin corcho en la mitad de los ciclos.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Juntando los tres modelos, la política de compra del corcho queda así: cada vez que el stock disponible, contando lo que ya está pedido, baja a quinientos doce metros cuadrados, se pide un lote de mil noventa y ocho.
Eso da unos quince pedidos y medio por año, uno cada veintitrés días aproximadamente, y asegura no quedarnos sin corcho durante la entrega en el noventa y cinco por ciento de los ciclos. El sellador se pide en lotes de doscientos cincuenta y cinco litros.
En la tabla se ve el resumen: el lote de dos mil metros queda como referencia, porque requiere ampliar el depósito. El stock de seguridad solo corresponde al modelo aleatorio, porque en los determinísticos la demanda se conoce con certeza. Gonzalo cierra con las conclusiones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resumimos qué decisiones concretas le deja el proyecto a la empresa. De la primera etapa, el plan de producción: ochenta, veinte y cincuenta lotes, con seis millones seiscientos mil pesos semanales.
De la segunda, tres decisiones. Ampliar horas de máquina o despacho solo si cuestan menos que su precio sombra, veinte mil pesos la hora y treinta mil el lote. No incorporar la junta de bomba de agua. Y aceptar los pedidos especiales uno, dos y cuatro, que suman trescientos cuarenta y cinco mil pesos por semana.
De la tercera, la política de compra: pedir mil noventa y ocho metros cuadrados de corcho al llegar a quinientos doce, y evaluar la ampliación del depósito, que habilitaría el descuento y un ahorro de unos dos millones seiscientos mil pesos por año si su costo es razonable.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principal conclusión es que el modelo no termina en un número. El plan óptimo nos dijo cuánto producir, pero también qué recursos son cuello de botella y cuánto vale aflojarlos.
El análisis de sensibilidad y dualidad nos permitió evaluar cambios y oportunidades sin resolver todo de nuevo, y descartar una idea que parecía buena, como la junta de bomba de agua.
Y la gestión de stock mostró que, en las compras, la restricción que manda es el depósito y no el precio: el descuento solo es aprovechable si se amplía el espacio.
En conjunto, la fábrica puede mejorar su rentabilidad por varios frentes a la vez, producción, capacidad, pedidos especiales y compras, sin depender de un único cambio drástico.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831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72800" cy="950976"/>
          </a:xfrm>
          <a:prstGeom prst="rect">
            <a:avLst/>
          </a:prstGeom>
          <a:noFill/>
          <a:ln/>
        </p:spPr>
        <p:txBody>
          <a:bodyPr wrap="square" rtlCol="0"/>
          <a:lstStyle>
            <a:lvl1pPr algn="l" indent="0" marL="0">
              <a:buNone/>
              <a:defRPr lang="en-US" sz="3300" b="1" dirty="0">
                <a:solidFill>
                  <a:schemeClr val="bg1"/>
                </a:solidFill>
                <a:latin typeface="Helvetica Neue" pitchFamily="34" charset="0"/>
                <a:ea typeface="Helvetica Neue" pitchFamily="34" charset="-122"/>
                <a:cs typeface="Helvetica Neue" pitchFamily="34" charset="-120"/>
              </a:defRPr>
            </a:lvl1pPr>
          </a:lstStyle>
          <a:p>
            <a:pPr algn="l" indent="0" marL="0">
              <a:buNone/>
            </a:pPr>
            <a:endParaRPr lang="en-US" sz="33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accent3"/>
                </a:solidFill>
                <a:latin typeface="Helvetica Neue"/>
                <a:ea typeface="Helvetica Neue"/>
                <a:cs typeface="Helvetica Neue"/>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7F6F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493776"/>
            <a:ext cx="10972800" cy="950976"/>
          </a:xfrm>
          <a:prstGeom prst="rect">
            <a:avLst/>
          </a:prstGeom>
          <a:noFill/>
          <a:ln/>
        </p:spPr>
        <p:txBody>
          <a:bodyPr wrap="square" rtlCol="0"/>
          <a:lstStyle>
            <a:lvl1pPr algn="l" indent="0" marL="0">
              <a:buNone/>
              <a:defRPr lang="en-US" sz="3300" b="1" dirty="0">
                <a:solidFill>
                  <a:schemeClr val="tx1"/>
                </a:solidFill>
                <a:latin typeface="Helvetica Neue" pitchFamily="34" charset="0"/>
                <a:ea typeface="Helvetica Neue" pitchFamily="34" charset="-122"/>
                <a:cs typeface="Helvetica Neue" pitchFamily="34" charset="-120"/>
              </a:defRPr>
            </a:lvl1pPr>
          </a:lstStyle>
          <a:p>
            <a:pPr algn="l" indent="0" marL="0">
              <a:buNone/>
            </a:pPr>
            <a:endParaRPr lang="en-US" sz="33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accent3"/>
                </a:solidFill>
                <a:latin typeface="Helvetica Neue"/>
                <a:ea typeface="Helvetica Neue"/>
                <a:cs typeface="Helvetica Neue"/>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bg1"/>
                </a:solidFill>
                <a:latin typeface="Helvetica Neue" pitchFamily="34" charset="0"/>
                <a:ea typeface="Helvetica Neue" pitchFamily="34" charset="-122"/>
                <a:cs typeface="Helvetica Neue" pitchFamily="34" charset="-120"/>
              </a:rPr>
              <a:t>Juntas de motor</a:t>
            </a:r>
            <a:endParaRPr lang="en-US" sz="3300" dirty="0"/>
          </a:p>
        </p:txBody>
      </p:sp>
      <p:sp>
        <p:nvSpPr>
          <p:cNvPr id="4" name="Titulo principal"/>
          <p:cNvSpPr txBox="1"/>
          <p:nvPr/>
        </p:nvSpPr>
        <p:spPr>
          <a:xfrm>
            <a:off x="612648" y="1828800"/>
            <a:ext cx="6400800" cy="1737360"/>
          </a:xfrm>
          <a:prstGeom prst="rect">
            <a:avLst/>
          </a:prstGeom>
          <a:noFill/>
          <a:ln/>
        </p:spPr>
        <p:txBody>
          <a:bodyPr wrap="square" lIns="0" tIns="0" rIns="0" bIns="0" rtlCol="0" anchor="t"/>
          <a:lstStyle/>
          <a:p>
            <a:pPr indent="0" marL="0">
              <a:buNone/>
            </a:pPr>
            <a:r>
              <a:rPr lang="en-US" sz="4600" b="1" dirty="0">
                <a:solidFill>
                  <a:schemeClr val="bg1"/>
                </a:solidFill>
                <a:latin typeface="Helvetica Neue" pitchFamily="34" charset="0"/>
                <a:ea typeface="Helvetica Neue" pitchFamily="34" charset="-122"/>
                <a:cs typeface="Helvetica Neue" pitchFamily="34" charset="-120"/>
              </a:rPr>
              <a:t>Defensa final</a:t>
            </a:r>
            <a:endParaRPr lang="en-US" sz="4600" dirty="0"/>
          </a:p>
          <a:p>
            <a:pPr indent="0" marL="0">
              <a:buNone/>
            </a:pPr>
            <a:r>
              <a:rPr lang="en-US" sz="4600" b="1" dirty="0">
                <a:solidFill>
                  <a:schemeClr val="bg1"/>
                </a:solidFill>
                <a:latin typeface="Helvetica Neue" pitchFamily="34" charset="0"/>
                <a:ea typeface="Helvetica Neue" pitchFamily="34" charset="-122"/>
                <a:cs typeface="Helvetica Neue" pitchFamily="34" charset="-120"/>
              </a:rPr>
              <a:t>del proyecto</a:t>
            </a:r>
            <a:endParaRPr lang="en-US" sz="4600" dirty="0"/>
          </a:p>
        </p:txBody>
      </p:sp>
      <p:sp>
        <p:nvSpPr>
          <p:cNvPr id="5" name="Text 2"/>
          <p:cNvSpPr txBox="1"/>
          <p:nvPr/>
        </p:nvSpPr>
        <p:spPr>
          <a:xfrm>
            <a:off x="640080" y="3886200"/>
            <a:ext cx="6400800" cy="457200"/>
          </a:xfrm>
          <a:prstGeom prst="rect">
            <a:avLst/>
          </a:prstGeom>
          <a:noFill/>
          <a:ln/>
        </p:spPr>
        <p:txBody>
          <a:bodyPr wrap="square" lIns="0" tIns="0" rIns="0" bIns="0" rtlCol="0" anchor="t"/>
          <a:lstStyle/>
          <a:p>
            <a:pPr indent="0" marL="0">
              <a:buNone/>
            </a:pPr>
            <a:r>
              <a:rPr lang="en-US" sz="2100" dirty="0">
                <a:solidFill>
                  <a:schemeClr val="accent3"/>
                </a:solidFill>
                <a:latin typeface="Helvetica Neue" pitchFamily="34" charset="0"/>
                <a:ea typeface="Helvetica Neue" pitchFamily="34" charset="-122"/>
                <a:cs typeface="Helvetica Neue" pitchFamily="34" charset="-120"/>
              </a:rPr>
              <a:t>Trabajo Práctico Integrador · Etapas 1, 2 y 3</a:t>
            </a:r>
            <a:endParaRPr lang="en-US" sz="2100" dirty="0"/>
          </a:p>
        </p:txBody>
      </p:sp>
      <p:sp>
        <p:nvSpPr>
          <p:cNvPr id="6" name="Text 3"/>
          <p:cNvSpPr txBox="1"/>
          <p:nvPr/>
        </p:nvSpPr>
        <p:spPr>
          <a:xfrm>
            <a:off x="640080" y="4846320"/>
            <a:ext cx="6400800" cy="1097280"/>
          </a:xfrm>
          <a:prstGeom prst="rect">
            <a:avLst/>
          </a:prstGeom>
          <a:noFill/>
          <a:ln/>
        </p:spPr>
        <p:txBody>
          <a:bodyPr wrap="square" lIns="0" tIns="0" rIns="0" bIns="0" rtlCol="0" anchor="t"/>
          <a:lstStyle/>
          <a:p>
            <a:pPr indent="0" marL="0">
              <a:lnSpc>
                <a:spcPct val="110000"/>
              </a:lnSpc>
              <a:buNone/>
            </a:pPr>
            <a:r>
              <a:rPr lang="en-US" sz="1700" dirty="0">
                <a:solidFill>
                  <a:schemeClr val="accent3"/>
                </a:solidFill>
                <a:latin typeface="Helvetica Neue" pitchFamily="34" charset="0"/>
                <a:ea typeface="Helvetica Neue" pitchFamily="34" charset="-122"/>
                <a:cs typeface="Helvetica Neue" pitchFamily="34" charset="-120"/>
              </a:rPr>
              <a:t>Investigación Operativa</a:t>
            </a:r>
            <a:endParaRPr lang="en-US" sz="1700" dirty="0"/>
          </a:p>
          <a:p>
            <a:pPr indent="0" marL="0">
              <a:lnSpc>
                <a:spcPct val="110000"/>
              </a:lnSpc>
              <a:buNone/>
            </a:pPr>
            <a:r>
              <a:rPr lang="en-US" sz="1700" dirty="0">
                <a:solidFill>
                  <a:schemeClr val="accent3"/>
                </a:solidFill>
                <a:latin typeface="Helvetica Neue" pitchFamily="34" charset="0"/>
                <a:ea typeface="Helvetica Neue" pitchFamily="34" charset="-122"/>
                <a:cs typeface="Helvetica Neue" pitchFamily="34" charset="-120"/>
              </a:rPr>
              <a:t>UTN Facultad Regional Rosario</a:t>
            </a:r>
            <a:endParaRPr lang="en-US" sz="1700" dirty="0"/>
          </a:p>
          <a:p>
            <a:pPr indent="0" marL="0">
              <a:lnSpc>
                <a:spcPct val="110000"/>
              </a:lnSpc>
              <a:buNone/>
            </a:pPr>
            <a:r>
              <a:rPr lang="en-US" sz="1700" dirty="0">
                <a:solidFill>
                  <a:schemeClr val="accent3"/>
                </a:solidFill>
                <a:latin typeface="Helvetica Neue" pitchFamily="34" charset="0"/>
                <a:ea typeface="Helvetica Neue" pitchFamily="34" charset="-122"/>
                <a:cs typeface="Helvetica Neue" pitchFamily="34" charset="-120"/>
              </a:rPr>
              <a:t>Comisión 402 · Grupo 1</a:t>
            </a:r>
            <a:endParaRPr lang="en-US" sz="1700" dirty="0"/>
          </a:p>
        </p:txBody>
      </p:sp>
      <p:sp>
        <p:nvSpPr>
          <p:cNvPr id="7" name="Etapa 01"/>
          <p:cNvSpPr txBox="1"/>
          <p:nvPr/>
        </p:nvSpPr>
        <p:spPr>
          <a:xfrm>
            <a:off x="7589520" y="1874520"/>
            <a:ext cx="822960" cy="548640"/>
          </a:xfrm>
          <a:prstGeom prst="rect">
            <a:avLst/>
          </a:prstGeom>
          <a:noFill/>
          <a:ln/>
        </p:spPr>
        <p:txBody>
          <a:bodyPr wrap="square" lIns="0" tIns="0" rIns="0" bIns="0" rtlCol="0" anchor="t"/>
          <a:lstStyle/>
          <a:p>
            <a:pPr indent="0" marL="0">
              <a:buNone/>
            </a:pPr>
            <a:r>
              <a:rPr lang="en-US" sz="3000" b="1" dirty="0">
                <a:solidFill>
                  <a:schemeClr val="accent2"/>
                </a:solidFill>
                <a:latin typeface="Helvetica Neue" pitchFamily="34" charset="0"/>
                <a:ea typeface="Helvetica Neue" pitchFamily="34" charset="-122"/>
                <a:cs typeface="Helvetica Neue" pitchFamily="34" charset="-120"/>
              </a:rPr>
              <a:t>01</a:t>
            </a:r>
            <a:endParaRPr lang="en-US" sz="3000" dirty="0"/>
          </a:p>
        </p:txBody>
      </p:sp>
      <p:sp>
        <p:nvSpPr>
          <p:cNvPr id="8" name="Text 5"/>
          <p:cNvSpPr txBox="1"/>
          <p:nvPr/>
        </p:nvSpPr>
        <p:spPr>
          <a:xfrm>
            <a:off x="8458200" y="1920240"/>
            <a:ext cx="3108960" cy="868680"/>
          </a:xfrm>
          <a:prstGeom prst="rect">
            <a:avLst/>
          </a:prstGeom>
          <a:noFill/>
          <a:ln/>
        </p:spPr>
        <p:txBody>
          <a:bodyPr wrap="square" lIns="0" tIns="0" rIns="0" bIns="0" rtlCol="0" anchor="t"/>
          <a:lstStyle/>
          <a:p>
            <a:pPr indent="0" marL="0">
              <a:buNone/>
            </a:pPr>
            <a:r>
              <a:rPr lang="en-US" sz="1800" dirty="0">
                <a:solidFill>
                  <a:schemeClr val="bg1"/>
                </a:solidFill>
                <a:latin typeface="Helvetica Neue" pitchFamily="34" charset="0"/>
                <a:ea typeface="Helvetica Neue" pitchFamily="34" charset="-122"/>
                <a:cs typeface="Helvetica Neue" pitchFamily="34" charset="-120"/>
              </a:rPr>
              <a:t>Modelado y resolución lineal</a:t>
            </a:r>
            <a:endParaRPr lang="en-US" sz="1800" dirty="0"/>
          </a:p>
        </p:txBody>
      </p:sp>
      <p:sp>
        <p:nvSpPr>
          <p:cNvPr id="9" name="Etapa 02"/>
          <p:cNvSpPr txBox="1"/>
          <p:nvPr/>
        </p:nvSpPr>
        <p:spPr>
          <a:xfrm>
            <a:off x="7589520" y="3063240"/>
            <a:ext cx="822960" cy="548640"/>
          </a:xfrm>
          <a:prstGeom prst="rect">
            <a:avLst/>
          </a:prstGeom>
          <a:noFill/>
          <a:ln/>
        </p:spPr>
        <p:txBody>
          <a:bodyPr wrap="square" lIns="0" tIns="0" rIns="0" bIns="0" rtlCol="0" anchor="t"/>
          <a:lstStyle/>
          <a:p>
            <a:pPr indent="0" marL="0">
              <a:buNone/>
            </a:pPr>
            <a:r>
              <a:rPr lang="en-US" sz="3000" b="1" dirty="0">
                <a:solidFill>
                  <a:schemeClr val="accent2"/>
                </a:solidFill>
                <a:latin typeface="Helvetica Neue" pitchFamily="34" charset="0"/>
                <a:ea typeface="Helvetica Neue" pitchFamily="34" charset="-122"/>
                <a:cs typeface="Helvetica Neue" pitchFamily="34" charset="-120"/>
              </a:rPr>
              <a:t>02</a:t>
            </a:r>
            <a:endParaRPr lang="en-US" sz="3000" dirty="0"/>
          </a:p>
        </p:txBody>
      </p:sp>
      <p:sp>
        <p:nvSpPr>
          <p:cNvPr id="10" name="Text 7"/>
          <p:cNvSpPr txBox="1"/>
          <p:nvPr/>
        </p:nvSpPr>
        <p:spPr>
          <a:xfrm>
            <a:off x="8458200" y="3108960"/>
            <a:ext cx="3108960" cy="868680"/>
          </a:xfrm>
          <a:prstGeom prst="rect">
            <a:avLst/>
          </a:prstGeom>
          <a:noFill/>
          <a:ln/>
        </p:spPr>
        <p:txBody>
          <a:bodyPr wrap="square" lIns="0" tIns="0" rIns="0" bIns="0" rtlCol="0" anchor="t"/>
          <a:lstStyle/>
          <a:p>
            <a:pPr indent="0" marL="0">
              <a:buNone/>
            </a:pPr>
            <a:r>
              <a:rPr lang="en-US" sz="1800" dirty="0">
                <a:solidFill>
                  <a:schemeClr val="bg1"/>
                </a:solidFill>
                <a:latin typeface="Helvetica Neue" pitchFamily="34" charset="0"/>
                <a:ea typeface="Helvetica Neue" pitchFamily="34" charset="-122"/>
                <a:cs typeface="Helvetica Neue" pitchFamily="34" charset="-120"/>
              </a:rPr>
              <a:t>Sensibilidad, dualidad y programación entera</a:t>
            </a:r>
            <a:endParaRPr lang="en-US" sz="1800" dirty="0"/>
          </a:p>
        </p:txBody>
      </p:sp>
      <p:sp>
        <p:nvSpPr>
          <p:cNvPr id="11" name="Etapa 03"/>
          <p:cNvSpPr txBox="1"/>
          <p:nvPr/>
        </p:nvSpPr>
        <p:spPr>
          <a:xfrm>
            <a:off x="7589520" y="4251960"/>
            <a:ext cx="822960" cy="548640"/>
          </a:xfrm>
          <a:prstGeom prst="rect">
            <a:avLst/>
          </a:prstGeom>
          <a:noFill/>
          <a:ln/>
        </p:spPr>
        <p:txBody>
          <a:bodyPr wrap="square" lIns="0" tIns="0" rIns="0" bIns="0" rtlCol="0" anchor="t"/>
          <a:lstStyle/>
          <a:p>
            <a:pPr indent="0" marL="0">
              <a:buNone/>
            </a:pPr>
            <a:r>
              <a:rPr lang="en-US" sz="3000" b="1" dirty="0">
                <a:solidFill>
                  <a:schemeClr val="accent2"/>
                </a:solidFill>
                <a:latin typeface="Helvetica Neue" pitchFamily="34" charset="0"/>
                <a:ea typeface="Helvetica Neue" pitchFamily="34" charset="-122"/>
                <a:cs typeface="Helvetica Neue" pitchFamily="34" charset="-120"/>
              </a:rPr>
              <a:t>03</a:t>
            </a:r>
            <a:endParaRPr lang="en-US" sz="3000" dirty="0"/>
          </a:p>
        </p:txBody>
      </p:sp>
      <p:sp>
        <p:nvSpPr>
          <p:cNvPr id="12" name="Text 9"/>
          <p:cNvSpPr txBox="1"/>
          <p:nvPr/>
        </p:nvSpPr>
        <p:spPr>
          <a:xfrm>
            <a:off x="8458200" y="4297680"/>
            <a:ext cx="3108960" cy="868680"/>
          </a:xfrm>
          <a:prstGeom prst="rect">
            <a:avLst/>
          </a:prstGeom>
          <a:noFill/>
          <a:ln/>
        </p:spPr>
        <p:txBody>
          <a:bodyPr wrap="square" lIns="0" tIns="0" rIns="0" bIns="0" rtlCol="0" anchor="t"/>
          <a:lstStyle/>
          <a:p>
            <a:pPr indent="0" marL="0">
              <a:buNone/>
            </a:pPr>
            <a:r>
              <a:rPr lang="en-US" sz="1800" dirty="0">
                <a:solidFill>
                  <a:schemeClr val="bg1"/>
                </a:solidFill>
                <a:latin typeface="Helvetica Neue" pitchFamily="34" charset="0"/>
                <a:ea typeface="Helvetica Neue" pitchFamily="34" charset="-122"/>
                <a:cs typeface="Helvetica Neue" pitchFamily="34" charset="-120"/>
              </a:rPr>
              <a:t>Decisiones lógicas y gestión de stock</a:t>
            </a:r>
            <a:endParaRPr lang="en-US" sz="18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accent3"/>
                </a:solidFill>
                <a:latin typeface="Helvetica Neue"/>
                <a:ea typeface="Helvetica Neue"/>
                <a:cs typeface="Helvetica Neue"/>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El plan de producción óptimo</a:t>
            </a:r>
            <a:endParaRPr lang="en-US" sz="3300" dirty="0"/>
          </a:p>
        </p:txBody>
      </p:sp>
      <p:sp>
        <p:nvSpPr>
          <p:cNvPr id="4" name="Text 1"/>
          <p:cNvSpPr txBox="1"/>
          <p:nvPr/>
        </p:nvSpPr>
        <p:spPr>
          <a:xfrm>
            <a:off x="612648" y="1645920"/>
            <a:ext cx="5669280" cy="457200"/>
          </a:xfrm>
          <a:prstGeom prst="rect">
            <a:avLst/>
          </a:prstGeom>
          <a:noFill/>
          <a:ln/>
        </p:spPr>
        <p:txBody>
          <a:bodyPr wrap="square" lIns="0" tIns="0" rIns="0" bIns="0" rtlCol="0" anchor="t"/>
          <a:lstStyle/>
          <a:p>
            <a:pPr indent="0" marL="0">
              <a:buNone/>
            </a:pPr>
            <a:r>
              <a:rPr lang="en-US" sz="2200" b="1" dirty="0">
                <a:solidFill>
                  <a:schemeClr val="accent1"/>
                </a:solidFill>
                <a:latin typeface="Helvetica Neue" pitchFamily="34" charset="0"/>
                <a:ea typeface="Helvetica Neue" pitchFamily="34" charset="-122"/>
                <a:cs typeface="Helvetica Neue" pitchFamily="34" charset="-120"/>
              </a:rPr>
              <a:t>Max Z = 50X₁ + 30X₂ + 40X₃</a:t>
            </a:r>
            <a:endParaRPr lang="en-US" sz="2200" dirty="0"/>
          </a:p>
        </p:txBody>
      </p:sp>
      <p:graphicFrame>
        <p:nvGraphicFramePr>
          <p:cNvPr id="3" name="Tabla restricciones"/>
          <p:cNvGraphicFramePr>
            <a:graphicFrameLocks noGrp="1"/>
          </p:cNvGraphicFramePr>
          <p:nvPr>
            <p:extLst>
              <p:ext uri="{D42A27DB-BD31-4B8C-83A1-F6EECF244321}">
                <p14:modId xmlns:p14="http://schemas.microsoft.com/office/powerpoint/2010/main" val="1579011935"/>
              </p:ext>
            </p:extLst>
          </p:nvPr>
        </p:nvGraphicFramePr>
        <p:xfrm>
          <a:off x="612648" y="2286000"/>
          <a:ext cx="5669280" cy="914400"/>
        </p:xfrm>
        <a:graphic>
          <a:graphicData uri="http://schemas.openxmlformats.org/drawingml/2006/table">
            <a:tbl>
              <a:tblPr/>
              <a:tblGrid>
                <a:gridCol w="2377440"/>
                <a:gridCol w="1645920"/>
                <a:gridCol w="1645920"/>
              </a:tblGrid>
              <a:tr h="512064">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Restricción</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Uso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Estado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Corcho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330 de 600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Sobran 270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Horas de máquina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480 de 480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Activa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Despacho (lotes)</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200 de 200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Activa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Mínimo contractual</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150 ≥ 150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Activa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6" name="Beneficio valor"/>
          <p:cNvSpPr txBox="1"/>
          <p:nvPr/>
        </p:nvSpPr>
        <p:spPr>
          <a:xfrm>
            <a:off x="6812280" y="1600200"/>
            <a:ext cx="4754880" cy="701040"/>
          </a:xfrm>
          <a:prstGeom prst="rect">
            <a:avLst/>
          </a:prstGeom>
          <a:noFill/>
          <a:ln/>
        </p:spPr>
        <p:txBody>
          <a:bodyPr wrap="square" lIns="0" tIns="0" rIns="0" bIns="0" rtlCol="0" anchor="t"/>
          <a:lstStyle/>
          <a:p>
            <a:pPr indent="0" marL="0">
              <a:buNone/>
            </a:pPr>
            <a:r>
              <a:rPr lang="en-US" sz="4600" b="1" dirty="0">
                <a:solidFill>
                  <a:schemeClr val="accent1"/>
                </a:solidFill>
                <a:latin typeface="Helvetica Neue" pitchFamily="34" charset="0"/>
                <a:ea typeface="Helvetica Neue" pitchFamily="34" charset="-122"/>
                <a:cs typeface="Helvetica Neue" pitchFamily="34" charset="-120"/>
              </a:rPr>
              <a:t>$6.600.000</a:t>
            </a:r>
            <a:endParaRPr lang="en-US" sz="4600" dirty="0"/>
          </a:p>
        </p:txBody>
      </p:sp>
      <p:sp>
        <p:nvSpPr>
          <p:cNvPr id="7" name="Beneficio etiqueta"/>
          <p:cNvSpPr txBox="1"/>
          <p:nvPr/>
        </p:nvSpPr>
        <p:spPr>
          <a:xfrm>
            <a:off x="6812280" y="2374392"/>
            <a:ext cx="475488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Beneficio semanal</a:t>
            </a:r>
            <a:endParaRPr lang="en-US" sz="1600" dirty="0"/>
          </a:p>
        </p:txBody>
      </p:sp>
      <p:graphicFrame>
        <p:nvGraphicFramePr>
          <p:cNvPr id="5" name="Tabla plan"/>
          <p:cNvGraphicFramePr>
            <a:graphicFrameLocks noGrp="1"/>
          </p:cNvGraphicFramePr>
          <p:nvPr>
            <p:extLst>
              <p:ext uri="{D42A27DB-BD31-4B8C-83A1-F6EECF244321}">
                <p14:modId xmlns:p14="http://schemas.microsoft.com/office/powerpoint/2010/main" val="1579011935"/>
              </p:ext>
            </p:extLst>
          </p:nvPr>
        </p:nvGraphicFramePr>
        <p:xfrm>
          <a:off x="6812280" y="3063240"/>
          <a:ext cx="4754880" cy="914400"/>
        </p:xfrm>
        <a:graphic>
          <a:graphicData uri="http://schemas.openxmlformats.org/drawingml/2006/table">
            <a:tbl>
              <a:tblPr/>
              <a:tblGrid>
                <a:gridCol w="2743200"/>
                <a:gridCol w="2011680"/>
              </a:tblGrid>
              <a:tr h="512064">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Producto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Lotes por semana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Tapa de cilindros</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80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Cárter</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20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Múltiple</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50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bl>
          </a:graphicData>
        </a:graphic>
      </p:graphicFrame>
      <p:sp>
        <p:nvSpPr>
          <p:cNvPr id="9" name="Text 4"/>
          <p:cNvSpPr txBox="1"/>
          <p:nvPr/>
        </p:nvSpPr>
        <p:spPr>
          <a:xfrm>
            <a:off x="612648" y="5394960"/>
            <a:ext cx="10972800" cy="548640"/>
          </a:xfrm>
          <a:prstGeom prst="rect">
            <a:avLst/>
          </a:prstGeom>
          <a:noFill/>
          <a:ln/>
        </p:spPr>
        <p:txBody>
          <a:bodyPr wrap="square" lIns="0" tIns="0" rIns="0" bIns="0" rtlCol="0" anchor="t"/>
          <a:lstStyle/>
          <a:p>
            <a:pPr indent="0" marL="0">
              <a:buNone/>
            </a:pPr>
            <a:r>
              <a:rPr lang="en-US" sz="1500" dirty="0">
                <a:solidFill>
                  <a:schemeClr val="tx2"/>
                </a:solidFill>
                <a:latin typeface="Helvetica Neue" pitchFamily="34" charset="0"/>
                <a:ea typeface="Helvetica Neue" pitchFamily="34" charset="-122"/>
                <a:cs typeface="Helvetica Neue" pitchFamily="34" charset="-120"/>
              </a:rPr>
              <a:t>Resuelto por Simplex con el método de la M grande. 1 lote = 100 juntas. Beneficios del modelo en miles de pesos.</a:t>
            </a:r>
            <a:endParaRPr lang="en-US" sz="15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Cuánto vale cada recurso</a:t>
            </a:r>
            <a:endParaRPr lang="en-US" sz="3300" dirty="0"/>
          </a:p>
        </p:txBody>
      </p:sp>
      <p:graphicFrame>
        <p:nvGraphicFramePr>
          <p:cNvPr id="4" name="Tabla precios sombra"/>
          <p:cNvGraphicFramePr>
            <a:graphicFrameLocks noGrp="1"/>
          </p:cNvGraphicFramePr>
          <p:nvPr>
            <p:extLst>
              <p:ext uri="{D42A27DB-BD31-4B8C-83A1-F6EECF244321}">
                <p14:modId xmlns:p14="http://schemas.microsoft.com/office/powerpoint/2010/main" val="1579011935"/>
              </p:ext>
            </p:extLst>
          </p:nvPr>
        </p:nvGraphicFramePr>
        <p:xfrm>
          <a:off x="612648" y="1600200"/>
          <a:ext cx="10972800" cy="914400"/>
        </p:xfrm>
        <a:graphic>
          <a:graphicData uri="http://schemas.openxmlformats.org/drawingml/2006/table">
            <a:tbl>
              <a:tblPr/>
              <a:tblGrid>
                <a:gridCol w="3108960"/>
                <a:gridCol w="2286000"/>
                <a:gridCol w="5577840"/>
              </a:tblGrid>
              <a:tr h="512064">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Recurso o condición</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Precio sombra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Lectura para decidir</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Corcho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$0 /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Sobran 270 m²: comprar más no mejora Z</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Horas de máquina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$20.000 / h</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Válido entre 400 y 500 horas semanales</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Capacidad de despacho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$30.000 / lote</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Recurso agotado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Mínimo contractual</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−$60.000 / lote</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Exigir más reduce Z</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5" name="Rango C2 valor"/>
          <p:cNvSpPr txBox="1"/>
          <p:nvPr/>
        </p:nvSpPr>
        <p:spPr>
          <a:xfrm>
            <a:off x="612648" y="4526280"/>
            <a:ext cx="5120640" cy="518160"/>
          </a:xfrm>
          <a:prstGeom prst="rect">
            <a:avLst/>
          </a:prstGeom>
          <a:noFill/>
          <a:ln/>
        </p:spPr>
        <p:txBody>
          <a:bodyPr wrap="square" lIns="0" tIns="0" rIns="0" bIns="0" rtlCol="0" anchor="t"/>
          <a:lstStyle/>
          <a:p>
            <a:pPr indent="0" marL="0">
              <a:buNone/>
            </a:pPr>
            <a:r>
              <a:rPr lang="en-US" sz="3400" b="1" dirty="0">
                <a:solidFill>
                  <a:schemeClr val="accent1"/>
                </a:solidFill>
                <a:latin typeface="Helvetica Neue" pitchFamily="34" charset="0"/>
                <a:ea typeface="Helvetica Neue" pitchFamily="34" charset="-122"/>
                <a:cs typeface="Helvetica Neue" pitchFamily="34" charset="-120"/>
              </a:rPr>
              <a:t>C₂ ≤ 40</a:t>
            </a:r>
            <a:endParaRPr lang="en-US" sz="3400" dirty="0"/>
          </a:p>
        </p:txBody>
      </p:sp>
      <p:sp>
        <p:nvSpPr>
          <p:cNvPr id="6" name="Rango C2 etiqueta"/>
          <p:cNvSpPr txBox="1"/>
          <p:nvPr/>
        </p:nvSpPr>
        <p:spPr>
          <a:xfrm>
            <a:off x="612648" y="5117592"/>
            <a:ext cx="51206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La ganancia del cárter puede subir hasta $10.000 por lote sin cambiar el plan</a:t>
            </a:r>
            <a:endParaRPr lang="en-US" sz="1600" dirty="0"/>
          </a:p>
        </p:txBody>
      </p:sp>
      <p:sp>
        <p:nvSpPr>
          <p:cNvPr id="7" name="Rango horas valor"/>
          <p:cNvSpPr txBox="1"/>
          <p:nvPr/>
        </p:nvSpPr>
        <p:spPr>
          <a:xfrm>
            <a:off x="6400800" y="4526280"/>
            <a:ext cx="5166360" cy="518160"/>
          </a:xfrm>
          <a:prstGeom prst="rect">
            <a:avLst/>
          </a:prstGeom>
          <a:noFill/>
          <a:ln/>
        </p:spPr>
        <p:txBody>
          <a:bodyPr wrap="square" lIns="0" tIns="0" rIns="0" bIns="0" rtlCol="0" anchor="t"/>
          <a:lstStyle/>
          <a:p>
            <a:pPr indent="0" marL="0">
              <a:buNone/>
            </a:pPr>
            <a:r>
              <a:rPr lang="en-US" sz="3400" b="1" dirty="0">
                <a:solidFill>
                  <a:schemeClr val="accent1"/>
                </a:solidFill>
                <a:latin typeface="Helvetica Neue" pitchFamily="34" charset="0"/>
                <a:ea typeface="Helvetica Neue" pitchFamily="34" charset="-122"/>
                <a:cs typeface="Helvetica Neue" pitchFamily="34" charset="-120"/>
              </a:rPr>
              <a:t>+20 h → +$400.000</a:t>
            </a:r>
            <a:endParaRPr lang="en-US" sz="3400" dirty="0"/>
          </a:p>
        </p:txBody>
      </p:sp>
      <p:sp>
        <p:nvSpPr>
          <p:cNvPr id="8" name="Rango horas etiqueta"/>
          <p:cNvSpPr txBox="1"/>
          <p:nvPr/>
        </p:nvSpPr>
        <p:spPr>
          <a:xfrm>
            <a:off x="6400800" y="5117592"/>
            <a:ext cx="516636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Con 500 horas de máquina el beneficio llega a $7.000.000 semanales</a:t>
            </a:r>
            <a:endParaRPr lang="en-US" sz="16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Producto nuevo y pedidos especiales</a:t>
            </a:r>
            <a:endParaRPr lang="en-US" sz="3300" dirty="0"/>
          </a:p>
        </p:txBody>
      </p:sp>
      <p:sp>
        <p:nvSpPr>
          <p:cNvPr id="4" name="Tarjeta bomba de agua"/>
          <p:cNvSpPr/>
          <p:nvPr/>
        </p:nvSpPr>
        <p:spPr>
          <a:xfrm>
            <a:off x="612648" y="1600200"/>
            <a:ext cx="5349240" cy="3840480"/>
          </a:xfrm>
          <a:prstGeom prst="roundRect">
            <a:avLst>
              <a:gd name="adj" fmla="val 1905"/>
            </a:avLst>
          </a:prstGeom>
          <a:solidFill>
            <a:schemeClr val="bg1"/>
          </a:solidFill>
          <a:ln w="12700">
            <a:solidFill>
              <a:schemeClr val="accent3"/>
            </a:solidFill>
            <a:prstDash val="solid"/>
          </a:ln>
        </p:spPr>
      </p:sp>
      <p:sp>
        <p:nvSpPr>
          <p:cNvPr id="5" name="Tarjeta pedidos"/>
          <p:cNvSpPr/>
          <p:nvPr/>
        </p:nvSpPr>
        <p:spPr>
          <a:xfrm>
            <a:off x="6236208" y="1600200"/>
            <a:ext cx="5349240" cy="3840480"/>
          </a:xfrm>
          <a:prstGeom prst="roundRect">
            <a:avLst>
              <a:gd name="adj" fmla="val 1905"/>
            </a:avLst>
          </a:prstGeom>
          <a:solidFill>
            <a:schemeClr val="bg1"/>
          </a:solidFill>
          <a:ln w="12700">
            <a:solidFill>
              <a:schemeClr val="accent3"/>
            </a:solidFill>
            <a:prstDash val="solid"/>
          </a:ln>
        </p:spPr>
      </p:sp>
      <p:sp>
        <p:nvSpPr>
          <p:cNvPr id="6" name="Text 3"/>
          <p:cNvSpPr txBox="1"/>
          <p:nvPr/>
        </p:nvSpPr>
        <p:spPr>
          <a:xfrm>
            <a:off x="914400" y="1828800"/>
            <a:ext cx="4754880" cy="457200"/>
          </a:xfrm>
          <a:prstGeom prst="rect">
            <a:avLst/>
          </a:prstGeom>
          <a:noFill/>
          <a:ln/>
        </p:spPr>
        <p:txBody>
          <a:bodyPr wrap="square" lIns="0" tIns="0" rIns="0" bIns="0" rtlCol="0" anchor="t"/>
          <a:lstStyle/>
          <a:p>
            <a:pPr indent="0" marL="0">
              <a:buNone/>
            </a:pPr>
            <a:r>
              <a:rPr lang="en-US" sz="2100" b="1" dirty="0">
                <a:solidFill>
                  <a:schemeClr val="tx1"/>
                </a:solidFill>
                <a:latin typeface="Helvetica Neue" pitchFamily="34" charset="0"/>
                <a:ea typeface="Helvetica Neue" pitchFamily="34" charset="-122"/>
                <a:cs typeface="Helvetica Neue" pitchFamily="34" charset="-120"/>
              </a:rPr>
              <a:t>Junta de bomba de agua</a:t>
            </a:r>
            <a:endParaRPr lang="en-US" sz="2100" dirty="0"/>
          </a:p>
        </p:txBody>
      </p:sp>
      <p:sp>
        <p:nvSpPr>
          <p:cNvPr id="7" name="Text 4"/>
          <p:cNvSpPr txBox="1"/>
          <p:nvPr/>
        </p:nvSpPr>
        <p:spPr>
          <a:xfrm>
            <a:off x="914400" y="2377440"/>
            <a:ext cx="4754880" cy="1188720"/>
          </a:xfrm>
          <a:prstGeom prst="rect">
            <a:avLst/>
          </a:prstGeom>
          <a:noFill/>
          <a:ln/>
        </p:spPr>
        <p:txBody>
          <a:bodyPr wrap="square" lIns="0" tIns="0" rIns="0" bIns="0" rtlCol="0" anchor="t"/>
          <a:lstStyle/>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Costo de oportunidad:</a:t>
            </a:r>
            <a:endParaRPr lang="en-US" sz="1700" dirty="0"/>
          </a:p>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0·2 + 20·3 + 30·2 − 60·1 = 60</a:t>
            </a:r>
            <a:endParaRPr lang="en-US" sz="1700" dirty="0"/>
          </a:p>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Contribución propuesta: 45</a:t>
            </a:r>
            <a:endParaRPr lang="en-US" sz="1700" dirty="0"/>
          </a:p>
        </p:txBody>
      </p:sp>
      <p:sp>
        <p:nvSpPr>
          <p:cNvPr id="8" name="Text 5"/>
          <p:cNvSpPr txBox="1"/>
          <p:nvPr/>
        </p:nvSpPr>
        <p:spPr>
          <a:xfrm>
            <a:off x="914400" y="3703320"/>
            <a:ext cx="4754880" cy="640080"/>
          </a:xfrm>
          <a:prstGeom prst="rect">
            <a:avLst/>
          </a:prstGeom>
          <a:noFill/>
          <a:ln/>
        </p:spPr>
        <p:txBody>
          <a:bodyPr wrap="square" lIns="0" tIns="0" rIns="0" bIns="0" rtlCol="0" anchor="t"/>
          <a:lstStyle/>
          <a:p>
            <a:pPr indent="0" marL="0">
              <a:buNone/>
            </a:pPr>
            <a:r>
              <a:rPr lang="en-US" sz="3400" b="1" dirty="0">
                <a:solidFill>
                  <a:schemeClr val="accent5"/>
                </a:solidFill>
                <a:latin typeface="Helvetica Neue" pitchFamily="34" charset="0"/>
                <a:ea typeface="Helvetica Neue" pitchFamily="34" charset="-122"/>
                <a:cs typeface="Helvetica Neue" pitchFamily="34" charset="-120"/>
              </a:rPr>
              <a:t>45 − 60 = −15</a:t>
            </a:r>
            <a:endParaRPr lang="en-US" sz="3400" dirty="0"/>
          </a:p>
        </p:txBody>
      </p:sp>
      <p:sp>
        <p:nvSpPr>
          <p:cNvPr id="9" name="Text 6"/>
          <p:cNvSpPr txBox="1"/>
          <p:nvPr/>
        </p:nvSpPr>
        <p:spPr>
          <a:xfrm>
            <a:off x="914400" y="4526280"/>
            <a:ext cx="4754880" cy="457200"/>
          </a:xfrm>
          <a:prstGeom prst="rect">
            <a:avLst/>
          </a:prstGeom>
          <a:noFill/>
          <a:ln/>
        </p:spPr>
        <p:txBody>
          <a:bodyPr wrap="square" lIns="0" tIns="0" rIns="0" bIns="0" rtlCol="0" anchor="t"/>
          <a:lstStyle/>
          <a:p>
            <a:pPr indent="0" marL="0">
              <a:buNone/>
            </a:pPr>
            <a:r>
              <a:rPr lang="en-US" sz="1900" b="1" dirty="0">
                <a:solidFill>
                  <a:schemeClr val="accent5"/>
                </a:solidFill>
                <a:latin typeface="Helvetica Neue" pitchFamily="34" charset="0"/>
                <a:ea typeface="Helvetica Neue" pitchFamily="34" charset="-122"/>
                <a:cs typeface="Helvetica Neue" pitchFamily="34" charset="-120"/>
              </a:rPr>
              <a:t>No conviene incorporarla</a:t>
            </a:r>
            <a:endParaRPr lang="en-US" sz="1900" dirty="0"/>
          </a:p>
        </p:txBody>
      </p:sp>
      <p:sp>
        <p:nvSpPr>
          <p:cNvPr id="10" name="Text 7"/>
          <p:cNvSpPr txBox="1"/>
          <p:nvPr/>
        </p:nvSpPr>
        <p:spPr>
          <a:xfrm>
            <a:off x="6537960" y="1828800"/>
            <a:ext cx="4754880" cy="457200"/>
          </a:xfrm>
          <a:prstGeom prst="rect">
            <a:avLst/>
          </a:prstGeom>
          <a:noFill/>
          <a:ln/>
        </p:spPr>
        <p:txBody>
          <a:bodyPr wrap="square" lIns="0" tIns="0" rIns="0" bIns="0" rtlCol="0" anchor="t"/>
          <a:lstStyle/>
          <a:p>
            <a:pPr indent="0" marL="0">
              <a:buNone/>
            </a:pPr>
            <a:r>
              <a:rPr lang="en-US" sz="2100" b="1" dirty="0">
                <a:solidFill>
                  <a:schemeClr val="tx1"/>
                </a:solidFill>
                <a:latin typeface="Helvetica Neue" pitchFamily="34" charset="0"/>
                <a:ea typeface="Helvetica Neue" pitchFamily="34" charset="-122"/>
                <a:cs typeface="Helvetica Neue" pitchFamily="34" charset="-120"/>
              </a:rPr>
              <a:t>Pedidos especiales (mochila 0/1)</a:t>
            </a:r>
            <a:endParaRPr lang="en-US" sz="2100" dirty="0"/>
          </a:p>
        </p:txBody>
      </p:sp>
      <p:sp>
        <p:nvSpPr>
          <p:cNvPr id="11" name="Text 8"/>
          <p:cNvSpPr txBox="1"/>
          <p:nvPr/>
        </p:nvSpPr>
        <p:spPr>
          <a:xfrm>
            <a:off x="6537960" y="2377440"/>
            <a:ext cx="4754880" cy="1188720"/>
          </a:xfrm>
          <a:prstGeom prst="rect">
            <a:avLst/>
          </a:prstGeom>
          <a:noFill/>
          <a:ln/>
        </p:spPr>
        <p:txBody>
          <a:bodyPr wrap="square" lIns="0" tIns="0" rIns="0" bIns="0" rtlCol="0" anchor="t"/>
          <a:lstStyle/>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Capacidad: 270 m² de corcho sobrante</a:t>
            </a:r>
            <a:endParaRPr lang="en-US" sz="1700" dirty="0"/>
          </a:p>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Branch and Bound: cota 349</a:t>
            </a:r>
            <a:endParaRPr lang="en-US" sz="1700" dirty="0"/>
          </a:p>
          <a:p>
            <a:pPr indent="0" marL="0">
              <a:lnSpc>
                <a:spcPct val="110000"/>
              </a:lnSpc>
              <a:buNone/>
            </a:pPr>
            <a:r>
              <a:rPr lang="en-US" sz="1700" dirty="0">
                <a:solidFill>
                  <a:schemeClr val="tx2"/>
                </a:solidFill>
                <a:latin typeface="Helvetica Neue" pitchFamily="34" charset="0"/>
                <a:ea typeface="Helvetica Neue" pitchFamily="34" charset="-122"/>
                <a:cs typeface="Helvetica Neue" pitchFamily="34" charset="-120"/>
              </a:rPr>
              <a:t>Óptimo entero: 345</a:t>
            </a:r>
            <a:endParaRPr lang="en-US" sz="1700" dirty="0"/>
          </a:p>
        </p:txBody>
      </p:sp>
      <p:sp>
        <p:nvSpPr>
          <p:cNvPr id="12" name="Text 9"/>
          <p:cNvSpPr txBox="1"/>
          <p:nvPr/>
        </p:nvSpPr>
        <p:spPr>
          <a:xfrm>
            <a:off x="6537960" y="3703320"/>
            <a:ext cx="4754880" cy="640080"/>
          </a:xfrm>
          <a:prstGeom prst="rect">
            <a:avLst/>
          </a:prstGeom>
          <a:noFill/>
          <a:ln/>
        </p:spPr>
        <p:txBody>
          <a:bodyPr wrap="square" lIns="0" tIns="0" rIns="0" bIns="0" rtlCol="0" anchor="t"/>
          <a:lstStyle/>
          <a:p>
            <a:pPr indent="0" marL="0">
              <a:buNone/>
            </a:pPr>
            <a:r>
              <a:rPr lang="en-US" sz="3400" b="1" dirty="0">
                <a:solidFill>
                  <a:schemeClr val="accent1"/>
                </a:solidFill>
                <a:latin typeface="Helvetica Neue" pitchFamily="34" charset="0"/>
                <a:ea typeface="Helvetica Neue" pitchFamily="34" charset="-122"/>
                <a:cs typeface="Helvetica Neue" pitchFamily="34" charset="-120"/>
              </a:rPr>
              <a:t>+$345.000</a:t>
            </a:r>
            <a:endParaRPr lang="en-US" sz="3400" dirty="0"/>
          </a:p>
        </p:txBody>
      </p:sp>
      <p:sp>
        <p:nvSpPr>
          <p:cNvPr id="13" name="Text 10"/>
          <p:cNvSpPr txBox="1"/>
          <p:nvPr/>
        </p:nvSpPr>
        <p:spPr>
          <a:xfrm>
            <a:off x="6537960" y="4526280"/>
            <a:ext cx="4754880" cy="457200"/>
          </a:xfrm>
          <a:prstGeom prst="rect">
            <a:avLst/>
          </a:prstGeom>
          <a:noFill/>
          <a:ln/>
        </p:spPr>
        <p:txBody>
          <a:bodyPr wrap="square" lIns="0" tIns="0" rIns="0" bIns="0" rtlCol="0" anchor="t"/>
          <a:lstStyle/>
          <a:p>
            <a:pPr indent="0" marL="0">
              <a:buNone/>
            </a:pPr>
            <a:r>
              <a:rPr lang="en-US" sz="1900" b="1" dirty="0">
                <a:solidFill>
                  <a:schemeClr val="accent1"/>
                </a:solidFill>
                <a:latin typeface="Helvetica Neue" pitchFamily="34" charset="0"/>
                <a:ea typeface="Helvetica Neue" pitchFamily="34" charset="-122"/>
                <a:cs typeface="Helvetica Neue" pitchFamily="34" charset="-120"/>
              </a:rPr>
              <a:t>Aceptar los pedidos 1, 2 y 4 por semana</a:t>
            </a:r>
            <a:endParaRPr lang="en-US" sz="1900" dirty="0"/>
          </a:p>
        </p:txBody>
      </p:sp>
      <p:sp>
        <p:nvSpPr>
          <p:cNvPr id="14" name="Text 11"/>
          <p:cNvSpPr txBox="1"/>
          <p:nvPr/>
        </p:nvSpPr>
        <p:spPr>
          <a:xfrm>
            <a:off x="612648" y="5669280"/>
            <a:ext cx="10972800" cy="457200"/>
          </a:xfrm>
          <a:prstGeom prst="rect">
            <a:avLst/>
          </a:prstGeom>
          <a:noFill/>
          <a:ln/>
        </p:spPr>
        <p:txBody>
          <a:bodyPr wrap="square" lIns="0" tIns="0" rIns="0" bIns="0" rtlCol="0" anchor="t"/>
          <a:lstStyle/>
          <a:p>
            <a:pPr indent="0" marL="0">
              <a:buNone/>
            </a:pPr>
            <a:r>
              <a:rPr lang="en-US" sz="1500" dirty="0">
                <a:solidFill>
                  <a:schemeClr val="tx2"/>
                </a:solidFill>
                <a:latin typeface="Helvetica Neue" pitchFamily="34" charset="0"/>
                <a:ea typeface="Helvetica Neue" pitchFamily="34" charset="-122"/>
                <a:cs typeface="Helvetica Neue" pitchFamily="34" charset="-120"/>
              </a:rPr>
              <a:t>Valores en miles de pesos. El submodelo supone que los pedidos no consumen horas de máquina ni despacho.</a:t>
            </a:r>
            <a:endParaRPr lang="en-US" sz="15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De la producción a las compras</a:t>
            </a:r>
            <a:endParaRPr lang="en-US" sz="3300" dirty="0"/>
          </a:p>
        </p:txBody>
      </p:sp>
      <p:sp>
        <p:nvSpPr>
          <p:cNvPr id="4" name="Demanda anual valor"/>
          <p:cNvSpPr txBox="1"/>
          <p:nvPr/>
        </p:nvSpPr>
        <p:spPr>
          <a:xfrm>
            <a:off x="612648" y="1600200"/>
            <a:ext cx="5120640" cy="701040"/>
          </a:xfrm>
          <a:prstGeom prst="rect">
            <a:avLst/>
          </a:prstGeom>
          <a:noFill/>
          <a:ln/>
        </p:spPr>
        <p:txBody>
          <a:bodyPr wrap="square" lIns="0" tIns="0" rIns="0" bIns="0" rtlCol="0" anchor="t"/>
          <a:lstStyle/>
          <a:p>
            <a:pPr indent="0" marL="0">
              <a:buNone/>
            </a:pPr>
            <a:r>
              <a:rPr lang="en-US" sz="4600" b="1" dirty="0">
                <a:solidFill>
                  <a:schemeClr val="accent1"/>
                </a:solidFill>
                <a:latin typeface="Helvetica Neue" pitchFamily="34" charset="0"/>
                <a:ea typeface="Helvetica Neue" pitchFamily="34" charset="-122"/>
                <a:cs typeface="Helvetica Neue" pitchFamily="34" charset="-120"/>
              </a:rPr>
              <a:t>17.160 m²</a:t>
            </a:r>
            <a:endParaRPr lang="en-US" sz="4600" dirty="0"/>
          </a:p>
        </p:txBody>
      </p:sp>
      <p:sp>
        <p:nvSpPr>
          <p:cNvPr id="5" name="Demanda anual etiqueta"/>
          <p:cNvSpPr txBox="1"/>
          <p:nvPr/>
        </p:nvSpPr>
        <p:spPr>
          <a:xfrm>
            <a:off x="612648" y="2374392"/>
            <a:ext cx="51206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de corcho por año: 330 m² por semana × 52 semanas</a:t>
            </a:r>
            <a:endParaRPr lang="en-US" sz="1600" dirty="0"/>
          </a:p>
        </p:txBody>
      </p:sp>
      <p:sp>
        <p:nvSpPr>
          <p:cNvPr id="6" name="Text 3"/>
          <p:cNvSpPr txBox="1"/>
          <p:nvPr/>
        </p:nvSpPr>
        <p:spPr>
          <a:xfrm>
            <a:off x="612648" y="3246120"/>
            <a:ext cx="5120640" cy="2194560"/>
          </a:xfrm>
          <a:prstGeom prst="rect">
            <a:avLst/>
          </a:prstGeom>
          <a:noFill/>
          <a:ln/>
        </p:spPr>
        <p:txBody>
          <a:bodyPr wrap="square" lIns="0" tIns="0" rIns="0" bIns="0" rtlCol="0" anchor="t"/>
          <a:lstStyle/>
          <a:p>
            <a:pPr indent="0" marL="0">
              <a:buNone/>
            </a:pPr>
            <a:r>
              <a:rPr lang="en-US" sz="1800" dirty="0">
                <a:solidFill>
                  <a:schemeClr val="tx1"/>
                </a:solidFill>
                <a:latin typeface="Helvetica Neue" pitchFamily="34" charset="0"/>
                <a:ea typeface="Helvetica Neue" pitchFamily="34" charset="-122"/>
                <a:cs typeface="Helvetica Neue" pitchFamily="34" charset="-120"/>
              </a:rPr>
              <a:t>El corcho es el insumo principal y el único recurso con sobrante: hay margen para decidir cuánto y cuándo comprarlo.</a:t>
            </a:r>
            <a:endParaRPr lang="en-US" sz="1800" dirty="0"/>
          </a:p>
          <a:p>
            <a:pPr indent="0" marL="0">
              <a:buNone/>
            </a:pPr>
            <a:endParaRPr lang="en-US" sz="1800" dirty="0"/>
          </a:p>
          <a:p>
            <a:pPr indent="0" marL="0">
              <a:buNone/>
            </a:pPr>
            <a:r>
              <a:rPr lang="en-US" sz="1800" dirty="0">
                <a:solidFill>
                  <a:schemeClr val="tx1"/>
                </a:solidFill>
                <a:latin typeface="Helvetica Neue" pitchFamily="34" charset="0"/>
                <a:ea typeface="Helvetica Neue" pitchFamily="34" charset="-122"/>
                <a:cs typeface="Helvetica Neue" pitchFamily="34" charset="-120"/>
              </a:rPr>
              <a:t>El sellador de la bañadora comparte el depósito con el corcho.</a:t>
            </a:r>
            <a:endParaRPr lang="en-US" sz="1800" dirty="0"/>
          </a:p>
        </p:txBody>
      </p:sp>
      <p:sp>
        <p:nvSpPr>
          <p:cNvPr id="7" name="Modelo 1"/>
          <p:cNvSpPr/>
          <p:nvPr/>
        </p:nvSpPr>
        <p:spPr>
          <a:xfrm>
            <a:off x="6309360" y="1600200"/>
            <a:ext cx="5276088" cy="1097280"/>
          </a:xfrm>
          <a:prstGeom prst="roundRect">
            <a:avLst>
              <a:gd name="adj" fmla="val 6667"/>
            </a:avLst>
          </a:prstGeom>
          <a:solidFill>
            <a:schemeClr val="accent4"/>
          </a:solidFill>
          <a:ln w="12700">
            <a:solidFill>
              <a:schemeClr val="accent4"/>
            </a:solidFill>
            <a:prstDash val="solid"/>
          </a:ln>
        </p:spPr>
      </p:sp>
      <p:sp>
        <p:nvSpPr>
          <p:cNvPr id="8" name="Shape 5"/>
          <p:cNvSpPr/>
          <p:nvPr/>
        </p:nvSpPr>
        <p:spPr>
          <a:xfrm>
            <a:off x="6510528" y="1874520"/>
            <a:ext cx="548640" cy="548640"/>
          </a:xfrm>
          <a:prstGeom prst="ellipse">
            <a:avLst/>
          </a:prstGeom>
          <a:solidFill>
            <a:schemeClr val="accent1"/>
          </a:solidFill>
          <a:ln w="12700">
            <a:solidFill>
              <a:schemeClr val="accent1"/>
            </a:solidFill>
            <a:prstDash val="solid"/>
          </a:ln>
        </p:spPr>
      </p:sp>
      <p:sp>
        <p:nvSpPr>
          <p:cNvPr id="9" name="Text 6"/>
          <p:cNvSpPr txBox="1"/>
          <p:nvPr/>
        </p:nvSpPr>
        <p:spPr>
          <a:xfrm>
            <a:off x="6510528" y="18745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Helvetica Neue" pitchFamily="34" charset="0"/>
                <a:ea typeface="Helvetica Neue" pitchFamily="34" charset="-122"/>
                <a:cs typeface="Helvetica Neue" pitchFamily="34" charset="-120"/>
              </a:rPr>
              <a:t>1</a:t>
            </a:r>
            <a:endParaRPr lang="en-US" sz="2000" dirty="0"/>
          </a:p>
        </p:txBody>
      </p:sp>
      <p:sp>
        <p:nvSpPr>
          <p:cNvPr id="10" name="Text 7"/>
          <p:cNvSpPr txBox="1"/>
          <p:nvPr/>
        </p:nvSpPr>
        <p:spPr>
          <a:xfrm>
            <a:off x="7269480" y="1764792"/>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Helvetica Neue" pitchFamily="34" charset="0"/>
                <a:ea typeface="Helvetica Neue" pitchFamily="34" charset="-122"/>
                <a:cs typeface="Helvetica Neue" pitchFamily="34" charset="-120"/>
              </a:rPr>
              <a:t>Determinístico · descuento por cantidad</a:t>
            </a:r>
            <a:endParaRPr lang="en-US" sz="1800" dirty="0"/>
          </a:p>
        </p:txBody>
      </p:sp>
      <p:sp>
        <p:nvSpPr>
          <p:cNvPr id="11" name="Text 8"/>
          <p:cNvSpPr txBox="1"/>
          <p:nvPr/>
        </p:nvSpPr>
        <p:spPr>
          <a:xfrm>
            <a:off x="7269480" y="2194560"/>
            <a:ext cx="4206240" cy="36576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¿Cuánto conviene pedir?</a:t>
            </a:r>
            <a:endParaRPr lang="en-US" sz="1600" dirty="0"/>
          </a:p>
        </p:txBody>
      </p:sp>
      <p:sp>
        <p:nvSpPr>
          <p:cNvPr id="12" name="Modelo 2"/>
          <p:cNvSpPr/>
          <p:nvPr/>
        </p:nvSpPr>
        <p:spPr>
          <a:xfrm>
            <a:off x="6309360" y="2880360"/>
            <a:ext cx="5276088" cy="1097280"/>
          </a:xfrm>
          <a:prstGeom prst="roundRect">
            <a:avLst>
              <a:gd name="adj" fmla="val 6667"/>
            </a:avLst>
          </a:prstGeom>
          <a:solidFill>
            <a:schemeClr val="accent4"/>
          </a:solidFill>
          <a:ln w="12700">
            <a:solidFill>
              <a:schemeClr val="accent4"/>
            </a:solidFill>
            <a:prstDash val="solid"/>
          </a:ln>
        </p:spPr>
      </p:sp>
      <p:sp>
        <p:nvSpPr>
          <p:cNvPr id="13" name="Shape 10"/>
          <p:cNvSpPr/>
          <p:nvPr/>
        </p:nvSpPr>
        <p:spPr>
          <a:xfrm>
            <a:off x="6510528" y="3154680"/>
            <a:ext cx="548640" cy="548640"/>
          </a:xfrm>
          <a:prstGeom prst="ellipse">
            <a:avLst/>
          </a:prstGeom>
          <a:solidFill>
            <a:schemeClr val="accent1"/>
          </a:solidFill>
          <a:ln w="12700">
            <a:solidFill>
              <a:schemeClr val="accent1"/>
            </a:solidFill>
            <a:prstDash val="solid"/>
          </a:ln>
        </p:spPr>
      </p:sp>
      <p:sp>
        <p:nvSpPr>
          <p:cNvPr id="14" name="Text 11"/>
          <p:cNvSpPr txBox="1"/>
          <p:nvPr/>
        </p:nvSpPr>
        <p:spPr>
          <a:xfrm>
            <a:off x="6510528"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Helvetica Neue" pitchFamily="34" charset="0"/>
                <a:ea typeface="Helvetica Neue" pitchFamily="34" charset="-122"/>
                <a:cs typeface="Helvetica Neue" pitchFamily="34" charset="-120"/>
              </a:rPr>
              <a:t>2</a:t>
            </a:r>
            <a:endParaRPr lang="en-US" sz="2000" dirty="0"/>
          </a:p>
        </p:txBody>
      </p:sp>
      <p:sp>
        <p:nvSpPr>
          <p:cNvPr id="15" name="Text 12"/>
          <p:cNvSpPr txBox="1"/>
          <p:nvPr/>
        </p:nvSpPr>
        <p:spPr>
          <a:xfrm>
            <a:off x="7269480" y="3044952"/>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Helvetica Neue" pitchFamily="34" charset="0"/>
                <a:ea typeface="Helvetica Neue" pitchFamily="34" charset="-122"/>
                <a:cs typeface="Helvetica Neue" pitchFamily="34" charset="-120"/>
              </a:rPr>
              <a:t>Con restricción · espacio de depósito</a:t>
            </a:r>
            <a:endParaRPr lang="en-US" sz="1800" dirty="0"/>
          </a:p>
        </p:txBody>
      </p:sp>
      <p:sp>
        <p:nvSpPr>
          <p:cNvPr id="16" name="Text 13"/>
          <p:cNvSpPr txBox="1"/>
          <p:nvPr/>
        </p:nvSpPr>
        <p:spPr>
          <a:xfrm>
            <a:off x="7269480" y="3474720"/>
            <a:ext cx="4206240" cy="36576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¿Entra ese lote?</a:t>
            </a:r>
            <a:endParaRPr lang="en-US" sz="1600" dirty="0"/>
          </a:p>
        </p:txBody>
      </p:sp>
      <p:sp>
        <p:nvSpPr>
          <p:cNvPr id="17" name="Modelo 3"/>
          <p:cNvSpPr/>
          <p:nvPr/>
        </p:nvSpPr>
        <p:spPr>
          <a:xfrm>
            <a:off x="6309360" y="4160520"/>
            <a:ext cx="5276088" cy="1097280"/>
          </a:xfrm>
          <a:prstGeom prst="roundRect">
            <a:avLst>
              <a:gd name="adj" fmla="val 6667"/>
            </a:avLst>
          </a:prstGeom>
          <a:solidFill>
            <a:schemeClr val="accent4"/>
          </a:solidFill>
          <a:ln w="12700">
            <a:solidFill>
              <a:schemeClr val="accent4"/>
            </a:solidFill>
            <a:prstDash val="solid"/>
          </a:ln>
        </p:spPr>
      </p:sp>
      <p:sp>
        <p:nvSpPr>
          <p:cNvPr id="18" name="Shape 15"/>
          <p:cNvSpPr/>
          <p:nvPr/>
        </p:nvSpPr>
        <p:spPr>
          <a:xfrm>
            <a:off x="6510528" y="4434840"/>
            <a:ext cx="548640" cy="548640"/>
          </a:xfrm>
          <a:prstGeom prst="ellipse">
            <a:avLst/>
          </a:prstGeom>
          <a:solidFill>
            <a:schemeClr val="accent1"/>
          </a:solidFill>
          <a:ln w="12700">
            <a:solidFill>
              <a:schemeClr val="accent1"/>
            </a:solidFill>
            <a:prstDash val="solid"/>
          </a:ln>
        </p:spPr>
      </p:sp>
      <p:sp>
        <p:nvSpPr>
          <p:cNvPr id="19" name="Text 16"/>
          <p:cNvSpPr txBox="1"/>
          <p:nvPr/>
        </p:nvSpPr>
        <p:spPr>
          <a:xfrm>
            <a:off x="6510528" y="4434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latin typeface="Helvetica Neue" pitchFamily="34" charset="0"/>
                <a:ea typeface="Helvetica Neue" pitchFamily="34" charset="-122"/>
                <a:cs typeface="Helvetica Neue" pitchFamily="34" charset="-120"/>
              </a:rPr>
              <a:t>3</a:t>
            </a:r>
            <a:endParaRPr lang="en-US" sz="2000" dirty="0"/>
          </a:p>
        </p:txBody>
      </p:sp>
      <p:sp>
        <p:nvSpPr>
          <p:cNvPr id="20" name="Text 17"/>
          <p:cNvSpPr txBox="1"/>
          <p:nvPr/>
        </p:nvSpPr>
        <p:spPr>
          <a:xfrm>
            <a:off x="7269480" y="4325112"/>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Helvetica Neue" pitchFamily="34" charset="0"/>
                <a:ea typeface="Helvetica Neue" pitchFamily="34" charset="-122"/>
                <a:cs typeface="Helvetica Neue" pitchFamily="34" charset="-120"/>
              </a:rPr>
              <a:t>Aleatorio · demanda variable</a:t>
            </a:r>
            <a:endParaRPr lang="en-US" sz="1800" dirty="0"/>
          </a:p>
        </p:txBody>
      </p:sp>
      <p:sp>
        <p:nvSpPr>
          <p:cNvPr id="21" name="Text 18"/>
          <p:cNvSpPr txBox="1"/>
          <p:nvPr/>
        </p:nvSpPr>
        <p:spPr>
          <a:xfrm>
            <a:off x="7269480" y="4754880"/>
            <a:ext cx="4206240" cy="36576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¿Cuándo hay que pedir?</a:t>
            </a:r>
            <a:endParaRPr lang="en-US" sz="16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Descuento por cantidad</a:t>
            </a:r>
            <a:endParaRPr lang="en-US" sz="3300" dirty="0"/>
          </a:p>
        </p:txBody>
      </p:sp>
      <p:sp>
        <p:nvSpPr>
          <p:cNvPr id="4" name="Text 1"/>
          <p:cNvSpPr txBox="1"/>
          <p:nvPr/>
        </p:nvSpPr>
        <p:spPr>
          <a:xfrm>
            <a:off x="612648" y="1600200"/>
            <a:ext cx="10972800" cy="457200"/>
          </a:xfrm>
          <a:prstGeom prst="rect">
            <a:avLst/>
          </a:prstGeom>
          <a:noFill/>
          <a:ln/>
        </p:spPr>
        <p:txBody>
          <a:bodyPr wrap="square" lIns="0" tIns="0" rIns="0" bIns="0" rtlCol="0" anchor="t"/>
          <a:lstStyle/>
          <a:p>
            <a:pPr indent="0" marL="0">
              <a:buNone/>
            </a:pPr>
            <a:r>
              <a:rPr lang="en-US" sz="2200" b="1" dirty="0">
                <a:solidFill>
                  <a:schemeClr val="accent1"/>
                </a:solidFill>
                <a:latin typeface="Helvetica Neue" pitchFamily="34" charset="0"/>
                <a:ea typeface="Helvetica Neue" pitchFamily="34" charset="-122"/>
                <a:cs typeface="Helvetica Neue" pitchFamily="34" charset="-120"/>
              </a:rPr>
              <a:t>Q₂* = √(2·D·L / C₂·i) ≈ 1.532 m²  &lt;  2.000 m²</a:t>
            </a:r>
            <a:endParaRPr lang="en-US" sz="2200" dirty="0"/>
          </a:p>
        </p:txBody>
      </p:sp>
      <p:sp>
        <p:nvSpPr>
          <p:cNvPr id="5" name="Text 2"/>
          <p:cNvSpPr txBox="1"/>
          <p:nvPr/>
        </p:nvSpPr>
        <p:spPr>
          <a:xfrm>
            <a:off x="612648" y="2103120"/>
            <a:ext cx="10972800" cy="411480"/>
          </a:xfrm>
          <a:prstGeom prst="rect">
            <a:avLst/>
          </a:prstGeom>
          <a:noFill/>
          <a:ln/>
        </p:spPr>
        <p:txBody>
          <a:bodyPr wrap="square" lIns="0" tIns="0" rIns="0" bIns="0" rtlCol="0" anchor="t"/>
          <a:lstStyle/>
          <a:p>
            <a:pPr indent="0" marL="0">
              <a:buNone/>
            </a:pPr>
            <a:r>
              <a:rPr lang="en-US" sz="1700" dirty="0">
                <a:solidFill>
                  <a:schemeClr val="tx2"/>
                </a:solidFill>
                <a:latin typeface="Helvetica Neue" pitchFamily="34" charset="0"/>
                <a:ea typeface="Helvetica Neue" pitchFamily="34" charset="-122"/>
                <a:cs typeface="Helvetica Neue" pitchFamily="34" charset="-120"/>
              </a:rPr>
              <a:t>El lote óptimo con descuento no llega al umbral, así que se comparan los costos totales anuales.</a:t>
            </a:r>
            <a:endParaRPr lang="en-US" sz="1700" dirty="0"/>
          </a:p>
        </p:txBody>
      </p:sp>
      <p:graphicFrame>
        <p:nvGraphicFramePr>
          <p:cNvPr id="7" name="Tabla costos descuento"/>
          <p:cNvGraphicFramePr>
            <a:graphicFrameLocks noGrp="1"/>
          </p:cNvGraphicFramePr>
          <p:nvPr>
            <p:extLst>
              <p:ext uri="{D42A27DB-BD31-4B8C-83A1-F6EECF244321}">
                <p14:modId xmlns:p14="http://schemas.microsoft.com/office/powerpoint/2010/main" val="1579011935"/>
              </p:ext>
            </p:extLst>
          </p:nvPr>
        </p:nvGraphicFramePr>
        <p:xfrm>
          <a:off x="612648" y="2697480"/>
          <a:ext cx="10972800" cy="914400"/>
        </p:xfrm>
        <a:graphic>
          <a:graphicData uri="http://schemas.openxmlformats.org/drawingml/2006/table">
            <a:tbl>
              <a:tblPr/>
              <a:tblGrid>
                <a:gridCol w="2834640"/>
                <a:gridCol w="1463040"/>
                <a:gridCol w="2011680"/>
                <a:gridCol w="2514600"/>
                <a:gridCol w="2148840"/>
              </a:tblGrid>
              <a:tr h="548640">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Opción</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Lote</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Compra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Pedido + mantenimiento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Costo total anual</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48640">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Precio normal ($2.500)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1.485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$42.900.000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$1.039.716</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$43.939.716</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48640">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Con descuento ($2.350)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2.000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$40.326.000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$1.044.100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$41.370.100</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7" name="Ahorro descuento valor"/>
          <p:cNvSpPr txBox="1"/>
          <p:nvPr/>
        </p:nvSpPr>
        <p:spPr>
          <a:xfrm>
            <a:off x="612648" y="4526280"/>
            <a:ext cx="5120640" cy="518160"/>
          </a:xfrm>
          <a:prstGeom prst="rect">
            <a:avLst/>
          </a:prstGeom>
          <a:noFill/>
          <a:ln/>
        </p:spPr>
        <p:txBody>
          <a:bodyPr wrap="square" lIns="0" tIns="0" rIns="0" bIns="0" rtlCol="0" anchor="t"/>
          <a:lstStyle/>
          <a:p>
            <a:pPr indent="0" marL="0">
              <a:buNone/>
            </a:pPr>
            <a:r>
              <a:rPr lang="en-US" sz="3400" b="1" dirty="0">
                <a:solidFill>
                  <a:schemeClr val="accent1"/>
                </a:solidFill>
                <a:latin typeface="Helvetica Neue" pitchFamily="34" charset="0"/>
                <a:ea typeface="Helvetica Neue" pitchFamily="34" charset="-122"/>
                <a:cs typeface="Helvetica Neue" pitchFamily="34" charset="-120"/>
              </a:rPr>
              <a:t>$2.569.616</a:t>
            </a:r>
            <a:endParaRPr lang="en-US" sz="3400" dirty="0"/>
          </a:p>
        </p:txBody>
      </p:sp>
      <p:sp>
        <p:nvSpPr>
          <p:cNvPr id="8" name="Ahorro descuento etiqueta"/>
          <p:cNvSpPr txBox="1"/>
          <p:nvPr/>
        </p:nvSpPr>
        <p:spPr>
          <a:xfrm>
            <a:off x="612648" y="5117592"/>
            <a:ext cx="51206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de ahorro anual si se pide de a 2.000 m²</a:t>
            </a:r>
            <a:endParaRPr lang="en-US" sz="1600" dirty="0"/>
          </a:p>
        </p:txBody>
      </p:sp>
      <p:sp>
        <p:nvSpPr>
          <p:cNvPr id="9" name="Text 5"/>
          <p:cNvSpPr txBox="1"/>
          <p:nvPr/>
        </p:nvSpPr>
        <p:spPr>
          <a:xfrm>
            <a:off x="6400800" y="4526280"/>
            <a:ext cx="5166360" cy="868680"/>
          </a:xfrm>
          <a:prstGeom prst="rect">
            <a:avLst/>
          </a:prstGeom>
          <a:noFill/>
          <a:ln/>
        </p:spPr>
        <p:txBody>
          <a:bodyPr wrap="square" lIns="0" tIns="0" rIns="0" bIns="0" rtlCol="0" anchor="t"/>
          <a:lstStyle/>
          <a:p>
            <a:pPr indent="0" marL="0">
              <a:buNone/>
            </a:pPr>
            <a:r>
              <a:rPr lang="en-US" sz="2100" b="1" dirty="0">
                <a:solidFill>
                  <a:schemeClr val="accent5"/>
                </a:solidFill>
                <a:latin typeface="Helvetica Neue" pitchFamily="34" charset="0"/>
                <a:ea typeface="Helvetica Neue" pitchFamily="34" charset="-122"/>
                <a:cs typeface="Helvetica Neue" pitchFamily="34" charset="-120"/>
              </a:rPr>
              <a:t>Pero 2.000 m² de corcho ocupan 100 m³ de depósito</a:t>
            </a:r>
            <a:endParaRPr lang="en-US" sz="2100" dirty="0"/>
          </a:p>
        </p:txBody>
      </p:sp>
      <p:sp>
        <p:nvSpPr>
          <p:cNvPr id="10" name="Text 6"/>
          <p:cNvSpPr txBox="1"/>
          <p:nvPr/>
        </p:nvSpPr>
        <p:spPr>
          <a:xfrm>
            <a:off x="612648" y="5806440"/>
            <a:ext cx="10972800" cy="365760"/>
          </a:xfrm>
          <a:prstGeom prst="rect">
            <a:avLst/>
          </a:prstGeom>
          <a:noFill/>
          <a:ln/>
        </p:spPr>
        <p:txBody>
          <a:bodyPr wrap="square" lIns="0" tIns="0" rIns="0" bIns="0" rtlCol="0" anchor="t"/>
          <a:lstStyle/>
          <a:p>
            <a:pPr indent="0" marL="0">
              <a:buNone/>
            </a:pPr>
            <a:r>
              <a:rPr lang="en-US" sz="1500" dirty="0">
                <a:solidFill>
                  <a:schemeClr val="tx2"/>
                </a:solidFill>
                <a:latin typeface="Helvetica Neue" pitchFamily="34" charset="0"/>
                <a:ea typeface="Helvetica Neue" pitchFamily="34" charset="-122"/>
                <a:cs typeface="Helvetica Neue" pitchFamily="34" charset="-120"/>
              </a:rPr>
              <a:t>D = 17.160 m²/año · L = $45.000 por pedido · i = 28% anual</a:t>
            </a:r>
            <a:endParaRPr lang="en-US" sz="15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El depósito limita los lotes</a:t>
            </a:r>
            <a:endParaRPr lang="en-US" sz="3300" dirty="0"/>
          </a:p>
        </p:txBody>
      </p:sp>
      <p:graphicFrame>
        <p:nvGraphicFramePr>
          <p:cNvPr id="8" name="Tabla datos depósito"/>
          <p:cNvGraphicFramePr>
            <a:graphicFrameLocks noGrp="1"/>
          </p:cNvGraphicFramePr>
          <p:nvPr>
            <p:extLst>
              <p:ext uri="{D42A27DB-BD31-4B8C-83A1-F6EECF244321}">
                <p14:modId xmlns:p14="http://schemas.microsoft.com/office/powerpoint/2010/main" val="1579011935"/>
              </p:ext>
            </p:extLst>
          </p:nvPr>
        </p:nvGraphicFramePr>
        <p:xfrm>
          <a:off x="612648" y="1600200"/>
          <a:ext cx="5486400" cy="914400"/>
        </p:xfrm>
        <a:graphic>
          <a:graphicData uri="http://schemas.openxmlformats.org/drawingml/2006/table">
            <a:tbl>
              <a:tblPr/>
              <a:tblGrid>
                <a:gridCol w="2194560"/>
                <a:gridCol w="1645920"/>
                <a:gridCol w="1645920"/>
              </a:tblGrid>
              <a:tr h="475488">
                <a:tc>
                  <a:txBody>
                    <a:bodyPr/>
                    <a:lstStyle/>
                    <a:p>
                      <a:pPr algn="l" indent="0" marL="0">
                        <a:buNone/>
                      </a:pPr>
                      <a:r>
                        <a:rPr lang="en-US" sz="1600" b="1" dirty="0">
                          <a:solidFill>
                            <a:schemeClr val="bg1"/>
                          </a:solidFill>
                          <a:latin typeface="Helvetica Neue" pitchFamily="34" charset="0"/>
                          <a:ea typeface="Helvetica Neue" pitchFamily="34" charset="-122"/>
                          <a:cs typeface="Helvetica Neue" pitchFamily="34" charset="-120"/>
                        </a:rPr>
                        <a:t>Parámetro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Corcho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Sellador</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Demanda anual</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17.160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1.200 L</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Costo de pedido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$45.000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$20.000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Costo unitario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$2.500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$1.800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Espacio por unidad</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0,05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0,02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Lote sin restricción</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1.485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309 L</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612648" y="4572000"/>
            <a:ext cx="5486400" cy="457200"/>
          </a:xfrm>
          <a:prstGeom prst="rect">
            <a:avLst/>
          </a:prstGeom>
          <a:noFill/>
          <a:ln/>
        </p:spPr>
        <p:txBody>
          <a:bodyPr wrap="square" lIns="0" tIns="0" rIns="0" bIns="0" rtlCol="0" anchor="t"/>
          <a:lstStyle/>
          <a:p>
            <a:pPr indent="0" marL="0">
              <a:buNone/>
            </a:pPr>
            <a:r>
              <a:rPr lang="en-US" sz="1800" b="1" dirty="0">
                <a:solidFill>
                  <a:schemeClr val="accent5"/>
                </a:solidFill>
                <a:latin typeface="Helvetica Neue" pitchFamily="34" charset="0"/>
                <a:ea typeface="Helvetica Neue" pitchFamily="34" charset="-122"/>
                <a:cs typeface="Helvetica Neue" pitchFamily="34" charset="-120"/>
              </a:rPr>
              <a:t>Espacio requerido: 80,4 m³ &gt; 60 m³ disponibles</a:t>
            </a:r>
            <a:endParaRPr lang="en-US" sz="1800" dirty="0"/>
          </a:p>
        </p:txBody>
      </p:sp>
      <p:graphicFrame>
        <p:nvGraphicFramePr>
          <p:cNvPr id="15" name="Tabla iteracion lambda"/>
          <p:cNvGraphicFramePr>
            <a:graphicFrameLocks noGrp="1"/>
          </p:cNvGraphicFramePr>
          <p:nvPr>
            <p:extLst>
              <p:ext uri="{D42A27DB-BD31-4B8C-83A1-F6EECF244321}">
                <p14:modId xmlns:p14="http://schemas.microsoft.com/office/powerpoint/2010/main" val="1579011935"/>
              </p:ext>
            </p:extLst>
          </p:nvPr>
        </p:nvGraphicFramePr>
        <p:xfrm>
          <a:off x="6446520" y="1600200"/>
          <a:ext cx="5120640" cy="914400"/>
        </p:xfrm>
        <a:graphic>
          <a:graphicData uri="http://schemas.openxmlformats.org/drawingml/2006/table">
            <a:tbl>
              <a:tblPr/>
              <a:tblGrid>
                <a:gridCol w="1280160"/>
                <a:gridCol w="1280160"/>
                <a:gridCol w="1280160"/>
                <a:gridCol w="1280160"/>
              </a:tblGrid>
              <a:tr h="475488">
                <a:tc>
                  <a:txBody>
                    <a:bodyPr/>
                    <a:lstStyle/>
                    <a:p>
                      <a:pPr algn="l" indent="0" marL="0">
                        <a:buNone/>
                      </a:pPr>
                      <a:r>
                        <a:rPr lang="en-US" sz="1600" b="1" dirty="0">
                          <a:solidFill>
                            <a:schemeClr val="bg1"/>
                          </a:solidFill>
                          <a:latin typeface="Helvetica Neue" pitchFamily="34" charset="0"/>
                          <a:ea typeface="Helvetica Neue" pitchFamily="34" charset="-122"/>
                          <a:cs typeface="Helvetica Neue" pitchFamily="34" charset="-120"/>
                        </a:rPr>
                        <a:t>λ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Corcho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Sellador</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Espacio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1.485</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309</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80,4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475488">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3.000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1.243</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277</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67,7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475488">
                <a:tc>
                  <a:txBody>
                    <a:bodyPr/>
                    <a:lstStyle/>
                    <a:p>
                      <a:pPr algn="l" indent="0" marL="0">
                        <a:buNone/>
                      </a:pPr>
                      <a:r>
                        <a:rPr lang="en-US" sz="1600" b="1" dirty="0">
                          <a:solidFill>
                            <a:schemeClr val="tx1"/>
                          </a:solidFill>
                          <a:latin typeface="Helvetica Neue" pitchFamily="34" charset="0"/>
                          <a:ea typeface="Helvetica Neue" pitchFamily="34" charset="-122"/>
                          <a:cs typeface="Helvetica Neue" pitchFamily="34" charset="-120"/>
                        </a:rPr>
                        <a:t>5.820</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2"/>
                    </a:solidFill>
                  </a:tcPr>
                </a:tc>
                <a:tc>
                  <a:txBody>
                    <a:bodyPr/>
                    <a:lstStyle/>
                    <a:p>
                      <a:pPr algn="ctr" indent="0" marL="0">
                        <a:buNone/>
                      </a:pPr>
                      <a:r>
                        <a:rPr lang="en-US" sz="1600" b="1" dirty="0">
                          <a:solidFill>
                            <a:schemeClr val="tx1"/>
                          </a:solidFill>
                          <a:latin typeface="Helvetica Neue" pitchFamily="34" charset="0"/>
                          <a:ea typeface="Helvetica Neue" pitchFamily="34" charset="-122"/>
                          <a:cs typeface="Helvetica Neue" pitchFamily="34" charset="-120"/>
                        </a:rPr>
                        <a:t>1.098</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2"/>
                    </a:solidFill>
                  </a:tcPr>
                </a:tc>
                <a:tc>
                  <a:txBody>
                    <a:bodyPr/>
                    <a:lstStyle/>
                    <a:p>
                      <a:pPr algn="ctr" indent="0" marL="0">
                        <a:buNone/>
                      </a:pPr>
                      <a:r>
                        <a:rPr lang="en-US" sz="1600" b="1" dirty="0">
                          <a:solidFill>
                            <a:schemeClr val="tx1"/>
                          </a:solidFill>
                          <a:latin typeface="Helvetica Neue" pitchFamily="34" charset="0"/>
                          <a:ea typeface="Helvetica Neue" pitchFamily="34" charset="-122"/>
                          <a:cs typeface="Helvetica Neue" pitchFamily="34" charset="-120"/>
                        </a:rPr>
                        <a:t>255</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2"/>
                    </a:solidFill>
                  </a:tcPr>
                </a:tc>
                <a:tc>
                  <a:txBody>
                    <a:bodyPr/>
                    <a:lstStyle/>
                    <a:p>
                      <a:pPr algn="ctr" indent="0" marL="0">
                        <a:buNone/>
                      </a:pPr>
                      <a:r>
                        <a:rPr lang="en-US" sz="1600" b="1" dirty="0">
                          <a:solidFill>
                            <a:schemeClr val="tx1"/>
                          </a:solidFill>
                          <a:latin typeface="Helvetica Neue" pitchFamily="34" charset="0"/>
                          <a:ea typeface="Helvetica Neue" pitchFamily="34" charset="-122"/>
                          <a:cs typeface="Helvetica Neue" pitchFamily="34" charset="-120"/>
                        </a:rPr>
                        <a:t>60,0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2"/>
                    </a:solidFill>
                  </a:tcPr>
                </a:tc>
              </a:tr>
            </a:tbl>
          </a:graphicData>
        </a:graphic>
      </p:graphicFrame>
      <p:sp>
        <p:nvSpPr>
          <p:cNvPr id="7" name="Text 2"/>
          <p:cNvSpPr txBox="1"/>
          <p:nvPr/>
        </p:nvSpPr>
        <p:spPr>
          <a:xfrm>
            <a:off x="6446520" y="3657600"/>
            <a:ext cx="5120640" cy="411480"/>
          </a:xfrm>
          <a:prstGeom prst="rect">
            <a:avLst/>
          </a:prstGeom>
          <a:noFill/>
          <a:ln/>
        </p:spPr>
        <p:txBody>
          <a:bodyPr wrap="square" lIns="0" tIns="0" rIns="0" bIns="0" rtlCol="0" anchor="t"/>
          <a:lstStyle/>
          <a:p>
            <a:pPr indent="0" marL="0">
              <a:buNone/>
            </a:pPr>
            <a:r>
              <a:rPr lang="en-US" sz="1800" b="1" dirty="0">
                <a:solidFill>
                  <a:schemeClr val="accent1"/>
                </a:solidFill>
                <a:latin typeface="Helvetica Neue" pitchFamily="34" charset="0"/>
                <a:ea typeface="Helvetica Neue" pitchFamily="34" charset="-122"/>
                <a:cs typeface="Helvetica Neue" pitchFamily="34" charset="-120"/>
              </a:rPr>
              <a:t>Qⱼ = √(2·Dⱼ·Lⱼ / (Cⱼ·i + 2·λ·vⱼ))</a:t>
            </a:r>
            <a:endParaRPr lang="en-US" sz="1800" dirty="0"/>
          </a:p>
        </p:txBody>
      </p:sp>
      <p:sp>
        <p:nvSpPr>
          <p:cNvPr id="8" name="Text 3"/>
          <p:cNvSpPr txBox="1"/>
          <p:nvPr/>
        </p:nvSpPr>
        <p:spPr>
          <a:xfrm>
            <a:off x="6446520" y="4251960"/>
            <a:ext cx="5120640" cy="822960"/>
          </a:xfrm>
          <a:prstGeom prst="rect">
            <a:avLst/>
          </a:prstGeom>
          <a:noFill/>
          <a:ln/>
        </p:spPr>
        <p:txBody>
          <a:bodyPr wrap="square" lIns="0" tIns="0" rIns="0" bIns="0" rtlCol="0" anchor="t"/>
          <a:lstStyle/>
          <a:p>
            <a:pPr indent="0" marL="0">
              <a:lnSpc>
                <a:spcPct val="110000"/>
              </a:lnSpc>
              <a:buNone/>
            </a:pPr>
            <a:r>
              <a:rPr lang="en-US" sz="1800" b="1" dirty="0">
                <a:solidFill>
                  <a:schemeClr val="tx1"/>
                </a:solidFill>
                <a:latin typeface="Helvetica Neue" pitchFamily="34" charset="0"/>
                <a:ea typeface="Helvetica Neue" pitchFamily="34" charset="-122"/>
                <a:cs typeface="Helvetica Neue" pitchFamily="34" charset="-120"/>
              </a:rPr>
              <a:t>Corcho: 1.098 m² (−26%)</a:t>
            </a:r>
            <a:endParaRPr lang="en-US" sz="1800" dirty="0"/>
          </a:p>
          <a:p>
            <a:pPr indent="0" marL="0">
              <a:lnSpc>
                <a:spcPct val="110000"/>
              </a:lnSpc>
              <a:buNone/>
            </a:pPr>
            <a:r>
              <a:rPr lang="en-US" sz="1800" b="1" dirty="0">
                <a:solidFill>
                  <a:schemeClr val="tx1"/>
                </a:solidFill>
                <a:latin typeface="Helvetica Neue" pitchFamily="34" charset="0"/>
                <a:ea typeface="Helvetica Neue" pitchFamily="34" charset="-122"/>
                <a:cs typeface="Helvetica Neue" pitchFamily="34" charset="-120"/>
              </a:rPr>
              <a:t>Sellador: 255 L (−17%)</a:t>
            </a:r>
            <a:endParaRPr lang="en-US" sz="18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El descuento no entra en el depósito</a:t>
            </a:r>
            <a:endParaRPr lang="en-US" sz="3300" dirty="0"/>
          </a:p>
        </p:txBody>
      </p:sp>
      <p:sp>
        <p:nvSpPr>
          <p:cNvPr id="4" name="Text 1"/>
          <p:cNvSpPr txBox="1"/>
          <p:nvPr/>
        </p:nvSpPr>
        <p:spPr>
          <a:xfrm>
            <a:off x="612648" y="1600200"/>
            <a:ext cx="10972800" cy="457200"/>
          </a:xfrm>
          <a:prstGeom prst="rect">
            <a:avLst/>
          </a:prstGeom>
          <a:noFill/>
          <a:ln/>
        </p:spPr>
        <p:txBody>
          <a:bodyPr wrap="square" lIns="0" tIns="0" rIns="0" bIns="0" rtlCol="0" anchor="t"/>
          <a:lstStyle/>
          <a:p>
            <a:pPr indent="0" marL="0">
              <a:buNone/>
            </a:pPr>
            <a:r>
              <a:rPr lang="en-US" sz="2200" b="1" dirty="0">
                <a:solidFill>
                  <a:schemeClr val="accent5"/>
                </a:solidFill>
                <a:latin typeface="Helvetica Neue" pitchFamily="34" charset="0"/>
                <a:ea typeface="Helvetica Neue" pitchFamily="34" charset="-122"/>
                <a:cs typeface="Helvetica Neue" pitchFamily="34" charset="-120"/>
              </a:rPr>
              <a:t>2.000 m² × 0,05 m³/m² = 100 m³  &gt;  60 m³ disponibles</a:t>
            </a:r>
            <a:endParaRPr lang="en-US" sz="2200" dirty="0"/>
          </a:p>
        </p:txBody>
      </p:sp>
      <p:sp>
        <p:nvSpPr>
          <p:cNvPr id="5" name="Depósito actual · 60 m³"/>
          <p:cNvSpPr/>
          <p:nvPr/>
        </p:nvSpPr>
        <p:spPr>
          <a:xfrm>
            <a:off x="612648" y="2286000"/>
            <a:ext cx="5349240" cy="2240280"/>
          </a:xfrm>
          <a:prstGeom prst="roundRect">
            <a:avLst>
              <a:gd name="adj" fmla="val 3265"/>
            </a:avLst>
          </a:prstGeom>
          <a:solidFill>
            <a:schemeClr val="bg1"/>
          </a:solidFill>
          <a:ln w="12700">
            <a:solidFill>
              <a:schemeClr val="accent3"/>
            </a:solidFill>
            <a:prstDash val="solid"/>
          </a:ln>
        </p:spPr>
      </p:sp>
      <p:sp>
        <p:nvSpPr>
          <p:cNvPr id="6" name="Text 3"/>
          <p:cNvSpPr txBox="1"/>
          <p:nvPr/>
        </p:nvSpPr>
        <p:spPr>
          <a:xfrm>
            <a:off x="914400" y="2468880"/>
            <a:ext cx="4754880" cy="411480"/>
          </a:xfrm>
          <a:prstGeom prst="rect">
            <a:avLst/>
          </a:prstGeom>
          <a:noFill/>
          <a:ln/>
        </p:spPr>
        <p:txBody>
          <a:bodyPr wrap="square" lIns="0" tIns="0" rIns="0" bIns="0" rtlCol="0" anchor="t"/>
          <a:lstStyle/>
          <a:p>
            <a:pPr indent="0" marL="0">
              <a:buNone/>
            </a:pPr>
            <a:r>
              <a:rPr lang="en-US" sz="1900" b="1" dirty="0">
                <a:solidFill>
                  <a:schemeClr val="tx1"/>
                </a:solidFill>
                <a:latin typeface="Helvetica Neue" pitchFamily="34" charset="0"/>
                <a:ea typeface="Helvetica Neue" pitchFamily="34" charset="-122"/>
                <a:cs typeface="Helvetica Neue" pitchFamily="34" charset="-120"/>
              </a:rPr>
              <a:t>Depósito actual · 60 m³</a:t>
            </a:r>
            <a:endParaRPr lang="en-US" sz="1900" dirty="0"/>
          </a:p>
        </p:txBody>
      </p:sp>
      <p:sp>
        <p:nvSpPr>
          <p:cNvPr id="7" name="Text 4"/>
          <p:cNvSpPr txBox="1"/>
          <p:nvPr/>
        </p:nvSpPr>
        <p:spPr>
          <a:xfrm>
            <a:off x="914400" y="2971800"/>
            <a:ext cx="4754880" cy="685800"/>
          </a:xfrm>
          <a:prstGeom prst="rect">
            <a:avLst/>
          </a:prstGeom>
          <a:noFill/>
          <a:ln/>
        </p:spPr>
        <p:txBody>
          <a:bodyPr wrap="square" lIns="0" tIns="0" rIns="0" bIns="0" rtlCol="0" anchor="t"/>
          <a:lstStyle/>
          <a:p>
            <a:pPr indent="0" marL="0">
              <a:lnSpc>
                <a:spcPct val="110000"/>
              </a:lnSpc>
              <a:buNone/>
            </a:pPr>
            <a:r>
              <a:rPr lang="en-US" sz="1600" dirty="0">
                <a:solidFill>
                  <a:schemeClr val="tx2"/>
                </a:solidFill>
                <a:latin typeface="Helvetica Neue" pitchFamily="34" charset="0"/>
                <a:ea typeface="Helvetica Neue" pitchFamily="34" charset="-122"/>
                <a:cs typeface="Helvetica Neue" pitchFamily="34" charset="-120"/>
              </a:rPr>
              <a:t>Corcho: 1.098 m² a $2.500</a:t>
            </a:r>
            <a:endParaRPr lang="en-US" sz="1600" dirty="0"/>
          </a:p>
          <a:p>
            <a:pPr indent="0" marL="0">
              <a:lnSpc>
                <a:spcPct val="110000"/>
              </a:lnSpc>
              <a:buNone/>
            </a:pPr>
            <a:r>
              <a:rPr lang="en-US" sz="1600" dirty="0">
                <a:solidFill>
                  <a:schemeClr val="tx2"/>
                </a:solidFill>
                <a:latin typeface="Helvetica Neue" pitchFamily="34" charset="0"/>
                <a:ea typeface="Helvetica Neue" pitchFamily="34" charset="-122"/>
                <a:cs typeface="Helvetica Neue" pitchFamily="34" charset="-120"/>
              </a:rPr>
              <a:t>Sellador: 255 L</a:t>
            </a:r>
            <a:endParaRPr lang="en-US" sz="1600" dirty="0"/>
          </a:p>
        </p:txBody>
      </p:sp>
      <p:sp>
        <p:nvSpPr>
          <p:cNvPr id="8" name="Text 5"/>
          <p:cNvSpPr txBox="1"/>
          <p:nvPr/>
        </p:nvSpPr>
        <p:spPr>
          <a:xfrm>
            <a:off x="914400" y="3794760"/>
            <a:ext cx="4754880" cy="457200"/>
          </a:xfrm>
          <a:prstGeom prst="rect">
            <a:avLst/>
          </a:prstGeom>
          <a:noFill/>
          <a:ln/>
        </p:spPr>
        <p:txBody>
          <a:bodyPr wrap="square" lIns="0" tIns="0" rIns="0" bIns="0" rtlCol="0" anchor="t"/>
          <a:lstStyle/>
          <a:p>
            <a:pPr indent="0" marL="0">
              <a:buNone/>
            </a:pPr>
            <a:r>
              <a:rPr lang="en-US" sz="2200" b="1" dirty="0">
                <a:solidFill>
                  <a:schemeClr val="tx1"/>
                </a:solidFill>
                <a:latin typeface="Helvetica Neue" pitchFamily="34" charset="0"/>
                <a:ea typeface="Helvetica Neue" pitchFamily="34" charset="-122"/>
                <a:cs typeface="Helvetica Neue" pitchFamily="34" charset="-120"/>
              </a:rPr>
              <a:t>$46.306.051 por año</a:t>
            </a:r>
            <a:endParaRPr lang="en-US" sz="2200" dirty="0"/>
          </a:p>
        </p:txBody>
      </p:sp>
      <p:sp>
        <p:nvSpPr>
          <p:cNvPr id="9" name="Depósito ampliado · ≈106 m³"/>
          <p:cNvSpPr/>
          <p:nvPr/>
        </p:nvSpPr>
        <p:spPr>
          <a:xfrm>
            <a:off x="6236208" y="2286000"/>
            <a:ext cx="5349240" cy="2240280"/>
          </a:xfrm>
          <a:prstGeom prst="roundRect">
            <a:avLst>
              <a:gd name="adj" fmla="val 3265"/>
            </a:avLst>
          </a:prstGeom>
          <a:solidFill>
            <a:schemeClr val="bg1"/>
          </a:solidFill>
          <a:ln w="12700">
            <a:solidFill>
              <a:schemeClr val="accent3"/>
            </a:solidFill>
            <a:prstDash val="solid"/>
          </a:ln>
        </p:spPr>
      </p:sp>
      <p:sp>
        <p:nvSpPr>
          <p:cNvPr id="10" name="Text 7"/>
          <p:cNvSpPr txBox="1"/>
          <p:nvPr/>
        </p:nvSpPr>
        <p:spPr>
          <a:xfrm>
            <a:off x="6537960" y="2468880"/>
            <a:ext cx="4754880" cy="411480"/>
          </a:xfrm>
          <a:prstGeom prst="rect">
            <a:avLst/>
          </a:prstGeom>
          <a:noFill/>
          <a:ln/>
        </p:spPr>
        <p:txBody>
          <a:bodyPr wrap="square" lIns="0" tIns="0" rIns="0" bIns="0" rtlCol="0" anchor="t"/>
          <a:lstStyle/>
          <a:p>
            <a:pPr indent="0" marL="0">
              <a:buNone/>
            </a:pPr>
            <a:r>
              <a:rPr lang="en-US" sz="1900" b="1" dirty="0">
                <a:solidFill>
                  <a:schemeClr val="tx1"/>
                </a:solidFill>
                <a:latin typeface="Helvetica Neue" pitchFamily="34" charset="0"/>
                <a:ea typeface="Helvetica Neue" pitchFamily="34" charset="-122"/>
                <a:cs typeface="Helvetica Neue" pitchFamily="34" charset="-120"/>
              </a:rPr>
              <a:t>Depósito ampliado · ≈106 m³</a:t>
            </a:r>
            <a:endParaRPr lang="en-US" sz="1900" dirty="0"/>
          </a:p>
        </p:txBody>
      </p:sp>
      <p:sp>
        <p:nvSpPr>
          <p:cNvPr id="11" name="Text 8"/>
          <p:cNvSpPr txBox="1"/>
          <p:nvPr/>
        </p:nvSpPr>
        <p:spPr>
          <a:xfrm>
            <a:off x="6537960" y="2971800"/>
            <a:ext cx="4754880" cy="685800"/>
          </a:xfrm>
          <a:prstGeom prst="rect">
            <a:avLst/>
          </a:prstGeom>
          <a:noFill/>
          <a:ln/>
        </p:spPr>
        <p:txBody>
          <a:bodyPr wrap="square" lIns="0" tIns="0" rIns="0" bIns="0" rtlCol="0" anchor="t"/>
          <a:lstStyle/>
          <a:p>
            <a:pPr indent="0" marL="0">
              <a:lnSpc>
                <a:spcPct val="110000"/>
              </a:lnSpc>
              <a:buNone/>
            </a:pPr>
            <a:r>
              <a:rPr lang="en-US" sz="1600" dirty="0">
                <a:solidFill>
                  <a:schemeClr val="tx2"/>
                </a:solidFill>
                <a:latin typeface="Helvetica Neue" pitchFamily="34" charset="0"/>
                <a:ea typeface="Helvetica Neue" pitchFamily="34" charset="-122"/>
                <a:cs typeface="Helvetica Neue" pitchFamily="34" charset="-120"/>
              </a:rPr>
              <a:t>Corcho: 2.000 m² a $2.350</a:t>
            </a:r>
            <a:endParaRPr lang="en-US" sz="1600" dirty="0"/>
          </a:p>
          <a:p>
            <a:pPr indent="0" marL="0">
              <a:lnSpc>
                <a:spcPct val="110000"/>
              </a:lnSpc>
              <a:buNone/>
            </a:pPr>
            <a:r>
              <a:rPr lang="en-US" sz="1600" dirty="0">
                <a:solidFill>
                  <a:schemeClr val="tx2"/>
                </a:solidFill>
                <a:latin typeface="Helvetica Neue" pitchFamily="34" charset="0"/>
                <a:ea typeface="Helvetica Neue" pitchFamily="34" charset="-122"/>
                <a:cs typeface="Helvetica Neue" pitchFamily="34" charset="-120"/>
              </a:rPr>
              <a:t>Sellador: 309 L</a:t>
            </a:r>
            <a:endParaRPr lang="en-US" sz="1600" dirty="0"/>
          </a:p>
        </p:txBody>
      </p:sp>
      <p:sp>
        <p:nvSpPr>
          <p:cNvPr id="12" name="Text 9"/>
          <p:cNvSpPr txBox="1"/>
          <p:nvPr/>
        </p:nvSpPr>
        <p:spPr>
          <a:xfrm>
            <a:off x="6537960" y="3794760"/>
            <a:ext cx="4754880" cy="457200"/>
          </a:xfrm>
          <a:prstGeom prst="rect">
            <a:avLst/>
          </a:prstGeom>
          <a:noFill/>
          <a:ln/>
        </p:spPr>
        <p:txBody>
          <a:bodyPr wrap="square" lIns="0" tIns="0" rIns="0" bIns="0" rtlCol="0" anchor="t"/>
          <a:lstStyle/>
          <a:p>
            <a:pPr indent="0" marL="0">
              <a:buNone/>
            </a:pPr>
            <a:r>
              <a:rPr lang="en-US" sz="2200" b="1" dirty="0">
                <a:solidFill>
                  <a:schemeClr val="accent1"/>
                </a:solidFill>
                <a:latin typeface="Helvetica Neue" pitchFamily="34" charset="0"/>
                <a:ea typeface="Helvetica Neue" pitchFamily="34" charset="-122"/>
                <a:cs typeface="Helvetica Neue" pitchFamily="34" charset="-120"/>
              </a:rPr>
              <a:t>$43.685.638 por año</a:t>
            </a:r>
            <a:endParaRPr lang="en-US" sz="2200" dirty="0"/>
          </a:p>
        </p:txBody>
      </p:sp>
      <p:sp>
        <p:nvSpPr>
          <p:cNvPr id="13" name="Ahorro ampliacion valor"/>
          <p:cNvSpPr txBox="1"/>
          <p:nvPr/>
        </p:nvSpPr>
        <p:spPr>
          <a:xfrm>
            <a:off x="612648" y="4754880"/>
            <a:ext cx="3474720" cy="426720"/>
          </a:xfrm>
          <a:prstGeom prst="rect">
            <a:avLst/>
          </a:prstGeom>
          <a:noFill/>
          <a:ln/>
        </p:spPr>
        <p:txBody>
          <a:bodyPr wrap="square" lIns="0" tIns="0" rIns="0" bIns="0" rtlCol="0" anchor="t"/>
          <a:lstStyle/>
          <a:p>
            <a:pPr indent="0" marL="0">
              <a:buNone/>
            </a:pPr>
            <a:r>
              <a:rPr lang="en-US" sz="2800" b="1" dirty="0">
                <a:solidFill>
                  <a:schemeClr val="accent1"/>
                </a:solidFill>
                <a:latin typeface="Helvetica Neue" pitchFamily="34" charset="0"/>
                <a:ea typeface="Helvetica Neue" pitchFamily="34" charset="-122"/>
                <a:cs typeface="Helvetica Neue" pitchFamily="34" charset="-120"/>
              </a:rPr>
              <a:t>≈$2.620.000</a:t>
            </a:r>
            <a:endParaRPr lang="en-US" sz="2800" dirty="0"/>
          </a:p>
        </p:txBody>
      </p:sp>
      <p:sp>
        <p:nvSpPr>
          <p:cNvPr id="14" name="Ahorro ampliacion etiqueta"/>
          <p:cNvSpPr txBox="1"/>
          <p:nvPr/>
        </p:nvSpPr>
        <p:spPr>
          <a:xfrm>
            <a:off x="612648" y="5254752"/>
            <a:ext cx="347472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de ahorro anual al ampliar</a:t>
            </a:r>
            <a:endParaRPr lang="en-US" sz="1600" dirty="0"/>
          </a:p>
        </p:txBody>
      </p:sp>
      <p:sp>
        <p:nvSpPr>
          <p:cNvPr id="15" name="Ampliacion valor"/>
          <p:cNvSpPr txBox="1"/>
          <p:nvPr/>
        </p:nvSpPr>
        <p:spPr>
          <a:xfrm>
            <a:off x="4343400" y="4754880"/>
            <a:ext cx="3291840" cy="426720"/>
          </a:xfrm>
          <a:prstGeom prst="rect">
            <a:avLst/>
          </a:prstGeom>
          <a:noFill/>
          <a:ln/>
        </p:spPr>
        <p:txBody>
          <a:bodyPr wrap="square" lIns="0" tIns="0" rIns="0" bIns="0" rtlCol="0" anchor="t"/>
          <a:lstStyle/>
          <a:p>
            <a:pPr indent="0" marL="0">
              <a:buNone/>
            </a:pPr>
            <a:r>
              <a:rPr lang="en-US" sz="2800" b="1" dirty="0">
                <a:solidFill>
                  <a:schemeClr val="accent1"/>
                </a:solidFill>
                <a:latin typeface="Helvetica Neue" pitchFamily="34" charset="0"/>
                <a:ea typeface="Helvetica Neue" pitchFamily="34" charset="-122"/>
                <a:cs typeface="Helvetica Neue" pitchFamily="34" charset="-120"/>
              </a:rPr>
              <a:t>+46 m³</a:t>
            </a:r>
            <a:endParaRPr lang="en-US" sz="2800" dirty="0"/>
          </a:p>
        </p:txBody>
      </p:sp>
      <p:sp>
        <p:nvSpPr>
          <p:cNvPr id="16" name="Ampliacion etiqueta"/>
          <p:cNvSpPr txBox="1"/>
          <p:nvPr/>
        </p:nvSpPr>
        <p:spPr>
          <a:xfrm>
            <a:off x="4343400" y="5254752"/>
            <a:ext cx="32918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de depósito necesarios</a:t>
            </a:r>
            <a:endParaRPr lang="en-US" sz="1600" dirty="0"/>
          </a:p>
        </p:txBody>
      </p:sp>
      <p:sp>
        <p:nvSpPr>
          <p:cNvPr id="17" name="Tope valor"/>
          <p:cNvSpPr txBox="1"/>
          <p:nvPr/>
        </p:nvSpPr>
        <p:spPr>
          <a:xfrm>
            <a:off x="7909560" y="4754880"/>
            <a:ext cx="3657600" cy="426720"/>
          </a:xfrm>
          <a:prstGeom prst="rect">
            <a:avLst/>
          </a:prstGeom>
          <a:noFill/>
          <a:ln/>
        </p:spPr>
        <p:txBody>
          <a:bodyPr wrap="square" lIns="0" tIns="0" rIns="0" bIns="0" rtlCol="0" anchor="t"/>
          <a:lstStyle/>
          <a:p>
            <a:pPr indent="0" marL="0">
              <a:buNone/>
            </a:pPr>
            <a:r>
              <a:rPr lang="en-US" sz="2800" b="1" dirty="0">
                <a:solidFill>
                  <a:schemeClr val="accent1"/>
                </a:solidFill>
                <a:latin typeface="Helvetica Neue" pitchFamily="34" charset="0"/>
                <a:ea typeface="Helvetica Neue" pitchFamily="34" charset="-122"/>
                <a:cs typeface="Helvetica Neue" pitchFamily="34" charset="-120"/>
              </a:rPr>
              <a:t>&lt; $56.750</a:t>
            </a:r>
            <a:endParaRPr lang="en-US" sz="2800" dirty="0"/>
          </a:p>
        </p:txBody>
      </p:sp>
      <p:sp>
        <p:nvSpPr>
          <p:cNvPr id="18" name="Tope etiqueta"/>
          <p:cNvSpPr txBox="1"/>
          <p:nvPr/>
        </p:nvSpPr>
        <p:spPr>
          <a:xfrm>
            <a:off x="7909560" y="5254752"/>
            <a:ext cx="365760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por m³ y por año: costo máximo para que convenga</a:t>
            </a:r>
            <a:endParaRPr lang="en-US" sz="1600" dirty="0"/>
          </a:p>
        </p:txBody>
      </p:sp>
      <p:sp>
        <p:nvSpPr>
          <p:cNvPr id="19" name="Text 16"/>
          <p:cNvSpPr txBox="1"/>
          <p:nvPr/>
        </p:nvSpPr>
        <p:spPr>
          <a:xfrm>
            <a:off x="612648" y="5989320"/>
            <a:ext cx="10241280" cy="365760"/>
          </a:xfrm>
          <a:prstGeom prst="rect">
            <a:avLst/>
          </a:prstGeom>
          <a:noFill/>
          <a:ln/>
        </p:spPr>
        <p:txBody>
          <a:bodyPr wrap="square" lIns="0" tIns="0" rIns="0" bIns="0" rtlCol="0" anchor="t"/>
          <a:lstStyle/>
          <a:p>
            <a:pPr indent="0" marL="0">
              <a:buNone/>
            </a:pPr>
            <a:r>
              <a:rPr lang="en-US" sz="1400" dirty="0">
                <a:solidFill>
                  <a:schemeClr val="tx2"/>
                </a:solidFill>
                <a:latin typeface="Helvetica Neue" pitchFamily="34" charset="0"/>
                <a:ea typeface="Helvetica Neue" pitchFamily="34" charset="-122"/>
                <a:cs typeface="Helvetica Neue" pitchFamily="34" charset="-120"/>
              </a:rPr>
              <a:t>λ* = $5.820 por m³ y por año es el valor marginal del espacio; el salto de precio del descuento no lo captura.</a:t>
            </a:r>
            <a:endParaRPr lang="en-US" sz="14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Demanda variable: stock de seguridad</a:t>
            </a:r>
            <a:endParaRPr lang="en-US" sz="3300" dirty="0"/>
          </a:p>
        </p:txBody>
      </p:sp>
      <p:graphicFrame>
        <p:nvGraphicFramePr>
          <p:cNvPr id="10" name="Tabla datos aleatorio"/>
          <p:cNvGraphicFramePr>
            <a:graphicFrameLocks noGrp="1"/>
          </p:cNvGraphicFramePr>
          <p:nvPr>
            <p:extLst>
              <p:ext uri="{D42A27DB-BD31-4B8C-83A1-F6EECF244321}">
                <p14:modId xmlns:p14="http://schemas.microsoft.com/office/powerpoint/2010/main" val="1579011935"/>
              </p:ext>
            </p:extLst>
          </p:nvPr>
        </p:nvGraphicFramePr>
        <p:xfrm>
          <a:off x="612648" y="1600200"/>
          <a:ext cx="5486400" cy="914400"/>
        </p:xfrm>
        <a:graphic>
          <a:graphicData uri="http://schemas.openxmlformats.org/drawingml/2006/table">
            <a:tbl>
              <a:tblPr/>
              <a:tblGrid>
                <a:gridCol w="3017520"/>
                <a:gridCol w="2468880"/>
              </a:tblGrid>
              <a:tr h="512064">
                <a:tc>
                  <a:txBody>
                    <a:bodyPr/>
                    <a:lstStyle/>
                    <a:p>
                      <a:pPr algn="l" indent="0" marL="0">
                        <a:buNone/>
                      </a:pPr>
                      <a:r>
                        <a:rPr lang="en-US" sz="1700" b="1" dirty="0">
                          <a:solidFill>
                            <a:schemeClr val="bg1"/>
                          </a:solidFill>
                          <a:latin typeface="Helvetica Neue" pitchFamily="34" charset="0"/>
                          <a:ea typeface="Helvetica Neue" pitchFamily="34" charset="-122"/>
                          <a:cs typeface="Helvetica Neue" pitchFamily="34" charset="-120"/>
                        </a:rPr>
                        <a:t>Parámetro</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bg1"/>
                          </a:solidFill>
                          <a:latin typeface="Helvetica Neue" pitchFamily="34" charset="0"/>
                          <a:ea typeface="Helvetica Neue" pitchFamily="34" charset="-122"/>
                          <a:cs typeface="Helvetica Neue" pitchFamily="34" charset="-120"/>
                        </a:rPr>
                        <a:t>Valor</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Demanda diaria media</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47,01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Desvío diario (σd)</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8 m²</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Plazo de entrega (LT)</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10 días</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12064">
                <a:tc>
                  <a:txBody>
                    <a:bodyPr/>
                    <a:lstStyle/>
                    <a:p>
                      <a:pPr algn="l" indent="0" marL="0">
                        <a:buNone/>
                      </a:pPr>
                      <a:r>
                        <a:rPr lang="en-US" sz="1700" dirty="0">
                          <a:solidFill>
                            <a:schemeClr val="tx1"/>
                          </a:solidFill>
                          <a:latin typeface="Helvetica Neue" pitchFamily="34" charset="0"/>
                          <a:ea typeface="Helvetica Neue" pitchFamily="34" charset="-122"/>
                          <a:cs typeface="Helvetica Neue" pitchFamily="34" charset="-120"/>
                        </a:rPr>
                        <a:t>Riesgo de faltante</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700" dirty="0">
                          <a:solidFill>
                            <a:schemeClr val="tx1"/>
                          </a:solidFill>
                          <a:latin typeface="Helvetica Neue" pitchFamily="34" charset="0"/>
                          <a:ea typeface="Helvetica Neue" pitchFamily="34" charset="-122"/>
                          <a:cs typeface="Helvetica Neue" pitchFamily="34" charset="-120"/>
                        </a:rPr>
                        <a:t>5% → z = 1,645</a:t>
                      </a:r>
                      <a:endParaRPr lang="en-US" sz="17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5" name="Text 1"/>
          <p:cNvSpPr txBox="1"/>
          <p:nvPr/>
        </p:nvSpPr>
        <p:spPr>
          <a:xfrm>
            <a:off x="612648" y="4434840"/>
            <a:ext cx="5486400" cy="822960"/>
          </a:xfrm>
          <a:prstGeom prst="rect">
            <a:avLst/>
          </a:prstGeom>
          <a:noFill/>
          <a:ln/>
        </p:spPr>
        <p:txBody>
          <a:bodyPr wrap="square" lIns="0" tIns="0" rIns="0" bIns="0" rtlCol="0" anchor="t"/>
          <a:lstStyle/>
          <a:p>
            <a:pPr indent="0" marL="0">
              <a:lnSpc>
                <a:spcPct val="115000"/>
              </a:lnSpc>
              <a:buNone/>
            </a:pPr>
            <a:r>
              <a:rPr lang="en-US" sz="1700" dirty="0">
                <a:solidFill>
                  <a:schemeClr val="tx1"/>
                </a:solidFill>
                <a:latin typeface="Helvetica Neue" pitchFamily="34" charset="0"/>
                <a:ea typeface="Helvetica Neue" pitchFamily="34" charset="-122"/>
                <a:cs typeface="Helvetica Neue" pitchFamily="34" charset="-120"/>
              </a:rPr>
              <a:t>Demanda en el plazo:  μ = 47,01 × 10 = 470,1 m²</a:t>
            </a:r>
            <a:endParaRPr lang="en-US" sz="1700" dirty="0"/>
          </a:p>
          <a:p>
            <a:pPr indent="0" marL="0">
              <a:lnSpc>
                <a:spcPct val="115000"/>
              </a:lnSpc>
              <a:buNone/>
            </a:pPr>
            <a:r>
              <a:rPr lang="en-US" sz="1700" dirty="0">
                <a:solidFill>
                  <a:schemeClr val="tx1"/>
                </a:solidFill>
                <a:latin typeface="Helvetica Neue" pitchFamily="34" charset="0"/>
                <a:ea typeface="Helvetica Neue" pitchFamily="34" charset="-122"/>
                <a:cs typeface="Helvetica Neue" pitchFamily="34" charset="-120"/>
              </a:rPr>
              <a:t>Desvío en el plazo:  σ = 8 × √10 = 25,3 m²</a:t>
            </a:r>
            <a:endParaRPr lang="en-US" sz="1700" dirty="0"/>
          </a:p>
        </p:txBody>
      </p:sp>
      <p:sp>
        <p:nvSpPr>
          <p:cNvPr id="6" name="Stock de seguridad valor"/>
          <p:cNvSpPr txBox="1"/>
          <p:nvPr/>
        </p:nvSpPr>
        <p:spPr>
          <a:xfrm>
            <a:off x="6675120" y="1600200"/>
            <a:ext cx="4892040" cy="701040"/>
          </a:xfrm>
          <a:prstGeom prst="rect">
            <a:avLst/>
          </a:prstGeom>
          <a:noFill/>
          <a:ln/>
        </p:spPr>
        <p:txBody>
          <a:bodyPr wrap="square" lIns="0" tIns="0" rIns="0" bIns="0" rtlCol="0" anchor="t"/>
          <a:lstStyle/>
          <a:p>
            <a:pPr indent="0" marL="0">
              <a:buNone/>
            </a:pPr>
            <a:r>
              <a:rPr lang="en-US" sz="4600" b="1" dirty="0">
                <a:solidFill>
                  <a:schemeClr val="accent1"/>
                </a:solidFill>
                <a:latin typeface="Helvetica Neue" pitchFamily="34" charset="0"/>
                <a:ea typeface="Helvetica Neue" pitchFamily="34" charset="-122"/>
                <a:cs typeface="Helvetica Neue" pitchFamily="34" charset="-120"/>
              </a:rPr>
              <a:t>42 m²</a:t>
            </a:r>
            <a:endParaRPr lang="en-US" sz="4600" dirty="0"/>
          </a:p>
        </p:txBody>
      </p:sp>
      <p:sp>
        <p:nvSpPr>
          <p:cNvPr id="7" name="Stock de seguridad etiqueta"/>
          <p:cNvSpPr txBox="1"/>
          <p:nvPr/>
        </p:nvSpPr>
        <p:spPr>
          <a:xfrm>
            <a:off x="6675120" y="2374392"/>
            <a:ext cx="48920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Stock de seguridad = 1,645 × 25,3</a:t>
            </a:r>
            <a:endParaRPr lang="en-US" sz="1600" dirty="0"/>
          </a:p>
        </p:txBody>
      </p:sp>
      <p:sp>
        <p:nvSpPr>
          <p:cNvPr id="8" name="Punto de pedido valor"/>
          <p:cNvSpPr txBox="1"/>
          <p:nvPr/>
        </p:nvSpPr>
        <p:spPr>
          <a:xfrm>
            <a:off x="6675120" y="3108960"/>
            <a:ext cx="4892040" cy="701040"/>
          </a:xfrm>
          <a:prstGeom prst="rect">
            <a:avLst/>
          </a:prstGeom>
          <a:noFill/>
          <a:ln/>
        </p:spPr>
        <p:txBody>
          <a:bodyPr wrap="square" lIns="0" tIns="0" rIns="0" bIns="0" rtlCol="0" anchor="t"/>
          <a:lstStyle/>
          <a:p>
            <a:pPr indent="0" marL="0">
              <a:buNone/>
            </a:pPr>
            <a:r>
              <a:rPr lang="en-US" sz="4600" b="1" dirty="0">
                <a:solidFill>
                  <a:schemeClr val="accent1"/>
                </a:solidFill>
                <a:latin typeface="Helvetica Neue" pitchFamily="34" charset="0"/>
                <a:ea typeface="Helvetica Neue" pitchFamily="34" charset="-122"/>
                <a:cs typeface="Helvetica Neue" pitchFamily="34" charset="-120"/>
              </a:rPr>
              <a:t>512 m²</a:t>
            </a:r>
            <a:endParaRPr lang="en-US" sz="4600" dirty="0"/>
          </a:p>
        </p:txBody>
      </p:sp>
      <p:sp>
        <p:nvSpPr>
          <p:cNvPr id="9" name="Punto de pedido etiqueta"/>
          <p:cNvSpPr txBox="1"/>
          <p:nvPr/>
        </p:nvSpPr>
        <p:spPr>
          <a:xfrm>
            <a:off x="6675120" y="3883152"/>
            <a:ext cx="4892040" cy="685800"/>
          </a:xfrm>
          <a:prstGeom prst="rect">
            <a:avLst/>
          </a:prstGeom>
          <a:noFill/>
          <a:ln/>
        </p:spPr>
        <p:txBody>
          <a:bodyPr wrap="square" lIns="0" tIns="0" rIns="0" bIns="0" rtlCol="0" anchor="t"/>
          <a:lstStyle/>
          <a:p>
            <a:pPr indent="0" marL="0">
              <a:buNone/>
            </a:pPr>
            <a:r>
              <a:rPr lang="en-US" sz="1600" dirty="0">
                <a:solidFill>
                  <a:schemeClr val="tx2"/>
                </a:solidFill>
                <a:latin typeface="Helvetica Neue" pitchFamily="34" charset="0"/>
                <a:ea typeface="Helvetica Neue" pitchFamily="34" charset="-122"/>
                <a:cs typeface="Helvetica Neue" pitchFamily="34" charset="-120"/>
              </a:rPr>
              <a:t>Punto de pedido = 470,1 + 41,6</a:t>
            </a:r>
            <a:endParaRPr lang="en-US" sz="1600" dirty="0"/>
          </a:p>
        </p:txBody>
      </p:sp>
      <p:sp>
        <p:nvSpPr>
          <p:cNvPr id="10" name="Text 6"/>
          <p:cNvSpPr txBox="1"/>
          <p:nvPr/>
        </p:nvSpPr>
        <p:spPr>
          <a:xfrm>
            <a:off x="6675120" y="4572000"/>
            <a:ext cx="4892040" cy="731520"/>
          </a:xfrm>
          <a:prstGeom prst="rect">
            <a:avLst/>
          </a:prstGeom>
          <a:noFill/>
          <a:ln/>
        </p:spPr>
        <p:txBody>
          <a:bodyPr wrap="square" lIns="0" tIns="0" rIns="0" bIns="0" rtlCol="0" anchor="t"/>
          <a:lstStyle/>
          <a:p>
            <a:pPr indent="0" marL="0">
              <a:buNone/>
            </a:pPr>
            <a:r>
              <a:rPr lang="en-US" sz="1700" b="1" dirty="0">
                <a:solidFill>
                  <a:schemeClr val="accent5"/>
                </a:solidFill>
                <a:latin typeface="Helvetica Neue" pitchFamily="34" charset="0"/>
                <a:ea typeface="Helvetica Neue" pitchFamily="34" charset="-122"/>
                <a:cs typeface="Helvetica Neue" pitchFamily="34" charset="-120"/>
              </a:rPr>
              <a:t>Pidiendo a 470 m², sin colchón, faltaría corcho en la mitad de los ciclos.</a:t>
            </a:r>
            <a:endParaRPr lang="en-US" sz="17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La política de compra del corcho</a:t>
            </a:r>
            <a:endParaRPr lang="en-US" sz="3300" dirty="0"/>
          </a:p>
        </p:txBody>
      </p:sp>
      <p:sp>
        <p:nvSpPr>
          <p:cNvPr id="4" name="Regla de compra"/>
          <p:cNvSpPr/>
          <p:nvPr/>
        </p:nvSpPr>
        <p:spPr>
          <a:xfrm>
            <a:off x="612648" y="1600200"/>
            <a:ext cx="5212080" cy="1463040"/>
          </a:xfrm>
          <a:prstGeom prst="roundRect">
            <a:avLst>
              <a:gd name="adj" fmla="val 5000"/>
            </a:avLst>
          </a:prstGeom>
          <a:solidFill>
            <a:schemeClr val="bg1"/>
          </a:solidFill>
          <a:ln w="12700">
            <a:solidFill>
              <a:schemeClr val="accent3"/>
            </a:solidFill>
            <a:prstDash val="solid"/>
          </a:ln>
        </p:spPr>
      </p:sp>
      <p:sp>
        <p:nvSpPr>
          <p:cNvPr id="5" name="Text 2"/>
          <p:cNvSpPr txBox="1"/>
          <p:nvPr/>
        </p:nvSpPr>
        <p:spPr>
          <a:xfrm>
            <a:off x="886968" y="1783080"/>
            <a:ext cx="4754880" cy="1097280"/>
          </a:xfrm>
          <a:prstGeom prst="rect">
            <a:avLst/>
          </a:prstGeom>
          <a:noFill/>
          <a:ln/>
        </p:spPr>
        <p:txBody>
          <a:bodyPr wrap="square" lIns="0" tIns="0" rIns="0" bIns="0" rtlCol="0" anchor="t"/>
          <a:lstStyle/>
          <a:p>
            <a:pPr indent="0" marL="0">
              <a:lnSpc>
                <a:spcPct val="110000"/>
              </a:lnSpc>
              <a:buNone/>
            </a:pPr>
            <a:r>
              <a:rPr lang="en-US" sz="2200" b="1" dirty="0">
                <a:solidFill>
                  <a:schemeClr val="accent1"/>
                </a:solidFill>
                <a:latin typeface="Helvetica Neue" pitchFamily="34" charset="0"/>
                <a:ea typeface="Helvetica Neue" pitchFamily="34" charset="-122"/>
                <a:cs typeface="Helvetica Neue" pitchFamily="34" charset="-120"/>
              </a:rPr>
              <a:t>Cuando el stock baja a 512 m²,</a:t>
            </a:r>
            <a:endParaRPr lang="en-US" sz="2200" dirty="0"/>
          </a:p>
          <a:p>
            <a:pPr indent="0" marL="0">
              <a:lnSpc>
                <a:spcPct val="110000"/>
              </a:lnSpc>
              <a:buNone/>
            </a:pPr>
            <a:r>
              <a:rPr lang="en-US" sz="2200" b="1" dirty="0">
                <a:solidFill>
                  <a:schemeClr val="accent1"/>
                </a:solidFill>
                <a:latin typeface="Helvetica Neue" pitchFamily="34" charset="0"/>
                <a:ea typeface="Helvetica Neue" pitchFamily="34" charset="-122"/>
                <a:cs typeface="Helvetica Neue" pitchFamily="34" charset="-120"/>
              </a:rPr>
              <a:t>pedir 1.098 m² de corcho</a:t>
            </a:r>
            <a:endParaRPr lang="en-US" sz="2200" dirty="0"/>
          </a:p>
        </p:txBody>
      </p:sp>
      <p:sp>
        <p:nvSpPr>
          <p:cNvPr id="6" name="Text 3"/>
          <p:cNvSpPr txBox="1"/>
          <p:nvPr/>
        </p:nvSpPr>
        <p:spPr>
          <a:xfrm>
            <a:off x="612648" y="3337560"/>
            <a:ext cx="1737360" cy="548640"/>
          </a:xfrm>
          <a:prstGeom prst="rect">
            <a:avLst/>
          </a:prstGeom>
          <a:noFill/>
          <a:ln/>
        </p:spPr>
        <p:txBody>
          <a:bodyPr wrap="square" lIns="0" tIns="0" rIns="0" bIns="0" rtlCol="0" anchor="t"/>
          <a:lstStyle/>
          <a:p>
            <a:pPr indent="0" marL="0">
              <a:buNone/>
            </a:pPr>
            <a:r>
              <a:rPr lang="en-US" sz="2600" b="1" dirty="0">
                <a:solidFill>
                  <a:schemeClr val="accent1"/>
                </a:solidFill>
                <a:latin typeface="Helvetica Neue" pitchFamily="34" charset="0"/>
                <a:ea typeface="Helvetica Neue" pitchFamily="34" charset="-122"/>
                <a:cs typeface="Helvetica Neue" pitchFamily="34" charset="-120"/>
              </a:rPr>
              <a:t>15,6</a:t>
            </a:r>
            <a:endParaRPr lang="en-US" sz="2600" dirty="0"/>
          </a:p>
        </p:txBody>
      </p:sp>
      <p:sp>
        <p:nvSpPr>
          <p:cNvPr id="7" name="Text 4"/>
          <p:cNvSpPr txBox="1"/>
          <p:nvPr/>
        </p:nvSpPr>
        <p:spPr>
          <a:xfrm>
            <a:off x="2423160" y="3429000"/>
            <a:ext cx="3383280" cy="457200"/>
          </a:xfrm>
          <a:prstGeom prst="rect">
            <a:avLst/>
          </a:prstGeom>
          <a:noFill/>
          <a:ln/>
        </p:spPr>
        <p:txBody>
          <a:bodyPr wrap="square" lIns="0" tIns="0" rIns="0" bIns="0" rtlCol="0" anchor="t"/>
          <a:lstStyle/>
          <a:p>
            <a:pPr indent="0" marL="0">
              <a:buNone/>
            </a:pPr>
            <a:r>
              <a:rPr lang="en-US" sz="1700" dirty="0">
                <a:solidFill>
                  <a:schemeClr val="tx2"/>
                </a:solidFill>
                <a:latin typeface="Helvetica Neue" pitchFamily="34" charset="0"/>
                <a:ea typeface="Helvetica Neue" pitchFamily="34" charset="-122"/>
                <a:cs typeface="Helvetica Neue" pitchFamily="34" charset="-120"/>
              </a:rPr>
              <a:t>pedidos por año</a:t>
            </a:r>
            <a:endParaRPr lang="en-US" sz="1700" dirty="0"/>
          </a:p>
        </p:txBody>
      </p:sp>
      <p:sp>
        <p:nvSpPr>
          <p:cNvPr id="8" name="Text 5"/>
          <p:cNvSpPr txBox="1"/>
          <p:nvPr/>
        </p:nvSpPr>
        <p:spPr>
          <a:xfrm>
            <a:off x="612648" y="4050792"/>
            <a:ext cx="1737360" cy="548640"/>
          </a:xfrm>
          <a:prstGeom prst="rect">
            <a:avLst/>
          </a:prstGeom>
          <a:noFill/>
          <a:ln/>
        </p:spPr>
        <p:txBody>
          <a:bodyPr wrap="square" lIns="0" tIns="0" rIns="0" bIns="0" rtlCol="0" anchor="t"/>
          <a:lstStyle/>
          <a:p>
            <a:pPr indent="0" marL="0">
              <a:buNone/>
            </a:pPr>
            <a:r>
              <a:rPr lang="en-US" sz="2600" b="1" dirty="0">
                <a:solidFill>
                  <a:schemeClr val="accent1"/>
                </a:solidFill>
                <a:latin typeface="Helvetica Neue" pitchFamily="34" charset="0"/>
                <a:ea typeface="Helvetica Neue" pitchFamily="34" charset="-122"/>
                <a:cs typeface="Helvetica Neue" pitchFamily="34" charset="-120"/>
              </a:rPr>
              <a:t>≈23 días</a:t>
            </a:r>
            <a:endParaRPr lang="en-US" sz="2600" dirty="0"/>
          </a:p>
        </p:txBody>
      </p:sp>
      <p:sp>
        <p:nvSpPr>
          <p:cNvPr id="9" name="Text 6"/>
          <p:cNvSpPr txBox="1"/>
          <p:nvPr/>
        </p:nvSpPr>
        <p:spPr>
          <a:xfrm>
            <a:off x="2423160" y="4142232"/>
            <a:ext cx="3383280" cy="457200"/>
          </a:xfrm>
          <a:prstGeom prst="rect">
            <a:avLst/>
          </a:prstGeom>
          <a:noFill/>
          <a:ln/>
        </p:spPr>
        <p:txBody>
          <a:bodyPr wrap="square" lIns="0" tIns="0" rIns="0" bIns="0" rtlCol="0" anchor="t"/>
          <a:lstStyle/>
          <a:p>
            <a:pPr indent="0" marL="0">
              <a:buNone/>
            </a:pPr>
            <a:r>
              <a:rPr lang="en-US" sz="1700" dirty="0">
                <a:solidFill>
                  <a:schemeClr val="tx2"/>
                </a:solidFill>
                <a:latin typeface="Helvetica Neue" pitchFamily="34" charset="0"/>
                <a:ea typeface="Helvetica Neue" pitchFamily="34" charset="-122"/>
                <a:cs typeface="Helvetica Neue" pitchFamily="34" charset="-120"/>
              </a:rPr>
              <a:t>entre pedidos</a:t>
            </a:r>
            <a:endParaRPr lang="en-US" sz="1700" dirty="0"/>
          </a:p>
        </p:txBody>
      </p:sp>
      <p:sp>
        <p:nvSpPr>
          <p:cNvPr id="10" name="Text 7"/>
          <p:cNvSpPr txBox="1"/>
          <p:nvPr/>
        </p:nvSpPr>
        <p:spPr>
          <a:xfrm>
            <a:off x="612648" y="4764024"/>
            <a:ext cx="1737360" cy="548640"/>
          </a:xfrm>
          <a:prstGeom prst="rect">
            <a:avLst/>
          </a:prstGeom>
          <a:noFill/>
          <a:ln/>
        </p:spPr>
        <p:txBody>
          <a:bodyPr wrap="square" lIns="0" tIns="0" rIns="0" bIns="0" rtlCol="0" anchor="t"/>
          <a:lstStyle/>
          <a:p>
            <a:pPr indent="0" marL="0">
              <a:buNone/>
            </a:pPr>
            <a:r>
              <a:rPr lang="en-US" sz="2600" b="1" dirty="0">
                <a:solidFill>
                  <a:schemeClr val="accent1"/>
                </a:solidFill>
                <a:latin typeface="Helvetica Neue" pitchFamily="34" charset="0"/>
                <a:ea typeface="Helvetica Neue" pitchFamily="34" charset="-122"/>
                <a:cs typeface="Helvetica Neue" pitchFamily="34" charset="-120"/>
              </a:rPr>
              <a:t>95%</a:t>
            </a:r>
            <a:endParaRPr lang="en-US" sz="2600" dirty="0"/>
          </a:p>
        </p:txBody>
      </p:sp>
      <p:sp>
        <p:nvSpPr>
          <p:cNvPr id="11" name="Text 8"/>
          <p:cNvSpPr txBox="1"/>
          <p:nvPr/>
        </p:nvSpPr>
        <p:spPr>
          <a:xfrm>
            <a:off x="2423160" y="4855464"/>
            <a:ext cx="3383280" cy="457200"/>
          </a:xfrm>
          <a:prstGeom prst="rect">
            <a:avLst/>
          </a:prstGeom>
          <a:noFill/>
          <a:ln/>
        </p:spPr>
        <p:txBody>
          <a:bodyPr wrap="square" lIns="0" tIns="0" rIns="0" bIns="0" rtlCol="0" anchor="t"/>
          <a:lstStyle/>
          <a:p>
            <a:pPr indent="0" marL="0">
              <a:buNone/>
            </a:pPr>
            <a:r>
              <a:rPr lang="en-US" sz="1700" dirty="0">
                <a:solidFill>
                  <a:schemeClr val="tx2"/>
                </a:solidFill>
                <a:latin typeface="Helvetica Neue" pitchFamily="34" charset="0"/>
                <a:ea typeface="Helvetica Neue" pitchFamily="34" charset="-122"/>
                <a:cs typeface="Helvetica Neue" pitchFamily="34" charset="-120"/>
              </a:rPr>
              <a:t>de los ciclos sin faltante</a:t>
            </a:r>
            <a:endParaRPr lang="en-US" sz="1700" dirty="0"/>
          </a:p>
        </p:txBody>
      </p:sp>
      <p:graphicFrame>
        <p:nvGraphicFramePr>
          <p:cNvPr id="11" name="Tabla resumen stock"/>
          <p:cNvGraphicFramePr>
            <a:graphicFrameLocks noGrp="1"/>
          </p:cNvGraphicFramePr>
          <p:nvPr>
            <p:extLst>
              <p:ext uri="{D42A27DB-BD31-4B8C-83A1-F6EECF244321}">
                <p14:modId xmlns:p14="http://schemas.microsoft.com/office/powerpoint/2010/main" val="1579011935"/>
              </p:ext>
            </p:extLst>
          </p:nvPr>
        </p:nvGraphicFramePr>
        <p:xfrm>
          <a:off x="6217920" y="1600200"/>
          <a:ext cx="5367528" cy="914400"/>
        </p:xfrm>
        <a:graphic>
          <a:graphicData uri="http://schemas.openxmlformats.org/drawingml/2006/table">
            <a:tbl>
              <a:tblPr/>
              <a:tblGrid>
                <a:gridCol w="2441448"/>
                <a:gridCol w="1463040"/>
                <a:gridCol w="1463040"/>
              </a:tblGrid>
              <a:tr h="548640">
                <a:tc>
                  <a:txBody>
                    <a:bodyPr/>
                    <a:lstStyle/>
                    <a:p>
                      <a:pPr algn="l" indent="0" marL="0">
                        <a:buNone/>
                      </a:pPr>
                      <a:r>
                        <a:rPr lang="en-US" sz="1600" b="1" dirty="0">
                          <a:solidFill>
                            <a:schemeClr val="bg1"/>
                          </a:solidFill>
                          <a:latin typeface="Helvetica Neue" pitchFamily="34" charset="0"/>
                          <a:ea typeface="Helvetica Neue" pitchFamily="34" charset="-122"/>
                          <a:cs typeface="Helvetica Neue" pitchFamily="34" charset="-120"/>
                        </a:rPr>
                        <a:t>Modelo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Lote óptimo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Stock de seg.</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48640">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Descuento (referencia)</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2.000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48640">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Restringido · corcho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1.098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48640">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Restringido · sellador</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255 L</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48640">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Aleatorio · corcho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1.098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42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13" name="Text 9"/>
          <p:cNvSpPr txBox="1"/>
          <p:nvPr/>
        </p:nvSpPr>
        <p:spPr>
          <a:xfrm>
            <a:off x="6217920" y="4572000"/>
            <a:ext cx="5367528" cy="640080"/>
          </a:xfrm>
          <a:prstGeom prst="rect">
            <a:avLst/>
          </a:prstGeom>
          <a:noFill/>
          <a:ln/>
        </p:spPr>
        <p:txBody>
          <a:bodyPr wrap="square" lIns="0" tIns="0" rIns="0" bIns="0" rtlCol="0" anchor="t"/>
          <a:lstStyle/>
          <a:p>
            <a:pPr indent="0" marL="0">
              <a:buNone/>
            </a:pPr>
            <a:r>
              <a:rPr lang="en-US" sz="1500" dirty="0">
                <a:solidFill>
                  <a:schemeClr val="tx2"/>
                </a:solidFill>
                <a:latin typeface="Helvetica Neue" pitchFamily="34" charset="0"/>
                <a:ea typeface="Helvetica Neue" pitchFamily="34" charset="-122"/>
                <a:cs typeface="Helvetica Neue" pitchFamily="34" charset="-120"/>
              </a:rPr>
              <a:t>El lote de 2.000 m² requiere ampliar el depósito: queda como referencia.</a:t>
            </a:r>
            <a:endParaRPr lang="en-US" sz="15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tx1"/>
                </a:solidFill>
                <a:latin typeface="Helvetica Neue" pitchFamily="34" charset="0"/>
                <a:ea typeface="Helvetica Neue" pitchFamily="34" charset="-122"/>
                <a:cs typeface="Helvetica Neue" pitchFamily="34" charset="-120"/>
              </a:rPr>
              <a:t>Del modelo a las decisiones</a:t>
            </a:r>
            <a:endParaRPr lang="en-US" sz="3300" dirty="0"/>
          </a:p>
        </p:txBody>
      </p:sp>
      <p:graphicFrame>
        <p:nvGraphicFramePr>
          <p:cNvPr id="12" name="Tabla decisiones"/>
          <p:cNvGraphicFramePr>
            <a:graphicFrameLocks noGrp="1"/>
          </p:cNvGraphicFramePr>
          <p:nvPr>
            <p:extLst>
              <p:ext uri="{D42A27DB-BD31-4B8C-83A1-F6EECF244321}">
                <p14:modId xmlns:p14="http://schemas.microsoft.com/office/powerpoint/2010/main" val="1579011935"/>
              </p:ext>
            </p:extLst>
          </p:nvPr>
        </p:nvGraphicFramePr>
        <p:xfrm>
          <a:off x="612648" y="1600200"/>
          <a:ext cx="10972800" cy="914400"/>
        </p:xfrm>
        <a:graphic>
          <a:graphicData uri="http://schemas.openxmlformats.org/drawingml/2006/table">
            <a:tbl>
              <a:tblPr/>
              <a:tblGrid>
                <a:gridCol w="914400"/>
                <a:gridCol w="5852160"/>
                <a:gridCol w="4206240"/>
              </a:tblGrid>
              <a:tr h="566928">
                <a:tc>
                  <a:txBody>
                    <a:bodyPr/>
                    <a:lstStyle/>
                    <a:p>
                      <a:pPr algn="ctr" indent="0" marL="0">
                        <a:buNone/>
                      </a:pPr>
                      <a:r>
                        <a:rPr lang="en-US" sz="1600" b="1" dirty="0">
                          <a:solidFill>
                            <a:schemeClr val="bg1"/>
                          </a:solidFill>
                          <a:latin typeface="Helvetica Neue" pitchFamily="34" charset="0"/>
                          <a:ea typeface="Helvetica Neue" pitchFamily="34" charset="-122"/>
                          <a:cs typeface="Helvetica Neue" pitchFamily="34" charset="-120"/>
                        </a:rPr>
                        <a:t>Etapa</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l" indent="0" marL="0">
                        <a:buNone/>
                      </a:pPr>
                      <a:r>
                        <a:rPr lang="en-US" sz="1600" b="1" dirty="0">
                          <a:solidFill>
                            <a:schemeClr val="bg1"/>
                          </a:solidFill>
                          <a:latin typeface="Helvetica Neue" pitchFamily="34" charset="0"/>
                          <a:ea typeface="Helvetica Neue" pitchFamily="34" charset="-122"/>
                          <a:cs typeface="Helvetica Neue" pitchFamily="34" charset="-120"/>
                        </a:rPr>
                        <a:t>Decisión</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c>
                  <a:txBody>
                    <a:bodyPr/>
                    <a:lstStyle/>
                    <a:p>
                      <a:pPr algn="l" indent="0" marL="0">
                        <a:buNone/>
                      </a:pPr>
                      <a:r>
                        <a:rPr lang="en-US" sz="1600" b="1" dirty="0">
                          <a:solidFill>
                            <a:schemeClr val="bg1"/>
                          </a:solidFill>
                          <a:latin typeface="Helvetica Neue" pitchFamily="34" charset="0"/>
                          <a:ea typeface="Helvetica Neue" pitchFamily="34" charset="-122"/>
                          <a:cs typeface="Helvetica Neue" pitchFamily="34" charset="-120"/>
                        </a:rPr>
                        <a:t>Impacto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tx1"/>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1</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Producir 80 · 20 · 50 lotes por semana</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$6.600.000 semanales</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Ampliar horas o despacho solo si cuestan menos de $20.000/h o $30.000/lote</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+20 h → +$400.000 semanales</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No incorporar la junta de bomba de agua</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Evita perder $15.000 por lote</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2</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Aceptar los pedidos especiales 1, 2 y 4</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+$345.000 semanales</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3</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Pedir 1.098 m² de corcho al llegar a 512 m²</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95% de los ciclos sin faltante</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bg1"/>
                    </a:solidFill>
                  </a:tcPr>
                </a:tc>
              </a:tr>
              <a:tr h="566928">
                <a:tc>
                  <a:txBody>
                    <a:bodyPr/>
                    <a:lstStyle/>
                    <a:p>
                      <a:pPr algn="ctr" indent="0" marL="0">
                        <a:buNone/>
                      </a:pPr>
                      <a:r>
                        <a:rPr lang="en-US" sz="1600" dirty="0">
                          <a:solidFill>
                            <a:schemeClr val="tx1"/>
                          </a:solidFill>
                          <a:latin typeface="Helvetica Neue" pitchFamily="34" charset="0"/>
                          <a:ea typeface="Helvetica Neue" pitchFamily="34" charset="-122"/>
                          <a:cs typeface="Helvetica Neue" pitchFamily="34" charset="-120"/>
                        </a:rPr>
                        <a:t>3</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Evaluar ampliar el depósito a ≈106 m³</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c>
                  <a:txBody>
                    <a:bodyPr/>
                    <a:lstStyle/>
                    <a:p>
                      <a:pPr algn="l" indent="0" marL="0">
                        <a:buNone/>
                      </a:pPr>
                      <a:r>
                        <a:rPr lang="en-US" sz="1600" dirty="0">
                          <a:solidFill>
                            <a:schemeClr val="tx1"/>
                          </a:solidFill>
                          <a:latin typeface="Helvetica Neue" pitchFamily="34" charset="0"/>
                          <a:ea typeface="Helvetica Neue" pitchFamily="34" charset="-122"/>
                          <a:cs typeface="Helvetica Neue" pitchFamily="34" charset="-120"/>
                        </a:rPr>
                        <a:t>≈$2,6 M por año si cuesta &lt; $56.750/m³·año</a:t>
                      </a:r>
                      <a:endParaRPr lang="en-US" sz="1600" dirty="0">
                        <a:latin typeface="Helvetica Neue" charset="0"/>
                        <a:ea typeface="Helvetica Neue" charset="0"/>
                        <a:cs typeface="Helvetica Neue" charset="0"/>
                      </a:endParaRPr>
                    </a:p>
                  </a:txBody>
                  <a:tcPr marL="109728" marR="109728" marT="54864" marB="54864" anchor="ctr">
                    <a:lnL w="9525" cap="flat" cmpd="sng" algn="ctr">
                      <a:solidFill>
                        <a:srgbClr val="B7D0CD"/>
                      </a:solidFill>
                      <a:prstDash val="solid"/>
                      <a:round/>
                      <a:headEnd type="none" w="med" len="med"/>
                      <a:tailEnd type="none" w="med" len="med"/>
                    </a:lnL>
                    <a:lnR w="9525" cap="flat" cmpd="sng" algn="ctr">
                      <a:solidFill>
                        <a:srgbClr val="B7D0CD"/>
                      </a:solidFill>
                      <a:prstDash val="solid"/>
                      <a:round/>
                      <a:headEnd type="none" w="med" len="med"/>
                      <a:tailEnd type="none" w="med" len="med"/>
                    </a:lnR>
                    <a:lnT w="9525" cap="flat" cmpd="sng" algn="ctr">
                      <a:solidFill>
                        <a:srgbClr val="B7D0CD"/>
                      </a:solidFill>
                      <a:prstDash val="solid"/>
                      <a:round/>
                      <a:headEnd type="none" w="med" len="med"/>
                      <a:tailEnd type="none" w="med" len="med"/>
                    </a:lnT>
                    <a:lnB w="9525" cap="flat" cmpd="sng" algn="ctr">
                      <a:solidFill>
                        <a:srgbClr val="B7D0CD"/>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tx2"/>
                </a:solidFill>
                <a:latin typeface="Helvetica Neue"/>
                <a:ea typeface="Helvetica Neue"/>
                <a:cs typeface="Helvetica Neue"/>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612648" y="493776"/>
            <a:ext cx="10972800" cy="950976"/>
          </a:xfrm>
          <a:prstGeom prst="rect">
            <a:avLst/>
          </a:prstGeom>
          <a:noFill/>
          <a:ln/>
        </p:spPr>
        <p:txBody>
          <a:bodyPr wrap="square" lIns="0" tIns="0" rIns="0" bIns="0" rtlCol="0" anchor="ctr"/>
          <a:lstStyle/>
          <a:p>
            <a:pPr algn="l" indent="0" marL="0">
              <a:buNone/>
            </a:pPr>
            <a:r>
              <a:rPr lang="en-US" sz="3300" b="1" dirty="0">
                <a:solidFill>
                  <a:schemeClr val="bg1"/>
                </a:solidFill>
                <a:latin typeface="Helvetica Neue" pitchFamily="34" charset="0"/>
                <a:ea typeface="Helvetica Neue" pitchFamily="34" charset="-122"/>
                <a:cs typeface="Helvetica Neue" pitchFamily="34" charset="-120"/>
              </a:rPr>
              <a:t>Conclusiones del proyecto</a:t>
            </a:r>
            <a:endParaRPr lang="en-US" sz="3300" dirty="0"/>
          </a:p>
        </p:txBody>
      </p:sp>
      <p:sp>
        <p:nvSpPr>
          <p:cNvPr id="4" name="Text 1"/>
          <p:cNvSpPr txBox="1"/>
          <p:nvPr/>
        </p:nvSpPr>
        <p:spPr>
          <a:xfrm>
            <a:off x="612648" y="1645920"/>
            <a:ext cx="10515600" cy="457200"/>
          </a:xfrm>
          <a:prstGeom prst="rect">
            <a:avLst/>
          </a:prstGeom>
          <a:noFill/>
          <a:ln/>
        </p:spPr>
        <p:txBody>
          <a:bodyPr wrap="square" lIns="0" tIns="0" rIns="0" bIns="0" rtlCol="0" anchor="t"/>
          <a:lstStyle/>
          <a:p>
            <a:pPr indent="0" marL="0">
              <a:buNone/>
            </a:pPr>
            <a:r>
              <a:rPr lang="en-US" sz="2400" b="1" dirty="0">
                <a:solidFill>
                  <a:schemeClr val="accent2"/>
                </a:solidFill>
                <a:latin typeface="Helvetica Neue" pitchFamily="34" charset="0"/>
                <a:ea typeface="Helvetica Neue" pitchFamily="34" charset="-122"/>
                <a:cs typeface="Helvetica Neue" pitchFamily="34" charset="-120"/>
              </a:rPr>
              <a:t>Producción</a:t>
            </a:r>
            <a:endParaRPr lang="en-US" sz="2400" dirty="0"/>
          </a:p>
        </p:txBody>
      </p:sp>
      <p:sp>
        <p:nvSpPr>
          <p:cNvPr id="5" name="Text 2"/>
          <p:cNvSpPr txBox="1"/>
          <p:nvPr/>
        </p:nvSpPr>
        <p:spPr>
          <a:xfrm>
            <a:off x="612648" y="2194560"/>
            <a:ext cx="10515600" cy="777240"/>
          </a:xfrm>
          <a:prstGeom prst="rect">
            <a:avLst/>
          </a:prstGeom>
          <a:noFill/>
          <a:ln/>
        </p:spPr>
        <p:txBody>
          <a:bodyPr wrap="square" lIns="0" tIns="0" rIns="0" bIns="0" rtlCol="0" anchor="t"/>
          <a:lstStyle/>
          <a:p>
            <a:pPr indent="0" marL="0">
              <a:buNone/>
            </a:pPr>
            <a:r>
              <a:rPr lang="en-US" sz="2000" dirty="0">
                <a:solidFill>
                  <a:schemeClr val="bg1"/>
                </a:solidFill>
                <a:latin typeface="Helvetica Neue" pitchFamily="34" charset="0"/>
                <a:ea typeface="Helvetica Neue" pitchFamily="34" charset="-122"/>
                <a:cs typeface="Helvetica Neue" pitchFamily="34" charset="-120"/>
              </a:rPr>
              <a:t>El plan óptimo deja $6.600.000 semanales. Máquina y despacho son los cuellos de botella; el corcho sobra.</a:t>
            </a:r>
            <a:endParaRPr lang="en-US" sz="2000" dirty="0"/>
          </a:p>
        </p:txBody>
      </p:sp>
      <p:sp>
        <p:nvSpPr>
          <p:cNvPr id="6" name="Text 3"/>
          <p:cNvSpPr txBox="1"/>
          <p:nvPr/>
        </p:nvSpPr>
        <p:spPr>
          <a:xfrm>
            <a:off x="612648" y="3108960"/>
            <a:ext cx="10515600" cy="457200"/>
          </a:xfrm>
          <a:prstGeom prst="rect">
            <a:avLst/>
          </a:prstGeom>
          <a:noFill/>
          <a:ln/>
        </p:spPr>
        <p:txBody>
          <a:bodyPr wrap="square" lIns="0" tIns="0" rIns="0" bIns="0" rtlCol="0" anchor="t"/>
          <a:lstStyle/>
          <a:p>
            <a:pPr indent="0" marL="0">
              <a:buNone/>
            </a:pPr>
            <a:r>
              <a:rPr lang="en-US" sz="2400" b="1" dirty="0">
                <a:solidFill>
                  <a:schemeClr val="accent2"/>
                </a:solidFill>
                <a:latin typeface="Helvetica Neue" pitchFamily="34" charset="0"/>
                <a:ea typeface="Helvetica Neue" pitchFamily="34" charset="-122"/>
                <a:cs typeface="Helvetica Neue" pitchFamily="34" charset="-120"/>
              </a:rPr>
              <a:t>Capacidad y oportunidades</a:t>
            </a:r>
            <a:endParaRPr lang="en-US" sz="2400" dirty="0"/>
          </a:p>
        </p:txBody>
      </p:sp>
      <p:sp>
        <p:nvSpPr>
          <p:cNvPr id="7" name="Text 4"/>
          <p:cNvSpPr txBox="1"/>
          <p:nvPr/>
        </p:nvSpPr>
        <p:spPr>
          <a:xfrm>
            <a:off x="612648" y="3657600"/>
            <a:ext cx="10515600" cy="777240"/>
          </a:xfrm>
          <a:prstGeom prst="rect">
            <a:avLst/>
          </a:prstGeom>
          <a:noFill/>
          <a:ln/>
        </p:spPr>
        <p:txBody>
          <a:bodyPr wrap="square" lIns="0" tIns="0" rIns="0" bIns="0" rtlCol="0" anchor="t"/>
          <a:lstStyle/>
          <a:p>
            <a:pPr indent="0" marL="0">
              <a:buNone/>
            </a:pPr>
            <a:r>
              <a:rPr lang="en-US" sz="2000" dirty="0">
                <a:solidFill>
                  <a:schemeClr val="bg1"/>
                </a:solidFill>
                <a:latin typeface="Helvetica Neue" pitchFamily="34" charset="0"/>
                <a:ea typeface="Helvetica Neue" pitchFamily="34" charset="-122"/>
                <a:cs typeface="Helvetica Neue" pitchFamily="34" charset="-120"/>
              </a:rPr>
              <a:t>Ampliar solo si cuesta menos que el precio sombra. Los pedidos especiales aprovechan el corcho ocioso.</a:t>
            </a:r>
            <a:endParaRPr lang="en-US" sz="2000" dirty="0"/>
          </a:p>
        </p:txBody>
      </p:sp>
      <p:sp>
        <p:nvSpPr>
          <p:cNvPr id="8" name="Text 5"/>
          <p:cNvSpPr txBox="1"/>
          <p:nvPr/>
        </p:nvSpPr>
        <p:spPr>
          <a:xfrm>
            <a:off x="612648" y="4572000"/>
            <a:ext cx="10515600" cy="457200"/>
          </a:xfrm>
          <a:prstGeom prst="rect">
            <a:avLst/>
          </a:prstGeom>
          <a:noFill/>
          <a:ln/>
        </p:spPr>
        <p:txBody>
          <a:bodyPr wrap="square" lIns="0" tIns="0" rIns="0" bIns="0" rtlCol="0" anchor="t"/>
          <a:lstStyle/>
          <a:p>
            <a:pPr indent="0" marL="0">
              <a:buNone/>
            </a:pPr>
            <a:r>
              <a:rPr lang="en-US" sz="2400" b="1" dirty="0">
                <a:solidFill>
                  <a:schemeClr val="accent2"/>
                </a:solidFill>
                <a:latin typeface="Helvetica Neue" pitchFamily="34" charset="0"/>
                <a:ea typeface="Helvetica Neue" pitchFamily="34" charset="-122"/>
                <a:cs typeface="Helvetica Neue" pitchFamily="34" charset="-120"/>
              </a:rPr>
              <a:t>Compras</a:t>
            </a:r>
            <a:endParaRPr lang="en-US" sz="2400" dirty="0"/>
          </a:p>
        </p:txBody>
      </p:sp>
      <p:sp>
        <p:nvSpPr>
          <p:cNvPr id="9" name="Text 6"/>
          <p:cNvSpPr txBox="1"/>
          <p:nvPr/>
        </p:nvSpPr>
        <p:spPr>
          <a:xfrm>
            <a:off x="612648" y="5120640"/>
            <a:ext cx="10515600" cy="777240"/>
          </a:xfrm>
          <a:prstGeom prst="rect">
            <a:avLst/>
          </a:prstGeom>
          <a:noFill/>
          <a:ln/>
        </p:spPr>
        <p:txBody>
          <a:bodyPr wrap="square" lIns="0" tIns="0" rIns="0" bIns="0" rtlCol="0" anchor="t"/>
          <a:lstStyle/>
          <a:p>
            <a:pPr indent="0" marL="0">
              <a:buNone/>
            </a:pPr>
            <a:r>
              <a:rPr lang="en-US" sz="2000" dirty="0">
                <a:solidFill>
                  <a:schemeClr val="bg1"/>
                </a:solidFill>
                <a:latin typeface="Helvetica Neue" pitchFamily="34" charset="0"/>
                <a:ea typeface="Helvetica Neue" pitchFamily="34" charset="-122"/>
                <a:cs typeface="Helvetica Neue" pitchFamily="34" charset="-120"/>
              </a:rPr>
              <a:t>Manda el depósito, no el precio: lotes de 1.098 m² con 42 m² de stock de seguridad. Ampliarlo habilitaría el descuento.</a:t>
            </a:r>
            <a:endParaRPr lang="en-US" sz="2000" dirty="0"/>
          </a:p>
        </p:txBody>
      </p:sp>
      <p:sp>
        <p:nvSpPr>
          <p:cNvPr id="25" name="Slide Number Placeholder 0"/>
          <p:cNvSpPr>
            <a:spLocks noGrp="1"/>
          </p:cNvSpPr>
          <p:nvPr>
            <p:ph type="sldNum" sz="quarter" idx="4294967295"/>
          </p:nvPr>
        </p:nvSpPr>
        <p:spPr>
          <a:xfrm>
            <a:off x="10954512" y="6364224"/>
            <a:ext cx="630936" cy="265176"/>
          </a:xfrm>
          <a:prstGeom prst="rect">
            <a:avLst/>
          </a:prstGeom>
          <a:extLst>
            <a:ext uri="{C572A759-6A51-4108-AA02-DFA0A04FC94B}">
              <ma14:wrappingTextBoxFlag xmlns:ma14="http://schemas.microsoft.com/office/mac/drawingml/2011/main" val="0"/>
            </a:ext>
          </a:extLst>
        </p:spPr>
        <p:txBody>
          <a:bodyPr/>
          <a:lstStyle>
            <a:lvl1pPr>
              <a:defRPr sz="1350">
                <a:solidFill>
                  <a:schemeClr val="accent3"/>
                </a:solidFill>
                <a:latin typeface="Helvetica Neue"/>
                <a:ea typeface="Helvetica Neue"/>
                <a:cs typeface="Helvetica Neue"/>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Juntas de motor">
  <a:themeElements>
    <a:clrScheme name="Juntas de motor">
      <a:dk1>
        <a:srgbClr val="18313A"/>
      </a:dk1>
      <a:lt1>
        <a:srgbClr val="FFFFFF"/>
      </a:lt1>
      <a:dk2>
        <a:srgbClr val="52636A"/>
      </a:dk2>
      <a:lt2>
        <a:srgbClr val="F7F6F1"/>
      </a:lt2>
      <a:accent1>
        <a:srgbClr val="16766E"/>
      </a:accent1>
      <a:accent2>
        <a:srgbClr val="9EDBD1"/>
      </a:accent2>
      <a:accent3>
        <a:srgbClr val="B7D0CD"/>
      </a:accent3>
      <a:accent4>
        <a:srgbClr val="E6EFEB"/>
      </a:accent4>
      <a:accent5>
        <a:srgbClr val="9E4D32"/>
      </a:accent5>
      <a:accent6>
        <a:srgbClr val="C9A227"/>
      </a:accent6>
      <a:hlink>
        <a:srgbClr val="16766E"/>
      </a:hlink>
      <a:folHlink>
        <a:srgbClr val="52636A"/>
      </a:folHlink>
    </a:clrScheme>
    <a:fontScheme name="Juntas de motor">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Ne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Juntas de motor — Defensa final</dc:title>
  <dc:subject>PptxGenJS Presentation</dc:subject>
  <dc:creator>Grupo 1 · Comisión 402</dc:creator>
  <cp:lastModifiedBy>Grupo 1 · Comisión 402</cp:lastModifiedBy>
  <cp:revision>1</cp:revision>
  <dcterms:created xsi:type="dcterms:W3CDTF">2026-10-19T15:29:40Z</dcterms:created>
  <dcterms:modified xsi:type="dcterms:W3CDTF">2026-10-19T15:29:40Z</dcterms:modified>
</cp:coreProperties>
</file>