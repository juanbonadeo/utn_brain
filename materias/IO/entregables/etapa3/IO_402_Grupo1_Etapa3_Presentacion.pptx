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c820152f-5bd9-eb63-051b-0cbfa0cc15ee}">
          <p14:sldIdLst>
            <p14:sldId id="256"/>
            <p14:sldId id="257"/>
          </p14:sldIdLst>
        </p14:section>
        <p14:section name="Determinístico con descuento" id="{8f6fcd51-d295-8f88-0897-9940f284d884}">
          <p14:sldIdLst>
            <p14:sldId id="258"/>
            <p14:sldId id="259"/>
            <p14:sldId id="260"/>
          </p14:sldIdLst>
        </p14:section>
        <p14:section name="Con restricción de espacio" id="{2110c01b-ac62-42b4-9bac-67ed17834d4c}">
          <p14:sldIdLst>
            <p14:sldId id="261"/>
            <p14:sldId id="262"/>
            <p14:sldId id="263"/>
          </p14:sldIdLst>
        </p14:section>
        <p14:section name="Aleatorio" id="{978fd097-82f8-1fbc-ac0f-097a5ce67f12}">
          <p14:sldIdLst>
            <p14:sldId id="264"/>
            <p14:sldId id="265"/>
          </p14:sldIdLst>
        </p14:section>
        <p14:section name="Cierre" id="{75557ce5-db61-cf2e-e367-c093b8ca9b70}">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Hola, somos el Grupo 1 de la comisión 402 y vamos a presentar la defensa final de nuestro trabajo integrador de Investigación Operativa. Nuestro caso es una fábrica autopartista que produce tres tipos de juntas de corcho para motores: de tapa de cilindros, de cárter y de múltiple.
En las dos primeras etapas definimos cuánto producir y analizamos ese plan. En esta última etapa pasamos de la producción a las compras: aplicamos tres modelos de gestión de stock para decidir cuánto y cuándo pedir el corcho, nuestro insumo principal.
Primero vamos a recordar brevemente de dónde venimos, después desarrollamos los tres modelos y cerramos con las conclusiones de todo 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primera etapa formulamos un modelo lineal y lo resolvimos con Simplex. El plan óptimo es fabricar ochenta lotes de tapa de cilindros, veinte de cárter y cincuenta de múltiple por semana, con un beneficio de seis millones seiscientos mil pesos.
En la segunda etapa vimos que las horas de máquina y el despacho son los cuellos de botella: una hora más vale veinte mil pesos y un lote más de despacho, treinta mil. El corcho, en cambio, tiene precio sombra cero, porque sobran doscientos setenta metros cuadrados por semana. Ese sobrante lo aprovechamos con pedidos especiales, que suman trescientos cuarenta y cinco mil pesos.
De ahí sale la etapa tres: el corcho no limita la producción, así que la pregunta deja de ser cuánto tenemos y pasa a ser cómo conviene comprarlo. Luis sigue con 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Elegimos el corcho porque es la materia prima de las tres juntas y porque, al sobrar, hay margen para replantear la política de compra sin afectar la producción.
La demanda sale del plan óptimo: trescientos treinta metros cuadrados por semana, por cincuenta y dos semanas, da diecisiete mil ciento sesenta metros cuadrados al año. Sumamos un segundo insumo, el sellador que usa la bañadora, porque comparte el depósito con el corcho.
Aplicamos tres modelos y cada uno responde una pregunta. El determinístico con descuento por cantidad dice cuánto conviene pedir por costo. El modelo con restricción verifica si ese lote entra en el depósito. Y el aleatorio dice cuándo pedir para no quedarnos sin corcho.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proveedor cobra dos mil quinientos pesos el metro cuadrado, y baja a dos mil trescientos cincuenta si el pedido es de dos mil metros o más. Cada pedido cuesta cuarenta y cinco mil pesos y mantener el stock cuesta el veintiocho por ciento anual del precio.
Como el precio depende del tamaño del lote, en el costo total hay que incluir el costo de compra, además del costo de pedir y el de mantener. Por eso no alcanza con aplicar una vez la fórmula del lote óptimo.
El procedimiento es el siguiente. Primero calculamos el lote óptimo con el precio con descuento. Si ese lote ya alcanza el umbral, es la solución. Si no, comparamos dos opciones: el lote óptimo al precio normal, y pedir exactamente el mínimo que da el descuento. Nos quedamos con la de menor costo total. Stéfano muestra el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el precio con descuento, el lote óptimo da mil quinientos treinta y dos metros cuadrados. No llega a los dos mil, así que el descuento no se gana solo y tenemos que comparar.
Con el precio normal, el lote óptimo es de mil cuatrocientos ochenta y cinco metros, con un costo anual de casi cuarenta y cuatro millones. Si forzamos el pedido a dos mil metros, pagamos un poco más de mantenimiento, pero ahorramos mucho más en compra: el costo baja a cuarenta y un millones trescientos setenta mil.
Por costo, conviene pedir de a dos mil metros cuadrados: unos ocho pedidos y medio por año, uno cada cuarenta y dos días, con un ahorro de dos millones quinientos setenta mil pesos anuales.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Pero ese lote tiene un problema. El corcho y el sellador comparten un depósito de sesenta metros cúbicos, y el corcho ocupa cinco centésimos de metro cúbico por metro cuadrado. Incluso pidiendo cada insumo con su lote óptimo sin descuento, mil cuatrocientos ochenta y cinco metros de corcho y trescientos nueve litros de sellador, necesitamos ochenta coma cuatro metros cúbicos. No entra.
Entonces planteamos el problema con restricción: minimizar el costo de los dos insumos sujeto a que el espacio ocupado no supere sesenta. Lo resolvemos con multiplicadores de Lagrange: sumamos al costo la restricción multiplicada por lambda y derivamos respecto de cada lote.
Queda la misma fórmula del lote óptimo, pero con un término extra en el denominador: dos lambda por el espacio que ocupa cada unidad. Martín muestra cómo encontramos lambda.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Lambda funciona como un costo por usar espacio: cuanto más grande es, más penaliza a los insumos que ocupan lugar y más chicos quedan los lotes. Con lambda igual a cero estamos en el caso sin restricción, que ocupa ochenta coma cuatro metros cúbicos.
Fuimos subiendo lambda. Con tres mil, el espacio baja a sesenta y siete coma siete; todavía no alcanza. Con cinco mil ochocientos veinte, el espacio queda exactamente en sesenta: ese es el lambda óptimo.
Los lotes quedan en mil noventa y ocho metros cuadrados de corcho y doscientos cincuenta y cinco litros de sellador, un veintiséis y un diecisiete por ciento menos que sin restricción. El corcho baja más porque ocupa más espacio por unidad.
Lambda además tiene lectura económica: cinco mil ochocientos veinte pesos por año es lo que nos ahorraríamos por cada metro cúbico adicional de depósito, en el margen.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juntamos los dos modelos aparece la conclusión clave de la etapa. El lote de dos mil metros que pedía el descuento ocupa cien metros cúbicos, y el depósito tiene sesenta. Con la infraestructura actual el descuento no se puede aprovechar, y la política correcta es la del modelo restringido, pagando el precio normal.
Para llegar al descuento hay que ampliar el depósito a unos ciento seis metros cúbicos, cuarenta y seis más que hoy. Con esa ampliación, el costo anual conjunto baja de cuarenta y seis millones trescientos mil a cuarenta y tres millones setecientos mil pesos: un ahorro de unos dos millones seiscientos mil por año.
Entonces ampliar conviene si cuesta menos de cincuenta y seis mil setecientos cincuenta pesos por metro cúbico y por año. Es bastante más que lambda, porque además de espacio la ampliación habilita el salto de precio del descuento. Agustín sigue con el modelo aleatorio.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acá supusimos una demanda constante, pero el consumo de corcho varía según el mix de juntas que se vende cada semana. Si pedimos justo cuando el stock alcanza para el plazo de entrega promedio, en la mitad de los ciclos nos quedaríamos sin corcho.
La demanda diaria media es de cuarenta y siete metros cuadrados, con un desvío de ocho, y el proveedor tarda diez días en entregar. Suponemos demanda normal y plazo constante, así que la demanda durante el plazo también es normal, con media de cuatrocientos setenta metros cuadrados y desvío de ocho por raíz de diez, unos veinticinco metros.
Para cubrir esa variabilidad agregamos un stock de seguridad proporcional al desvío. El factor zeta depende del riesgo de faltante que aceptamos: tomamos cinco por ciento, que corresponde a zeta igual a uno coma seiscientos cuarenta y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stock de seguridad es zeta por el desvío: uno coma seiscientos cuarenta y cinco por veinticinco coma tres, cuarenta y dos metros cuadrados. Y el punto de pedido es la demanda esperada más ese colchón: quinientos doce metros cuadrados.
En la tabla se ve que el riesgo aceptado es una decisión de la empresa. Con un diez por ciento de riesgo, el colchón baja a treinta y dos metros; si queremos solo un uno por ciento, sube a cincuenta y nueve. Cada punto de riesgo que se reduce cuesta más stock que el anterior.
Elegimos cinco por ciento como equilibrio. El lote que se pide sigue siendo el del modelo restringido: en este modelo la aleatoriedad afecta cuándo pedir, no cuánto. Gonzalo cierra con la política de compra y las conclusiones.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Juntando los tres modelos, la política de compra del corcho queda así: cada vez que el stock disponible, contando lo que ya está pedido, baja a quinientos doce metros cuadrados, se pide un lote de mil noventa y ocho.
Eso da unos quince pedidos y medio por año, uno cada veintitrés días, con un noventa y cinco por ciento de ciclos sin faltante. El sellador se pide en lotes de doscientos cincuenta y cinco litros.
En la tabla está el resumen de los lotes. El de dos mil metros queda como referencia, porque requiere ampliar el depósito. El stock de seguridad solo corresponde al modelo aleatorio, porque en los determinísticos la demanda se conoce con certeza.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las conclusiones del proyecto completo. En producción, el plan óptimo deja seis millones seiscientos mil pesos semanales. Las horas de máquina y el despacho son los cuellos de botella, y ampliarlos conviene solo si cuesta menos que su precio sombra. El corcho sobrante se aprovecha con pedidos especiales.
En compras, la restricción que manda es el depósito y no el precio: pedimos lotes de mil noventa y ocho metros cuadrados, con cuarenta y dos de stock de seguridad.
Y queda una decisión abierta para la empresa: ampliar el depósito, que habilitaría el descuento y un ahorro de unos dos millones seiscientos mil pesos por año, si cuesta menos de cincuenta y seis mil setecientos cincuenta por metro cúbico.
En conjunto, el proyecto muestra que la fábrica puede mejorar su rentabilidad por varios frentes a la vez, sin depender de un único cambio drástico.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831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12648" y="493776"/>
            <a:ext cx="10972800" cy="950976"/>
          </a:xfrm>
          <a:prstGeom prst="rect">
            <a:avLst/>
          </a:prstGeom>
          <a:noFill/>
          <a:ln/>
        </p:spPr>
        <p:txBody>
          <a:bodyPr wrap="square" rtlCol="0"/>
          <a:lstStyle>
            <a:lvl1pPr algn="l" indent="0" marL="0">
              <a:buNone/>
              <a:defRPr lang="en-US" sz="3300" b="1" dirty="0">
                <a:solidFill>
                  <a:schemeClr val="bg1"/>
                </a:solidFill>
                <a:latin typeface="Helvetica Neue" pitchFamily="34" charset="0"/>
                <a:ea typeface="Helvetica Neue" pitchFamily="34" charset="-122"/>
                <a:cs typeface="Helvetica Neue" pitchFamily="34" charset="-120"/>
              </a:defRPr>
            </a:lvl1pPr>
          </a:lstStyle>
          <a:p>
            <a:pPr algn="l" indent="0" marL="0">
              <a:buNone/>
            </a:pPr>
            <a:endParaRPr lang="en-US" sz="3300" dirty="0"/>
          </a:p>
        </p:txBody>
      </p:sp>
      <p:sp>
        <p:nvSpPr>
          <p:cNvPr id="25" name="Slide Number Placeholder 0"/>
          <p:cNvSpPr>
            <a:spLocks noGrp="1"/>
          </p:cNvSpPr>
          <p:nvPr>
            <p:ph type="sldNum" sz="quarter" idx="4294967295"/>
          </p:nvPr>
        </p:nvSpPr>
        <p:spPr>
          <a:xfrm>
            <a:off x="10954512" y="6364224"/>
            <a:ext cx="630936" cy="265176"/>
          </a:xfrm>
          <a:prstGeom prst="rect">
            <a:avLst/>
          </a:prstGeom>
          <a:extLst>
            <a:ext uri="{C572A759-6A51-4108-AA02-DFA0A04FC94B}">
              <ma14:wrappingTextBoxFlag xmlns:ma14="http://schemas.microsoft.com/office/mac/drawingml/2011/main" val="0"/>
            </a:ext>
          </a:extLst>
        </p:spPr>
        <p:txBody>
          <a:bodyPr/>
          <a:lstStyle>
            <a:lvl1pPr>
              <a:defRPr sz="1350">
                <a:solidFill>
                  <a:schemeClr val="accent3"/>
                </a:solidFill>
                <a:latin typeface="Helvetica Neue"/>
                <a:ea typeface="Helvetica Neue"/>
                <a:cs typeface="Helvetica Neue"/>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7F6F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12648" y="493776"/>
            <a:ext cx="10972800" cy="950976"/>
          </a:xfrm>
          <a:prstGeom prst="rect">
            <a:avLst/>
          </a:prstGeom>
          <a:noFill/>
          <a:ln/>
        </p:spPr>
        <p:txBody>
          <a:bodyPr wrap="square" rtlCol="0"/>
          <a:lstStyle>
            <a:lvl1pPr algn="l" indent="0" marL="0">
              <a:buNone/>
              <a:defRPr lang="en-US" sz="3300" b="1" dirty="0">
                <a:solidFill>
                  <a:schemeClr val="tx1"/>
                </a:solidFill>
                <a:latin typeface="Helvetica Neue" pitchFamily="34" charset="0"/>
                <a:ea typeface="Helvetica Neue" pitchFamily="34" charset="-122"/>
                <a:cs typeface="Helvetica Neue" pitchFamily="34" charset="-120"/>
              </a:defRPr>
            </a:lvl1pPr>
          </a:lstStyle>
          <a:p>
            <a:pPr algn="l" indent="0" marL="0">
              <a:buNone/>
            </a:pPr>
            <a:endParaRPr lang="en-US" sz="3300" dirty="0"/>
          </a:p>
        </p:txBody>
      </p:sp>
      <p:sp>
        <p:nvSpPr>
          <p:cNvPr id="25" name="Slide Number Placeholder 0"/>
          <p:cNvSpPr>
            <a:spLocks noGrp="1"/>
          </p:cNvSpPr>
          <p:nvPr>
            <p:ph type="sldNum" sz="quarter" idx="4294967295"/>
          </p:nvPr>
        </p:nvSpPr>
        <p:spPr>
          <a:xfrm>
            <a:off x="10954512" y="6364224"/>
            <a:ext cx="630936" cy="265176"/>
          </a:xfrm>
          <a:prstGeom prst="rect">
            <a:avLst/>
          </a:prstGeom>
          <a:extLst>
            <a:ext uri="{C572A759-6A51-4108-AA02-DFA0A04FC94B}">
              <ma14:wrappingTextBoxFlag xmlns:ma14="http://schemas.microsoft.com/office/mac/drawingml/2011/main" val="0"/>
            </a:ext>
          </a:extLst>
        </p:spPr>
        <p:txBody>
          <a:bodyPr/>
          <a:lstStyle>
            <a:lvl1pPr>
              <a:defRPr sz="1350">
                <a:solidFill>
                  <a:schemeClr val="tx2"/>
                </a:solidFill>
                <a:latin typeface="Helvetica Neue"/>
                <a:ea typeface="Helvetica Neue"/>
                <a:cs typeface="Helvetica Neue"/>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4512" y="6364224"/>
            <a:ext cx="630936" cy="265176"/>
          </a:xfrm>
          <a:prstGeom prst="rect">
            <a:avLst/>
          </a:prstGeom>
          <a:extLst>
            <a:ext uri="{C572A759-6A51-4108-AA02-DFA0A04FC94B}">
              <ma14:wrappingTextBoxFlag xmlns:ma14="http://schemas.microsoft.com/office/mac/drawingml/2011/main" val="0"/>
            </a:ext>
          </a:extLst>
        </p:spPr>
        <p:txBody>
          <a:bodyPr/>
          <a:lstStyle>
            <a:lvl1pPr>
              <a:defRPr sz="1350">
                <a:solidFill>
                  <a:schemeClr val="accent3"/>
                </a:solidFill>
                <a:latin typeface="Helvetica Neue"/>
                <a:ea typeface="Helvetica Neue"/>
                <a:cs typeface="Helvetica Neue"/>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title" hasCustomPrompt="1"/>
          </p:nvPr>
        </p:nvSpPr>
        <p:spPr>
          <a:xfrm>
            <a:off x="612648" y="493776"/>
            <a:ext cx="10972800" cy="950976"/>
          </a:xfrm>
          <a:prstGeom prst="rect">
            <a:avLst/>
          </a:prstGeom>
          <a:noFill/>
          <a:ln/>
        </p:spPr>
        <p:txBody>
          <a:bodyPr wrap="square" lIns="0" tIns="0" rIns="0" bIns="0" rtlCol="0" anchor="ctr"/>
          <a:lstStyle/>
          <a:p>
            <a:pPr algn="l" indent="0" marL="0">
              <a:buNone/>
            </a:pPr>
            <a:r>
              <a:rPr lang="en-US" sz="3300" b="1" dirty="0">
                <a:solidFill>
                  <a:schemeClr val="bg1"/>
                </a:solidFill>
                <a:latin typeface="Helvetica Neue" pitchFamily="34" charset="0"/>
                <a:ea typeface="Helvetica Neue" pitchFamily="34" charset="-122"/>
                <a:cs typeface="Helvetica Neue" pitchFamily="34" charset="-120"/>
              </a:rPr>
              <a:t>Juntas de motor</a:t>
            </a:r>
            <a:endParaRPr lang="en-US" sz="3300" dirty="0"/>
          </a:p>
        </p:txBody>
      </p:sp>
      <p:sp>
        <p:nvSpPr>
          <p:cNvPr id="4" name="Titulo principal"/>
          <p:cNvSpPr txBox="1"/>
          <p:nvPr/>
        </p:nvSpPr>
        <p:spPr>
          <a:xfrm>
            <a:off x="612648" y="1828800"/>
            <a:ext cx="6400800" cy="1737360"/>
          </a:xfrm>
          <a:prstGeom prst="rect">
            <a:avLst/>
          </a:prstGeom>
          <a:noFill/>
          <a:ln/>
        </p:spPr>
        <p:txBody>
          <a:bodyPr wrap="square" lIns="0" tIns="0" rIns="0" bIns="0" rtlCol="0" anchor="t"/>
          <a:lstStyle/>
          <a:p>
            <a:pPr indent="0" marL="0">
              <a:buNone/>
            </a:pPr>
            <a:r>
              <a:rPr lang="en-US" sz="4600" b="1" dirty="0">
                <a:solidFill>
                  <a:schemeClr val="bg1"/>
                </a:solidFill>
                <a:latin typeface="Helvetica Neue" pitchFamily="34" charset="0"/>
                <a:ea typeface="Helvetica Neue" pitchFamily="34" charset="-122"/>
                <a:cs typeface="Helvetica Neue" pitchFamily="34" charset="-120"/>
              </a:rPr>
              <a:t>Defensa final</a:t>
            </a:r>
            <a:endParaRPr lang="en-US" sz="4600" dirty="0"/>
          </a:p>
          <a:p>
            <a:pPr indent="0" marL="0">
              <a:buNone/>
            </a:pPr>
            <a:r>
              <a:rPr lang="en-US" sz="4600" b="1" dirty="0">
                <a:solidFill>
                  <a:schemeClr val="bg1"/>
                </a:solidFill>
                <a:latin typeface="Helvetica Neue" pitchFamily="34" charset="0"/>
                <a:ea typeface="Helvetica Neue" pitchFamily="34" charset="-122"/>
                <a:cs typeface="Helvetica Neue" pitchFamily="34" charset="-120"/>
              </a:rPr>
              <a:t>del proyecto</a:t>
            </a:r>
            <a:endParaRPr lang="en-US" sz="4600" dirty="0"/>
          </a:p>
        </p:txBody>
      </p:sp>
      <p:sp>
        <p:nvSpPr>
          <p:cNvPr id="5" name="Text 2"/>
          <p:cNvSpPr txBox="1"/>
          <p:nvPr/>
        </p:nvSpPr>
        <p:spPr>
          <a:xfrm>
            <a:off x="640080" y="3886200"/>
            <a:ext cx="6583680" cy="457200"/>
          </a:xfrm>
          <a:prstGeom prst="rect">
            <a:avLst/>
          </a:prstGeom>
          <a:noFill/>
          <a:ln/>
        </p:spPr>
        <p:txBody>
          <a:bodyPr wrap="square" lIns="0" tIns="0" rIns="0" bIns="0" rtlCol="0" anchor="t"/>
          <a:lstStyle/>
          <a:p>
            <a:pPr indent="0" marL="0">
              <a:buNone/>
            </a:pPr>
            <a:r>
              <a:rPr lang="en-US" sz="2100" dirty="0">
                <a:solidFill>
                  <a:schemeClr val="accent3"/>
                </a:solidFill>
                <a:latin typeface="Helvetica Neue" pitchFamily="34" charset="0"/>
                <a:ea typeface="Helvetica Neue" pitchFamily="34" charset="-122"/>
                <a:cs typeface="Helvetica Neue" pitchFamily="34" charset="-120"/>
              </a:rPr>
              <a:t>Etapa 3 · Decisiones lógicas y gestión de stock</a:t>
            </a:r>
            <a:endParaRPr lang="en-US" sz="2100" dirty="0"/>
          </a:p>
        </p:txBody>
      </p:sp>
      <p:sp>
        <p:nvSpPr>
          <p:cNvPr id="6" name="Text 3"/>
          <p:cNvSpPr txBox="1"/>
          <p:nvPr/>
        </p:nvSpPr>
        <p:spPr>
          <a:xfrm>
            <a:off x="640080" y="4846320"/>
            <a:ext cx="6400800" cy="1097280"/>
          </a:xfrm>
          <a:prstGeom prst="rect">
            <a:avLst/>
          </a:prstGeom>
          <a:noFill/>
          <a:ln/>
        </p:spPr>
        <p:txBody>
          <a:bodyPr wrap="square" lIns="0" tIns="0" rIns="0" bIns="0" rtlCol="0" anchor="t"/>
          <a:lstStyle/>
          <a:p>
            <a:pPr indent="0" marL="0">
              <a:lnSpc>
                <a:spcPct val="110000"/>
              </a:lnSpc>
              <a:buNone/>
            </a:pPr>
            <a:r>
              <a:rPr lang="en-US" sz="1700" dirty="0">
                <a:solidFill>
                  <a:schemeClr val="accent3"/>
                </a:solidFill>
                <a:latin typeface="Helvetica Neue" pitchFamily="34" charset="0"/>
                <a:ea typeface="Helvetica Neue" pitchFamily="34" charset="-122"/>
                <a:cs typeface="Helvetica Neue" pitchFamily="34" charset="-120"/>
              </a:rPr>
              <a:t>Investigación Operativa</a:t>
            </a:r>
            <a:endParaRPr lang="en-US" sz="1700" dirty="0"/>
          </a:p>
          <a:p>
            <a:pPr indent="0" marL="0">
              <a:lnSpc>
                <a:spcPct val="110000"/>
              </a:lnSpc>
              <a:buNone/>
            </a:pPr>
            <a:r>
              <a:rPr lang="en-US" sz="1700" dirty="0">
                <a:solidFill>
                  <a:schemeClr val="accent3"/>
                </a:solidFill>
                <a:latin typeface="Helvetica Neue" pitchFamily="34" charset="0"/>
                <a:ea typeface="Helvetica Neue" pitchFamily="34" charset="-122"/>
                <a:cs typeface="Helvetica Neue" pitchFamily="34" charset="-120"/>
              </a:rPr>
              <a:t>UTN Facultad Regional Rosario</a:t>
            </a:r>
            <a:endParaRPr lang="en-US" sz="1700" dirty="0"/>
          </a:p>
          <a:p>
            <a:pPr indent="0" marL="0">
              <a:lnSpc>
                <a:spcPct val="110000"/>
              </a:lnSpc>
              <a:buNone/>
            </a:pPr>
            <a:r>
              <a:rPr lang="en-US" sz="1700" dirty="0">
                <a:solidFill>
                  <a:schemeClr val="accent3"/>
                </a:solidFill>
                <a:latin typeface="Helvetica Neue" pitchFamily="34" charset="0"/>
                <a:ea typeface="Helvetica Neue" pitchFamily="34" charset="-122"/>
                <a:cs typeface="Helvetica Neue" pitchFamily="34" charset="-120"/>
              </a:rPr>
              <a:t>Comisión 402 · Grupo 1</a:t>
            </a:r>
            <a:endParaRPr lang="en-US" sz="1700" dirty="0"/>
          </a:p>
        </p:txBody>
      </p:sp>
      <p:sp>
        <p:nvSpPr>
          <p:cNvPr id="7" name="Modelo 01"/>
          <p:cNvSpPr txBox="1"/>
          <p:nvPr/>
        </p:nvSpPr>
        <p:spPr>
          <a:xfrm>
            <a:off x="7772400" y="1874520"/>
            <a:ext cx="822960" cy="548640"/>
          </a:xfrm>
          <a:prstGeom prst="rect">
            <a:avLst/>
          </a:prstGeom>
          <a:noFill/>
          <a:ln/>
        </p:spPr>
        <p:txBody>
          <a:bodyPr wrap="square" lIns="0" tIns="0" rIns="0" bIns="0" rtlCol="0" anchor="t"/>
          <a:lstStyle/>
          <a:p>
            <a:pPr indent="0" marL="0">
              <a:buNone/>
            </a:pPr>
            <a:r>
              <a:rPr lang="en-US" sz="3000" b="1" dirty="0">
                <a:solidFill>
                  <a:schemeClr val="accent2"/>
                </a:solidFill>
                <a:latin typeface="Helvetica Neue" pitchFamily="34" charset="0"/>
                <a:ea typeface="Helvetica Neue" pitchFamily="34" charset="-122"/>
                <a:cs typeface="Helvetica Neue" pitchFamily="34" charset="-120"/>
              </a:rPr>
              <a:t>01</a:t>
            </a:r>
            <a:endParaRPr lang="en-US" sz="3000" dirty="0"/>
          </a:p>
        </p:txBody>
      </p:sp>
      <p:sp>
        <p:nvSpPr>
          <p:cNvPr id="8" name="Text 5"/>
          <p:cNvSpPr txBox="1"/>
          <p:nvPr/>
        </p:nvSpPr>
        <p:spPr>
          <a:xfrm>
            <a:off x="8641080" y="1965960"/>
            <a:ext cx="2926080" cy="548640"/>
          </a:xfrm>
          <a:prstGeom prst="rect">
            <a:avLst/>
          </a:prstGeom>
          <a:noFill/>
          <a:ln/>
        </p:spPr>
        <p:txBody>
          <a:bodyPr wrap="square" lIns="0" tIns="0" rIns="0" bIns="0" rtlCol="0" anchor="t"/>
          <a:lstStyle/>
          <a:p>
            <a:pPr indent="0" marL="0">
              <a:buNone/>
            </a:pPr>
            <a:r>
              <a:rPr lang="en-US" sz="1900" dirty="0">
                <a:solidFill>
                  <a:schemeClr val="bg1"/>
                </a:solidFill>
                <a:latin typeface="Helvetica Neue" pitchFamily="34" charset="0"/>
                <a:ea typeface="Helvetica Neue" pitchFamily="34" charset="-122"/>
                <a:cs typeface="Helvetica Neue" pitchFamily="34" charset="-120"/>
              </a:rPr>
              <a:t>Descuento por cantidad</a:t>
            </a:r>
            <a:endParaRPr lang="en-US" sz="1900" dirty="0"/>
          </a:p>
        </p:txBody>
      </p:sp>
      <p:sp>
        <p:nvSpPr>
          <p:cNvPr id="9" name="Modelo 02"/>
          <p:cNvSpPr txBox="1"/>
          <p:nvPr/>
        </p:nvSpPr>
        <p:spPr>
          <a:xfrm>
            <a:off x="7772400" y="2971800"/>
            <a:ext cx="822960" cy="548640"/>
          </a:xfrm>
          <a:prstGeom prst="rect">
            <a:avLst/>
          </a:prstGeom>
          <a:noFill/>
          <a:ln/>
        </p:spPr>
        <p:txBody>
          <a:bodyPr wrap="square" lIns="0" tIns="0" rIns="0" bIns="0" rtlCol="0" anchor="t"/>
          <a:lstStyle/>
          <a:p>
            <a:pPr indent="0" marL="0">
              <a:buNone/>
            </a:pPr>
            <a:r>
              <a:rPr lang="en-US" sz="3000" b="1" dirty="0">
                <a:solidFill>
                  <a:schemeClr val="accent2"/>
                </a:solidFill>
                <a:latin typeface="Helvetica Neue" pitchFamily="34" charset="0"/>
                <a:ea typeface="Helvetica Neue" pitchFamily="34" charset="-122"/>
                <a:cs typeface="Helvetica Neue" pitchFamily="34" charset="-120"/>
              </a:rPr>
              <a:t>02</a:t>
            </a:r>
            <a:endParaRPr lang="en-US" sz="3000" dirty="0"/>
          </a:p>
        </p:txBody>
      </p:sp>
      <p:sp>
        <p:nvSpPr>
          <p:cNvPr id="10" name="Text 7"/>
          <p:cNvSpPr txBox="1"/>
          <p:nvPr/>
        </p:nvSpPr>
        <p:spPr>
          <a:xfrm>
            <a:off x="8641080" y="3063240"/>
            <a:ext cx="2926080" cy="548640"/>
          </a:xfrm>
          <a:prstGeom prst="rect">
            <a:avLst/>
          </a:prstGeom>
          <a:noFill/>
          <a:ln/>
        </p:spPr>
        <p:txBody>
          <a:bodyPr wrap="square" lIns="0" tIns="0" rIns="0" bIns="0" rtlCol="0" anchor="t"/>
          <a:lstStyle/>
          <a:p>
            <a:pPr indent="0" marL="0">
              <a:buNone/>
            </a:pPr>
            <a:r>
              <a:rPr lang="en-US" sz="1900" dirty="0">
                <a:solidFill>
                  <a:schemeClr val="bg1"/>
                </a:solidFill>
                <a:latin typeface="Helvetica Neue" pitchFamily="34" charset="0"/>
                <a:ea typeface="Helvetica Neue" pitchFamily="34" charset="-122"/>
                <a:cs typeface="Helvetica Neue" pitchFamily="34" charset="-120"/>
              </a:rPr>
              <a:t>Restricción de espacio</a:t>
            </a:r>
            <a:endParaRPr lang="en-US" sz="1900" dirty="0"/>
          </a:p>
        </p:txBody>
      </p:sp>
      <p:sp>
        <p:nvSpPr>
          <p:cNvPr id="11" name="Modelo 03"/>
          <p:cNvSpPr txBox="1"/>
          <p:nvPr/>
        </p:nvSpPr>
        <p:spPr>
          <a:xfrm>
            <a:off x="7772400" y="4069080"/>
            <a:ext cx="822960" cy="548640"/>
          </a:xfrm>
          <a:prstGeom prst="rect">
            <a:avLst/>
          </a:prstGeom>
          <a:noFill/>
          <a:ln/>
        </p:spPr>
        <p:txBody>
          <a:bodyPr wrap="square" lIns="0" tIns="0" rIns="0" bIns="0" rtlCol="0" anchor="t"/>
          <a:lstStyle/>
          <a:p>
            <a:pPr indent="0" marL="0">
              <a:buNone/>
            </a:pPr>
            <a:r>
              <a:rPr lang="en-US" sz="3000" b="1" dirty="0">
                <a:solidFill>
                  <a:schemeClr val="accent2"/>
                </a:solidFill>
                <a:latin typeface="Helvetica Neue" pitchFamily="34" charset="0"/>
                <a:ea typeface="Helvetica Neue" pitchFamily="34" charset="-122"/>
                <a:cs typeface="Helvetica Neue" pitchFamily="34" charset="-120"/>
              </a:rPr>
              <a:t>03</a:t>
            </a:r>
            <a:endParaRPr lang="en-US" sz="3000" dirty="0"/>
          </a:p>
        </p:txBody>
      </p:sp>
      <p:sp>
        <p:nvSpPr>
          <p:cNvPr id="12" name="Text 9"/>
          <p:cNvSpPr txBox="1"/>
          <p:nvPr/>
        </p:nvSpPr>
        <p:spPr>
          <a:xfrm>
            <a:off x="8641080" y="4160520"/>
            <a:ext cx="2926080" cy="548640"/>
          </a:xfrm>
          <a:prstGeom prst="rect">
            <a:avLst/>
          </a:prstGeom>
          <a:noFill/>
          <a:ln/>
        </p:spPr>
        <p:txBody>
          <a:bodyPr wrap="square" lIns="0" tIns="0" rIns="0" bIns="0" rtlCol="0" anchor="t"/>
          <a:lstStyle/>
          <a:p>
            <a:pPr indent="0" marL="0">
              <a:buNone/>
            </a:pPr>
            <a:r>
              <a:rPr lang="en-US" sz="1900" dirty="0">
                <a:solidFill>
                  <a:schemeClr val="bg1"/>
                </a:solidFill>
                <a:latin typeface="Helvetica Neue" pitchFamily="34" charset="0"/>
                <a:ea typeface="Helvetica Neue" pitchFamily="34" charset="-122"/>
                <a:cs typeface="Helvetica Neue" pitchFamily="34" charset="-120"/>
              </a:rPr>
              <a:t>Demanda aleatoria</a:t>
            </a:r>
            <a:endParaRPr lang="en-US" sz="1900" dirty="0"/>
          </a:p>
        </p:txBody>
      </p:sp>
      <p:sp>
        <p:nvSpPr>
          <p:cNvPr id="25" name="Slide Number Placeholder 0"/>
          <p:cNvSpPr>
            <a:spLocks noGrp="1"/>
          </p:cNvSpPr>
          <p:nvPr>
            <p:ph type="sldNum" sz="quarter" idx="4294967295"/>
          </p:nvPr>
        </p:nvSpPr>
        <p:spPr>
          <a:xfrm>
            <a:off x="10954512" y="6364224"/>
            <a:ext cx="630936" cy="265176"/>
          </a:xfrm>
          <a:prstGeom prst="rect">
            <a:avLst/>
          </a:prstGeom>
          <a:extLst>
            <a:ext uri="{C572A759-6A51-4108-AA02-DFA0A04FC94B}">
              <ma14:wrappingTextBoxFlag xmlns:ma14="http://schemas.microsoft.com/office/mac/drawingml/2011/main" val="0"/>
            </a:ext>
          </a:extLst>
        </p:spPr>
        <p:txBody>
          <a:bodyPr/>
          <a:lstStyle>
            <a:lvl1pPr>
              <a:defRPr sz="1350">
                <a:solidFill>
                  <a:schemeClr val="accent3"/>
                </a:solidFill>
                <a:latin typeface="Helvetica Neue"/>
                <a:ea typeface="Helvetica Neue"/>
                <a:cs typeface="Helvetica Neue"/>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612648" y="493776"/>
            <a:ext cx="10972800" cy="950976"/>
          </a:xfrm>
          <a:prstGeom prst="rect">
            <a:avLst/>
          </a:prstGeom>
          <a:noFill/>
          <a:ln/>
        </p:spPr>
        <p:txBody>
          <a:bodyPr wrap="square" lIns="0" tIns="0" rIns="0" bIns="0" rtlCol="0" anchor="ctr"/>
          <a:lstStyle/>
          <a:p>
            <a:pPr algn="l" indent="0" marL="0">
              <a:buNone/>
            </a:pPr>
            <a:r>
              <a:rPr lang="en-US" sz="3300" b="1" dirty="0">
                <a:solidFill>
                  <a:schemeClr val="tx1"/>
                </a:solidFill>
                <a:latin typeface="Helvetica Neue" pitchFamily="34" charset="0"/>
                <a:ea typeface="Helvetica Neue" pitchFamily="34" charset="-122"/>
                <a:cs typeface="Helvetica Neue" pitchFamily="34" charset="-120"/>
              </a:rPr>
              <a:t>De dónde venimos</a:t>
            </a:r>
            <a:endParaRPr lang="en-US" sz="3300" dirty="0"/>
          </a:p>
        </p:txBody>
      </p:sp>
      <p:sp>
        <p:nvSpPr>
          <p:cNvPr id="4" name="Text 1"/>
          <p:cNvSpPr txBox="1"/>
          <p:nvPr/>
        </p:nvSpPr>
        <p:spPr>
          <a:xfrm>
            <a:off x="612648" y="1600200"/>
            <a:ext cx="5120640" cy="411480"/>
          </a:xfrm>
          <a:prstGeom prst="rect">
            <a:avLst/>
          </a:prstGeom>
          <a:noFill/>
          <a:ln/>
        </p:spPr>
        <p:txBody>
          <a:bodyPr wrap="square" lIns="0" tIns="0" rIns="0" bIns="0" rtlCol="0" anchor="t"/>
          <a:lstStyle/>
          <a:p>
            <a:pPr indent="0" marL="0">
              <a:buNone/>
            </a:pPr>
            <a:r>
              <a:rPr lang="en-US" sz="1900" b="1" dirty="0">
                <a:solidFill>
                  <a:schemeClr val="tx2"/>
                </a:solidFill>
                <a:latin typeface="Helvetica Neue" pitchFamily="34" charset="0"/>
                <a:ea typeface="Helvetica Neue" pitchFamily="34" charset="-122"/>
                <a:cs typeface="Helvetica Neue" pitchFamily="34" charset="-120"/>
              </a:rPr>
              <a:t>Etapa 1 · Plan óptimo</a:t>
            </a:r>
            <a:endParaRPr lang="en-US" sz="1900" dirty="0"/>
          </a:p>
        </p:txBody>
      </p:sp>
      <p:sp>
        <p:nvSpPr>
          <p:cNvPr id="5" name="Text 2"/>
          <p:cNvSpPr txBox="1"/>
          <p:nvPr/>
        </p:nvSpPr>
        <p:spPr>
          <a:xfrm>
            <a:off x="612648" y="2057400"/>
            <a:ext cx="5120640" cy="731520"/>
          </a:xfrm>
          <a:prstGeom prst="rect">
            <a:avLst/>
          </a:prstGeom>
          <a:noFill/>
          <a:ln/>
        </p:spPr>
        <p:txBody>
          <a:bodyPr wrap="square" lIns="0" tIns="0" rIns="0" bIns="0" rtlCol="0" anchor="t"/>
          <a:lstStyle/>
          <a:p>
            <a:pPr indent="0" marL="0">
              <a:buNone/>
            </a:pPr>
            <a:r>
              <a:rPr lang="en-US" sz="4400" b="1" dirty="0">
                <a:solidFill>
                  <a:schemeClr val="accent1"/>
                </a:solidFill>
                <a:latin typeface="Helvetica Neue" pitchFamily="34" charset="0"/>
                <a:ea typeface="Helvetica Neue" pitchFamily="34" charset="-122"/>
                <a:cs typeface="Helvetica Neue" pitchFamily="34" charset="-120"/>
              </a:rPr>
              <a:t>$6.600.000</a:t>
            </a:r>
            <a:endParaRPr lang="en-US" sz="4400" dirty="0"/>
          </a:p>
        </p:txBody>
      </p:sp>
      <p:sp>
        <p:nvSpPr>
          <p:cNvPr id="6" name="Text 3"/>
          <p:cNvSpPr txBox="1"/>
          <p:nvPr/>
        </p:nvSpPr>
        <p:spPr>
          <a:xfrm>
            <a:off x="612648" y="2816352"/>
            <a:ext cx="5120640" cy="365760"/>
          </a:xfrm>
          <a:prstGeom prst="rect">
            <a:avLst/>
          </a:prstGeom>
          <a:noFill/>
          <a:ln/>
        </p:spPr>
        <p:txBody>
          <a:bodyPr wrap="square" lIns="0" tIns="0" rIns="0" bIns="0" rtlCol="0" anchor="t"/>
          <a:lstStyle/>
          <a:p>
            <a:pPr indent="0" marL="0">
              <a:buNone/>
            </a:pPr>
            <a:r>
              <a:rPr lang="en-US" sz="1600" dirty="0">
                <a:solidFill>
                  <a:schemeClr val="tx2"/>
                </a:solidFill>
                <a:latin typeface="Helvetica Neue" pitchFamily="34" charset="0"/>
                <a:ea typeface="Helvetica Neue" pitchFamily="34" charset="-122"/>
                <a:cs typeface="Helvetica Neue" pitchFamily="34" charset="-120"/>
              </a:rPr>
              <a:t>de beneficio semanal</a:t>
            </a:r>
            <a:endParaRPr lang="en-US" sz="1600" dirty="0"/>
          </a:p>
        </p:txBody>
      </p:sp>
      <p:graphicFrame>
        <p:nvGraphicFramePr>
          <p:cNvPr id="3" name="Tabla plan"/>
          <p:cNvGraphicFramePr>
            <a:graphicFrameLocks noGrp="1"/>
          </p:cNvGraphicFramePr>
          <p:nvPr>
            <p:extLst>
              <p:ext uri="{D42A27DB-BD31-4B8C-83A1-F6EECF244321}">
                <p14:modId xmlns:p14="http://schemas.microsoft.com/office/powerpoint/2010/main" val="1579011935"/>
              </p:ext>
            </p:extLst>
          </p:nvPr>
        </p:nvGraphicFramePr>
        <p:xfrm>
          <a:off x="612648" y="3337560"/>
          <a:ext cx="5120640" cy="914400"/>
        </p:xfrm>
        <a:graphic>
          <a:graphicData uri="http://schemas.openxmlformats.org/drawingml/2006/table">
            <a:tbl>
              <a:tblPr/>
              <a:tblGrid>
                <a:gridCol w="3017520"/>
                <a:gridCol w="2103120"/>
              </a:tblGrid>
              <a:tr h="457200">
                <a:tc>
                  <a:txBody>
                    <a:bodyPr/>
                    <a:lstStyle/>
                    <a:p>
                      <a:pPr algn="l" indent="0" marL="0">
                        <a:buNone/>
                      </a:pPr>
                      <a:r>
                        <a:rPr lang="en-US" sz="1600" b="1" dirty="0">
                          <a:solidFill>
                            <a:schemeClr val="bg1"/>
                          </a:solidFill>
                          <a:latin typeface="Helvetica Neue" pitchFamily="34" charset="0"/>
                          <a:ea typeface="Helvetica Neue" pitchFamily="34" charset="-122"/>
                          <a:cs typeface="Helvetica Neue" pitchFamily="34" charset="-120"/>
                        </a:rPr>
                        <a:t>Producto</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latin typeface="Helvetica Neue" pitchFamily="34" charset="0"/>
                          <a:ea typeface="Helvetica Neue" pitchFamily="34" charset="-122"/>
                          <a:cs typeface="Helvetica Neue" pitchFamily="34" charset="-120"/>
                        </a:rPr>
                        <a:t>Lotes por semana</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r>
              <a:tr h="457200">
                <a:tc>
                  <a:txBody>
                    <a:bodyPr/>
                    <a:lstStyle/>
                    <a:p>
                      <a:pPr algn="l" indent="0" marL="0">
                        <a:buNone/>
                      </a:pPr>
                      <a:r>
                        <a:rPr lang="en-US" sz="1600" dirty="0">
                          <a:solidFill>
                            <a:schemeClr val="tx1"/>
                          </a:solidFill>
                          <a:latin typeface="Helvetica Neue" pitchFamily="34" charset="0"/>
                          <a:ea typeface="Helvetica Neue" pitchFamily="34" charset="-122"/>
                          <a:cs typeface="Helvetica Neue" pitchFamily="34" charset="-120"/>
                        </a:rPr>
                        <a:t>Tapa de cilindros</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80</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r>
              <a:tr h="457200">
                <a:tc>
                  <a:txBody>
                    <a:bodyPr/>
                    <a:lstStyle/>
                    <a:p>
                      <a:pPr algn="l" indent="0" marL="0">
                        <a:buNone/>
                      </a:pPr>
                      <a:r>
                        <a:rPr lang="en-US" sz="1600" dirty="0">
                          <a:solidFill>
                            <a:schemeClr val="tx1"/>
                          </a:solidFill>
                          <a:latin typeface="Helvetica Neue" pitchFamily="34" charset="0"/>
                          <a:ea typeface="Helvetica Neue" pitchFamily="34" charset="-122"/>
                          <a:cs typeface="Helvetica Neue" pitchFamily="34" charset="-120"/>
                        </a:rPr>
                        <a:t>Cárter</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20</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r>
              <a:tr h="457200">
                <a:tc>
                  <a:txBody>
                    <a:bodyPr/>
                    <a:lstStyle/>
                    <a:p>
                      <a:pPr algn="l" indent="0" marL="0">
                        <a:buNone/>
                      </a:pPr>
                      <a:r>
                        <a:rPr lang="en-US" sz="1600" dirty="0">
                          <a:solidFill>
                            <a:schemeClr val="tx1"/>
                          </a:solidFill>
                          <a:latin typeface="Helvetica Neue" pitchFamily="34" charset="0"/>
                          <a:ea typeface="Helvetica Neue" pitchFamily="34" charset="-122"/>
                          <a:cs typeface="Helvetica Neue" pitchFamily="34" charset="-120"/>
                        </a:rPr>
                        <a:t>Múltiple</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50</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r>
            </a:tbl>
          </a:graphicData>
        </a:graphic>
      </p:graphicFrame>
      <p:sp>
        <p:nvSpPr>
          <p:cNvPr id="8" name="Text 4"/>
          <p:cNvSpPr txBox="1"/>
          <p:nvPr/>
        </p:nvSpPr>
        <p:spPr>
          <a:xfrm>
            <a:off x="6355080" y="1600200"/>
            <a:ext cx="5212080" cy="411480"/>
          </a:xfrm>
          <a:prstGeom prst="rect">
            <a:avLst/>
          </a:prstGeom>
          <a:noFill/>
          <a:ln/>
        </p:spPr>
        <p:txBody>
          <a:bodyPr wrap="square" lIns="0" tIns="0" rIns="0" bIns="0" rtlCol="0" anchor="t"/>
          <a:lstStyle/>
          <a:p>
            <a:pPr indent="0" marL="0">
              <a:buNone/>
            </a:pPr>
            <a:r>
              <a:rPr lang="en-US" sz="1900" b="1" dirty="0">
                <a:solidFill>
                  <a:schemeClr val="tx2"/>
                </a:solidFill>
                <a:latin typeface="Helvetica Neue" pitchFamily="34" charset="0"/>
                <a:ea typeface="Helvetica Neue" pitchFamily="34" charset="-122"/>
                <a:cs typeface="Helvetica Neue" pitchFamily="34" charset="-120"/>
              </a:rPr>
              <a:t>Etapa 2 · Valor de los recursos</a:t>
            </a:r>
            <a:endParaRPr lang="en-US" sz="1900" dirty="0"/>
          </a:p>
        </p:txBody>
      </p:sp>
      <p:graphicFrame>
        <p:nvGraphicFramePr>
          <p:cNvPr id="5" name="Tabla etapa 2"/>
          <p:cNvGraphicFramePr>
            <a:graphicFrameLocks noGrp="1"/>
          </p:cNvGraphicFramePr>
          <p:nvPr>
            <p:extLst>
              <p:ext uri="{D42A27DB-BD31-4B8C-83A1-F6EECF244321}">
                <p14:modId xmlns:p14="http://schemas.microsoft.com/office/powerpoint/2010/main" val="1579011935"/>
              </p:ext>
            </p:extLst>
          </p:nvPr>
        </p:nvGraphicFramePr>
        <p:xfrm>
          <a:off x="6355080" y="2103120"/>
          <a:ext cx="5212080" cy="914400"/>
        </p:xfrm>
        <a:graphic>
          <a:graphicData uri="http://schemas.openxmlformats.org/drawingml/2006/table">
            <a:tbl>
              <a:tblPr/>
              <a:tblGrid>
                <a:gridCol w="2468880"/>
                <a:gridCol w="2743200"/>
              </a:tblGrid>
              <a:tr h="457200">
                <a:tc>
                  <a:txBody>
                    <a:bodyPr/>
                    <a:lstStyle/>
                    <a:p>
                      <a:pPr algn="l" indent="0" marL="0">
                        <a:buNone/>
                      </a:pPr>
                      <a:r>
                        <a:rPr lang="en-US" sz="1600" b="1" dirty="0">
                          <a:solidFill>
                            <a:schemeClr val="bg1"/>
                          </a:solidFill>
                          <a:latin typeface="Helvetica Neue" pitchFamily="34" charset="0"/>
                          <a:ea typeface="Helvetica Neue" pitchFamily="34" charset="-122"/>
                          <a:cs typeface="Helvetica Neue" pitchFamily="34" charset="-120"/>
                        </a:rPr>
                        <a:t>Recurso</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latin typeface="Helvetica Neue" pitchFamily="34" charset="0"/>
                          <a:ea typeface="Helvetica Neue" pitchFamily="34" charset="-122"/>
                          <a:cs typeface="Helvetica Neue" pitchFamily="34" charset="-120"/>
                        </a:rPr>
                        <a:t>Valor marginal</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r>
              <a:tr h="457200">
                <a:tc>
                  <a:txBody>
                    <a:bodyPr/>
                    <a:lstStyle/>
                    <a:p>
                      <a:pPr algn="l" indent="0" marL="0">
                        <a:buNone/>
                      </a:pPr>
                      <a:r>
                        <a:rPr lang="en-US" sz="1600" dirty="0">
                          <a:solidFill>
                            <a:schemeClr val="tx1"/>
                          </a:solidFill>
                          <a:latin typeface="Helvetica Neue" pitchFamily="34" charset="0"/>
                          <a:ea typeface="Helvetica Neue" pitchFamily="34" charset="-122"/>
                          <a:cs typeface="Helvetica Neue" pitchFamily="34" charset="-120"/>
                        </a:rPr>
                        <a:t>Horas de máquina</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$20.000 / h</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r>
              <a:tr h="457200">
                <a:tc>
                  <a:txBody>
                    <a:bodyPr/>
                    <a:lstStyle/>
                    <a:p>
                      <a:pPr algn="l" indent="0" marL="0">
                        <a:buNone/>
                      </a:pPr>
                      <a:r>
                        <a:rPr lang="en-US" sz="1600" dirty="0">
                          <a:solidFill>
                            <a:schemeClr val="tx1"/>
                          </a:solidFill>
                          <a:latin typeface="Helvetica Neue" pitchFamily="34" charset="0"/>
                          <a:ea typeface="Helvetica Neue" pitchFamily="34" charset="-122"/>
                          <a:cs typeface="Helvetica Neue" pitchFamily="34" charset="-120"/>
                        </a:rPr>
                        <a:t>Despacho</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$30.000 / lote</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r>
              <a:tr h="457200">
                <a:tc>
                  <a:txBody>
                    <a:bodyPr/>
                    <a:lstStyle/>
                    <a:p>
                      <a:pPr algn="l" indent="0" marL="0">
                        <a:buNone/>
                      </a:pPr>
                      <a:r>
                        <a:rPr lang="en-US" sz="1600" b="1" dirty="0">
                          <a:solidFill>
                            <a:schemeClr val="tx1"/>
                          </a:solidFill>
                          <a:latin typeface="Helvetica Neue" pitchFamily="34" charset="0"/>
                          <a:ea typeface="Helvetica Neue" pitchFamily="34" charset="-122"/>
                          <a:cs typeface="Helvetica Neue" pitchFamily="34" charset="-120"/>
                        </a:rPr>
                        <a:t>Corcho</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2"/>
                    </a:solidFill>
                  </a:tcPr>
                </a:tc>
                <a:tc>
                  <a:txBody>
                    <a:bodyPr/>
                    <a:lstStyle/>
                    <a:p>
                      <a:pPr algn="ctr" indent="0" marL="0">
                        <a:buNone/>
                      </a:pPr>
                      <a:r>
                        <a:rPr lang="en-US" sz="1600" b="1" dirty="0">
                          <a:solidFill>
                            <a:schemeClr val="tx1"/>
                          </a:solidFill>
                          <a:latin typeface="Helvetica Neue" pitchFamily="34" charset="0"/>
                          <a:ea typeface="Helvetica Neue" pitchFamily="34" charset="-122"/>
                          <a:cs typeface="Helvetica Neue" pitchFamily="34" charset="-120"/>
                        </a:rPr>
                        <a:t>$0 · sobran 270 m²</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2"/>
                    </a:solidFill>
                  </a:tcPr>
                </a:tc>
              </a:tr>
              <a:tr h="457200">
                <a:tc>
                  <a:txBody>
                    <a:bodyPr/>
                    <a:lstStyle/>
                    <a:p>
                      <a:pPr algn="l" indent="0" marL="0">
                        <a:buNone/>
                      </a:pPr>
                      <a:r>
                        <a:rPr lang="en-US" sz="1600" dirty="0">
                          <a:solidFill>
                            <a:schemeClr val="tx1"/>
                          </a:solidFill>
                          <a:latin typeface="Helvetica Neue" pitchFamily="34" charset="0"/>
                          <a:ea typeface="Helvetica Neue" pitchFamily="34" charset="-122"/>
                          <a:cs typeface="Helvetica Neue" pitchFamily="34" charset="-120"/>
                        </a:rPr>
                        <a:t>Pedidos especiales</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+$345.000 / semana</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r>
            </a:tbl>
          </a:graphicData>
        </a:graphic>
      </p:graphicFrame>
      <p:sp>
        <p:nvSpPr>
          <p:cNvPr id="10" name="Text 5"/>
          <p:cNvSpPr txBox="1"/>
          <p:nvPr/>
        </p:nvSpPr>
        <p:spPr>
          <a:xfrm>
            <a:off x="6355080" y="4572000"/>
            <a:ext cx="5212080" cy="822960"/>
          </a:xfrm>
          <a:prstGeom prst="rect">
            <a:avLst/>
          </a:prstGeom>
          <a:noFill/>
          <a:ln/>
        </p:spPr>
        <p:txBody>
          <a:bodyPr wrap="square" lIns="0" tIns="0" rIns="0" bIns="0" rtlCol="0" anchor="t"/>
          <a:lstStyle/>
          <a:p>
            <a:pPr indent="0" marL="0">
              <a:buNone/>
            </a:pPr>
            <a:r>
              <a:rPr lang="en-US" sz="1900" b="1" dirty="0">
                <a:solidFill>
                  <a:schemeClr val="accent1"/>
                </a:solidFill>
                <a:latin typeface="Helvetica Neue" pitchFamily="34" charset="0"/>
                <a:ea typeface="Helvetica Neue" pitchFamily="34" charset="-122"/>
                <a:cs typeface="Helvetica Neue" pitchFamily="34" charset="-120"/>
              </a:rPr>
              <a:t>El corcho no limita la producción: la etapa 3 decide cómo conviene comprarlo.</a:t>
            </a:r>
            <a:endParaRPr lang="en-US" sz="1900" dirty="0"/>
          </a:p>
        </p:txBody>
      </p:sp>
      <p:sp>
        <p:nvSpPr>
          <p:cNvPr id="25" name="Slide Number Placeholder 0"/>
          <p:cNvSpPr>
            <a:spLocks noGrp="1"/>
          </p:cNvSpPr>
          <p:nvPr>
            <p:ph type="sldNum" sz="quarter" idx="4294967295"/>
          </p:nvPr>
        </p:nvSpPr>
        <p:spPr>
          <a:xfrm>
            <a:off x="10954512" y="6364224"/>
            <a:ext cx="630936" cy="265176"/>
          </a:xfrm>
          <a:prstGeom prst="rect">
            <a:avLst/>
          </a:prstGeom>
          <a:extLst>
            <a:ext uri="{C572A759-6A51-4108-AA02-DFA0A04FC94B}">
              <ma14:wrappingTextBoxFlag xmlns:ma14="http://schemas.microsoft.com/office/mac/drawingml/2011/main" val="0"/>
            </a:ext>
          </a:extLst>
        </p:spPr>
        <p:txBody>
          <a:bodyPr/>
          <a:lstStyle>
            <a:lvl1pPr>
              <a:defRPr sz="1350">
                <a:solidFill>
                  <a:schemeClr val="tx2"/>
                </a:solidFill>
                <a:latin typeface="Helvetica Neue"/>
                <a:ea typeface="Helvetica Neue"/>
                <a:cs typeface="Helvetica Neue"/>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title" hasCustomPrompt="1"/>
          </p:nvPr>
        </p:nvSpPr>
        <p:spPr>
          <a:xfrm>
            <a:off x="612648" y="493776"/>
            <a:ext cx="10972800" cy="950976"/>
          </a:xfrm>
          <a:prstGeom prst="rect">
            <a:avLst/>
          </a:prstGeom>
          <a:noFill/>
          <a:ln/>
        </p:spPr>
        <p:txBody>
          <a:bodyPr wrap="square" lIns="0" tIns="0" rIns="0" bIns="0" rtlCol="0" anchor="ctr"/>
          <a:lstStyle/>
          <a:p>
            <a:pPr algn="l" indent="0" marL="0">
              <a:buNone/>
            </a:pPr>
            <a:r>
              <a:rPr lang="en-US" sz="3300" b="1" dirty="0">
                <a:solidFill>
                  <a:schemeClr val="tx1"/>
                </a:solidFill>
                <a:latin typeface="Helvetica Neue" pitchFamily="34" charset="0"/>
                <a:ea typeface="Helvetica Neue" pitchFamily="34" charset="-122"/>
                <a:cs typeface="Helvetica Neue" pitchFamily="34" charset="-120"/>
              </a:rPr>
              <a:t>El corcho como insumo crítico</a:t>
            </a:r>
            <a:endParaRPr lang="en-US" sz="3300" dirty="0"/>
          </a:p>
        </p:txBody>
      </p:sp>
      <p:sp>
        <p:nvSpPr>
          <p:cNvPr id="4" name="Demanda anual valor"/>
          <p:cNvSpPr txBox="1"/>
          <p:nvPr/>
        </p:nvSpPr>
        <p:spPr>
          <a:xfrm>
            <a:off x="612648" y="1600200"/>
            <a:ext cx="5120640" cy="701040"/>
          </a:xfrm>
          <a:prstGeom prst="rect">
            <a:avLst/>
          </a:prstGeom>
          <a:noFill/>
          <a:ln/>
        </p:spPr>
        <p:txBody>
          <a:bodyPr wrap="square" lIns="0" tIns="0" rIns="0" bIns="0" rtlCol="0" anchor="t"/>
          <a:lstStyle/>
          <a:p>
            <a:pPr indent="0" marL="0">
              <a:buNone/>
            </a:pPr>
            <a:r>
              <a:rPr lang="en-US" sz="4600" b="1" dirty="0">
                <a:solidFill>
                  <a:schemeClr val="accent1"/>
                </a:solidFill>
                <a:latin typeface="Helvetica Neue" pitchFamily="34" charset="0"/>
                <a:ea typeface="Helvetica Neue" pitchFamily="34" charset="-122"/>
                <a:cs typeface="Helvetica Neue" pitchFamily="34" charset="-120"/>
              </a:rPr>
              <a:t>17.160 m²</a:t>
            </a:r>
            <a:endParaRPr lang="en-US" sz="4600" dirty="0"/>
          </a:p>
        </p:txBody>
      </p:sp>
      <p:sp>
        <p:nvSpPr>
          <p:cNvPr id="5" name="Demanda anual etiqueta"/>
          <p:cNvSpPr txBox="1"/>
          <p:nvPr/>
        </p:nvSpPr>
        <p:spPr>
          <a:xfrm>
            <a:off x="612648" y="2374392"/>
            <a:ext cx="5120640" cy="685800"/>
          </a:xfrm>
          <a:prstGeom prst="rect">
            <a:avLst/>
          </a:prstGeom>
          <a:noFill/>
          <a:ln/>
        </p:spPr>
        <p:txBody>
          <a:bodyPr wrap="square" lIns="0" tIns="0" rIns="0" bIns="0" rtlCol="0" anchor="t"/>
          <a:lstStyle/>
          <a:p>
            <a:pPr indent="0" marL="0">
              <a:buNone/>
            </a:pPr>
            <a:r>
              <a:rPr lang="en-US" sz="1600" dirty="0">
                <a:solidFill>
                  <a:schemeClr val="tx2"/>
                </a:solidFill>
                <a:latin typeface="Helvetica Neue" pitchFamily="34" charset="0"/>
                <a:ea typeface="Helvetica Neue" pitchFamily="34" charset="-122"/>
                <a:cs typeface="Helvetica Neue" pitchFamily="34" charset="-120"/>
              </a:rPr>
              <a:t>de corcho por año: 330 m² por semana × 52 semanas</a:t>
            </a:r>
            <a:endParaRPr lang="en-US" sz="1600" dirty="0"/>
          </a:p>
        </p:txBody>
      </p:sp>
      <p:sp>
        <p:nvSpPr>
          <p:cNvPr id="6" name="Text 3"/>
          <p:cNvSpPr txBox="1"/>
          <p:nvPr/>
        </p:nvSpPr>
        <p:spPr>
          <a:xfrm>
            <a:off x="612648" y="3246120"/>
            <a:ext cx="5120640" cy="2194560"/>
          </a:xfrm>
          <a:prstGeom prst="rect">
            <a:avLst/>
          </a:prstGeom>
          <a:noFill/>
          <a:ln/>
        </p:spPr>
        <p:txBody>
          <a:bodyPr wrap="square" lIns="0" tIns="0" rIns="0" bIns="0" rtlCol="0" anchor="t"/>
          <a:lstStyle/>
          <a:p>
            <a:pPr indent="0" marL="0">
              <a:buNone/>
            </a:pPr>
            <a:r>
              <a:rPr lang="en-US" sz="1800" dirty="0">
                <a:solidFill>
                  <a:schemeClr val="tx1"/>
                </a:solidFill>
                <a:latin typeface="Helvetica Neue" pitchFamily="34" charset="0"/>
                <a:ea typeface="Helvetica Neue" pitchFamily="34" charset="-122"/>
                <a:cs typeface="Helvetica Neue" pitchFamily="34" charset="-120"/>
              </a:rPr>
              <a:t>Es la materia prima de las tres juntas y el único recurso con sobrante: hay margen para decidir cuánto y cuándo comprarlo.</a:t>
            </a:r>
            <a:endParaRPr lang="en-US" sz="1800" dirty="0"/>
          </a:p>
          <a:p>
            <a:pPr indent="0" marL="0">
              <a:buNone/>
            </a:pPr>
            <a:endParaRPr lang="en-US" sz="1800" dirty="0"/>
          </a:p>
          <a:p>
            <a:pPr indent="0" marL="0">
              <a:buNone/>
            </a:pPr>
            <a:r>
              <a:rPr lang="en-US" sz="1800" dirty="0">
                <a:solidFill>
                  <a:schemeClr val="tx1"/>
                </a:solidFill>
                <a:latin typeface="Helvetica Neue" pitchFamily="34" charset="0"/>
                <a:ea typeface="Helvetica Neue" pitchFamily="34" charset="-122"/>
                <a:cs typeface="Helvetica Neue" pitchFamily="34" charset="-120"/>
              </a:rPr>
              <a:t>El sellador de la bañadora comparte el depósito con el corcho.</a:t>
            </a:r>
            <a:endParaRPr lang="en-US" sz="1800" dirty="0"/>
          </a:p>
        </p:txBody>
      </p:sp>
      <p:sp>
        <p:nvSpPr>
          <p:cNvPr id="7" name="Paso 1"/>
          <p:cNvSpPr/>
          <p:nvPr/>
        </p:nvSpPr>
        <p:spPr>
          <a:xfrm>
            <a:off x="6309360" y="1600200"/>
            <a:ext cx="5276088" cy="1097280"/>
          </a:xfrm>
          <a:prstGeom prst="roundRect">
            <a:avLst>
              <a:gd name="adj" fmla="val 6667"/>
            </a:avLst>
          </a:prstGeom>
          <a:solidFill>
            <a:schemeClr val="accent4"/>
          </a:solidFill>
          <a:ln w="12700">
            <a:solidFill>
              <a:schemeClr val="accent4"/>
            </a:solidFill>
            <a:prstDash val="solid"/>
          </a:ln>
        </p:spPr>
      </p:sp>
      <p:sp>
        <p:nvSpPr>
          <p:cNvPr id="8" name="Shape 5"/>
          <p:cNvSpPr/>
          <p:nvPr/>
        </p:nvSpPr>
        <p:spPr>
          <a:xfrm>
            <a:off x="6510528" y="1874520"/>
            <a:ext cx="548640" cy="548640"/>
          </a:xfrm>
          <a:prstGeom prst="ellipse">
            <a:avLst/>
          </a:prstGeom>
          <a:solidFill>
            <a:schemeClr val="accent1"/>
          </a:solidFill>
          <a:ln w="12700">
            <a:solidFill>
              <a:schemeClr val="accent1"/>
            </a:solidFill>
            <a:prstDash val="solid"/>
          </a:ln>
        </p:spPr>
      </p:sp>
      <p:sp>
        <p:nvSpPr>
          <p:cNvPr id="9" name="Text 6"/>
          <p:cNvSpPr txBox="1"/>
          <p:nvPr/>
        </p:nvSpPr>
        <p:spPr>
          <a:xfrm>
            <a:off x="6510528" y="18745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Helvetica Neue" pitchFamily="34" charset="0"/>
                <a:ea typeface="Helvetica Neue" pitchFamily="34" charset="-122"/>
                <a:cs typeface="Helvetica Neue" pitchFamily="34" charset="-120"/>
              </a:rPr>
              <a:t>1</a:t>
            </a:r>
            <a:endParaRPr lang="en-US" sz="2000" dirty="0"/>
          </a:p>
        </p:txBody>
      </p:sp>
      <p:sp>
        <p:nvSpPr>
          <p:cNvPr id="10" name="Text 7"/>
          <p:cNvSpPr txBox="1"/>
          <p:nvPr/>
        </p:nvSpPr>
        <p:spPr>
          <a:xfrm>
            <a:off x="7269480" y="1764792"/>
            <a:ext cx="4133088" cy="411480"/>
          </a:xfrm>
          <a:prstGeom prst="rect">
            <a:avLst/>
          </a:prstGeom>
          <a:noFill/>
          <a:ln/>
        </p:spPr>
        <p:txBody>
          <a:bodyPr wrap="square" lIns="0" tIns="0" rIns="0" bIns="0" rtlCol="0" anchor="t"/>
          <a:lstStyle/>
          <a:p>
            <a:pPr indent="0" marL="0">
              <a:buNone/>
            </a:pPr>
            <a:r>
              <a:rPr lang="en-US" sz="1800" b="1" dirty="0">
                <a:solidFill>
                  <a:schemeClr val="tx1"/>
                </a:solidFill>
                <a:latin typeface="Helvetica Neue" pitchFamily="34" charset="0"/>
                <a:ea typeface="Helvetica Neue" pitchFamily="34" charset="-122"/>
                <a:cs typeface="Helvetica Neue" pitchFamily="34" charset="-120"/>
              </a:rPr>
              <a:t>Descuento por cantidad</a:t>
            </a:r>
            <a:endParaRPr lang="en-US" sz="1800" dirty="0"/>
          </a:p>
        </p:txBody>
      </p:sp>
      <p:sp>
        <p:nvSpPr>
          <p:cNvPr id="11" name="Text 8"/>
          <p:cNvSpPr txBox="1"/>
          <p:nvPr/>
        </p:nvSpPr>
        <p:spPr>
          <a:xfrm>
            <a:off x="7269480" y="2194560"/>
            <a:ext cx="4133088" cy="365760"/>
          </a:xfrm>
          <a:prstGeom prst="rect">
            <a:avLst/>
          </a:prstGeom>
          <a:noFill/>
          <a:ln/>
        </p:spPr>
        <p:txBody>
          <a:bodyPr wrap="square" lIns="0" tIns="0" rIns="0" bIns="0" rtlCol="0" anchor="t"/>
          <a:lstStyle/>
          <a:p>
            <a:pPr indent="0" marL="0">
              <a:buNone/>
            </a:pPr>
            <a:r>
              <a:rPr lang="en-US" sz="1600" dirty="0">
                <a:solidFill>
                  <a:schemeClr val="tx2"/>
                </a:solidFill>
                <a:latin typeface="Helvetica Neue" pitchFamily="34" charset="0"/>
                <a:ea typeface="Helvetica Neue" pitchFamily="34" charset="-122"/>
                <a:cs typeface="Helvetica Neue" pitchFamily="34" charset="-120"/>
              </a:rPr>
              <a:t>Determinístico: ¿cuánto conviene pedir?</a:t>
            </a:r>
            <a:endParaRPr lang="en-US" sz="1600" dirty="0"/>
          </a:p>
        </p:txBody>
      </p:sp>
      <p:sp>
        <p:nvSpPr>
          <p:cNvPr id="12" name="Paso 2"/>
          <p:cNvSpPr/>
          <p:nvPr/>
        </p:nvSpPr>
        <p:spPr>
          <a:xfrm>
            <a:off x="6309360" y="2880360"/>
            <a:ext cx="5276088" cy="1097280"/>
          </a:xfrm>
          <a:prstGeom prst="roundRect">
            <a:avLst>
              <a:gd name="adj" fmla="val 6667"/>
            </a:avLst>
          </a:prstGeom>
          <a:solidFill>
            <a:schemeClr val="accent4"/>
          </a:solidFill>
          <a:ln w="12700">
            <a:solidFill>
              <a:schemeClr val="accent4"/>
            </a:solidFill>
            <a:prstDash val="solid"/>
          </a:ln>
        </p:spPr>
      </p:sp>
      <p:sp>
        <p:nvSpPr>
          <p:cNvPr id="13" name="Shape 10"/>
          <p:cNvSpPr/>
          <p:nvPr/>
        </p:nvSpPr>
        <p:spPr>
          <a:xfrm>
            <a:off x="6510528" y="3154680"/>
            <a:ext cx="548640" cy="548640"/>
          </a:xfrm>
          <a:prstGeom prst="ellipse">
            <a:avLst/>
          </a:prstGeom>
          <a:solidFill>
            <a:schemeClr val="accent1"/>
          </a:solidFill>
          <a:ln w="12700">
            <a:solidFill>
              <a:schemeClr val="accent1"/>
            </a:solidFill>
            <a:prstDash val="solid"/>
          </a:ln>
        </p:spPr>
      </p:sp>
      <p:sp>
        <p:nvSpPr>
          <p:cNvPr id="14" name="Text 11"/>
          <p:cNvSpPr txBox="1"/>
          <p:nvPr/>
        </p:nvSpPr>
        <p:spPr>
          <a:xfrm>
            <a:off x="6510528" y="31546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Helvetica Neue" pitchFamily="34" charset="0"/>
                <a:ea typeface="Helvetica Neue" pitchFamily="34" charset="-122"/>
                <a:cs typeface="Helvetica Neue" pitchFamily="34" charset="-120"/>
              </a:rPr>
              <a:t>2</a:t>
            </a:r>
            <a:endParaRPr lang="en-US" sz="2000" dirty="0"/>
          </a:p>
        </p:txBody>
      </p:sp>
      <p:sp>
        <p:nvSpPr>
          <p:cNvPr id="15" name="Text 12"/>
          <p:cNvSpPr txBox="1"/>
          <p:nvPr/>
        </p:nvSpPr>
        <p:spPr>
          <a:xfrm>
            <a:off x="7269480" y="3044952"/>
            <a:ext cx="4133088" cy="411480"/>
          </a:xfrm>
          <a:prstGeom prst="rect">
            <a:avLst/>
          </a:prstGeom>
          <a:noFill/>
          <a:ln/>
        </p:spPr>
        <p:txBody>
          <a:bodyPr wrap="square" lIns="0" tIns="0" rIns="0" bIns="0" rtlCol="0" anchor="t"/>
          <a:lstStyle/>
          <a:p>
            <a:pPr indent="0" marL="0">
              <a:buNone/>
            </a:pPr>
            <a:r>
              <a:rPr lang="en-US" sz="1800" b="1" dirty="0">
                <a:solidFill>
                  <a:schemeClr val="tx1"/>
                </a:solidFill>
                <a:latin typeface="Helvetica Neue" pitchFamily="34" charset="0"/>
                <a:ea typeface="Helvetica Neue" pitchFamily="34" charset="-122"/>
                <a:cs typeface="Helvetica Neue" pitchFamily="34" charset="-120"/>
              </a:rPr>
              <a:t>Espacio de depósito</a:t>
            </a:r>
            <a:endParaRPr lang="en-US" sz="1800" dirty="0"/>
          </a:p>
        </p:txBody>
      </p:sp>
      <p:sp>
        <p:nvSpPr>
          <p:cNvPr id="16" name="Text 13"/>
          <p:cNvSpPr txBox="1"/>
          <p:nvPr/>
        </p:nvSpPr>
        <p:spPr>
          <a:xfrm>
            <a:off x="7269480" y="3474720"/>
            <a:ext cx="4133088" cy="365760"/>
          </a:xfrm>
          <a:prstGeom prst="rect">
            <a:avLst/>
          </a:prstGeom>
          <a:noFill/>
          <a:ln/>
        </p:spPr>
        <p:txBody>
          <a:bodyPr wrap="square" lIns="0" tIns="0" rIns="0" bIns="0" rtlCol="0" anchor="t"/>
          <a:lstStyle/>
          <a:p>
            <a:pPr indent="0" marL="0">
              <a:buNone/>
            </a:pPr>
            <a:r>
              <a:rPr lang="en-US" sz="1600" dirty="0">
                <a:solidFill>
                  <a:schemeClr val="tx2"/>
                </a:solidFill>
                <a:latin typeface="Helvetica Neue" pitchFamily="34" charset="0"/>
                <a:ea typeface="Helvetica Neue" pitchFamily="34" charset="-122"/>
                <a:cs typeface="Helvetica Neue" pitchFamily="34" charset="-120"/>
              </a:rPr>
              <a:t>Con restricción: ¿entra ese lote?</a:t>
            </a:r>
            <a:endParaRPr lang="en-US" sz="1600" dirty="0"/>
          </a:p>
        </p:txBody>
      </p:sp>
      <p:sp>
        <p:nvSpPr>
          <p:cNvPr id="17" name="Paso 3"/>
          <p:cNvSpPr/>
          <p:nvPr/>
        </p:nvSpPr>
        <p:spPr>
          <a:xfrm>
            <a:off x="6309360" y="4160520"/>
            <a:ext cx="5276088" cy="1097280"/>
          </a:xfrm>
          <a:prstGeom prst="roundRect">
            <a:avLst>
              <a:gd name="adj" fmla="val 6667"/>
            </a:avLst>
          </a:prstGeom>
          <a:solidFill>
            <a:schemeClr val="accent4"/>
          </a:solidFill>
          <a:ln w="12700">
            <a:solidFill>
              <a:schemeClr val="accent4"/>
            </a:solidFill>
            <a:prstDash val="solid"/>
          </a:ln>
        </p:spPr>
      </p:sp>
      <p:sp>
        <p:nvSpPr>
          <p:cNvPr id="18" name="Shape 15"/>
          <p:cNvSpPr/>
          <p:nvPr/>
        </p:nvSpPr>
        <p:spPr>
          <a:xfrm>
            <a:off x="6510528" y="4434840"/>
            <a:ext cx="548640" cy="548640"/>
          </a:xfrm>
          <a:prstGeom prst="ellipse">
            <a:avLst/>
          </a:prstGeom>
          <a:solidFill>
            <a:schemeClr val="accent1"/>
          </a:solidFill>
          <a:ln w="12700">
            <a:solidFill>
              <a:schemeClr val="accent1"/>
            </a:solidFill>
            <a:prstDash val="solid"/>
          </a:ln>
        </p:spPr>
      </p:sp>
      <p:sp>
        <p:nvSpPr>
          <p:cNvPr id="19" name="Text 16"/>
          <p:cNvSpPr txBox="1"/>
          <p:nvPr/>
        </p:nvSpPr>
        <p:spPr>
          <a:xfrm>
            <a:off x="6510528" y="44348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Helvetica Neue" pitchFamily="34" charset="0"/>
                <a:ea typeface="Helvetica Neue" pitchFamily="34" charset="-122"/>
                <a:cs typeface="Helvetica Neue" pitchFamily="34" charset="-120"/>
              </a:rPr>
              <a:t>3</a:t>
            </a:r>
            <a:endParaRPr lang="en-US" sz="2000" dirty="0"/>
          </a:p>
        </p:txBody>
      </p:sp>
      <p:sp>
        <p:nvSpPr>
          <p:cNvPr id="20" name="Text 17"/>
          <p:cNvSpPr txBox="1"/>
          <p:nvPr/>
        </p:nvSpPr>
        <p:spPr>
          <a:xfrm>
            <a:off x="7269480" y="4325112"/>
            <a:ext cx="4133088" cy="411480"/>
          </a:xfrm>
          <a:prstGeom prst="rect">
            <a:avLst/>
          </a:prstGeom>
          <a:noFill/>
          <a:ln/>
        </p:spPr>
        <p:txBody>
          <a:bodyPr wrap="square" lIns="0" tIns="0" rIns="0" bIns="0" rtlCol="0" anchor="t"/>
          <a:lstStyle/>
          <a:p>
            <a:pPr indent="0" marL="0">
              <a:buNone/>
            </a:pPr>
            <a:r>
              <a:rPr lang="en-US" sz="1800" b="1" dirty="0">
                <a:solidFill>
                  <a:schemeClr val="tx1"/>
                </a:solidFill>
                <a:latin typeface="Helvetica Neue" pitchFamily="34" charset="0"/>
                <a:ea typeface="Helvetica Neue" pitchFamily="34" charset="-122"/>
                <a:cs typeface="Helvetica Neue" pitchFamily="34" charset="-120"/>
              </a:rPr>
              <a:t>Demanda variable</a:t>
            </a:r>
            <a:endParaRPr lang="en-US" sz="1800" dirty="0"/>
          </a:p>
        </p:txBody>
      </p:sp>
      <p:sp>
        <p:nvSpPr>
          <p:cNvPr id="21" name="Text 18"/>
          <p:cNvSpPr txBox="1"/>
          <p:nvPr/>
        </p:nvSpPr>
        <p:spPr>
          <a:xfrm>
            <a:off x="7269480" y="4754880"/>
            <a:ext cx="4133088" cy="365760"/>
          </a:xfrm>
          <a:prstGeom prst="rect">
            <a:avLst/>
          </a:prstGeom>
          <a:noFill/>
          <a:ln/>
        </p:spPr>
        <p:txBody>
          <a:bodyPr wrap="square" lIns="0" tIns="0" rIns="0" bIns="0" rtlCol="0" anchor="t"/>
          <a:lstStyle/>
          <a:p>
            <a:pPr indent="0" marL="0">
              <a:buNone/>
            </a:pPr>
            <a:r>
              <a:rPr lang="en-US" sz="1600" dirty="0">
                <a:solidFill>
                  <a:schemeClr val="tx2"/>
                </a:solidFill>
                <a:latin typeface="Helvetica Neue" pitchFamily="34" charset="0"/>
                <a:ea typeface="Helvetica Neue" pitchFamily="34" charset="-122"/>
                <a:cs typeface="Helvetica Neue" pitchFamily="34" charset="-120"/>
              </a:rPr>
              <a:t>Aleatorio: ¿cuándo hay que pedir?</a:t>
            </a:r>
            <a:endParaRPr lang="en-US" sz="1600" dirty="0"/>
          </a:p>
        </p:txBody>
      </p:sp>
      <p:sp>
        <p:nvSpPr>
          <p:cNvPr id="25" name="Slide Number Placeholder 0"/>
          <p:cNvSpPr>
            <a:spLocks noGrp="1"/>
          </p:cNvSpPr>
          <p:nvPr>
            <p:ph type="sldNum" sz="quarter" idx="4294967295"/>
          </p:nvPr>
        </p:nvSpPr>
        <p:spPr>
          <a:xfrm>
            <a:off x="10954512" y="6364224"/>
            <a:ext cx="630936" cy="265176"/>
          </a:xfrm>
          <a:prstGeom prst="rect">
            <a:avLst/>
          </a:prstGeom>
          <a:extLst>
            <a:ext uri="{C572A759-6A51-4108-AA02-DFA0A04FC94B}">
              <ma14:wrappingTextBoxFlag xmlns:ma14="http://schemas.microsoft.com/office/mac/drawingml/2011/main" val="0"/>
            </a:ext>
          </a:extLst>
        </p:spPr>
        <p:txBody>
          <a:bodyPr/>
          <a:lstStyle>
            <a:lvl1pPr>
              <a:defRPr sz="1350">
                <a:solidFill>
                  <a:schemeClr val="tx2"/>
                </a:solidFill>
                <a:latin typeface="Helvetica Neue"/>
                <a:ea typeface="Helvetica Neue"/>
                <a:cs typeface="Helvetica Neue"/>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title" hasCustomPrompt="1"/>
          </p:nvPr>
        </p:nvSpPr>
        <p:spPr>
          <a:xfrm>
            <a:off x="612648" y="493776"/>
            <a:ext cx="10972800" cy="950976"/>
          </a:xfrm>
          <a:prstGeom prst="rect">
            <a:avLst/>
          </a:prstGeom>
          <a:noFill/>
          <a:ln/>
        </p:spPr>
        <p:txBody>
          <a:bodyPr wrap="square" lIns="0" tIns="0" rIns="0" bIns="0" rtlCol="0" anchor="ctr"/>
          <a:lstStyle/>
          <a:p>
            <a:pPr algn="l" indent="0" marL="0">
              <a:buNone/>
            </a:pPr>
            <a:r>
              <a:rPr lang="en-US" sz="3300" b="1" dirty="0">
                <a:solidFill>
                  <a:schemeClr val="tx1"/>
                </a:solidFill>
                <a:latin typeface="Helvetica Neue" pitchFamily="34" charset="0"/>
                <a:ea typeface="Helvetica Neue" pitchFamily="34" charset="-122"/>
                <a:cs typeface="Helvetica Neue" pitchFamily="34" charset="-120"/>
              </a:rPr>
              <a:t>Descuento por cantidad: planteo</a:t>
            </a:r>
            <a:endParaRPr lang="en-US" sz="3300" dirty="0"/>
          </a:p>
        </p:txBody>
      </p:sp>
      <p:graphicFrame>
        <p:nvGraphicFramePr>
          <p:cNvPr id="5" name="Tabla datos descuento"/>
          <p:cNvGraphicFramePr>
            <a:graphicFrameLocks noGrp="1"/>
          </p:cNvGraphicFramePr>
          <p:nvPr>
            <p:extLst>
              <p:ext uri="{D42A27DB-BD31-4B8C-83A1-F6EECF244321}">
                <p14:modId xmlns:p14="http://schemas.microsoft.com/office/powerpoint/2010/main" val="1579011935"/>
              </p:ext>
            </p:extLst>
          </p:nvPr>
        </p:nvGraphicFramePr>
        <p:xfrm>
          <a:off x="612648" y="1600200"/>
          <a:ext cx="5303520" cy="914400"/>
        </p:xfrm>
        <a:graphic>
          <a:graphicData uri="http://schemas.openxmlformats.org/drawingml/2006/table">
            <a:tbl>
              <a:tblPr/>
              <a:tblGrid>
                <a:gridCol w="3200400"/>
                <a:gridCol w="2103120"/>
              </a:tblGrid>
              <a:tr h="502920">
                <a:tc>
                  <a:txBody>
                    <a:bodyPr/>
                    <a:lstStyle/>
                    <a:p>
                      <a:pPr algn="l" indent="0" marL="0">
                        <a:buNone/>
                      </a:pPr>
                      <a:r>
                        <a:rPr lang="en-US" sz="1600" b="1" dirty="0">
                          <a:solidFill>
                            <a:schemeClr val="bg1"/>
                          </a:solidFill>
                          <a:latin typeface="Helvetica Neue" pitchFamily="34" charset="0"/>
                          <a:ea typeface="Helvetica Neue" pitchFamily="34" charset="-122"/>
                          <a:cs typeface="Helvetica Neue" pitchFamily="34" charset="-120"/>
                        </a:rPr>
                        <a:t>Parámetro</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latin typeface="Helvetica Neue" pitchFamily="34" charset="0"/>
                          <a:ea typeface="Helvetica Neue" pitchFamily="34" charset="-122"/>
                          <a:cs typeface="Helvetica Neue" pitchFamily="34" charset="-120"/>
                        </a:rPr>
                        <a:t>Valor</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r>
              <a:tr h="502920">
                <a:tc>
                  <a:txBody>
                    <a:bodyPr/>
                    <a:lstStyle/>
                    <a:p>
                      <a:pPr algn="l" indent="0" marL="0">
                        <a:buNone/>
                      </a:pPr>
                      <a:r>
                        <a:rPr lang="en-US" sz="1600" dirty="0">
                          <a:solidFill>
                            <a:schemeClr val="tx1"/>
                          </a:solidFill>
                          <a:latin typeface="Helvetica Neue" pitchFamily="34" charset="0"/>
                          <a:ea typeface="Helvetica Neue" pitchFamily="34" charset="-122"/>
                          <a:cs typeface="Helvetica Neue" pitchFamily="34" charset="-120"/>
                        </a:rPr>
                        <a:t>Demanda anual (D)</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17.160 m²</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r>
              <a:tr h="502920">
                <a:tc>
                  <a:txBody>
                    <a:bodyPr/>
                    <a:lstStyle/>
                    <a:p>
                      <a:pPr algn="l" indent="0" marL="0">
                        <a:buNone/>
                      </a:pPr>
                      <a:r>
                        <a:rPr lang="en-US" sz="1600" dirty="0">
                          <a:solidFill>
                            <a:schemeClr val="tx1"/>
                          </a:solidFill>
                          <a:latin typeface="Helvetica Neue" pitchFamily="34" charset="0"/>
                          <a:ea typeface="Helvetica Neue" pitchFamily="34" charset="-122"/>
                          <a:cs typeface="Helvetica Neue" pitchFamily="34" charset="-120"/>
                        </a:rPr>
                        <a:t>Costo de pedido (L)</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$45.000</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r>
              <a:tr h="502920">
                <a:tc>
                  <a:txBody>
                    <a:bodyPr/>
                    <a:lstStyle/>
                    <a:p>
                      <a:pPr algn="l" indent="0" marL="0">
                        <a:buNone/>
                      </a:pPr>
                      <a:r>
                        <a:rPr lang="en-US" sz="1600" dirty="0">
                          <a:solidFill>
                            <a:schemeClr val="tx1"/>
                          </a:solidFill>
                          <a:latin typeface="Helvetica Neue" pitchFamily="34" charset="0"/>
                          <a:ea typeface="Helvetica Neue" pitchFamily="34" charset="-122"/>
                          <a:cs typeface="Helvetica Neue" pitchFamily="34" charset="-120"/>
                        </a:rPr>
                        <a:t>Precio si Q &lt; 2.000 m² (C₁)</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$2.500 / m²</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r>
              <a:tr h="502920">
                <a:tc>
                  <a:txBody>
                    <a:bodyPr/>
                    <a:lstStyle/>
                    <a:p>
                      <a:pPr algn="l" indent="0" marL="0">
                        <a:buNone/>
                      </a:pPr>
                      <a:r>
                        <a:rPr lang="en-US" sz="1600" dirty="0">
                          <a:solidFill>
                            <a:schemeClr val="tx1"/>
                          </a:solidFill>
                          <a:latin typeface="Helvetica Neue" pitchFamily="34" charset="0"/>
                          <a:ea typeface="Helvetica Neue" pitchFamily="34" charset="-122"/>
                          <a:cs typeface="Helvetica Neue" pitchFamily="34" charset="-120"/>
                        </a:rPr>
                        <a:t>Precio si Q ≥ 2.000 m² (C₂)</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$2.350 / m²</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r>
              <a:tr h="502920">
                <a:tc>
                  <a:txBody>
                    <a:bodyPr/>
                    <a:lstStyle/>
                    <a:p>
                      <a:pPr algn="l" indent="0" marL="0">
                        <a:buNone/>
                      </a:pPr>
                      <a:r>
                        <a:rPr lang="en-US" sz="1600" dirty="0">
                          <a:solidFill>
                            <a:schemeClr val="tx1"/>
                          </a:solidFill>
                          <a:latin typeface="Helvetica Neue" pitchFamily="34" charset="0"/>
                          <a:ea typeface="Helvetica Neue" pitchFamily="34" charset="-122"/>
                          <a:cs typeface="Helvetica Neue" pitchFamily="34" charset="-120"/>
                        </a:rPr>
                        <a:t>Mantenimiento (i)</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28% anual</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612648" y="4892040"/>
            <a:ext cx="5303520" cy="457200"/>
          </a:xfrm>
          <a:prstGeom prst="rect">
            <a:avLst/>
          </a:prstGeom>
          <a:noFill/>
          <a:ln/>
        </p:spPr>
        <p:txBody>
          <a:bodyPr wrap="square" lIns="0" tIns="0" rIns="0" bIns="0" rtlCol="0" anchor="t"/>
          <a:lstStyle/>
          <a:p>
            <a:pPr indent="0" marL="0">
              <a:buNone/>
            </a:pPr>
            <a:r>
              <a:rPr lang="en-US" sz="2000" b="1" dirty="0">
                <a:solidFill>
                  <a:schemeClr val="accent1"/>
                </a:solidFill>
                <a:latin typeface="Helvetica Neue" pitchFamily="34" charset="0"/>
                <a:ea typeface="Helvetica Neue" pitchFamily="34" charset="-122"/>
                <a:cs typeface="Helvetica Neue" pitchFamily="34" charset="-120"/>
              </a:rPr>
              <a:t>CT(Q) = D·C + (D/Q)·L + (Q/2)·C·i</a:t>
            </a:r>
            <a:endParaRPr lang="en-US" sz="2000" dirty="0"/>
          </a:p>
        </p:txBody>
      </p:sp>
      <p:sp>
        <p:nvSpPr>
          <p:cNvPr id="6" name="Text 2"/>
          <p:cNvSpPr txBox="1"/>
          <p:nvPr/>
        </p:nvSpPr>
        <p:spPr>
          <a:xfrm>
            <a:off x="612648" y="5394960"/>
            <a:ext cx="5303520" cy="457200"/>
          </a:xfrm>
          <a:prstGeom prst="rect">
            <a:avLst/>
          </a:prstGeom>
          <a:noFill/>
          <a:ln/>
        </p:spPr>
        <p:txBody>
          <a:bodyPr wrap="square" lIns="0" tIns="0" rIns="0" bIns="0" rtlCol="0" anchor="t"/>
          <a:lstStyle/>
          <a:p>
            <a:pPr indent="0" marL="0">
              <a:buNone/>
            </a:pPr>
            <a:r>
              <a:rPr lang="en-US" sz="1500" dirty="0">
                <a:solidFill>
                  <a:schemeClr val="tx2"/>
                </a:solidFill>
                <a:latin typeface="Helvetica Neue" pitchFamily="34" charset="0"/>
                <a:ea typeface="Helvetica Neue" pitchFamily="34" charset="-122"/>
                <a:cs typeface="Helvetica Neue" pitchFamily="34" charset="-120"/>
              </a:rPr>
              <a:t>El precio depende del lote: el costo de compra entra en la decisión.</a:t>
            </a:r>
            <a:endParaRPr lang="en-US" sz="1500" dirty="0"/>
          </a:p>
        </p:txBody>
      </p:sp>
      <p:sp>
        <p:nvSpPr>
          <p:cNvPr id="7" name="Paso 1"/>
          <p:cNvSpPr/>
          <p:nvPr/>
        </p:nvSpPr>
        <p:spPr>
          <a:xfrm>
            <a:off x="6309360" y="1600200"/>
            <a:ext cx="5276088" cy="1097280"/>
          </a:xfrm>
          <a:prstGeom prst="roundRect">
            <a:avLst>
              <a:gd name="adj" fmla="val 6667"/>
            </a:avLst>
          </a:prstGeom>
          <a:solidFill>
            <a:schemeClr val="accent4"/>
          </a:solidFill>
          <a:ln w="12700">
            <a:solidFill>
              <a:schemeClr val="accent4"/>
            </a:solidFill>
            <a:prstDash val="solid"/>
          </a:ln>
        </p:spPr>
      </p:sp>
      <p:sp>
        <p:nvSpPr>
          <p:cNvPr id="8" name="Shape 4"/>
          <p:cNvSpPr/>
          <p:nvPr/>
        </p:nvSpPr>
        <p:spPr>
          <a:xfrm>
            <a:off x="6510528" y="1874520"/>
            <a:ext cx="548640" cy="548640"/>
          </a:xfrm>
          <a:prstGeom prst="ellipse">
            <a:avLst/>
          </a:prstGeom>
          <a:solidFill>
            <a:schemeClr val="accent1"/>
          </a:solidFill>
          <a:ln w="12700">
            <a:solidFill>
              <a:schemeClr val="accent1"/>
            </a:solidFill>
            <a:prstDash val="solid"/>
          </a:ln>
        </p:spPr>
      </p:sp>
      <p:sp>
        <p:nvSpPr>
          <p:cNvPr id="9" name="Text 5"/>
          <p:cNvSpPr txBox="1"/>
          <p:nvPr/>
        </p:nvSpPr>
        <p:spPr>
          <a:xfrm>
            <a:off x="6510528" y="18745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Helvetica Neue" pitchFamily="34" charset="0"/>
                <a:ea typeface="Helvetica Neue" pitchFamily="34" charset="-122"/>
                <a:cs typeface="Helvetica Neue" pitchFamily="34" charset="-120"/>
              </a:rPr>
              <a:t>1</a:t>
            </a:r>
            <a:endParaRPr lang="en-US" sz="2000" dirty="0"/>
          </a:p>
        </p:txBody>
      </p:sp>
      <p:sp>
        <p:nvSpPr>
          <p:cNvPr id="10" name="Text 6"/>
          <p:cNvSpPr txBox="1"/>
          <p:nvPr/>
        </p:nvSpPr>
        <p:spPr>
          <a:xfrm>
            <a:off x="7269480" y="1600200"/>
            <a:ext cx="4133088" cy="1097280"/>
          </a:xfrm>
          <a:prstGeom prst="rect">
            <a:avLst/>
          </a:prstGeom>
          <a:noFill/>
          <a:ln/>
        </p:spPr>
        <p:txBody>
          <a:bodyPr wrap="square" lIns="0" tIns="0" rIns="0" bIns="0" rtlCol="0" anchor="ctr"/>
          <a:lstStyle/>
          <a:p>
            <a:pPr indent="0" marL="0">
              <a:buNone/>
            </a:pPr>
            <a:r>
              <a:rPr lang="en-US" sz="1800" dirty="0">
                <a:solidFill>
                  <a:schemeClr val="tx1"/>
                </a:solidFill>
                <a:latin typeface="Helvetica Neue" pitchFamily="34" charset="0"/>
                <a:ea typeface="Helvetica Neue" pitchFamily="34" charset="-122"/>
                <a:cs typeface="Helvetica Neue" pitchFamily="34" charset="-120"/>
              </a:rPr>
              <a:t>Calcular Q₂* con el precio con descuento</a:t>
            </a:r>
            <a:endParaRPr lang="en-US" sz="1800" dirty="0"/>
          </a:p>
        </p:txBody>
      </p:sp>
      <p:sp>
        <p:nvSpPr>
          <p:cNvPr id="11" name="Paso 2"/>
          <p:cNvSpPr/>
          <p:nvPr/>
        </p:nvSpPr>
        <p:spPr>
          <a:xfrm>
            <a:off x="6309360" y="2880360"/>
            <a:ext cx="5276088" cy="1097280"/>
          </a:xfrm>
          <a:prstGeom prst="roundRect">
            <a:avLst>
              <a:gd name="adj" fmla="val 6667"/>
            </a:avLst>
          </a:prstGeom>
          <a:solidFill>
            <a:schemeClr val="accent4"/>
          </a:solidFill>
          <a:ln w="12700">
            <a:solidFill>
              <a:schemeClr val="accent4"/>
            </a:solidFill>
            <a:prstDash val="solid"/>
          </a:ln>
        </p:spPr>
      </p:sp>
      <p:sp>
        <p:nvSpPr>
          <p:cNvPr id="12" name="Shape 8"/>
          <p:cNvSpPr/>
          <p:nvPr/>
        </p:nvSpPr>
        <p:spPr>
          <a:xfrm>
            <a:off x="6510528" y="3154680"/>
            <a:ext cx="548640" cy="548640"/>
          </a:xfrm>
          <a:prstGeom prst="ellipse">
            <a:avLst/>
          </a:prstGeom>
          <a:solidFill>
            <a:schemeClr val="accent1"/>
          </a:solidFill>
          <a:ln w="12700">
            <a:solidFill>
              <a:schemeClr val="accent1"/>
            </a:solidFill>
            <a:prstDash val="solid"/>
          </a:ln>
        </p:spPr>
      </p:sp>
      <p:sp>
        <p:nvSpPr>
          <p:cNvPr id="13" name="Text 9"/>
          <p:cNvSpPr txBox="1"/>
          <p:nvPr/>
        </p:nvSpPr>
        <p:spPr>
          <a:xfrm>
            <a:off x="6510528" y="31546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Helvetica Neue" pitchFamily="34" charset="0"/>
                <a:ea typeface="Helvetica Neue" pitchFamily="34" charset="-122"/>
                <a:cs typeface="Helvetica Neue" pitchFamily="34" charset="-120"/>
              </a:rPr>
              <a:t>2</a:t>
            </a:r>
            <a:endParaRPr lang="en-US" sz="2000" dirty="0"/>
          </a:p>
        </p:txBody>
      </p:sp>
      <p:sp>
        <p:nvSpPr>
          <p:cNvPr id="14" name="Text 10"/>
          <p:cNvSpPr txBox="1"/>
          <p:nvPr/>
        </p:nvSpPr>
        <p:spPr>
          <a:xfrm>
            <a:off x="7269480" y="2880360"/>
            <a:ext cx="4133088" cy="1097280"/>
          </a:xfrm>
          <a:prstGeom prst="rect">
            <a:avLst/>
          </a:prstGeom>
          <a:noFill/>
          <a:ln/>
        </p:spPr>
        <p:txBody>
          <a:bodyPr wrap="square" lIns="0" tIns="0" rIns="0" bIns="0" rtlCol="0" anchor="ctr"/>
          <a:lstStyle/>
          <a:p>
            <a:pPr indent="0" marL="0">
              <a:buNone/>
            </a:pPr>
            <a:r>
              <a:rPr lang="en-US" sz="1800" dirty="0">
                <a:solidFill>
                  <a:schemeClr val="tx1"/>
                </a:solidFill>
                <a:latin typeface="Helvetica Neue" pitchFamily="34" charset="0"/>
                <a:ea typeface="Helvetica Neue" pitchFamily="34" charset="-122"/>
                <a:cs typeface="Helvetica Neue" pitchFamily="34" charset="-120"/>
              </a:rPr>
              <a:t>Si Q₂* ≥ 2.000 m², ese es el lote óptimo</a:t>
            </a:r>
            <a:endParaRPr lang="en-US" sz="1800" dirty="0"/>
          </a:p>
        </p:txBody>
      </p:sp>
      <p:sp>
        <p:nvSpPr>
          <p:cNvPr id="15" name="Paso 3"/>
          <p:cNvSpPr/>
          <p:nvPr/>
        </p:nvSpPr>
        <p:spPr>
          <a:xfrm>
            <a:off x="6309360" y="4160520"/>
            <a:ext cx="5276088" cy="1097280"/>
          </a:xfrm>
          <a:prstGeom prst="roundRect">
            <a:avLst>
              <a:gd name="adj" fmla="val 6667"/>
            </a:avLst>
          </a:prstGeom>
          <a:solidFill>
            <a:schemeClr val="accent4"/>
          </a:solidFill>
          <a:ln w="12700">
            <a:solidFill>
              <a:schemeClr val="accent4"/>
            </a:solidFill>
            <a:prstDash val="solid"/>
          </a:ln>
        </p:spPr>
      </p:sp>
      <p:sp>
        <p:nvSpPr>
          <p:cNvPr id="16" name="Shape 12"/>
          <p:cNvSpPr/>
          <p:nvPr/>
        </p:nvSpPr>
        <p:spPr>
          <a:xfrm>
            <a:off x="6510528" y="4434840"/>
            <a:ext cx="548640" cy="548640"/>
          </a:xfrm>
          <a:prstGeom prst="ellipse">
            <a:avLst/>
          </a:prstGeom>
          <a:solidFill>
            <a:schemeClr val="accent1"/>
          </a:solidFill>
          <a:ln w="12700">
            <a:solidFill>
              <a:schemeClr val="accent1"/>
            </a:solidFill>
            <a:prstDash val="solid"/>
          </a:ln>
        </p:spPr>
      </p:sp>
      <p:sp>
        <p:nvSpPr>
          <p:cNvPr id="17" name="Text 13"/>
          <p:cNvSpPr txBox="1"/>
          <p:nvPr/>
        </p:nvSpPr>
        <p:spPr>
          <a:xfrm>
            <a:off x="6510528" y="44348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Helvetica Neue" pitchFamily="34" charset="0"/>
                <a:ea typeface="Helvetica Neue" pitchFamily="34" charset="-122"/>
                <a:cs typeface="Helvetica Neue" pitchFamily="34" charset="-120"/>
              </a:rPr>
              <a:t>3</a:t>
            </a:r>
            <a:endParaRPr lang="en-US" sz="2000" dirty="0"/>
          </a:p>
        </p:txBody>
      </p:sp>
      <p:sp>
        <p:nvSpPr>
          <p:cNvPr id="18" name="Text 14"/>
          <p:cNvSpPr txBox="1"/>
          <p:nvPr/>
        </p:nvSpPr>
        <p:spPr>
          <a:xfrm>
            <a:off x="7269480" y="4160520"/>
            <a:ext cx="4133088" cy="1097280"/>
          </a:xfrm>
          <a:prstGeom prst="rect">
            <a:avLst/>
          </a:prstGeom>
          <a:noFill/>
          <a:ln/>
        </p:spPr>
        <p:txBody>
          <a:bodyPr wrap="square" lIns="0" tIns="0" rIns="0" bIns="0" rtlCol="0" anchor="ctr"/>
          <a:lstStyle/>
          <a:p>
            <a:pPr indent="0" marL="0">
              <a:buNone/>
            </a:pPr>
            <a:r>
              <a:rPr lang="en-US" sz="1800" dirty="0">
                <a:solidFill>
                  <a:schemeClr val="tx1"/>
                </a:solidFill>
                <a:latin typeface="Helvetica Neue" pitchFamily="34" charset="0"/>
                <a:ea typeface="Helvetica Neue" pitchFamily="34" charset="-122"/>
                <a:cs typeface="Helvetica Neue" pitchFamily="34" charset="-120"/>
              </a:rPr>
              <a:t>Si no, comparar CT₁(Q₁*) con CT₂(2.000) y elegir el menor</a:t>
            </a:r>
            <a:endParaRPr lang="en-US" sz="1800" dirty="0"/>
          </a:p>
        </p:txBody>
      </p:sp>
      <p:sp>
        <p:nvSpPr>
          <p:cNvPr id="25" name="Slide Number Placeholder 0"/>
          <p:cNvSpPr>
            <a:spLocks noGrp="1"/>
          </p:cNvSpPr>
          <p:nvPr>
            <p:ph type="sldNum" sz="quarter" idx="4294967295"/>
          </p:nvPr>
        </p:nvSpPr>
        <p:spPr>
          <a:xfrm>
            <a:off x="10954512" y="6364224"/>
            <a:ext cx="630936" cy="265176"/>
          </a:xfrm>
          <a:prstGeom prst="rect">
            <a:avLst/>
          </a:prstGeom>
          <a:extLst>
            <a:ext uri="{C572A759-6A51-4108-AA02-DFA0A04FC94B}">
              <ma14:wrappingTextBoxFlag xmlns:ma14="http://schemas.microsoft.com/office/mac/drawingml/2011/main" val="0"/>
            </a:ext>
          </a:extLst>
        </p:spPr>
        <p:txBody>
          <a:bodyPr/>
          <a:lstStyle>
            <a:lvl1pPr>
              <a:defRPr sz="1350">
                <a:solidFill>
                  <a:schemeClr val="tx2"/>
                </a:solidFill>
                <a:latin typeface="Helvetica Neue"/>
                <a:ea typeface="Helvetica Neue"/>
                <a:cs typeface="Helvetica Neue"/>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title" hasCustomPrompt="1"/>
          </p:nvPr>
        </p:nvSpPr>
        <p:spPr>
          <a:xfrm>
            <a:off x="612648" y="493776"/>
            <a:ext cx="10972800" cy="950976"/>
          </a:xfrm>
          <a:prstGeom prst="rect">
            <a:avLst/>
          </a:prstGeom>
          <a:noFill/>
          <a:ln/>
        </p:spPr>
        <p:txBody>
          <a:bodyPr wrap="square" lIns="0" tIns="0" rIns="0" bIns="0" rtlCol="0" anchor="ctr"/>
          <a:lstStyle/>
          <a:p>
            <a:pPr algn="l" indent="0" marL="0">
              <a:buNone/>
            </a:pPr>
            <a:r>
              <a:rPr lang="en-US" sz="3300" b="1" dirty="0">
                <a:solidFill>
                  <a:schemeClr val="tx1"/>
                </a:solidFill>
                <a:latin typeface="Helvetica Neue" pitchFamily="34" charset="0"/>
                <a:ea typeface="Helvetica Neue" pitchFamily="34" charset="-122"/>
                <a:cs typeface="Helvetica Neue" pitchFamily="34" charset="-120"/>
              </a:rPr>
              <a:t>Descuento por cantidad: resultado</a:t>
            </a:r>
            <a:endParaRPr lang="en-US" sz="3300" dirty="0"/>
          </a:p>
        </p:txBody>
      </p:sp>
      <p:sp>
        <p:nvSpPr>
          <p:cNvPr id="4" name="Text 1"/>
          <p:cNvSpPr txBox="1"/>
          <p:nvPr/>
        </p:nvSpPr>
        <p:spPr>
          <a:xfrm>
            <a:off x="612648" y="1600200"/>
            <a:ext cx="10972800" cy="457200"/>
          </a:xfrm>
          <a:prstGeom prst="rect">
            <a:avLst/>
          </a:prstGeom>
          <a:noFill/>
          <a:ln/>
        </p:spPr>
        <p:txBody>
          <a:bodyPr wrap="square" lIns="0" tIns="0" rIns="0" bIns="0" rtlCol="0" anchor="t"/>
          <a:lstStyle/>
          <a:p>
            <a:pPr indent="0" marL="0">
              <a:buNone/>
            </a:pPr>
            <a:r>
              <a:rPr lang="en-US" sz="2100" b="1" dirty="0">
                <a:solidFill>
                  <a:schemeClr val="accent1"/>
                </a:solidFill>
                <a:latin typeface="Helvetica Neue" pitchFamily="34" charset="0"/>
                <a:ea typeface="Helvetica Neue" pitchFamily="34" charset="-122"/>
                <a:cs typeface="Helvetica Neue" pitchFamily="34" charset="-120"/>
              </a:rPr>
              <a:t>Q₂* = √(2·D·L / C₂·i) ≈ 1.532 m²  &lt;  2.000 m²     Q₁* ≈ 1.485 m²</a:t>
            </a:r>
            <a:endParaRPr lang="en-US" sz="2100" dirty="0"/>
          </a:p>
        </p:txBody>
      </p:sp>
      <p:sp>
        <p:nvSpPr>
          <p:cNvPr id="5" name="Text 2"/>
          <p:cNvSpPr txBox="1"/>
          <p:nvPr/>
        </p:nvSpPr>
        <p:spPr>
          <a:xfrm>
            <a:off x="612648" y="2103120"/>
            <a:ext cx="10972800" cy="411480"/>
          </a:xfrm>
          <a:prstGeom prst="rect">
            <a:avLst/>
          </a:prstGeom>
          <a:noFill/>
          <a:ln/>
        </p:spPr>
        <p:txBody>
          <a:bodyPr wrap="square" lIns="0" tIns="0" rIns="0" bIns="0" rtlCol="0" anchor="t"/>
          <a:lstStyle/>
          <a:p>
            <a:pPr indent="0" marL="0">
              <a:buNone/>
            </a:pPr>
            <a:r>
              <a:rPr lang="en-US" sz="1700" dirty="0">
                <a:solidFill>
                  <a:schemeClr val="tx2"/>
                </a:solidFill>
                <a:latin typeface="Helvetica Neue" pitchFamily="34" charset="0"/>
                <a:ea typeface="Helvetica Neue" pitchFamily="34" charset="-122"/>
                <a:cs typeface="Helvetica Neue" pitchFamily="34" charset="-120"/>
              </a:rPr>
              <a:t>El lote con descuento no llega al umbral, así que se comparan los costos totales anuales.</a:t>
            </a:r>
            <a:endParaRPr lang="en-US" sz="1700" dirty="0"/>
          </a:p>
        </p:txBody>
      </p:sp>
      <p:graphicFrame>
        <p:nvGraphicFramePr>
          <p:cNvPr id="6" name="Tabla costos descuento"/>
          <p:cNvGraphicFramePr>
            <a:graphicFrameLocks noGrp="1"/>
          </p:cNvGraphicFramePr>
          <p:nvPr>
            <p:extLst>
              <p:ext uri="{D42A27DB-BD31-4B8C-83A1-F6EECF244321}">
                <p14:modId xmlns:p14="http://schemas.microsoft.com/office/powerpoint/2010/main" val="1579011935"/>
              </p:ext>
            </p:extLst>
          </p:nvPr>
        </p:nvGraphicFramePr>
        <p:xfrm>
          <a:off x="612648" y="2697480"/>
          <a:ext cx="10972800" cy="914400"/>
        </p:xfrm>
        <a:graphic>
          <a:graphicData uri="http://schemas.openxmlformats.org/drawingml/2006/table">
            <a:tbl>
              <a:tblPr/>
              <a:tblGrid>
                <a:gridCol w="2834640"/>
                <a:gridCol w="1463040"/>
                <a:gridCol w="2011680"/>
                <a:gridCol w="2514600"/>
                <a:gridCol w="2148840"/>
              </a:tblGrid>
              <a:tr h="548640">
                <a:tc>
                  <a:txBody>
                    <a:bodyPr/>
                    <a:lstStyle/>
                    <a:p>
                      <a:pPr algn="l" indent="0" marL="0">
                        <a:buNone/>
                      </a:pPr>
                      <a:r>
                        <a:rPr lang="en-US" sz="1700" b="1" dirty="0">
                          <a:solidFill>
                            <a:schemeClr val="bg1"/>
                          </a:solidFill>
                          <a:latin typeface="Helvetica Neue" pitchFamily="34" charset="0"/>
                          <a:ea typeface="Helvetica Neue" pitchFamily="34" charset="-122"/>
                          <a:cs typeface="Helvetica Neue" pitchFamily="34" charset="-120"/>
                        </a:rPr>
                        <a:t>Opción</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c>
                  <a:txBody>
                    <a:bodyPr/>
                    <a:lstStyle/>
                    <a:p>
                      <a:pPr algn="ctr" indent="0" marL="0">
                        <a:buNone/>
                      </a:pPr>
                      <a:r>
                        <a:rPr lang="en-US" sz="1700" b="1" dirty="0">
                          <a:solidFill>
                            <a:schemeClr val="bg1"/>
                          </a:solidFill>
                          <a:latin typeface="Helvetica Neue" pitchFamily="34" charset="0"/>
                          <a:ea typeface="Helvetica Neue" pitchFamily="34" charset="-122"/>
                          <a:cs typeface="Helvetica Neue" pitchFamily="34" charset="-120"/>
                        </a:rPr>
                        <a:t>Lote</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c>
                  <a:txBody>
                    <a:bodyPr/>
                    <a:lstStyle/>
                    <a:p>
                      <a:pPr algn="ctr" indent="0" marL="0">
                        <a:buNone/>
                      </a:pPr>
                      <a:r>
                        <a:rPr lang="en-US" sz="1700" b="1" dirty="0">
                          <a:solidFill>
                            <a:schemeClr val="bg1"/>
                          </a:solidFill>
                          <a:latin typeface="Helvetica Neue" pitchFamily="34" charset="0"/>
                          <a:ea typeface="Helvetica Neue" pitchFamily="34" charset="-122"/>
                          <a:cs typeface="Helvetica Neue" pitchFamily="34" charset="-120"/>
                        </a:rPr>
                        <a:t>Compra</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c>
                  <a:txBody>
                    <a:bodyPr/>
                    <a:lstStyle/>
                    <a:p>
                      <a:pPr algn="ctr" indent="0" marL="0">
                        <a:buNone/>
                      </a:pPr>
                      <a:r>
                        <a:rPr lang="en-US" sz="1700" b="1" dirty="0">
                          <a:solidFill>
                            <a:schemeClr val="bg1"/>
                          </a:solidFill>
                          <a:latin typeface="Helvetica Neue" pitchFamily="34" charset="0"/>
                          <a:ea typeface="Helvetica Neue" pitchFamily="34" charset="-122"/>
                          <a:cs typeface="Helvetica Neue" pitchFamily="34" charset="-120"/>
                        </a:rPr>
                        <a:t>Pedido + mantenimiento</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c>
                  <a:txBody>
                    <a:bodyPr/>
                    <a:lstStyle/>
                    <a:p>
                      <a:pPr algn="ctr" indent="0" marL="0">
                        <a:buNone/>
                      </a:pPr>
                      <a:r>
                        <a:rPr lang="en-US" sz="1700" b="1" dirty="0">
                          <a:solidFill>
                            <a:schemeClr val="bg1"/>
                          </a:solidFill>
                          <a:latin typeface="Helvetica Neue" pitchFamily="34" charset="0"/>
                          <a:ea typeface="Helvetica Neue" pitchFamily="34" charset="-122"/>
                          <a:cs typeface="Helvetica Neue" pitchFamily="34" charset="-120"/>
                        </a:rPr>
                        <a:t>Costo total anual</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r>
              <a:tr h="548640">
                <a:tc>
                  <a:txBody>
                    <a:bodyPr/>
                    <a:lstStyle/>
                    <a:p>
                      <a:pPr algn="l" indent="0" marL="0">
                        <a:buNone/>
                      </a:pPr>
                      <a:r>
                        <a:rPr lang="en-US" sz="1700" dirty="0">
                          <a:solidFill>
                            <a:schemeClr val="tx1"/>
                          </a:solidFill>
                          <a:latin typeface="Helvetica Neue" pitchFamily="34" charset="0"/>
                          <a:ea typeface="Helvetica Neue" pitchFamily="34" charset="-122"/>
                          <a:cs typeface="Helvetica Neue" pitchFamily="34" charset="-120"/>
                        </a:rPr>
                        <a:t>Precio normal ($2.500)</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700" dirty="0">
                          <a:solidFill>
                            <a:schemeClr val="tx1"/>
                          </a:solidFill>
                          <a:latin typeface="Helvetica Neue" pitchFamily="34" charset="0"/>
                          <a:ea typeface="Helvetica Neue" pitchFamily="34" charset="-122"/>
                          <a:cs typeface="Helvetica Neue" pitchFamily="34" charset="-120"/>
                        </a:rPr>
                        <a:t>1.485 m²</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700" dirty="0">
                          <a:solidFill>
                            <a:schemeClr val="tx1"/>
                          </a:solidFill>
                          <a:latin typeface="Helvetica Neue" pitchFamily="34" charset="0"/>
                          <a:ea typeface="Helvetica Neue" pitchFamily="34" charset="-122"/>
                          <a:cs typeface="Helvetica Neue" pitchFamily="34" charset="-120"/>
                        </a:rPr>
                        <a:t>$42.900.000</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700" dirty="0">
                          <a:solidFill>
                            <a:schemeClr val="tx1"/>
                          </a:solidFill>
                          <a:latin typeface="Helvetica Neue" pitchFamily="34" charset="0"/>
                          <a:ea typeface="Helvetica Neue" pitchFamily="34" charset="-122"/>
                          <a:cs typeface="Helvetica Neue" pitchFamily="34" charset="-120"/>
                        </a:rPr>
                        <a:t>$1.039.716</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700" dirty="0">
                          <a:solidFill>
                            <a:schemeClr val="tx1"/>
                          </a:solidFill>
                          <a:latin typeface="Helvetica Neue" pitchFamily="34" charset="0"/>
                          <a:ea typeface="Helvetica Neue" pitchFamily="34" charset="-122"/>
                          <a:cs typeface="Helvetica Neue" pitchFamily="34" charset="-120"/>
                        </a:rPr>
                        <a:t>$43.939.716</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r>
              <a:tr h="548640">
                <a:tc>
                  <a:txBody>
                    <a:bodyPr/>
                    <a:lstStyle/>
                    <a:p>
                      <a:pPr algn="l" indent="0" marL="0">
                        <a:buNone/>
                      </a:pPr>
                      <a:r>
                        <a:rPr lang="en-US" sz="1700" b="1" dirty="0">
                          <a:solidFill>
                            <a:schemeClr val="tx1"/>
                          </a:solidFill>
                          <a:latin typeface="Helvetica Neue" pitchFamily="34" charset="0"/>
                          <a:ea typeface="Helvetica Neue" pitchFamily="34" charset="-122"/>
                          <a:cs typeface="Helvetica Neue" pitchFamily="34" charset="-120"/>
                        </a:rPr>
                        <a:t>Con descuento ($2.350)</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2"/>
                    </a:solidFill>
                  </a:tcPr>
                </a:tc>
                <a:tc>
                  <a:txBody>
                    <a:bodyPr/>
                    <a:lstStyle/>
                    <a:p>
                      <a:pPr algn="ctr" indent="0" marL="0">
                        <a:buNone/>
                      </a:pPr>
                      <a:r>
                        <a:rPr lang="en-US" sz="1700" b="1" dirty="0">
                          <a:solidFill>
                            <a:schemeClr val="tx1"/>
                          </a:solidFill>
                          <a:latin typeface="Helvetica Neue" pitchFamily="34" charset="0"/>
                          <a:ea typeface="Helvetica Neue" pitchFamily="34" charset="-122"/>
                          <a:cs typeface="Helvetica Neue" pitchFamily="34" charset="-120"/>
                        </a:rPr>
                        <a:t>2.000 m²</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2"/>
                    </a:solidFill>
                  </a:tcPr>
                </a:tc>
                <a:tc>
                  <a:txBody>
                    <a:bodyPr/>
                    <a:lstStyle/>
                    <a:p>
                      <a:pPr algn="ctr" indent="0" marL="0">
                        <a:buNone/>
                      </a:pPr>
                      <a:r>
                        <a:rPr lang="en-US" sz="1700" b="1" dirty="0">
                          <a:solidFill>
                            <a:schemeClr val="tx1"/>
                          </a:solidFill>
                          <a:latin typeface="Helvetica Neue" pitchFamily="34" charset="0"/>
                          <a:ea typeface="Helvetica Neue" pitchFamily="34" charset="-122"/>
                          <a:cs typeface="Helvetica Neue" pitchFamily="34" charset="-120"/>
                        </a:rPr>
                        <a:t>$40.326.000</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2"/>
                    </a:solidFill>
                  </a:tcPr>
                </a:tc>
                <a:tc>
                  <a:txBody>
                    <a:bodyPr/>
                    <a:lstStyle/>
                    <a:p>
                      <a:pPr algn="ctr" indent="0" marL="0">
                        <a:buNone/>
                      </a:pPr>
                      <a:r>
                        <a:rPr lang="en-US" sz="1700" b="1" dirty="0">
                          <a:solidFill>
                            <a:schemeClr val="tx1"/>
                          </a:solidFill>
                          <a:latin typeface="Helvetica Neue" pitchFamily="34" charset="0"/>
                          <a:ea typeface="Helvetica Neue" pitchFamily="34" charset="-122"/>
                          <a:cs typeface="Helvetica Neue" pitchFamily="34" charset="-120"/>
                        </a:rPr>
                        <a:t>$1.044.100</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2"/>
                    </a:solidFill>
                  </a:tcPr>
                </a:tc>
                <a:tc>
                  <a:txBody>
                    <a:bodyPr/>
                    <a:lstStyle/>
                    <a:p>
                      <a:pPr algn="ctr" indent="0" marL="0">
                        <a:buNone/>
                      </a:pPr>
                      <a:r>
                        <a:rPr lang="en-US" sz="1700" b="1" dirty="0">
                          <a:solidFill>
                            <a:schemeClr val="tx1"/>
                          </a:solidFill>
                          <a:latin typeface="Helvetica Neue" pitchFamily="34" charset="0"/>
                          <a:ea typeface="Helvetica Neue" pitchFamily="34" charset="-122"/>
                          <a:cs typeface="Helvetica Neue" pitchFamily="34" charset="-120"/>
                        </a:rPr>
                        <a:t>$41.370.100</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2"/>
                    </a:solidFill>
                  </a:tcPr>
                </a:tc>
              </a:tr>
            </a:tbl>
          </a:graphicData>
        </a:graphic>
      </p:graphicFrame>
      <p:sp>
        <p:nvSpPr>
          <p:cNvPr id="7" name="Lote descuento valor"/>
          <p:cNvSpPr txBox="1"/>
          <p:nvPr/>
        </p:nvSpPr>
        <p:spPr>
          <a:xfrm>
            <a:off x="612648" y="4526280"/>
            <a:ext cx="3474720" cy="487680"/>
          </a:xfrm>
          <a:prstGeom prst="rect">
            <a:avLst/>
          </a:prstGeom>
          <a:noFill/>
          <a:ln/>
        </p:spPr>
        <p:txBody>
          <a:bodyPr wrap="square" lIns="0" tIns="0" rIns="0" bIns="0" rtlCol="0" anchor="t"/>
          <a:lstStyle/>
          <a:p>
            <a:pPr indent="0" marL="0">
              <a:buNone/>
            </a:pPr>
            <a:r>
              <a:rPr lang="en-US" sz="3200" b="1" dirty="0">
                <a:solidFill>
                  <a:schemeClr val="accent1"/>
                </a:solidFill>
                <a:latin typeface="Helvetica Neue" pitchFamily="34" charset="0"/>
                <a:ea typeface="Helvetica Neue" pitchFamily="34" charset="-122"/>
                <a:cs typeface="Helvetica Neue" pitchFamily="34" charset="-120"/>
              </a:rPr>
              <a:t>2.000 m²</a:t>
            </a:r>
            <a:endParaRPr lang="en-US" sz="3200" dirty="0"/>
          </a:p>
        </p:txBody>
      </p:sp>
      <p:sp>
        <p:nvSpPr>
          <p:cNvPr id="8" name="Lote descuento etiqueta"/>
          <p:cNvSpPr txBox="1"/>
          <p:nvPr/>
        </p:nvSpPr>
        <p:spPr>
          <a:xfrm>
            <a:off x="612648" y="5087112"/>
            <a:ext cx="3474720" cy="685800"/>
          </a:xfrm>
          <a:prstGeom prst="rect">
            <a:avLst/>
          </a:prstGeom>
          <a:noFill/>
          <a:ln/>
        </p:spPr>
        <p:txBody>
          <a:bodyPr wrap="square" lIns="0" tIns="0" rIns="0" bIns="0" rtlCol="0" anchor="t"/>
          <a:lstStyle/>
          <a:p>
            <a:pPr indent="0" marL="0">
              <a:buNone/>
            </a:pPr>
            <a:r>
              <a:rPr lang="en-US" sz="1600" dirty="0">
                <a:solidFill>
                  <a:schemeClr val="tx2"/>
                </a:solidFill>
                <a:latin typeface="Helvetica Neue" pitchFamily="34" charset="0"/>
                <a:ea typeface="Helvetica Neue" pitchFamily="34" charset="-122"/>
                <a:cs typeface="Helvetica Neue" pitchFamily="34" charset="-120"/>
              </a:rPr>
              <a:t>lote óptimo por costo</a:t>
            </a:r>
            <a:endParaRPr lang="en-US" sz="1600" dirty="0"/>
          </a:p>
        </p:txBody>
      </p:sp>
      <p:sp>
        <p:nvSpPr>
          <p:cNvPr id="9" name="Pedidos valor"/>
          <p:cNvSpPr txBox="1"/>
          <p:nvPr/>
        </p:nvSpPr>
        <p:spPr>
          <a:xfrm>
            <a:off x="4343400" y="4526280"/>
            <a:ext cx="3474720" cy="487680"/>
          </a:xfrm>
          <a:prstGeom prst="rect">
            <a:avLst/>
          </a:prstGeom>
          <a:noFill/>
          <a:ln/>
        </p:spPr>
        <p:txBody>
          <a:bodyPr wrap="square" lIns="0" tIns="0" rIns="0" bIns="0" rtlCol="0" anchor="t"/>
          <a:lstStyle/>
          <a:p>
            <a:pPr indent="0" marL="0">
              <a:buNone/>
            </a:pPr>
            <a:r>
              <a:rPr lang="en-US" sz="3200" b="1" dirty="0">
                <a:solidFill>
                  <a:schemeClr val="accent1"/>
                </a:solidFill>
                <a:latin typeface="Helvetica Neue" pitchFamily="34" charset="0"/>
                <a:ea typeface="Helvetica Neue" pitchFamily="34" charset="-122"/>
                <a:cs typeface="Helvetica Neue" pitchFamily="34" charset="-120"/>
              </a:rPr>
              <a:t>8,6 · 42,5 días</a:t>
            </a:r>
            <a:endParaRPr lang="en-US" sz="3200" dirty="0"/>
          </a:p>
        </p:txBody>
      </p:sp>
      <p:sp>
        <p:nvSpPr>
          <p:cNvPr id="10" name="Pedidos etiqueta"/>
          <p:cNvSpPr txBox="1"/>
          <p:nvPr/>
        </p:nvSpPr>
        <p:spPr>
          <a:xfrm>
            <a:off x="4343400" y="5087112"/>
            <a:ext cx="3474720" cy="685800"/>
          </a:xfrm>
          <a:prstGeom prst="rect">
            <a:avLst/>
          </a:prstGeom>
          <a:noFill/>
          <a:ln/>
        </p:spPr>
        <p:txBody>
          <a:bodyPr wrap="square" lIns="0" tIns="0" rIns="0" bIns="0" rtlCol="0" anchor="t"/>
          <a:lstStyle/>
          <a:p>
            <a:pPr indent="0" marL="0">
              <a:buNone/>
            </a:pPr>
            <a:r>
              <a:rPr lang="en-US" sz="1600" dirty="0">
                <a:solidFill>
                  <a:schemeClr val="tx2"/>
                </a:solidFill>
                <a:latin typeface="Helvetica Neue" pitchFamily="34" charset="0"/>
                <a:ea typeface="Helvetica Neue" pitchFamily="34" charset="-122"/>
                <a:cs typeface="Helvetica Neue" pitchFamily="34" charset="-120"/>
              </a:rPr>
              <a:t>pedidos por año · tiempo entre pedidos</a:t>
            </a:r>
            <a:endParaRPr lang="en-US" sz="1600" dirty="0"/>
          </a:p>
        </p:txBody>
      </p:sp>
      <p:sp>
        <p:nvSpPr>
          <p:cNvPr id="11" name="Ahorro valor"/>
          <p:cNvSpPr txBox="1"/>
          <p:nvPr/>
        </p:nvSpPr>
        <p:spPr>
          <a:xfrm>
            <a:off x="8092440" y="4526280"/>
            <a:ext cx="3474720" cy="487680"/>
          </a:xfrm>
          <a:prstGeom prst="rect">
            <a:avLst/>
          </a:prstGeom>
          <a:noFill/>
          <a:ln/>
        </p:spPr>
        <p:txBody>
          <a:bodyPr wrap="square" lIns="0" tIns="0" rIns="0" bIns="0" rtlCol="0" anchor="t"/>
          <a:lstStyle/>
          <a:p>
            <a:pPr indent="0" marL="0">
              <a:buNone/>
            </a:pPr>
            <a:r>
              <a:rPr lang="en-US" sz="3200" b="1" dirty="0">
                <a:solidFill>
                  <a:schemeClr val="accent1"/>
                </a:solidFill>
                <a:latin typeface="Helvetica Neue" pitchFamily="34" charset="0"/>
                <a:ea typeface="Helvetica Neue" pitchFamily="34" charset="-122"/>
                <a:cs typeface="Helvetica Neue" pitchFamily="34" charset="-120"/>
              </a:rPr>
              <a:t>$2.569.616</a:t>
            </a:r>
            <a:endParaRPr lang="en-US" sz="3200" dirty="0"/>
          </a:p>
        </p:txBody>
      </p:sp>
      <p:sp>
        <p:nvSpPr>
          <p:cNvPr id="12" name="Ahorro etiqueta"/>
          <p:cNvSpPr txBox="1"/>
          <p:nvPr/>
        </p:nvSpPr>
        <p:spPr>
          <a:xfrm>
            <a:off x="8092440" y="5087112"/>
            <a:ext cx="3474720" cy="685800"/>
          </a:xfrm>
          <a:prstGeom prst="rect">
            <a:avLst/>
          </a:prstGeom>
          <a:noFill/>
          <a:ln/>
        </p:spPr>
        <p:txBody>
          <a:bodyPr wrap="square" lIns="0" tIns="0" rIns="0" bIns="0" rtlCol="0" anchor="t"/>
          <a:lstStyle/>
          <a:p>
            <a:pPr indent="0" marL="0">
              <a:buNone/>
            </a:pPr>
            <a:r>
              <a:rPr lang="en-US" sz="1600" dirty="0">
                <a:solidFill>
                  <a:schemeClr val="tx2"/>
                </a:solidFill>
                <a:latin typeface="Helvetica Neue" pitchFamily="34" charset="0"/>
                <a:ea typeface="Helvetica Neue" pitchFamily="34" charset="-122"/>
                <a:cs typeface="Helvetica Neue" pitchFamily="34" charset="-120"/>
              </a:rPr>
              <a:t>de ahorro anual frente al precio normal</a:t>
            </a:r>
            <a:endParaRPr lang="en-US" sz="1600" dirty="0"/>
          </a:p>
        </p:txBody>
      </p:sp>
      <p:sp>
        <p:nvSpPr>
          <p:cNvPr id="25" name="Slide Number Placeholder 0"/>
          <p:cNvSpPr>
            <a:spLocks noGrp="1"/>
          </p:cNvSpPr>
          <p:nvPr>
            <p:ph type="sldNum" sz="quarter" idx="4294967295"/>
          </p:nvPr>
        </p:nvSpPr>
        <p:spPr>
          <a:xfrm>
            <a:off x="10954512" y="6364224"/>
            <a:ext cx="630936" cy="265176"/>
          </a:xfrm>
          <a:prstGeom prst="rect">
            <a:avLst/>
          </a:prstGeom>
          <a:extLst>
            <a:ext uri="{C572A759-6A51-4108-AA02-DFA0A04FC94B}">
              <ma14:wrappingTextBoxFlag xmlns:ma14="http://schemas.microsoft.com/office/mac/drawingml/2011/main" val="0"/>
            </a:ext>
          </a:extLst>
        </p:spPr>
        <p:txBody>
          <a:bodyPr/>
          <a:lstStyle>
            <a:lvl1pPr>
              <a:defRPr sz="1350">
                <a:solidFill>
                  <a:schemeClr val="tx2"/>
                </a:solidFill>
                <a:latin typeface="Helvetica Neue"/>
                <a:ea typeface="Helvetica Neue"/>
                <a:cs typeface="Helvetica Neue"/>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612648" y="493776"/>
            <a:ext cx="10972800" cy="950976"/>
          </a:xfrm>
          <a:prstGeom prst="rect">
            <a:avLst/>
          </a:prstGeom>
          <a:noFill/>
          <a:ln/>
        </p:spPr>
        <p:txBody>
          <a:bodyPr wrap="square" lIns="0" tIns="0" rIns="0" bIns="0" rtlCol="0" anchor="ctr"/>
          <a:lstStyle/>
          <a:p>
            <a:pPr algn="l" indent="0" marL="0">
              <a:buNone/>
            </a:pPr>
            <a:r>
              <a:rPr lang="en-US" sz="3300" b="1" dirty="0">
                <a:solidFill>
                  <a:schemeClr val="tx1"/>
                </a:solidFill>
                <a:latin typeface="Helvetica Neue" pitchFamily="34" charset="0"/>
                <a:ea typeface="Helvetica Neue" pitchFamily="34" charset="-122"/>
                <a:cs typeface="Helvetica Neue" pitchFamily="34" charset="-120"/>
              </a:rPr>
              <a:t>La restricción de espacio</a:t>
            </a:r>
            <a:endParaRPr lang="en-US" sz="3300" dirty="0"/>
          </a:p>
        </p:txBody>
      </p:sp>
      <p:graphicFrame>
        <p:nvGraphicFramePr>
          <p:cNvPr id="7" name="Tabla datos deposito"/>
          <p:cNvGraphicFramePr>
            <a:graphicFrameLocks noGrp="1"/>
          </p:cNvGraphicFramePr>
          <p:nvPr>
            <p:extLst>
              <p:ext uri="{D42A27DB-BD31-4B8C-83A1-F6EECF244321}">
                <p14:modId xmlns:p14="http://schemas.microsoft.com/office/powerpoint/2010/main" val="1579011935"/>
              </p:ext>
            </p:extLst>
          </p:nvPr>
        </p:nvGraphicFramePr>
        <p:xfrm>
          <a:off x="612648" y="1600200"/>
          <a:ext cx="5486400" cy="914400"/>
        </p:xfrm>
        <a:graphic>
          <a:graphicData uri="http://schemas.openxmlformats.org/drawingml/2006/table">
            <a:tbl>
              <a:tblPr/>
              <a:tblGrid>
                <a:gridCol w="2377440"/>
                <a:gridCol w="1554480"/>
                <a:gridCol w="1554480"/>
              </a:tblGrid>
              <a:tr h="475488">
                <a:tc>
                  <a:txBody>
                    <a:bodyPr/>
                    <a:lstStyle/>
                    <a:p>
                      <a:pPr algn="l" indent="0" marL="0">
                        <a:buNone/>
                      </a:pPr>
                      <a:r>
                        <a:rPr lang="en-US" sz="1600" b="1" dirty="0">
                          <a:solidFill>
                            <a:schemeClr val="bg1"/>
                          </a:solidFill>
                          <a:latin typeface="Helvetica Neue" pitchFamily="34" charset="0"/>
                          <a:ea typeface="Helvetica Neue" pitchFamily="34" charset="-122"/>
                          <a:cs typeface="Helvetica Neue" pitchFamily="34" charset="-120"/>
                        </a:rPr>
                        <a:t>Parámetro</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latin typeface="Helvetica Neue" pitchFamily="34" charset="0"/>
                          <a:ea typeface="Helvetica Neue" pitchFamily="34" charset="-122"/>
                          <a:cs typeface="Helvetica Neue" pitchFamily="34" charset="-120"/>
                        </a:rPr>
                        <a:t>Corcho</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latin typeface="Helvetica Neue" pitchFamily="34" charset="0"/>
                          <a:ea typeface="Helvetica Neue" pitchFamily="34" charset="-122"/>
                          <a:cs typeface="Helvetica Neue" pitchFamily="34" charset="-120"/>
                        </a:rPr>
                        <a:t>Sellador</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r>
              <a:tr h="475488">
                <a:tc>
                  <a:txBody>
                    <a:bodyPr/>
                    <a:lstStyle/>
                    <a:p>
                      <a:pPr algn="l" indent="0" marL="0">
                        <a:buNone/>
                      </a:pPr>
                      <a:r>
                        <a:rPr lang="en-US" sz="1600" dirty="0">
                          <a:solidFill>
                            <a:schemeClr val="tx1"/>
                          </a:solidFill>
                          <a:latin typeface="Helvetica Neue" pitchFamily="34" charset="0"/>
                          <a:ea typeface="Helvetica Neue" pitchFamily="34" charset="-122"/>
                          <a:cs typeface="Helvetica Neue" pitchFamily="34" charset="-120"/>
                        </a:rPr>
                        <a:t>Demanda anual</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17.160 m²</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1.200 L</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r>
              <a:tr h="475488">
                <a:tc>
                  <a:txBody>
                    <a:bodyPr/>
                    <a:lstStyle/>
                    <a:p>
                      <a:pPr algn="l" indent="0" marL="0">
                        <a:buNone/>
                      </a:pPr>
                      <a:r>
                        <a:rPr lang="en-US" sz="1600" dirty="0">
                          <a:solidFill>
                            <a:schemeClr val="tx1"/>
                          </a:solidFill>
                          <a:latin typeface="Helvetica Neue" pitchFamily="34" charset="0"/>
                          <a:ea typeface="Helvetica Neue" pitchFamily="34" charset="-122"/>
                          <a:cs typeface="Helvetica Neue" pitchFamily="34" charset="-120"/>
                        </a:rPr>
                        <a:t>Costo de pedido</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$45.000</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$20.000</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r>
              <a:tr h="475488">
                <a:tc>
                  <a:txBody>
                    <a:bodyPr/>
                    <a:lstStyle/>
                    <a:p>
                      <a:pPr algn="l" indent="0" marL="0">
                        <a:buNone/>
                      </a:pPr>
                      <a:r>
                        <a:rPr lang="en-US" sz="1600" dirty="0">
                          <a:solidFill>
                            <a:schemeClr val="tx1"/>
                          </a:solidFill>
                          <a:latin typeface="Helvetica Neue" pitchFamily="34" charset="0"/>
                          <a:ea typeface="Helvetica Neue" pitchFamily="34" charset="-122"/>
                          <a:cs typeface="Helvetica Neue" pitchFamily="34" charset="-120"/>
                        </a:rPr>
                        <a:t>Costo unitario</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$2.500</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$1.800</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r>
              <a:tr h="475488">
                <a:tc>
                  <a:txBody>
                    <a:bodyPr/>
                    <a:lstStyle/>
                    <a:p>
                      <a:pPr algn="l" indent="0" marL="0">
                        <a:buNone/>
                      </a:pPr>
                      <a:r>
                        <a:rPr lang="en-US" sz="1600" dirty="0">
                          <a:solidFill>
                            <a:schemeClr val="tx1"/>
                          </a:solidFill>
                          <a:latin typeface="Helvetica Neue" pitchFamily="34" charset="0"/>
                          <a:ea typeface="Helvetica Neue" pitchFamily="34" charset="-122"/>
                          <a:cs typeface="Helvetica Neue" pitchFamily="34" charset="-120"/>
                        </a:rPr>
                        <a:t>Espacio por unidad (v)</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0,05 m³</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0,02 m³</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r>
              <a:tr h="475488">
                <a:tc>
                  <a:txBody>
                    <a:bodyPr/>
                    <a:lstStyle/>
                    <a:p>
                      <a:pPr algn="l" indent="0" marL="0">
                        <a:buNone/>
                      </a:pPr>
                      <a:r>
                        <a:rPr lang="en-US" sz="1600" dirty="0">
                          <a:solidFill>
                            <a:schemeClr val="tx1"/>
                          </a:solidFill>
                          <a:latin typeface="Helvetica Neue" pitchFamily="34" charset="0"/>
                          <a:ea typeface="Helvetica Neue" pitchFamily="34" charset="-122"/>
                          <a:cs typeface="Helvetica Neue" pitchFamily="34" charset="-120"/>
                        </a:rPr>
                        <a:t>Lote sin restricción</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1.485 m²</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309 L</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612648" y="4572000"/>
            <a:ext cx="5486400" cy="457200"/>
          </a:xfrm>
          <a:prstGeom prst="rect">
            <a:avLst/>
          </a:prstGeom>
          <a:noFill/>
          <a:ln/>
        </p:spPr>
        <p:txBody>
          <a:bodyPr wrap="square" lIns="0" tIns="0" rIns="0" bIns="0" rtlCol="0" anchor="t"/>
          <a:lstStyle/>
          <a:p>
            <a:pPr indent="0" marL="0">
              <a:buNone/>
            </a:pPr>
            <a:r>
              <a:rPr lang="en-US" sz="1800" b="1" dirty="0">
                <a:solidFill>
                  <a:schemeClr val="accent5"/>
                </a:solidFill>
                <a:latin typeface="Helvetica Neue" pitchFamily="34" charset="0"/>
                <a:ea typeface="Helvetica Neue" pitchFamily="34" charset="-122"/>
                <a:cs typeface="Helvetica Neue" pitchFamily="34" charset="-120"/>
              </a:rPr>
              <a:t>Espacio requerido: 80,4 m³ &gt; 60 m³ disponibles</a:t>
            </a:r>
            <a:endParaRPr lang="en-US" sz="1800" dirty="0"/>
          </a:p>
        </p:txBody>
      </p:sp>
      <p:sp>
        <p:nvSpPr>
          <p:cNvPr id="6" name="Planteo Lagrange"/>
          <p:cNvSpPr/>
          <p:nvPr/>
        </p:nvSpPr>
        <p:spPr>
          <a:xfrm>
            <a:off x="6400800" y="1600200"/>
            <a:ext cx="5184648" cy="3611880"/>
          </a:xfrm>
          <a:prstGeom prst="roundRect">
            <a:avLst>
              <a:gd name="adj" fmla="val 2025"/>
            </a:avLst>
          </a:prstGeom>
          <a:solidFill>
            <a:schemeClr val="bg1"/>
          </a:solidFill>
          <a:ln w="12700">
            <a:solidFill>
              <a:schemeClr val="accent3"/>
            </a:solidFill>
            <a:prstDash val="solid"/>
          </a:ln>
        </p:spPr>
      </p:sp>
      <p:sp>
        <p:nvSpPr>
          <p:cNvPr id="7" name="Text 3"/>
          <p:cNvSpPr txBox="1"/>
          <p:nvPr/>
        </p:nvSpPr>
        <p:spPr>
          <a:xfrm>
            <a:off x="6675120" y="1828800"/>
            <a:ext cx="4663440" cy="868680"/>
          </a:xfrm>
          <a:prstGeom prst="rect">
            <a:avLst/>
          </a:prstGeom>
          <a:noFill/>
          <a:ln/>
        </p:spPr>
        <p:txBody>
          <a:bodyPr wrap="square" lIns="0" tIns="0" rIns="0" bIns="0" rtlCol="0" anchor="t"/>
          <a:lstStyle/>
          <a:p>
            <a:pPr indent="0" marL="0">
              <a:lnSpc>
                <a:spcPct val="115000"/>
              </a:lnSpc>
              <a:buNone/>
            </a:pPr>
            <a:r>
              <a:rPr lang="en-US" sz="1800" dirty="0">
                <a:solidFill>
                  <a:schemeClr val="tx1"/>
                </a:solidFill>
                <a:latin typeface="Helvetica Neue" pitchFamily="34" charset="0"/>
                <a:ea typeface="Helvetica Neue" pitchFamily="34" charset="-122"/>
                <a:cs typeface="Helvetica Neue" pitchFamily="34" charset="-120"/>
              </a:rPr>
              <a:t>Min  CT₁(Q₁) + CT₂(Q₂)</a:t>
            </a:r>
            <a:endParaRPr lang="en-US" sz="1800" dirty="0"/>
          </a:p>
          <a:p>
            <a:pPr indent="0" marL="0">
              <a:lnSpc>
                <a:spcPct val="115000"/>
              </a:lnSpc>
              <a:buNone/>
            </a:pPr>
            <a:r>
              <a:rPr lang="en-US" sz="1800" dirty="0">
                <a:solidFill>
                  <a:schemeClr val="tx1"/>
                </a:solidFill>
                <a:latin typeface="Helvetica Neue" pitchFamily="34" charset="0"/>
                <a:ea typeface="Helvetica Neue" pitchFamily="34" charset="-122"/>
                <a:cs typeface="Helvetica Neue" pitchFamily="34" charset="-120"/>
              </a:rPr>
              <a:t>s.a.  0,05·Q₁ + 0,02·Q₂ ≤ 60</a:t>
            </a:r>
            <a:endParaRPr lang="en-US" sz="1800" dirty="0"/>
          </a:p>
        </p:txBody>
      </p:sp>
      <p:sp>
        <p:nvSpPr>
          <p:cNvPr id="8" name="Text 4"/>
          <p:cNvSpPr txBox="1"/>
          <p:nvPr/>
        </p:nvSpPr>
        <p:spPr>
          <a:xfrm>
            <a:off x="6675120" y="2834640"/>
            <a:ext cx="4663440" cy="685800"/>
          </a:xfrm>
          <a:prstGeom prst="rect">
            <a:avLst/>
          </a:prstGeom>
          <a:noFill/>
          <a:ln/>
        </p:spPr>
        <p:txBody>
          <a:bodyPr wrap="square" lIns="0" tIns="0" rIns="0" bIns="0" rtlCol="0" anchor="t"/>
          <a:lstStyle/>
          <a:p>
            <a:pPr indent="0" marL="0">
              <a:buNone/>
            </a:pPr>
            <a:r>
              <a:rPr lang="en-US" sz="1700" dirty="0">
                <a:solidFill>
                  <a:schemeClr val="tx1"/>
                </a:solidFill>
                <a:latin typeface="Helvetica Neue" pitchFamily="34" charset="0"/>
                <a:ea typeface="Helvetica Neue" pitchFamily="34" charset="-122"/>
                <a:cs typeface="Helvetica Neue" pitchFamily="34" charset="-120"/>
              </a:rPr>
              <a:t>L = CT₁ + CT₂ + λ·(0,05·Q₁ + 0,02·Q₂ − 60)</a:t>
            </a:r>
            <a:endParaRPr lang="en-US" sz="1700" dirty="0"/>
          </a:p>
        </p:txBody>
      </p:sp>
      <p:sp>
        <p:nvSpPr>
          <p:cNvPr id="9" name="Text 5"/>
          <p:cNvSpPr txBox="1"/>
          <p:nvPr/>
        </p:nvSpPr>
        <p:spPr>
          <a:xfrm>
            <a:off x="6675120" y="3657600"/>
            <a:ext cx="4663440" cy="365760"/>
          </a:xfrm>
          <a:prstGeom prst="rect">
            <a:avLst/>
          </a:prstGeom>
          <a:noFill/>
          <a:ln/>
        </p:spPr>
        <p:txBody>
          <a:bodyPr wrap="square" lIns="0" tIns="0" rIns="0" bIns="0" rtlCol="0" anchor="t"/>
          <a:lstStyle/>
          <a:p>
            <a:pPr indent="0" marL="0">
              <a:buNone/>
            </a:pPr>
            <a:r>
              <a:rPr lang="en-US" sz="1700" dirty="0">
                <a:solidFill>
                  <a:schemeClr val="tx2"/>
                </a:solidFill>
                <a:latin typeface="Helvetica Neue" pitchFamily="34" charset="0"/>
                <a:ea typeface="Helvetica Neue" pitchFamily="34" charset="-122"/>
                <a:cs typeface="Helvetica Neue" pitchFamily="34" charset="-120"/>
              </a:rPr>
              <a:t>∂L/∂Qⱼ = 0  ⇒</a:t>
            </a:r>
            <a:endParaRPr lang="en-US" sz="1700" dirty="0"/>
          </a:p>
        </p:txBody>
      </p:sp>
      <p:sp>
        <p:nvSpPr>
          <p:cNvPr id="10" name="Text 6"/>
          <p:cNvSpPr txBox="1"/>
          <p:nvPr/>
        </p:nvSpPr>
        <p:spPr>
          <a:xfrm>
            <a:off x="6675120" y="4114800"/>
            <a:ext cx="4663440" cy="548640"/>
          </a:xfrm>
          <a:prstGeom prst="rect">
            <a:avLst/>
          </a:prstGeom>
          <a:noFill/>
          <a:ln/>
        </p:spPr>
        <p:txBody>
          <a:bodyPr wrap="square" lIns="0" tIns="0" rIns="0" bIns="0" rtlCol="0" anchor="t"/>
          <a:lstStyle/>
          <a:p>
            <a:pPr indent="0" marL="0">
              <a:buNone/>
            </a:pPr>
            <a:r>
              <a:rPr lang="en-US" sz="2000" b="1" dirty="0">
                <a:solidFill>
                  <a:schemeClr val="accent1"/>
                </a:solidFill>
                <a:latin typeface="Helvetica Neue" pitchFamily="34" charset="0"/>
                <a:ea typeface="Helvetica Neue" pitchFamily="34" charset="-122"/>
                <a:cs typeface="Helvetica Neue" pitchFamily="34" charset="-120"/>
              </a:rPr>
              <a:t>Qⱼ = √(2·Dⱼ·Lⱼ / (Cⱼ·i + 2·λ·vⱼ))</a:t>
            </a:r>
            <a:endParaRPr lang="en-US" sz="2000" dirty="0"/>
          </a:p>
        </p:txBody>
      </p:sp>
      <p:sp>
        <p:nvSpPr>
          <p:cNvPr id="25" name="Slide Number Placeholder 0"/>
          <p:cNvSpPr>
            <a:spLocks noGrp="1"/>
          </p:cNvSpPr>
          <p:nvPr>
            <p:ph type="sldNum" sz="quarter" idx="4294967295"/>
          </p:nvPr>
        </p:nvSpPr>
        <p:spPr>
          <a:xfrm>
            <a:off x="10954512" y="6364224"/>
            <a:ext cx="630936" cy="265176"/>
          </a:xfrm>
          <a:prstGeom prst="rect">
            <a:avLst/>
          </a:prstGeom>
          <a:extLst>
            <a:ext uri="{C572A759-6A51-4108-AA02-DFA0A04FC94B}">
              <ma14:wrappingTextBoxFlag xmlns:ma14="http://schemas.microsoft.com/office/mac/drawingml/2011/main" val="0"/>
            </a:ext>
          </a:extLst>
        </p:spPr>
        <p:txBody>
          <a:bodyPr/>
          <a:lstStyle>
            <a:lvl1pPr>
              <a:defRPr sz="1350">
                <a:solidFill>
                  <a:schemeClr val="tx2"/>
                </a:solidFill>
                <a:latin typeface="Helvetica Neue"/>
                <a:ea typeface="Helvetica Neue"/>
                <a:cs typeface="Helvetica Neue"/>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title" hasCustomPrompt="1"/>
          </p:nvPr>
        </p:nvSpPr>
        <p:spPr>
          <a:xfrm>
            <a:off x="612648" y="493776"/>
            <a:ext cx="10972800" cy="950976"/>
          </a:xfrm>
          <a:prstGeom prst="rect">
            <a:avLst/>
          </a:prstGeom>
          <a:noFill/>
          <a:ln/>
        </p:spPr>
        <p:txBody>
          <a:bodyPr wrap="square" lIns="0" tIns="0" rIns="0" bIns="0" rtlCol="0" anchor="ctr"/>
          <a:lstStyle/>
          <a:p>
            <a:pPr algn="l" indent="0" marL="0">
              <a:buNone/>
            </a:pPr>
            <a:r>
              <a:rPr lang="en-US" sz="3300" b="1" dirty="0">
                <a:solidFill>
                  <a:schemeClr val="tx1"/>
                </a:solidFill>
                <a:latin typeface="Helvetica Neue" pitchFamily="34" charset="0"/>
                <a:ea typeface="Helvetica Neue" pitchFamily="34" charset="-122"/>
                <a:cs typeface="Helvetica Neue" pitchFamily="34" charset="-120"/>
              </a:rPr>
              <a:t>Iteración del multiplicador λ</a:t>
            </a:r>
            <a:endParaRPr lang="en-US" sz="3300" dirty="0"/>
          </a:p>
        </p:txBody>
      </p:sp>
      <p:graphicFrame>
        <p:nvGraphicFramePr>
          <p:cNvPr id="8" name="Tabla iteracion lambda"/>
          <p:cNvGraphicFramePr>
            <a:graphicFrameLocks noGrp="1"/>
          </p:cNvGraphicFramePr>
          <p:nvPr>
            <p:extLst>
              <p:ext uri="{D42A27DB-BD31-4B8C-83A1-F6EECF244321}">
                <p14:modId xmlns:p14="http://schemas.microsoft.com/office/powerpoint/2010/main" val="1579011935"/>
              </p:ext>
            </p:extLst>
          </p:nvPr>
        </p:nvGraphicFramePr>
        <p:xfrm>
          <a:off x="612648" y="1600200"/>
          <a:ext cx="6035040" cy="914400"/>
        </p:xfrm>
        <a:graphic>
          <a:graphicData uri="http://schemas.openxmlformats.org/drawingml/2006/table">
            <a:tbl>
              <a:tblPr/>
              <a:tblGrid>
                <a:gridCol w="1371600"/>
                <a:gridCol w="1554480"/>
                <a:gridCol w="1554480"/>
                <a:gridCol w="1554480"/>
              </a:tblGrid>
              <a:tr h="548640">
                <a:tc>
                  <a:txBody>
                    <a:bodyPr/>
                    <a:lstStyle/>
                    <a:p>
                      <a:pPr algn="l" indent="0" marL="0">
                        <a:buNone/>
                      </a:pPr>
                      <a:r>
                        <a:rPr lang="en-US" sz="1700" b="1" dirty="0">
                          <a:solidFill>
                            <a:schemeClr val="bg1"/>
                          </a:solidFill>
                          <a:latin typeface="Helvetica Neue" pitchFamily="34" charset="0"/>
                          <a:ea typeface="Helvetica Neue" pitchFamily="34" charset="-122"/>
                          <a:cs typeface="Helvetica Neue" pitchFamily="34" charset="-120"/>
                        </a:rPr>
                        <a:t>λ ($/m³)</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c>
                  <a:txBody>
                    <a:bodyPr/>
                    <a:lstStyle/>
                    <a:p>
                      <a:pPr algn="ctr" indent="0" marL="0">
                        <a:buNone/>
                      </a:pPr>
                      <a:r>
                        <a:rPr lang="en-US" sz="1700" b="1" dirty="0">
                          <a:solidFill>
                            <a:schemeClr val="bg1"/>
                          </a:solidFill>
                          <a:latin typeface="Helvetica Neue" pitchFamily="34" charset="0"/>
                          <a:ea typeface="Helvetica Neue" pitchFamily="34" charset="-122"/>
                          <a:cs typeface="Helvetica Neue" pitchFamily="34" charset="-120"/>
                        </a:rPr>
                        <a:t>Corcho (m²)</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c>
                  <a:txBody>
                    <a:bodyPr/>
                    <a:lstStyle/>
                    <a:p>
                      <a:pPr algn="ctr" indent="0" marL="0">
                        <a:buNone/>
                      </a:pPr>
                      <a:r>
                        <a:rPr lang="en-US" sz="1700" b="1" dirty="0">
                          <a:solidFill>
                            <a:schemeClr val="bg1"/>
                          </a:solidFill>
                          <a:latin typeface="Helvetica Neue" pitchFamily="34" charset="0"/>
                          <a:ea typeface="Helvetica Neue" pitchFamily="34" charset="-122"/>
                          <a:cs typeface="Helvetica Neue" pitchFamily="34" charset="-120"/>
                        </a:rPr>
                        <a:t>Sellador (L)</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c>
                  <a:txBody>
                    <a:bodyPr/>
                    <a:lstStyle/>
                    <a:p>
                      <a:pPr algn="ctr" indent="0" marL="0">
                        <a:buNone/>
                      </a:pPr>
                      <a:r>
                        <a:rPr lang="en-US" sz="1700" b="1" dirty="0">
                          <a:solidFill>
                            <a:schemeClr val="bg1"/>
                          </a:solidFill>
                          <a:latin typeface="Helvetica Neue" pitchFamily="34" charset="0"/>
                          <a:ea typeface="Helvetica Neue" pitchFamily="34" charset="-122"/>
                          <a:cs typeface="Helvetica Neue" pitchFamily="34" charset="-120"/>
                        </a:rPr>
                        <a:t>Espacio</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r>
              <a:tr h="548640">
                <a:tc>
                  <a:txBody>
                    <a:bodyPr/>
                    <a:lstStyle/>
                    <a:p>
                      <a:pPr algn="l" indent="0" marL="0">
                        <a:buNone/>
                      </a:pPr>
                      <a:r>
                        <a:rPr lang="en-US" sz="1700" dirty="0">
                          <a:solidFill>
                            <a:schemeClr val="tx1"/>
                          </a:solidFill>
                          <a:latin typeface="Helvetica Neue" pitchFamily="34" charset="0"/>
                          <a:ea typeface="Helvetica Neue" pitchFamily="34" charset="-122"/>
                          <a:cs typeface="Helvetica Neue" pitchFamily="34" charset="-120"/>
                        </a:rPr>
                        <a:t>0</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700" dirty="0">
                          <a:solidFill>
                            <a:schemeClr val="tx1"/>
                          </a:solidFill>
                          <a:latin typeface="Helvetica Neue" pitchFamily="34" charset="0"/>
                          <a:ea typeface="Helvetica Neue" pitchFamily="34" charset="-122"/>
                          <a:cs typeface="Helvetica Neue" pitchFamily="34" charset="-120"/>
                        </a:rPr>
                        <a:t>1.485</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700" dirty="0">
                          <a:solidFill>
                            <a:schemeClr val="tx1"/>
                          </a:solidFill>
                          <a:latin typeface="Helvetica Neue" pitchFamily="34" charset="0"/>
                          <a:ea typeface="Helvetica Neue" pitchFamily="34" charset="-122"/>
                          <a:cs typeface="Helvetica Neue" pitchFamily="34" charset="-120"/>
                        </a:rPr>
                        <a:t>309</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700" dirty="0">
                          <a:solidFill>
                            <a:schemeClr val="tx1"/>
                          </a:solidFill>
                          <a:latin typeface="Helvetica Neue" pitchFamily="34" charset="0"/>
                          <a:ea typeface="Helvetica Neue" pitchFamily="34" charset="-122"/>
                          <a:cs typeface="Helvetica Neue" pitchFamily="34" charset="-120"/>
                        </a:rPr>
                        <a:t>80,4 m³</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r>
              <a:tr h="548640">
                <a:tc>
                  <a:txBody>
                    <a:bodyPr/>
                    <a:lstStyle/>
                    <a:p>
                      <a:pPr algn="l" indent="0" marL="0">
                        <a:buNone/>
                      </a:pPr>
                      <a:r>
                        <a:rPr lang="en-US" sz="1700" dirty="0">
                          <a:solidFill>
                            <a:schemeClr val="tx1"/>
                          </a:solidFill>
                          <a:latin typeface="Helvetica Neue" pitchFamily="34" charset="0"/>
                          <a:ea typeface="Helvetica Neue" pitchFamily="34" charset="-122"/>
                          <a:cs typeface="Helvetica Neue" pitchFamily="34" charset="-120"/>
                        </a:rPr>
                        <a:t>3.000</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c>
                  <a:txBody>
                    <a:bodyPr/>
                    <a:lstStyle/>
                    <a:p>
                      <a:pPr algn="ctr" indent="0" marL="0">
                        <a:buNone/>
                      </a:pPr>
                      <a:r>
                        <a:rPr lang="en-US" sz="1700" dirty="0">
                          <a:solidFill>
                            <a:schemeClr val="tx1"/>
                          </a:solidFill>
                          <a:latin typeface="Helvetica Neue" pitchFamily="34" charset="0"/>
                          <a:ea typeface="Helvetica Neue" pitchFamily="34" charset="-122"/>
                          <a:cs typeface="Helvetica Neue" pitchFamily="34" charset="-120"/>
                        </a:rPr>
                        <a:t>1.243</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c>
                  <a:txBody>
                    <a:bodyPr/>
                    <a:lstStyle/>
                    <a:p>
                      <a:pPr algn="ctr" indent="0" marL="0">
                        <a:buNone/>
                      </a:pPr>
                      <a:r>
                        <a:rPr lang="en-US" sz="1700" dirty="0">
                          <a:solidFill>
                            <a:schemeClr val="tx1"/>
                          </a:solidFill>
                          <a:latin typeface="Helvetica Neue" pitchFamily="34" charset="0"/>
                          <a:ea typeface="Helvetica Neue" pitchFamily="34" charset="-122"/>
                          <a:cs typeface="Helvetica Neue" pitchFamily="34" charset="-120"/>
                        </a:rPr>
                        <a:t>277</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c>
                  <a:txBody>
                    <a:bodyPr/>
                    <a:lstStyle/>
                    <a:p>
                      <a:pPr algn="ctr" indent="0" marL="0">
                        <a:buNone/>
                      </a:pPr>
                      <a:r>
                        <a:rPr lang="en-US" sz="1700" dirty="0">
                          <a:solidFill>
                            <a:schemeClr val="tx1"/>
                          </a:solidFill>
                          <a:latin typeface="Helvetica Neue" pitchFamily="34" charset="0"/>
                          <a:ea typeface="Helvetica Neue" pitchFamily="34" charset="-122"/>
                          <a:cs typeface="Helvetica Neue" pitchFamily="34" charset="-120"/>
                        </a:rPr>
                        <a:t>67,7 m³</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r>
              <a:tr h="548640">
                <a:tc>
                  <a:txBody>
                    <a:bodyPr/>
                    <a:lstStyle/>
                    <a:p>
                      <a:pPr algn="l" indent="0" marL="0">
                        <a:buNone/>
                      </a:pPr>
                      <a:r>
                        <a:rPr lang="en-US" sz="1700" b="1" dirty="0">
                          <a:solidFill>
                            <a:schemeClr val="tx1"/>
                          </a:solidFill>
                          <a:latin typeface="Helvetica Neue" pitchFamily="34" charset="0"/>
                          <a:ea typeface="Helvetica Neue" pitchFamily="34" charset="-122"/>
                          <a:cs typeface="Helvetica Neue" pitchFamily="34" charset="-120"/>
                        </a:rPr>
                        <a:t>5.820</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2"/>
                    </a:solidFill>
                  </a:tcPr>
                </a:tc>
                <a:tc>
                  <a:txBody>
                    <a:bodyPr/>
                    <a:lstStyle/>
                    <a:p>
                      <a:pPr algn="ctr" indent="0" marL="0">
                        <a:buNone/>
                      </a:pPr>
                      <a:r>
                        <a:rPr lang="en-US" sz="1700" b="1" dirty="0">
                          <a:solidFill>
                            <a:schemeClr val="tx1"/>
                          </a:solidFill>
                          <a:latin typeface="Helvetica Neue" pitchFamily="34" charset="0"/>
                          <a:ea typeface="Helvetica Neue" pitchFamily="34" charset="-122"/>
                          <a:cs typeface="Helvetica Neue" pitchFamily="34" charset="-120"/>
                        </a:rPr>
                        <a:t>1.098</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2"/>
                    </a:solidFill>
                  </a:tcPr>
                </a:tc>
                <a:tc>
                  <a:txBody>
                    <a:bodyPr/>
                    <a:lstStyle/>
                    <a:p>
                      <a:pPr algn="ctr" indent="0" marL="0">
                        <a:buNone/>
                      </a:pPr>
                      <a:r>
                        <a:rPr lang="en-US" sz="1700" b="1" dirty="0">
                          <a:solidFill>
                            <a:schemeClr val="tx1"/>
                          </a:solidFill>
                          <a:latin typeface="Helvetica Neue" pitchFamily="34" charset="0"/>
                          <a:ea typeface="Helvetica Neue" pitchFamily="34" charset="-122"/>
                          <a:cs typeface="Helvetica Neue" pitchFamily="34" charset="-120"/>
                        </a:rPr>
                        <a:t>255</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2"/>
                    </a:solidFill>
                  </a:tcPr>
                </a:tc>
                <a:tc>
                  <a:txBody>
                    <a:bodyPr/>
                    <a:lstStyle/>
                    <a:p>
                      <a:pPr algn="ctr" indent="0" marL="0">
                        <a:buNone/>
                      </a:pPr>
                      <a:r>
                        <a:rPr lang="en-US" sz="1700" b="1" dirty="0">
                          <a:solidFill>
                            <a:schemeClr val="tx1"/>
                          </a:solidFill>
                          <a:latin typeface="Helvetica Neue" pitchFamily="34" charset="0"/>
                          <a:ea typeface="Helvetica Neue" pitchFamily="34" charset="-122"/>
                          <a:cs typeface="Helvetica Neue" pitchFamily="34" charset="-120"/>
                        </a:rPr>
                        <a:t>60,0 m³</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2"/>
                    </a:solidFill>
                  </a:tcPr>
                </a:tc>
              </a:tr>
            </a:tbl>
          </a:graphicData>
        </a:graphic>
      </p:graphicFrame>
      <p:sp>
        <p:nvSpPr>
          <p:cNvPr id="5" name="Text 1"/>
          <p:cNvSpPr txBox="1"/>
          <p:nvPr/>
        </p:nvSpPr>
        <p:spPr>
          <a:xfrm>
            <a:off x="612648" y="4023360"/>
            <a:ext cx="6035040" cy="1097280"/>
          </a:xfrm>
          <a:prstGeom prst="rect">
            <a:avLst/>
          </a:prstGeom>
          <a:noFill/>
          <a:ln/>
        </p:spPr>
        <p:txBody>
          <a:bodyPr wrap="square" lIns="0" tIns="0" rIns="0" bIns="0" rtlCol="0" anchor="t"/>
          <a:lstStyle/>
          <a:p>
            <a:pPr indent="0" marL="0">
              <a:buNone/>
            </a:pPr>
            <a:r>
              <a:rPr lang="en-US" sz="1700" dirty="0">
                <a:solidFill>
                  <a:schemeClr val="tx2"/>
                </a:solidFill>
                <a:latin typeface="Helvetica Neue" pitchFamily="34" charset="0"/>
                <a:ea typeface="Helvetica Neue" pitchFamily="34" charset="-122"/>
                <a:cs typeface="Helvetica Neue" pitchFamily="34" charset="-120"/>
              </a:rPr>
              <a:t>Cuanto mayor es λ, más se penaliza ocupar espacio y más chicos quedan los lotes. λ* es el valor que deja el depósito exactamente lleno.</a:t>
            </a:r>
            <a:endParaRPr lang="en-US" sz="1700" dirty="0"/>
          </a:p>
        </p:txBody>
      </p:sp>
      <p:sp>
        <p:nvSpPr>
          <p:cNvPr id="6" name="Lote corcho valor"/>
          <p:cNvSpPr txBox="1"/>
          <p:nvPr/>
        </p:nvSpPr>
        <p:spPr>
          <a:xfrm>
            <a:off x="7086600" y="1600200"/>
            <a:ext cx="4480560" cy="548640"/>
          </a:xfrm>
          <a:prstGeom prst="rect">
            <a:avLst/>
          </a:prstGeom>
          <a:noFill/>
          <a:ln/>
        </p:spPr>
        <p:txBody>
          <a:bodyPr wrap="square" lIns="0" tIns="0" rIns="0" bIns="0" rtlCol="0" anchor="t"/>
          <a:lstStyle/>
          <a:p>
            <a:pPr indent="0" marL="0">
              <a:buNone/>
            </a:pPr>
            <a:r>
              <a:rPr lang="en-US" sz="3600" b="1" dirty="0">
                <a:solidFill>
                  <a:schemeClr val="accent1"/>
                </a:solidFill>
                <a:latin typeface="Helvetica Neue" pitchFamily="34" charset="0"/>
                <a:ea typeface="Helvetica Neue" pitchFamily="34" charset="-122"/>
                <a:cs typeface="Helvetica Neue" pitchFamily="34" charset="-120"/>
              </a:rPr>
              <a:t>1.098 m²</a:t>
            </a:r>
            <a:endParaRPr lang="en-US" sz="3600" dirty="0"/>
          </a:p>
        </p:txBody>
      </p:sp>
      <p:sp>
        <p:nvSpPr>
          <p:cNvPr id="7" name="Lote corcho etiqueta"/>
          <p:cNvSpPr txBox="1"/>
          <p:nvPr/>
        </p:nvSpPr>
        <p:spPr>
          <a:xfrm>
            <a:off x="7086600" y="2221992"/>
            <a:ext cx="4480560" cy="685800"/>
          </a:xfrm>
          <a:prstGeom prst="rect">
            <a:avLst/>
          </a:prstGeom>
          <a:noFill/>
          <a:ln/>
        </p:spPr>
        <p:txBody>
          <a:bodyPr wrap="square" lIns="0" tIns="0" rIns="0" bIns="0" rtlCol="0" anchor="t"/>
          <a:lstStyle/>
          <a:p>
            <a:pPr indent="0" marL="0">
              <a:buNone/>
            </a:pPr>
            <a:r>
              <a:rPr lang="en-US" sz="1600" dirty="0">
                <a:solidFill>
                  <a:schemeClr val="tx2"/>
                </a:solidFill>
                <a:latin typeface="Helvetica Neue" pitchFamily="34" charset="0"/>
                <a:ea typeface="Helvetica Neue" pitchFamily="34" charset="-122"/>
                <a:cs typeface="Helvetica Neue" pitchFamily="34" charset="-120"/>
              </a:rPr>
              <a:t>lote de corcho (−26%)</a:t>
            </a:r>
            <a:endParaRPr lang="en-US" sz="1600" dirty="0"/>
          </a:p>
        </p:txBody>
      </p:sp>
      <p:sp>
        <p:nvSpPr>
          <p:cNvPr id="8" name="Lote sellador valor"/>
          <p:cNvSpPr txBox="1"/>
          <p:nvPr/>
        </p:nvSpPr>
        <p:spPr>
          <a:xfrm>
            <a:off x="7086600" y="2788920"/>
            <a:ext cx="4480560" cy="548640"/>
          </a:xfrm>
          <a:prstGeom prst="rect">
            <a:avLst/>
          </a:prstGeom>
          <a:noFill/>
          <a:ln/>
        </p:spPr>
        <p:txBody>
          <a:bodyPr wrap="square" lIns="0" tIns="0" rIns="0" bIns="0" rtlCol="0" anchor="t"/>
          <a:lstStyle/>
          <a:p>
            <a:pPr indent="0" marL="0">
              <a:buNone/>
            </a:pPr>
            <a:r>
              <a:rPr lang="en-US" sz="3600" b="1" dirty="0">
                <a:solidFill>
                  <a:schemeClr val="accent1"/>
                </a:solidFill>
                <a:latin typeface="Helvetica Neue" pitchFamily="34" charset="0"/>
                <a:ea typeface="Helvetica Neue" pitchFamily="34" charset="-122"/>
                <a:cs typeface="Helvetica Neue" pitchFamily="34" charset="-120"/>
              </a:rPr>
              <a:t>255 L</a:t>
            </a:r>
            <a:endParaRPr lang="en-US" sz="3600" dirty="0"/>
          </a:p>
        </p:txBody>
      </p:sp>
      <p:sp>
        <p:nvSpPr>
          <p:cNvPr id="9" name="Lote sellador etiqueta"/>
          <p:cNvSpPr txBox="1"/>
          <p:nvPr/>
        </p:nvSpPr>
        <p:spPr>
          <a:xfrm>
            <a:off x="7086600" y="3410712"/>
            <a:ext cx="4480560" cy="685800"/>
          </a:xfrm>
          <a:prstGeom prst="rect">
            <a:avLst/>
          </a:prstGeom>
          <a:noFill/>
          <a:ln/>
        </p:spPr>
        <p:txBody>
          <a:bodyPr wrap="square" lIns="0" tIns="0" rIns="0" bIns="0" rtlCol="0" anchor="t"/>
          <a:lstStyle/>
          <a:p>
            <a:pPr indent="0" marL="0">
              <a:buNone/>
            </a:pPr>
            <a:r>
              <a:rPr lang="en-US" sz="1600" dirty="0">
                <a:solidFill>
                  <a:schemeClr val="tx2"/>
                </a:solidFill>
                <a:latin typeface="Helvetica Neue" pitchFamily="34" charset="0"/>
                <a:ea typeface="Helvetica Neue" pitchFamily="34" charset="-122"/>
                <a:cs typeface="Helvetica Neue" pitchFamily="34" charset="-120"/>
              </a:rPr>
              <a:t>lote de sellador (−17%)</a:t>
            </a:r>
            <a:endParaRPr lang="en-US" sz="1600" dirty="0"/>
          </a:p>
        </p:txBody>
      </p:sp>
      <p:sp>
        <p:nvSpPr>
          <p:cNvPr id="10" name="Lambda valor"/>
          <p:cNvSpPr txBox="1"/>
          <p:nvPr/>
        </p:nvSpPr>
        <p:spPr>
          <a:xfrm>
            <a:off x="7086600" y="3977640"/>
            <a:ext cx="4480560" cy="548640"/>
          </a:xfrm>
          <a:prstGeom prst="rect">
            <a:avLst/>
          </a:prstGeom>
          <a:noFill/>
          <a:ln/>
        </p:spPr>
        <p:txBody>
          <a:bodyPr wrap="square" lIns="0" tIns="0" rIns="0" bIns="0" rtlCol="0" anchor="t"/>
          <a:lstStyle/>
          <a:p>
            <a:pPr indent="0" marL="0">
              <a:buNone/>
            </a:pPr>
            <a:r>
              <a:rPr lang="en-US" sz="3600" b="1" dirty="0">
                <a:solidFill>
                  <a:schemeClr val="accent1"/>
                </a:solidFill>
                <a:latin typeface="Helvetica Neue" pitchFamily="34" charset="0"/>
                <a:ea typeface="Helvetica Neue" pitchFamily="34" charset="-122"/>
                <a:cs typeface="Helvetica Neue" pitchFamily="34" charset="-120"/>
              </a:rPr>
              <a:t>λ* = $5.820</a:t>
            </a:r>
            <a:endParaRPr lang="en-US" sz="3600" dirty="0"/>
          </a:p>
        </p:txBody>
      </p:sp>
      <p:sp>
        <p:nvSpPr>
          <p:cNvPr id="11" name="Lambda etiqueta"/>
          <p:cNvSpPr txBox="1"/>
          <p:nvPr/>
        </p:nvSpPr>
        <p:spPr>
          <a:xfrm>
            <a:off x="7086600" y="4599432"/>
            <a:ext cx="4480560" cy="685800"/>
          </a:xfrm>
          <a:prstGeom prst="rect">
            <a:avLst/>
          </a:prstGeom>
          <a:noFill/>
          <a:ln/>
        </p:spPr>
        <p:txBody>
          <a:bodyPr wrap="square" lIns="0" tIns="0" rIns="0" bIns="0" rtlCol="0" anchor="t"/>
          <a:lstStyle/>
          <a:p>
            <a:pPr indent="0" marL="0">
              <a:buNone/>
            </a:pPr>
            <a:r>
              <a:rPr lang="en-US" sz="1600" dirty="0">
                <a:solidFill>
                  <a:schemeClr val="tx2"/>
                </a:solidFill>
                <a:latin typeface="Helvetica Neue" pitchFamily="34" charset="0"/>
                <a:ea typeface="Helvetica Neue" pitchFamily="34" charset="-122"/>
                <a:cs typeface="Helvetica Neue" pitchFamily="34" charset="-120"/>
              </a:rPr>
              <a:t>por m³ y por año: valor marginal de ampliar el depósito</a:t>
            </a:r>
            <a:endParaRPr lang="en-US" sz="1600" dirty="0"/>
          </a:p>
        </p:txBody>
      </p:sp>
      <p:sp>
        <p:nvSpPr>
          <p:cNvPr id="25" name="Slide Number Placeholder 0"/>
          <p:cNvSpPr>
            <a:spLocks noGrp="1"/>
          </p:cNvSpPr>
          <p:nvPr>
            <p:ph type="sldNum" sz="quarter" idx="4294967295"/>
          </p:nvPr>
        </p:nvSpPr>
        <p:spPr>
          <a:xfrm>
            <a:off x="10954512" y="6364224"/>
            <a:ext cx="630936" cy="265176"/>
          </a:xfrm>
          <a:prstGeom prst="rect">
            <a:avLst/>
          </a:prstGeom>
          <a:extLst>
            <a:ext uri="{C572A759-6A51-4108-AA02-DFA0A04FC94B}">
              <ma14:wrappingTextBoxFlag xmlns:ma14="http://schemas.microsoft.com/office/mac/drawingml/2011/main" val="0"/>
            </a:ext>
          </a:extLst>
        </p:spPr>
        <p:txBody>
          <a:bodyPr/>
          <a:lstStyle>
            <a:lvl1pPr>
              <a:defRPr sz="1350">
                <a:solidFill>
                  <a:schemeClr val="tx2"/>
                </a:solidFill>
                <a:latin typeface="Helvetica Neue"/>
                <a:ea typeface="Helvetica Neue"/>
                <a:cs typeface="Helvetica Neue"/>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612648" y="493776"/>
            <a:ext cx="10972800" cy="950976"/>
          </a:xfrm>
          <a:prstGeom prst="rect">
            <a:avLst/>
          </a:prstGeom>
          <a:noFill/>
          <a:ln/>
        </p:spPr>
        <p:txBody>
          <a:bodyPr wrap="square" lIns="0" tIns="0" rIns="0" bIns="0" rtlCol="0" anchor="ctr"/>
          <a:lstStyle/>
          <a:p>
            <a:pPr algn="l" indent="0" marL="0">
              <a:buNone/>
            </a:pPr>
            <a:r>
              <a:rPr lang="en-US" sz="3300" b="1" dirty="0">
                <a:solidFill>
                  <a:schemeClr val="tx1"/>
                </a:solidFill>
                <a:latin typeface="Helvetica Neue" pitchFamily="34" charset="0"/>
                <a:ea typeface="Helvetica Neue" pitchFamily="34" charset="-122"/>
                <a:cs typeface="Helvetica Neue" pitchFamily="34" charset="-120"/>
              </a:rPr>
              <a:t>El descuento no entra en el depósito</a:t>
            </a:r>
            <a:endParaRPr lang="en-US" sz="3300" dirty="0"/>
          </a:p>
        </p:txBody>
      </p:sp>
      <p:sp>
        <p:nvSpPr>
          <p:cNvPr id="4" name="Text 1"/>
          <p:cNvSpPr txBox="1"/>
          <p:nvPr/>
        </p:nvSpPr>
        <p:spPr>
          <a:xfrm>
            <a:off x="612648" y="1600200"/>
            <a:ext cx="10972800" cy="457200"/>
          </a:xfrm>
          <a:prstGeom prst="rect">
            <a:avLst/>
          </a:prstGeom>
          <a:noFill/>
          <a:ln/>
        </p:spPr>
        <p:txBody>
          <a:bodyPr wrap="square" lIns="0" tIns="0" rIns="0" bIns="0" rtlCol="0" anchor="t"/>
          <a:lstStyle/>
          <a:p>
            <a:pPr indent="0" marL="0">
              <a:buNone/>
            </a:pPr>
            <a:r>
              <a:rPr lang="en-US" sz="2200" b="1" dirty="0">
                <a:solidFill>
                  <a:schemeClr val="accent5"/>
                </a:solidFill>
                <a:latin typeface="Helvetica Neue" pitchFamily="34" charset="0"/>
                <a:ea typeface="Helvetica Neue" pitchFamily="34" charset="-122"/>
                <a:cs typeface="Helvetica Neue" pitchFamily="34" charset="-120"/>
              </a:rPr>
              <a:t>2.000 m² × 0,05 m³/m² = 100 m³  &gt;  60 m³ disponibles</a:t>
            </a:r>
            <a:endParaRPr lang="en-US" sz="2200" dirty="0"/>
          </a:p>
        </p:txBody>
      </p:sp>
      <p:sp>
        <p:nvSpPr>
          <p:cNvPr id="5" name="Depósito actual · 60 m³"/>
          <p:cNvSpPr/>
          <p:nvPr/>
        </p:nvSpPr>
        <p:spPr>
          <a:xfrm>
            <a:off x="612648" y="2286000"/>
            <a:ext cx="5349240" cy="2240280"/>
          </a:xfrm>
          <a:prstGeom prst="roundRect">
            <a:avLst>
              <a:gd name="adj" fmla="val 3265"/>
            </a:avLst>
          </a:prstGeom>
          <a:solidFill>
            <a:schemeClr val="bg1"/>
          </a:solidFill>
          <a:ln w="12700">
            <a:solidFill>
              <a:schemeClr val="accent3"/>
            </a:solidFill>
            <a:prstDash val="solid"/>
          </a:ln>
        </p:spPr>
      </p:sp>
      <p:sp>
        <p:nvSpPr>
          <p:cNvPr id="6" name="Text 3"/>
          <p:cNvSpPr txBox="1"/>
          <p:nvPr/>
        </p:nvSpPr>
        <p:spPr>
          <a:xfrm>
            <a:off x="914400" y="2468880"/>
            <a:ext cx="4754880" cy="411480"/>
          </a:xfrm>
          <a:prstGeom prst="rect">
            <a:avLst/>
          </a:prstGeom>
          <a:noFill/>
          <a:ln/>
        </p:spPr>
        <p:txBody>
          <a:bodyPr wrap="square" lIns="0" tIns="0" rIns="0" bIns="0" rtlCol="0" anchor="t"/>
          <a:lstStyle/>
          <a:p>
            <a:pPr indent="0" marL="0">
              <a:buNone/>
            </a:pPr>
            <a:r>
              <a:rPr lang="en-US" sz="1900" b="1" dirty="0">
                <a:solidFill>
                  <a:schemeClr val="tx1"/>
                </a:solidFill>
                <a:latin typeface="Helvetica Neue" pitchFamily="34" charset="0"/>
                <a:ea typeface="Helvetica Neue" pitchFamily="34" charset="-122"/>
                <a:cs typeface="Helvetica Neue" pitchFamily="34" charset="-120"/>
              </a:rPr>
              <a:t>Depósito actual · 60 m³</a:t>
            </a:r>
            <a:endParaRPr lang="en-US" sz="1900" dirty="0"/>
          </a:p>
        </p:txBody>
      </p:sp>
      <p:sp>
        <p:nvSpPr>
          <p:cNvPr id="7" name="Text 4"/>
          <p:cNvSpPr txBox="1"/>
          <p:nvPr/>
        </p:nvSpPr>
        <p:spPr>
          <a:xfrm>
            <a:off x="914400" y="2971800"/>
            <a:ext cx="4754880" cy="685800"/>
          </a:xfrm>
          <a:prstGeom prst="rect">
            <a:avLst/>
          </a:prstGeom>
          <a:noFill/>
          <a:ln/>
        </p:spPr>
        <p:txBody>
          <a:bodyPr wrap="square" lIns="0" tIns="0" rIns="0" bIns="0" rtlCol="0" anchor="t"/>
          <a:lstStyle/>
          <a:p>
            <a:pPr indent="0" marL="0">
              <a:lnSpc>
                <a:spcPct val="110000"/>
              </a:lnSpc>
              <a:buNone/>
            </a:pPr>
            <a:r>
              <a:rPr lang="en-US" sz="1600" dirty="0">
                <a:solidFill>
                  <a:schemeClr val="tx2"/>
                </a:solidFill>
                <a:latin typeface="Helvetica Neue" pitchFamily="34" charset="0"/>
                <a:ea typeface="Helvetica Neue" pitchFamily="34" charset="-122"/>
                <a:cs typeface="Helvetica Neue" pitchFamily="34" charset="-120"/>
              </a:rPr>
              <a:t>Corcho: 1.098 m² a $2.500</a:t>
            </a:r>
            <a:endParaRPr lang="en-US" sz="1600" dirty="0"/>
          </a:p>
          <a:p>
            <a:pPr indent="0" marL="0">
              <a:lnSpc>
                <a:spcPct val="110000"/>
              </a:lnSpc>
              <a:buNone/>
            </a:pPr>
            <a:r>
              <a:rPr lang="en-US" sz="1600" dirty="0">
                <a:solidFill>
                  <a:schemeClr val="tx2"/>
                </a:solidFill>
                <a:latin typeface="Helvetica Neue" pitchFamily="34" charset="0"/>
                <a:ea typeface="Helvetica Neue" pitchFamily="34" charset="-122"/>
                <a:cs typeface="Helvetica Neue" pitchFamily="34" charset="-120"/>
              </a:rPr>
              <a:t>Sellador: 255 L</a:t>
            </a:r>
            <a:endParaRPr lang="en-US" sz="1600" dirty="0"/>
          </a:p>
        </p:txBody>
      </p:sp>
      <p:sp>
        <p:nvSpPr>
          <p:cNvPr id="8" name="Text 5"/>
          <p:cNvSpPr txBox="1"/>
          <p:nvPr/>
        </p:nvSpPr>
        <p:spPr>
          <a:xfrm>
            <a:off x="914400" y="3794760"/>
            <a:ext cx="4754880" cy="457200"/>
          </a:xfrm>
          <a:prstGeom prst="rect">
            <a:avLst/>
          </a:prstGeom>
          <a:noFill/>
          <a:ln/>
        </p:spPr>
        <p:txBody>
          <a:bodyPr wrap="square" lIns="0" tIns="0" rIns="0" bIns="0" rtlCol="0" anchor="t"/>
          <a:lstStyle/>
          <a:p>
            <a:pPr indent="0" marL="0">
              <a:buNone/>
            </a:pPr>
            <a:r>
              <a:rPr lang="en-US" sz="2200" b="1" dirty="0">
                <a:solidFill>
                  <a:schemeClr val="tx1"/>
                </a:solidFill>
                <a:latin typeface="Helvetica Neue" pitchFamily="34" charset="0"/>
                <a:ea typeface="Helvetica Neue" pitchFamily="34" charset="-122"/>
                <a:cs typeface="Helvetica Neue" pitchFamily="34" charset="-120"/>
              </a:rPr>
              <a:t>$46.306.051 por año</a:t>
            </a:r>
            <a:endParaRPr lang="en-US" sz="2200" dirty="0"/>
          </a:p>
        </p:txBody>
      </p:sp>
      <p:sp>
        <p:nvSpPr>
          <p:cNvPr id="9" name="Depósito ampliado · ≈106 m³"/>
          <p:cNvSpPr/>
          <p:nvPr/>
        </p:nvSpPr>
        <p:spPr>
          <a:xfrm>
            <a:off x="6236208" y="2286000"/>
            <a:ext cx="5349240" cy="2240280"/>
          </a:xfrm>
          <a:prstGeom prst="roundRect">
            <a:avLst>
              <a:gd name="adj" fmla="val 3265"/>
            </a:avLst>
          </a:prstGeom>
          <a:solidFill>
            <a:schemeClr val="bg1"/>
          </a:solidFill>
          <a:ln w="12700">
            <a:solidFill>
              <a:schemeClr val="accent3"/>
            </a:solidFill>
            <a:prstDash val="solid"/>
          </a:ln>
        </p:spPr>
      </p:sp>
      <p:sp>
        <p:nvSpPr>
          <p:cNvPr id="10" name="Text 7"/>
          <p:cNvSpPr txBox="1"/>
          <p:nvPr/>
        </p:nvSpPr>
        <p:spPr>
          <a:xfrm>
            <a:off x="6537960" y="2468880"/>
            <a:ext cx="4754880" cy="411480"/>
          </a:xfrm>
          <a:prstGeom prst="rect">
            <a:avLst/>
          </a:prstGeom>
          <a:noFill/>
          <a:ln/>
        </p:spPr>
        <p:txBody>
          <a:bodyPr wrap="square" lIns="0" tIns="0" rIns="0" bIns="0" rtlCol="0" anchor="t"/>
          <a:lstStyle/>
          <a:p>
            <a:pPr indent="0" marL="0">
              <a:buNone/>
            </a:pPr>
            <a:r>
              <a:rPr lang="en-US" sz="1900" b="1" dirty="0">
                <a:solidFill>
                  <a:schemeClr val="tx1"/>
                </a:solidFill>
                <a:latin typeface="Helvetica Neue" pitchFamily="34" charset="0"/>
                <a:ea typeface="Helvetica Neue" pitchFamily="34" charset="-122"/>
                <a:cs typeface="Helvetica Neue" pitchFamily="34" charset="-120"/>
              </a:rPr>
              <a:t>Depósito ampliado · ≈106 m³</a:t>
            </a:r>
            <a:endParaRPr lang="en-US" sz="1900" dirty="0"/>
          </a:p>
        </p:txBody>
      </p:sp>
      <p:sp>
        <p:nvSpPr>
          <p:cNvPr id="11" name="Text 8"/>
          <p:cNvSpPr txBox="1"/>
          <p:nvPr/>
        </p:nvSpPr>
        <p:spPr>
          <a:xfrm>
            <a:off x="6537960" y="2971800"/>
            <a:ext cx="4754880" cy="685800"/>
          </a:xfrm>
          <a:prstGeom prst="rect">
            <a:avLst/>
          </a:prstGeom>
          <a:noFill/>
          <a:ln/>
        </p:spPr>
        <p:txBody>
          <a:bodyPr wrap="square" lIns="0" tIns="0" rIns="0" bIns="0" rtlCol="0" anchor="t"/>
          <a:lstStyle/>
          <a:p>
            <a:pPr indent="0" marL="0">
              <a:lnSpc>
                <a:spcPct val="110000"/>
              </a:lnSpc>
              <a:buNone/>
            </a:pPr>
            <a:r>
              <a:rPr lang="en-US" sz="1600" dirty="0">
                <a:solidFill>
                  <a:schemeClr val="tx2"/>
                </a:solidFill>
                <a:latin typeface="Helvetica Neue" pitchFamily="34" charset="0"/>
                <a:ea typeface="Helvetica Neue" pitchFamily="34" charset="-122"/>
                <a:cs typeface="Helvetica Neue" pitchFamily="34" charset="-120"/>
              </a:rPr>
              <a:t>Corcho: 2.000 m² a $2.350</a:t>
            </a:r>
            <a:endParaRPr lang="en-US" sz="1600" dirty="0"/>
          </a:p>
          <a:p>
            <a:pPr indent="0" marL="0">
              <a:lnSpc>
                <a:spcPct val="110000"/>
              </a:lnSpc>
              <a:buNone/>
            </a:pPr>
            <a:r>
              <a:rPr lang="en-US" sz="1600" dirty="0">
                <a:solidFill>
                  <a:schemeClr val="tx2"/>
                </a:solidFill>
                <a:latin typeface="Helvetica Neue" pitchFamily="34" charset="0"/>
                <a:ea typeface="Helvetica Neue" pitchFamily="34" charset="-122"/>
                <a:cs typeface="Helvetica Neue" pitchFamily="34" charset="-120"/>
              </a:rPr>
              <a:t>Sellador: 309 L</a:t>
            </a:r>
            <a:endParaRPr lang="en-US" sz="1600" dirty="0"/>
          </a:p>
        </p:txBody>
      </p:sp>
      <p:sp>
        <p:nvSpPr>
          <p:cNvPr id="12" name="Text 9"/>
          <p:cNvSpPr txBox="1"/>
          <p:nvPr/>
        </p:nvSpPr>
        <p:spPr>
          <a:xfrm>
            <a:off x="6537960" y="3794760"/>
            <a:ext cx="4754880" cy="457200"/>
          </a:xfrm>
          <a:prstGeom prst="rect">
            <a:avLst/>
          </a:prstGeom>
          <a:noFill/>
          <a:ln/>
        </p:spPr>
        <p:txBody>
          <a:bodyPr wrap="square" lIns="0" tIns="0" rIns="0" bIns="0" rtlCol="0" anchor="t"/>
          <a:lstStyle/>
          <a:p>
            <a:pPr indent="0" marL="0">
              <a:buNone/>
            </a:pPr>
            <a:r>
              <a:rPr lang="en-US" sz="2200" b="1" dirty="0">
                <a:solidFill>
                  <a:schemeClr val="accent1"/>
                </a:solidFill>
                <a:latin typeface="Helvetica Neue" pitchFamily="34" charset="0"/>
                <a:ea typeface="Helvetica Neue" pitchFamily="34" charset="-122"/>
                <a:cs typeface="Helvetica Neue" pitchFamily="34" charset="-120"/>
              </a:rPr>
              <a:t>$43.685.638 por año</a:t>
            </a:r>
            <a:endParaRPr lang="en-US" sz="2200" dirty="0"/>
          </a:p>
        </p:txBody>
      </p:sp>
      <p:sp>
        <p:nvSpPr>
          <p:cNvPr id="13" name="Ahorro ampliacion valor"/>
          <p:cNvSpPr txBox="1"/>
          <p:nvPr/>
        </p:nvSpPr>
        <p:spPr>
          <a:xfrm>
            <a:off x="612648" y="4754880"/>
            <a:ext cx="3474720" cy="426720"/>
          </a:xfrm>
          <a:prstGeom prst="rect">
            <a:avLst/>
          </a:prstGeom>
          <a:noFill/>
          <a:ln/>
        </p:spPr>
        <p:txBody>
          <a:bodyPr wrap="square" lIns="0" tIns="0" rIns="0" bIns="0" rtlCol="0" anchor="t"/>
          <a:lstStyle/>
          <a:p>
            <a:pPr indent="0" marL="0">
              <a:buNone/>
            </a:pPr>
            <a:r>
              <a:rPr lang="en-US" sz="2800" b="1" dirty="0">
                <a:solidFill>
                  <a:schemeClr val="accent1"/>
                </a:solidFill>
                <a:latin typeface="Helvetica Neue" pitchFamily="34" charset="0"/>
                <a:ea typeface="Helvetica Neue" pitchFamily="34" charset="-122"/>
                <a:cs typeface="Helvetica Neue" pitchFamily="34" charset="-120"/>
              </a:rPr>
              <a:t>≈$2.620.000</a:t>
            </a:r>
            <a:endParaRPr lang="en-US" sz="2800" dirty="0"/>
          </a:p>
        </p:txBody>
      </p:sp>
      <p:sp>
        <p:nvSpPr>
          <p:cNvPr id="14" name="Ahorro ampliacion etiqueta"/>
          <p:cNvSpPr txBox="1"/>
          <p:nvPr/>
        </p:nvSpPr>
        <p:spPr>
          <a:xfrm>
            <a:off x="612648" y="5254752"/>
            <a:ext cx="3474720" cy="685800"/>
          </a:xfrm>
          <a:prstGeom prst="rect">
            <a:avLst/>
          </a:prstGeom>
          <a:noFill/>
          <a:ln/>
        </p:spPr>
        <p:txBody>
          <a:bodyPr wrap="square" lIns="0" tIns="0" rIns="0" bIns="0" rtlCol="0" anchor="t"/>
          <a:lstStyle/>
          <a:p>
            <a:pPr indent="0" marL="0">
              <a:buNone/>
            </a:pPr>
            <a:r>
              <a:rPr lang="en-US" sz="1600" dirty="0">
                <a:solidFill>
                  <a:schemeClr val="tx2"/>
                </a:solidFill>
                <a:latin typeface="Helvetica Neue" pitchFamily="34" charset="0"/>
                <a:ea typeface="Helvetica Neue" pitchFamily="34" charset="-122"/>
                <a:cs typeface="Helvetica Neue" pitchFamily="34" charset="-120"/>
              </a:rPr>
              <a:t>de ahorro anual al ampliar</a:t>
            </a:r>
            <a:endParaRPr lang="en-US" sz="1600" dirty="0"/>
          </a:p>
        </p:txBody>
      </p:sp>
      <p:sp>
        <p:nvSpPr>
          <p:cNvPr id="15" name="Ampliacion valor"/>
          <p:cNvSpPr txBox="1"/>
          <p:nvPr/>
        </p:nvSpPr>
        <p:spPr>
          <a:xfrm>
            <a:off x="4343400" y="4754880"/>
            <a:ext cx="3291840" cy="426720"/>
          </a:xfrm>
          <a:prstGeom prst="rect">
            <a:avLst/>
          </a:prstGeom>
          <a:noFill/>
          <a:ln/>
        </p:spPr>
        <p:txBody>
          <a:bodyPr wrap="square" lIns="0" tIns="0" rIns="0" bIns="0" rtlCol="0" anchor="t"/>
          <a:lstStyle/>
          <a:p>
            <a:pPr indent="0" marL="0">
              <a:buNone/>
            </a:pPr>
            <a:r>
              <a:rPr lang="en-US" sz="2800" b="1" dirty="0">
                <a:solidFill>
                  <a:schemeClr val="accent1"/>
                </a:solidFill>
                <a:latin typeface="Helvetica Neue" pitchFamily="34" charset="0"/>
                <a:ea typeface="Helvetica Neue" pitchFamily="34" charset="-122"/>
                <a:cs typeface="Helvetica Neue" pitchFamily="34" charset="-120"/>
              </a:rPr>
              <a:t>+46 m³</a:t>
            </a:r>
            <a:endParaRPr lang="en-US" sz="2800" dirty="0"/>
          </a:p>
        </p:txBody>
      </p:sp>
      <p:sp>
        <p:nvSpPr>
          <p:cNvPr id="16" name="Ampliacion etiqueta"/>
          <p:cNvSpPr txBox="1"/>
          <p:nvPr/>
        </p:nvSpPr>
        <p:spPr>
          <a:xfrm>
            <a:off x="4343400" y="5254752"/>
            <a:ext cx="3291840" cy="685800"/>
          </a:xfrm>
          <a:prstGeom prst="rect">
            <a:avLst/>
          </a:prstGeom>
          <a:noFill/>
          <a:ln/>
        </p:spPr>
        <p:txBody>
          <a:bodyPr wrap="square" lIns="0" tIns="0" rIns="0" bIns="0" rtlCol="0" anchor="t"/>
          <a:lstStyle/>
          <a:p>
            <a:pPr indent="0" marL="0">
              <a:buNone/>
            </a:pPr>
            <a:r>
              <a:rPr lang="en-US" sz="1600" dirty="0">
                <a:solidFill>
                  <a:schemeClr val="tx2"/>
                </a:solidFill>
                <a:latin typeface="Helvetica Neue" pitchFamily="34" charset="0"/>
                <a:ea typeface="Helvetica Neue" pitchFamily="34" charset="-122"/>
                <a:cs typeface="Helvetica Neue" pitchFamily="34" charset="-120"/>
              </a:rPr>
              <a:t>de depósito necesarios</a:t>
            </a:r>
            <a:endParaRPr lang="en-US" sz="1600" dirty="0"/>
          </a:p>
        </p:txBody>
      </p:sp>
      <p:sp>
        <p:nvSpPr>
          <p:cNvPr id="17" name="Tope valor"/>
          <p:cNvSpPr txBox="1"/>
          <p:nvPr/>
        </p:nvSpPr>
        <p:spPr>
          <a:xfrm>
            <a:off x="7909560" y="4754880"/>
            <a:ext cx="3657600" cy="426720"/>
          </a:xfrm>
          <a:prstGeom prst="rect">
            <a:avLst/>
          </a:prstGeom>
          <a:noFill/>
          <a:ln/>
        </p:spPr>
        <p:txBody>
          <a:bodyPr wrap="square" lIns="0" tIns="0" rIns="0" bIns="0" rtlCol="0" anchor="t"/>
          <a:lstStyle/>
          <a:p>
            <a:pPr indent="0" marL="0">
              <a:buNone/>
            </a:pPr>
            <a:r>
              <a:rPr lang="en-US" sz="2800" b="1" dirty="0">
                <a:solidFill>
                  <a:schemeClr val="accent1"/>
                </a:solidFill>
                <a:latin typeface="Helvetica Neue" pitchFamily="34" charset="0"/>
                <a:ea typeface="Helvetica Neue" pitchFamily="34" charset="-122"/>
                <a:cs typeface="Helvetica Neue" pitchFamily="34" charset="-120"/>
              </a:rPr>
              <a:t>&lt; $56.750</a:t>
            </a:r>
            <a:endParaRPr lang="en-US" sz="2800" dirty="0"/>
          </a:p>
        </p:txBody>
      </p:sp>
      <p:sp>
        <p:nvSpPr>
          <p:cNvPr id="18" name="Tope etiqueta"/>
          <p:cNvSpPr txBox="1"/>
          <p:nvPr/>
        </p:nvSpPr>
        <p:spPr>
          <a:xfrm>
            <a:off x="7909560" y="5254752"/>
            <a:ext cx="3657600" cy="685800"/>
          </a:xfrm>
          <a:prstGeom prst="rect">
            <a:avLst/>
          </a:prstGeom>
          <a:noFill/>
          <a:ln/>
        </p:spPr>
        <p:txBody>
          <a:bodyPr wrap="square" lIns="0" tIns="0" rIns="0" bIns="0" rtlCol="0" anchor="t"/>
          <a:lstStyle/>
          <a:p>
            <a:pPr indent="0" marL="0">
              <a:buNone/>
            </a:pPr>
            <a:r>
              <a:rPr lang="en-US" sz="1600" dirty="0">
                <a:solidFill>
                  <a:schemeClr val="tx2"/>
                </a:solidFill>
                <a:latin typeface="Helvetica Neue" pitchFamily="34" charset="0"/>
                <a:ea typeface="Helvetica Neue" pitchFamily="34" charset="-122"/>
                <a:cs typeface="Helvetica Neue" pitchFamily="34" charset="-120"/>
              </a:rPr>
              <a:t>por m³ y por año: costo máximo para que convenga</a:t>
            </a:r>
            <a:endParaRPr lang="en-US" sz="1600" dirty="0"/>
          </a:p>
        </p:txBody>
      </p:sp>
      <p:sp>
        <p:nvSpPr>
          <p:cNvPr id="19" name="Text 16"/>
          <p:cNvSpPr txBox="1"/>
          <p:nvPr/>
        </p:nvSpPr>
        <p:spPr>
          <a:xfrm>
            <a:off x="612648" y="5989320"/>
            <a:ext cx="10241280" cy="365760"/>
          </a:xfrm>
          <a:prstGeom prst="rect">
            <a:avLst/>
          </a:prstGeom>
          <a:noFill/>
          <a:ln/>
        </p:spPr>
        <p:txBody>
          <a:bodyPr wrap="square" lIns="0" tIns="0" rIns="0" bIns="0" rtlCol="0" anchor="t"/>
          <a:lstStyle/>
          <a:p>
            <a:pPr indent="0" marL="0">
              <a:buNone/>
            </a:pPr>
            <a:r>
              <a:rPr lang="en-US" sz="1400" dirty="0">
                <a:solidFill>
                  <a:schemeClr val="tx2"/>
                </a:solidFill>
                <a:latin typeface="Helvetica Neue" pitchFamily="34" charset="0"/>
                <a:ea typeface="Helvetica Neue" pitchFamily="34" charset="-122"/>
                <a:cs typeface="Helvetica Neue" pitchFamily="34" charset="-120"/>
              </a:rPr>
              <a:t>El tope supera a λ* porque la ampliación, además de espacio, habilita el precio con descuento.</a:t>
            </a:r>
            <a:endParaRPr lang="en-US" sz="1400" dirty="0"/>
          </a:p>
        </p:txBody>
      </p:sp>
      <p:sp>
        <p:nvSpPr>
          <p:cNvPr id="25" name="Slide Number Placeholder 0"/>
          <p:cNvSpPr>
            <a:spLocks noGrp="1"/>
          </p:cNvSpPr>
          <p:nvPr>
            <p:ph type="sldNum" sz="quarter" idx="4294967295"/>
          </p:nvPr>
        </p:nvSpPr>
        <p:spPr>
          <a:xfrm>
            <a:off x="10954512" y="6364224"/>
            <a:ext cx="630936" cy="265176"/>
          </a:xfrm>
          <a:prstGeom prst="rect">
            <a:avLst/>
          </a:prstGeom>
          <a:extLst>
            <a:ext uri="{C572A759-6A51-4108-AA02-DFA0A04FC94B}">
              <ma14:wrappingTextBoxFlag xmlns:ma14="http://schemas.microsoft.com/office/mac/drawingml/2011/main" val="0"/>
            </a:ext>
          </a:extLst>
        </p:spPr>
        <p:txBody>
          <a:bodyPr/>
          <a:lstStyle>
            <a:lvl1pPr>
              <a:defRPr sz="1350">
                <a:solidFill>
                  <a:schemeClr val="tx2"/>
                </a:solidFill>
                <a:latin typeface="Helvetica Neue"/>
                <a:ea typeface="Helvetica Neue"/>
                <a:cs typeface="Helvetica Neue"/>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title" hasCustomPrompt="1"/>
          </p:nvPr>
        </p:nvSpPr>
        <p:spPr>
          <a:xfrm>
            <a:off x="612648" y="493776"/>
            <a:ext cx="10972800" cy="950976"/>
          </a:xfrm>
          <a:prstGeom prst="rect">
            <a:avLst/>
          </a:prstGeom>
          <a:noFill/>
          <a:ln/>
        </p:spPr>
        <p:txBody>
          <a:bodyPr wrap="square" lIns="0" tIns="0" rIns="0" bIns="0" rtlCol="0" anchor="ctr"/>
          <a:lstStyle/>
          <a:p>
            <a:pPr algn="l" indent="0" marL="0">
              <a:buNone/>
            </a:pPr>
            <a:r>
              <a:rPr lang="en-US" sz="3300" b="1" dirty="0">
                <a:solidFill>
                  <a:schemeClr val="tx1"/>
                </a:solidFill>
                <a:latin typeface="Helvetica Neue" pitchFamily="34" charset="0"/>
                <a:ea typeface="Helvetica Neue" pitchFamily="34" charset="-122"/>
                <a:cs typeface="Helvetica Neue" pitchFamily="34" charset="-120"/>
              </a:rPr>
              <a:t>Demanda variable: planteo</a:t>
            </a:r>
            <a:endParaRPr lang="en-US" sz="3300" dirty="0"/>
          </a:p>
        </p:txBody>
      </p:sp>
      <p:graphicFrame>
        <p:nvGraphicFramePr>
          <p:cNvPr id="10" name="Tabla datos aleatorio"/>
          <p:cNvGraphicFramePr>
            <a:graphicFrameLocks noGrp="1"/>
          </p:cNvGraphicFramePr>
          <p:nvPr>
            <p:extLst>
              <p:ext uri="{D42A27DB-BD31-4B8C-83A1-F6EECF244321}">
                <p14:modId xmlns:p14="http://schemas.microsoft.com/office/powerpoint/2010/main" val="1579011935"/>
              </p:ext>
            </p:extLst>
          </p:nvPr>
        </p:nvGraphicFramePr>
        <p:xfrm>
          <a:off x="612648" y="1600200"/>
          <a:ext cx="5486400" cy="914400"/>
        </p:xfrm>
        <a:graphic>
          <a:graphicData uri="http://schemas.openxmlformats.org/drawingml/2006/table">
            <a:tbl>
              <a:tblPr/>
              <a:tblGrid>
                <a:gridCol w="3017520"/>
                <a:gridCol w="2468880"/>
              </a:tblGrid>
              <a:tr h="512064">
                <a:tc>
                  <a:txBody>
                    <a:bodyPr/>
                    <a:lstStyle/>
                    <a:p>
                      <a:pPr algn="l" indent="0" marL="0">
                        <a:buNone/>
                      </a:pPr>
                      <a:r>
                        <a:rPr lang="en-US" sz="1700" b="1" dirty="0">
                          <a:solidFill>
                            <a:schemeClr val="bg1"/>
                          </a:solidFill>
                          <a:latin typeface="Helvetica Neue" pitchFamily="34" charset="0"/>
                          <a:ea typeface="Helvetica Neue" pitchFamily="34" charset="-122"/>
                          <a:cs typeface="Helvetica Neue" pitchFamily="34" charset="-120"/>
                        </a:rPr>
                        <a:t>Parámetro</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c>
                  <a:txBody>
                    <a:bodyPr/>
                    <a:lstStyle/>
                    <a:p>
                      <a:pPr algn="ctr" indent="0" marL="0">
                        <a:buNone/>
                      </a:pPr>
                      <a:r>
                        <a:rPr lang="en-US" sz="1700" b="1" dirty="0">
                          <a:solidFill>
                            <a:schemeClr val="bg1"/>
                          </a:solidFill>
                          <a:latin typeface="Helvetica Neue" pitchFamily="34" charset="0"/>
                          <a:ea typeface="Helvetica Neue" pitchFamily="34" charset="-122"/>
                          <a:cs typeface="Helvetica Neue" pitchFamily="34" charset="-120"/>
                        </a:rPr>
                        <a:t>Valor</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r>
              <a:tr h="512064">
                <a:tc>
                  <a:txBody>
                    <a:bodyPr/>
                    <a:lstStyle/>
                    <a:p>
                      <a:pPr algn="l" indent="0" marL="0">
                        <a:buNone/>
                      </a:pPr>
                      <a:r>
                        <a:rPr lang="en-US" sz="1700" dirty="0">
                          <a:solidFill>
                            <a:schemeClr val="tx1"/>
                          </a:solidFill>
                          <a:latin typeface="Helvetica Neue" pitchFamily="34" charset="0"/>
                          <a:ea typeface="Helvetica Neue" pitchFamily="34" charset="-122"/>
                          <a:cs typeface="Helvetica Neue" pitchFamily="34" charset="-120"/>
                        </a:rPr>
                        <a:t>Demanda diaria media (d̄)</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700" dirty="0">
                          <a:solidFill>
                            <a:schemeClr val="tx1"/>
                          </a:solidFill>
                          <a:latin typeface="Helvetica Neue" pitchFamily="34" charset="0"/>
                          <a:ea typeface="Helvetica Neue" pitchFamily="34" charset="-122"/>
                          <a:cs typeface="Helvetica Neue" pitchFamily="34" charset="-120"/>
                        </a:rPr>
                        <a:t>47,01 m²</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r>
              <a:tr h="512064">
                <a:tc>
                  <a:txBody>
                    <a:bodyPr/>
                    <a:lstStyle/>
                    <a:p>
                      <a:pPr algn="l" indent="0" marL="0">
                        <a:buNone/>
                      </a:pPr>
                      <a:r>
                        <a:rPr lang="en-US" sz="1700" dirty="0">
                          <a:solidFill>
                            <a:schemeClr val="tx1"/>
                          </a:solidFill>
                          <a:latin typeface="Helvetica Neue" pitchFamily="34" charset="0"/>
                          <a:ea typeface="Helvetica Neue" pitchFamily="34" charset="-122"/>
                          <a:cs typeface="Helvetica Neue" pitchFamily="34" charset="-120"/>
                        </a:rPr>
                        <a:t>Desvío diario (σd)</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c>
                  <a:txBody>
                    <a:bodyPr/>
                    <a:lstStyle/>
                    <a:p>
                      <a:pPr algn="ctr" indent="0" marL="0">
                        <a:buNone/>
                      </a:pPr>
                      <a:r>
                        <a:rPr lang="en-US" sz="1700" dirty="0">
                          <a:solidFill>
                            <a:schemeClr val="tx1"/>
                          </a:solidFill>
                          <a:latin typeface="Helvetica Neue" pitchFamily="34" charset="0"/>
                          <a:ea typeface="Helvetica Neue" pitchFamily="34" charset="-122"/>
                          <a:cs typeface="Helvetica Neue" pitchFamily="34" charset="-120"/>
                        </a:rPr>
                        <a:t>8 m²</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r>
              <a:tr h="512064">
                <a:tc>
                  <a:txBody>
                    <a:bodyPr/>
                    <a:lstStyle/>
                    <a:p>
                      <a:pPr algn="l" indent="0" marL="0">
                        <a:buNone/>
                      </a:pPr>
                      <a:r>
                        <a:rPr lang="en-US" sz="1700" dirty="0">
                          <a:solidFill>
                            <a:schemeClr val="tx1"/>
                          </a:solidFill>
                          <a:latin typeface="Helvetica Neue" pitchFamily="34" charset="0"/>
                          <a:ea typeface="Helvetica Neue" pitchFamily="34" charset="-122"/>
                          <a:cs typeface="Helvetica Neue" pitchFamily="34" charset="-120"/>
                        </a:rPr>
                        <a:t>Plazo de entrega (LT)</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700" dirty="0">
                          <a:solidFill>
                            <a:schemeClr val="tx1"/>
                          </a:solidFill>
                          <a:latin typeface="Helvetica Neue" pitchFamily="34" charset="0"/>
                          <a:ea typeface="Helvetica Neue" pitchFamily="34" charset="-122"/>
                          <a:cs typeface="Helvetica Neue" pitchFamily="34" charset="-120"/>
                        </a:rPr>
                        <a:t>10 días, constante</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r>
              <a:tr h="512064">
                <a:tc>
                  <a:txBody>
                    <a:bodyPr/>
                    <a:lstStyle/>
                    <a:p>
                      <a:pPr algn="l" indent="0" marL="0">
                        <a:buNone/>
                      </a:pPr>
                      <a:r>
                        <a:rPr lang="en-US" sz="1700" dirty="0">
                          <a:solidFill>
                            <a:schemeClr val="tx1"/>
                          </a:solidFill>
                          <a:latin typeface="Helvetica Neue" pitchFamily="34" charset="0"/>
                          <a:ea typeface="Helvetica Neue" pitchFamily="34" charset="-122"/>
                          <a:cs typeface="Helvetica Neue" pitchFamily="34" charset="-120"/>
                        </a:rPr>
                        <a:t>Riesgo de faltante</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c>
                  <a:txBody>
                    <a:bodyPr/>
                    <a:lstStyle/>
                    <a:p>
                      <a:pPr algn="ctr" indent="0" marL="0">
                        <a:buNone/>
                      </a:pPr>
                      <a:r>
                        <a:rPr lang="en-US" sz="1700" dirty="0">
                          <a:solidFill>
                            <a:schemeClr val="tx1"/>
                          </a:solidFill>
                          <a:latin typeface="Helvetica Neue" pitchFamily="34" charset="0"/>
                          <a:ea typeface="Helvetica Neue" pitchFamily="34" charset="-122"/>
                          <a:cs typeface="Helvetica Neue" pitchFamily="34" charset="-120"/>
                        </a:rPr>
                        <a:t>5% → z = 1,645</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r>
            </a:tbl>
          </a:graphicData>
        </a:graphic>
      </p:graphicFrame>
      <p:sp>
        <p:nvSpPr>
          <p:cNvPr id="5" name="Text 1"/>
          <p:cNvSpPr txBox="1"/>
          <p:nvPr/>
        </p:nvSpPr>
        <p:spPr>
          <a:xfrm>
            <a:off x="612648" y="4434840"/>
            <a:ext cx="5486400" cy="731520"/>
          </a:xfrm>
          <a:prstGeom prst="rect">
            <a:avLst/>
          </a:prstGeom>
          <a:noFill/>
          <a:ln/>
        </p:spPr>
        <p:txBody>
          <a:bodyPr wrap="square" lIns="0" tIns="0" rIns="0" bIns="0" rtlCol="0" anchor="t"/>
          <a:lstStyle/>
          <a:p>
            <a:pPr indent="0" marL="0">
              <a:buNone/>
            </a:pPr>
            <a:r>
              <a:rPr lang="en-US" sz="1800" b="1" dirty="0">
                <a:solidFill>
                  <a:schemeClr val="accent5"/>
                </a:solidFill>
                <a:latin typeface="Helvetica Neue" pitchFamily="34" charset="0"/>
                <a:ea typeface="Helvetica Neue" pitchFamily="34" charset="-122"/>
                <a:cs typeface="Helvetica Neue" pitchFamily="34" charset="-120"/>
              </a:rPr>
              <a:t>Sin colchón, faltaría corcho en la mitad de los ciclos.</a:t>
            </a:r>
            <a:endParaRPr lang="en-US" sz="1800" dirty="0"/>
          </a:p>
        </p:txBody>
      </p:sp>
      <p:sp>
        <p:nvSpPr>
          <p:cNvPr id="6" name="Demanda en el plazo"/>
          <p:cNvSpPr/>
          <p:nvPr/>
        </p:nvSpPr>
        <p:spPr>
          <a:xfrm>
            <a:off x="6400800" y="1600200"/>
            <a:ext cx="5184648" cy="3611880"/>
          </a:xfrm>
          <a:prstGeom prst="roundRect">
            <a:avLst>
              <a:gd name="adj" fmla="val 2025"/>
            </a:avLst>
          </a:prstGeom>
          <a:solidFill>
            <a:schemeClr val="bg1"/>
          </a:solidFill>
          <a:ln w="12700">
            <a:solidFill>
              <a:schemeClr val="accent3"/>
            </a:solidFill>
            <a:prstDash val="solid"/>
          </a:ln>
        </p:spPr>
      </p:sp>
      <p:sp>
        <p:nvSpPr>
          <p:cNvPr id="7" name="Text 3"/>
          <p:cNvSpPr txBox="1"/>
          <p:nvPr/>
        </p:nvSpPr>
        <p:spPr>
          <a:xfrm>
            <a:off x="6675120" y="1828800"/>
            <a:ext cx="4663440" cy="411480"/>
          </a:xfrm>
          <a:prstGeom prst="rect">
            <a:avLst/>
          </a:prstGeom>
          <a:noFill/>
          <a:ln/>
        </p:spPr>
        <p:txBody>
          <a:bodyPr wrap="square" lIns="0" tIns="0" rIns="0" bIns="0" rtlCol="0" anchor="t"/>
          <a:lstStyle/>
          <a:p>
            <a:pPr indent="0" marL="0">
              <a:buNone/>
            </a:pPr>
            <a:r>
              <a:rPr lang="en-US" sz="1700" b="1" dirty="0">
                <a:solidFill>
                  <a:schemeClr val="tx1"/>
                </a:solidFill>
                <a:latin typeface="Helvetica Neue" pitchFamily="34" charset="0"/>
                <a:ea typeface="Helvetica Neue" pitchFamily="34" charset="-122"/>
                <a:cs typeface="Helvetica Neue" pitchFamily="34" charset="-120"/>
              </a:rPr>
              <a:t>Demanda durante el plazo de entrega ~ Normal</a:t>
            </a:r>
            <a:endParaRPr lang="en-US" sz="1700" dirty="0"/>
          </a:p>
        </p:txBody>
      </p:sp>
      <p:sp>
        <p:nvSpPr>
          <p:cNvPr id="8" name="Text 4"/>
          <p:cNvSpPr txBox="1"/>
          <p:nvPr/>
        </p:nvSpPr>
        <p:spPr>
          <a:xfrm>
            <a:off x="6675120" y="2377440"/>
            <a:ext cx="4663440" cy="914400"/>
          </a:xfrm>
          <a:prstGeom prst="rect">
            <a:avLst/>
          </a:prstGeom>
          <a:noFill/>
          <a:ln/>
        </p:spPr>
        <p:txBody>
          <a:bodyPr wrap="square" lIns="0" tIns="0" rIns="0" bIns="0" rtlCol="0" anchor="t"/>
          <a:lstStyle/>
          <a:p>
            <a:pPr indent="0" marL="0">
              <a:lnSpc>
                <a:spcPct val="120000"/>
              </a:lnSpc>
              <a:buNone/>
            </a:pPr>
            <a:r>
              <a:rPr lang="en-US" sz="1700" dirty="0">
                <a:solidFill>
                  <a:schemeClr val="tx1"/>
                </a:solidFill>
                <a:latin typeface="Helvetica Neue" pitchFamily="34" charset="0"/>
                <a:ea typeface="Helvetica Neue" pitchFamily="34" charset="-122"/>
                <a:cs typeface="Helvetica Neue" pitchFamily="34" charset="-120"/>
              </a:rPr>
              <a:t>μ = d̄ · LT = 47,01 × 10 = 470,1 m²</a:t>
            </a:r>
            <a:endParaRPr lang="en-US" sz="1700" dirty="0"/>
          </a:p>
          <a:p>
            <a:pPr indent="0" marL="0">
              <a:lnSpc>
                <a:spcPct val="120000"/>
              </a:lnSpc>
              <a:buNone/>
            </a:pPr>
            <a:r>
              <a:rPr lang="en-US" sz="1700" dirty="0">
                <a:solidFill>
                  <a:schemeClr val="tx1"/>
                </a:solidFill>
                <a:latin typeface="Helvetica Neue" pitchFamily="34" charset="0"/>
                <a:ea typeface="Helvetica Neue" pitchFamily="34" charset="-122"/>
                <a:cs typeface="Helvetica Neue" pitchFamily="34" charset="-120"/>
              </a:rPr>
              <a:t>σ = σd · √LT = 8 × √10 = 25,3 m²</a:t>
            </a:r>
            <a:endParaRPr lang="en-US" sz="1700" dirty="0"/>
          </a:p>
        </p:txBody>
      </p:sp>
      <p:sp>
        <p:nvSpPr>
          <p:cNvPr id="9" name="Text 5"/>
          <p:cNvSpPr txBox="1"/>
          <p:nvPr/>
        </p:nvSpPr>
        <p:spPr>
          <a:xfrm>
            <a:off x="6675120" y="3611880"/>
            <a:ext cx="4663440" cy="914400"/>
          </a:xfrm>
          <a:prstGeom prst="rect">
            <a:avLst/>
          </a:prstGeom>
          <a:noFill/>
          <a:ln/>
        </p:spPr>
        <p:txBody>
          <a:bodyPr wrap="square" lIns="0" tIns="0" rIns="0" bIns="0" rtlCol="0" anchor="t"/>
          <a:lstStyle/>
          <a:p>
            <a:pPr indent="0" marL="0">
              <a:lnSpc>
                <a:spcPct val="115000"/>
              </a:lnSpc>
              <a:buNone/>
            </a:pPr>
            <a:r>
              <a:rPr lang="en-US" sz="2200" b="1" dirty="0">
                <a:solidFill>
                  <a:schemeClr val="accent1"/>
                </a:solidFill>
                <a:latin typeface="Helvetica Neue" pitchFamily="34" charset="0"/>
                <a:ea typeface="Helvetica Neue" pitchFamily="34" charset="-122"/>
                <a:cs typeface="Helvetica Neue" pitchFamily="34" charset="-120"/>
              </a:rPr>
              <a:t>SS = z · σ</a:t>
            </a:r>
            <a:endParaRPr lang="en-US" sz="2200" dirty="0"/>
          </a:p>
          <a:p>
            <a:pPr indent="0" marL="0">
              <a:lnSpc>
                <a:spcPct val="115000"/>
              </a:lnSpc>
              <a:buNone/>
            </a:pPr>
            <a:r>
              <a:rPr lang="en-US" sz="2200" b="1" dirty="0">
                <a:solidFill>
                  <a:schemeClr val="accent1"/>
                </a:solidFill>
                <a:latin typeface="Helvetica Neue" pitchFamily="34" charset="0"/>
                <a:ea typeface="Helvetica Neue" pitchFamily="34" charset="-122"/>
                <a:cs typeface="Helvetica Neue" pitchFamily="34" charset="-120"/>
              </a:rPr>
              <a:t>PP = μ + SS</a:t>
            </a:r>
            <a:endParaRPr lang="en-US" sz="2200" dirty="0"/>
          </a:p>
        </p:txBody>
      </p:sp>
      <p:sp>
        <p:nvSpPr>
          <p:cNvPr id="25" name="Slide Number Placeholder 0"/>
          <p:cNvSpPr>
            <a:spLocks noGrp="1"/>
          </p:cNvSpPr>
          <p:nvPr>
            <p:ph type="sldNum" sz="quarter" idx="4294967295"/>
          </p:nvPr>
        </p:nvSpPr>
        <p:spPr>
          <a:xfrm>
            <a:off x="10954512" y="6364224"/>
            <a:ext cx="630936" cy="265176"/>
          </a:xfrm>
          <a:prstGeom prst="rect">
            <a:avLst/>
          </a:prstGeom>
          <a:extLst>
            <a:ext uri="{C572A759-6A51-4108-AA02-DFA0A04FC94B}">
              <ma14:wrappingTextBoxFlag xmlns:ma14="http://schemas.microsoft.com/office/mac/drawingml/2011/main" val="0"/>
            </a:ext>
          </a:extLst>
        </p:spPr>
        <p:txBody>
          <a:bodyPr/>
          <a:lstStyle>
            <a:lvl1pPr>
              <a:defRPr sz="1350">
                <a:solidFill>
                  <a:schemeClr val="tx2"/>
                </a:solidFill>
                <a:latin typeface="Helvetica Neue"/>
                <a:ea typeface="Helvetica Neue"/>
                <a:cs typeface="Helvetica Neue"/>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title" hasCustomPrompt="1"/>
          </p:nvPr>
        </p:nvSpPr>
        <p:spPr>
          <a:xfrm>
            <a:off x="612648" y="493776"/>
            <a:ext cx="10972800" cy="950976"/>
          </a:xfrm>
          <a:prstGeom prst="rect">
            <a:avLst/>
          </a:prstGeom>
          <a:noFill/>
          <a:ln/>
        </p:spPr>
        <p:txBody>
          <a:bodyPr wrap="square" lIns="0" tIns="0" rIns="0" bIns="0" rtlCol="0" anchor="ctr"/>
          <a:lstStyle/>
          <a:p>
            <a:pPr algn="l" indent="0" marL="0">
              <a:buNone/>
            </a:pPr>
            <a:r>
              <a:rPr lang="en-US" sz="3300" b="1" dirty="0">
                <a:solidFill>
                  <a:schemeClr val="tx1"/>
                </a:solidFill>
                <a:latin typeface="Helvetica Neue" pitchFamily="34" charset="0"/>
                <a:ea typeface="Helvetica Neue" pitchFamily="34" charset="-122"/>
                <a:cs typeface="Helvetica Neue" pitchFamily="34" charset="-120"/>
              </a:rPr>
              <a:t>Stock de seguridad y punto de pedido</a:t>
            </a:r>
            <a:endParaRPr lang="en-US" sz="3300" dirty="0"/>
          </a:p>
        </p:txBody>
      </p:sp>
      <p:sp>
        <p:nvSpPr>
          <p:cNvPr id="4" name="Stock de seguridad valor"/>
          <p:cNvSpPr txBox="1"/>
          <p:nvPr/>
        </p:nvSpPr>
        <p:spPr>
          <a:xfrm>
            <a:off x="612648" y="1600200"/>
            <a:ext cx="4937760" cy="701040"/>
          </a:xfrm>
          <a:prstGeom prst="rect">
            <a:avLst/>
          </a:prstGeom>
          <a:noFill/>
          <a:ln/>
        </p:spPr>
        <p:txBody>
          <a:bodyPr wrap="square" lIns="0" tIns="0" rIns="0" bIns="0" rtlCol="0" anchor="t"/>
          <a:lstStyle/>
          <a:p>
            <a:pPr indent="0" marL="0">
              <a:buNone/>
            </a:pPr>
            <a:r>
              <a:rPr lang="en-US" sz="4600" b="1" dirty="0">
                <a:solidFill>
                  <a:schemeClr val="accent1"/>
                </a:solidFill>
                <a:latin typeface="Helvetica Neue" pitchFamily="34" charset="0"/>
                <a:ea typeface="Helvetica Neue" pitchFamily="34" charset="-122"/>
                <a:cs typeface="Helvetica Neue" pitchFamily="34" charset="-120"/>
              </a:rPr>
              <a:t>42 m²</a:t>
            </a:r>
            <a:endParaRPr lang="en-US" sz="4600" dirty="0"/>
          </a:p>
        </p:txBody>
      </p:sp>
      <p:sp>
        <p:nvSpPr>
          <p:cNvPr id="5" name="Stock de seguridad etiqueta"/>
          <p:cNvSpPr txBox="1"/>
          <p:nvPr/>
        </p:nvSpPr>
        <p:spPr>
          <a:xfrm>
            <a:off x="612648" y="2374392"/>
            <a:ext cx="4937760" cy="685800"/>
          </a:xfrm>
          <a:prstGeom prst="rect">
            <a:avLst/>
          </a:prstGeom>
          <a:noFill/>
          <a:ln/>
        </p:spPr>
        <p:txBody>
          <a:bodyPr wrap="square" lIns="0" tIns="0" rIns="0" bIns="0" rtlCol="0" anchor="t"/>
          <a:lstStyle/>
          <a:p>
            <a:pPr indent="0" marL="0">
              <a:buNone/>
            </a:pPr>
            <a:r>
              <a:rPr lang="en-US" sz="1600" dirty="0">
                <a:solidFill>
                  <a:schemeClr val="tx2"/>
                </a:solidFill>
                <a:latin typeface="Helvetica Neue" pitchFamily="34" charset="0"/>
                <a:ea typeface="Helvetica Neue" pitchFamily="34" charset="-122"/>
                <a:cs typeface="Helvetica Neue" pitchFamily="34" charset="-120"/>
              </a:rPr>
              <a:t>Stock de seguridad = 1,645 × 25,3</a:t>
            </a:r>
            <a:endParaRPr lang="en-US" sz="1600" dirty="0"/>
          </a:p>
        </p:txBody>
      </p:sp>
      <p:sp>
        <p:nvSpPr>
          <p:cNvPr id="6" name="Punto de pedido valor"/>
          <p:cNvSpPr txBox="1"/>
          <p:nvPr/>
        </p:nvSpPr>
        <p:spPr>
          <a:xfrm>
            <a:off x="612648" y="3108960"/>
            <a:ext cx="4937760" cy="701040"/>
          </a:xfrm>
          <a:prstGeom prst="rect">
            <a:avLst/>
          </a:prstGeom>
          <a:noFill/>
          <a:ln/>
        </p:spPr>
        <p:txBody>
          <a:bodyPr wrap="square" lIns="0" tIns="0" rIns="0" bIns="0" rtlCol="0" anchor="t"/>
          <a:lstStyle/>
          <a:p>
            <a:pPr indent="0" marL="0">
              <a:buNone/>
            </a:pPr>
            <a:r>
              <a:rPr lang="en-US" sz="4600" b="1" dirty="0">
                <a:solidFill>
                  <a:schemeClr val="accent1"/>
                </a:solidFill>
                <a:latin typeface="Helvetica Neue" pitchFamily="34" charset="0"/>
                <a:ea typeface="Helvetica Neue" pitchFamily="34" charset="-122"/>
                <a:cs typeface="Helvetica Neue" pitchFamily="34" charset="-120"/>
              </a:rPr>
              <a:t>512 m²</a:t>
            </a:r>
            <a:endParaRPr lang="en-US" sz="4600" dirty="0"/>
          </a:p>
        </p:txBody>
      </p:sp>
      <p:sp>
        <p:nvSpPr>
          <p:cNvPr id="7" name="Punto de pedido etiqueta"/>
          <p:cNvSpPr txBox="1"/>
          <p:nvPr/>
        </p:nvSpPr>
        <p:spPr>
          <a:xfrm>
            <a:off x="612648" y="3883152"/>
            <a:ext cx="4937760" cy="685800"/>
          </a:xfrm>
          <a:prstGeom prst="rect">
            <a:avLst/>
          </a:prstGeom>
          <a:noFill/>
          <a:ln/>
        </p:spPr>
        <p:txBody>
          <a:bodyPr wrap="square" lIns="0" tIns="0" rIns="0" bIns="0" rtlCol="0" anchor="t"/>
          <a:lstStyle/>
          <a:p>
            <a:pPr indent="0" marL="0">
              <a:buNone/>
            </a:pPr>
            <a:r>
              <a:rPr lang="en-US" sz="1600" dirty="0">
                <a:solidFill>
                  <a:schemeClr val="tx2"/>
                </a:solidFill>
                <a:latin typeface="Helvetica Neue" pitchFamily="34" charset="0"/>
                <a:ea typeface="Helvetica Neue" pitchFamily="34" charset="-122"/>
                <a:cs typeface="Helvetica Neue" pitchFamily="34" charset="-120"/>
              </a:rPr>
              <a:t>Punto de pedido = 470,1 + 41,6</a:t>
            </a:r>
            <a:endParaRPr lang="en-US" sz="1600" dirty="0"/>
          </a:p>
        </p:txBody>
      </p:sp>
      <p:graphicFrame>
        <p:nvGraphicFramePr>
          <p:cNvPr id="11" name="Tabla riesgo"/>
          <p:cNvGraphicFramePr>
            <a:graphicFrameLocks noGrp="1"/>
          </p:cNvGraphicFramePr>
          <p:nvPr>
            <p:extLst>
              <p:ext uri="{D42A27DB-BD31-4B8C-83A1-F6EECF244321}">
                <p14:modId xmlns:p14="http://schemas.microsoft.com/office/powerpoint/2010/main" val="1579011935"/>
              </p:ext>
            </p:extLst>
          </p:nvPr>
        </p:nvGraphicFramePr>
        <p:xfrm>
          <a:off x="6035040" y="1600200"/>
          <a:ext cx="5550408" cy="914400"/>
        </p:xfrm>
        <a:graphic>
          <a:graphicData uri="http://schemas.openxmlformats.org/drawingml/2006/table">
            <a:tbl>
              <a:tblPr/>
              <a:tblGrid>
                <a:gridCol w="2075688"/>
                <a:gridCol w="1097280"/>
                <a:gridCol w="1188720"/>
                <a:gridCol w="1188720"/>
              </a:tblGrid>
              <a:tr h="548640">
                <a:tc>
                  <a:txBody>
                    <a:bodyPr/>
                    <a:lstStyle/>
                    <a:p>
                      <a:pPr algn="l" indent="0" marL="0">
                        <a:buNone/>
                      </a:pPr>
                      <a:r>
                        <a:rPr lang="en-US" sz="1700" b="1" dirty="0">
                          <a:solidFill>
                            <a:schemeClr val="bg1"/>
                          </a:solidFill>
                          <a:latin typeface="Helvetica Neue" pitchFamily="34" charset="0"/>
                          <a:ea typeface="Helvetica Neue" pitchFamily="34" charset="-122"/>
                          <a:cs typeface="Helvetica Neue" pitchFamily="34" charset="-120"/>
                        </a:rPr>
                        <a:t>Riesgo de faltante</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c>
                  <a:txBody>
                    <a:bodyPr/>
                    <a:lstStyle/>
                    <a:p>
                      <a:pPr algn="ctr" indent="0" marL="0">
                        <a:buNone/>
                      </a:pPr>
                      <a:r>
                        <a:rPr lang="en-US" sz="1700" b="1" dirty="0">
                          <a:solidFill>
                            <a:schemeClr val="bg1"/>
                          </a:solidFill>
                          <a:latin typeface="Helvetica Neue" pitchFamily="34" charset="0"/>
                          <a:ea typeface="Helvetica Neue" pitchFamily="34" charset="-122"/>
                          <a:cs typeface="Helvetica Neue" pitchFamily="34" charset="-120"/>
                        </a:rPr>
                        <a:t>z</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c>
                  <a:txBody>
                    <a:bodyPr/>
                    <a:lstStyle/>
                    <a:p>
                      <a:pPr algn="ctr" indent="0" marL="0">
                        <a:buNone/>
                      </a:pPr>
                      <a:r>
                        <a:rPr lang="en-US" sz="1700" b="1" dirty="0">
                          <a:solidFill>
                            <a:schemeClr val="bg1"/>
                          </a:solidFill>
                          <a:latin typeface="Helvetica Neue" pitchFamily="34" charset="0"/>
                          <a:ea typeface="Helvetica Neue" pitchFamily="34" charset="-122"/>
                          <a:cs typeface="Helvetica Neue" pitchFamily="34" charset="-120"/>
                        </a:rPr>
                        <a:t>SS</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c>
                  <a:txBody>
                    <a:bodyPr/>
                    <a:lstStyle/>
                    <a:p>
                      <a:pPr algn="ctr" indent="0" marL="0">
                        <a:buNone/>
                      </a:pPr>
                      <a:r>
                        <a:rPr lang="en-US" sz="1700" b="1" dirty="0">
                          <a:solidFill>
                            <a:schemeClr val="bg1"/>
                          </a:solidFill>
                          <a:latin typeface="Helvetica Neue" pitchFamily="34" charset="0"/>
                          <a:ea typeface="Helvetica Neue" pitchFamily="34" charset="-122"/>
                          <a:cs typeface="Helvetica Neue" pitchFamily="34" charset="-120"/>
                        </a:rPr>
                        <a:t>PP</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r>
              <a:tr h="548640">
                <a:tc>
                  <a:txBody>
                    <a:bodyPr/>
                    <a:lstStyle/>
                    <a:p>
                      <a:pPr algn="l" indent="0" marL="0">
                        <a:buNone/>
                      </a:pPr>
                      <a:r>
                        <a:rPr lang="en-US" sz="1700" dirty="0">
                          <a:solidFill>
                            <a:schemeClr val="tx1"/>
                          </a:solidFill>
                          <a:latin typeface="Helvetica Neue" pitchFamily="34" charset="0"/>
                          <a:ea typeface="Helvetica Neue" pitchFamily="34" charset="-122"/>
                          <a:cs typeface="Helvetica Neue" pitchFamily="34" charset="-120"/>
                        </a:rPr>
                        <a:t>10%</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700" dirty="0">
                          <a:solidFill>
                            <a:schemeClr val="tx1"/>
                          </a:solidFill>
                          <a:latin typeface="Helvetica Neue" pitchFamily="34" charset="0"/>
                          <a:ea typeface="Helvetica Neue" pitchFamily="34" charset="-122"/>
                          <a:cs typeface="Helvetica Neue" pitchFamily="34" charset="-120"/>
                        </a:rPr>
                        <a:t>1,282</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700" dirty="0">
                          <a:solidFill>
                            <a:schemeClr val="tx1"/>
                          </a:solidFill>
                          <a:latin typeface="Helvetica Neue" pitchFamily="34" charset="0"/>
                          <a:ea typeface="Helvetica Neue" pitchFamily="34" charset="-122"/>
                          <a:cs typeface="Helvetica Neue" pitchFamily="34" charset="-120"/>
                        </a:rPr>
                        <a:t>32 m²</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700" dirty="0">
                          <a:solidFill>
                            <a:schemeClr val="tx1"/>
                          </a:solidFill>
                          <a:latin typeface="Helvetica Neue" pitchFamily="34" charset="0"/>
                          <a:ea typeface="Helvetica Neue" pitchFamily="34" charset="-122"/>
                          <a:cs typeface="Helvetica Neue" pitchFamily="34" charset="-120"/>
                        </a:rPr>
                        <a:t>503 m²</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r>
              <a:tr h="548640">
                <a:tc>
                  <a:txBody>
                    <a:bodyPr/>
                    <a:lstStyle/>
                    <a:p>
                      <a:pPr algn="l" indent="0" marL="0">
                        <a:buNone/>
                      </a:pPr>
                      <a:r>
                        <a:rPr lang="en-US" sz="1700" b="1" dirty="0">
                          <a:solidFill>
                            <a:schemeClr val="tx1"/>
                          </a:solidFill>
                          <a:latin typeface="Helvetica Neue" pitchFamily="34" charset="0"/>
                          <a:ea typeface="Helvetica Neue" pitchFamily="34" charset="-122"/>
                          <a:cs typeface="Helvetica Neue" pitchFamily="34" charset="-120"/>
                        </a:rPr>
                        <a:t>5% (adoptado)</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2"/>
                    </a:solidFill>
                  </a:tcPr>
                </a:tc>
                <a:tc>
                  <a:txBody>
                    <a:bodyPr/>
                    <a:lstStyle/>
                    <a:p>
                      <a:pPr algn="ctr" indent="0" marL="0">
                        <a:buNone/>
                      </a:pPr>
                      <a:r>
                        <a:rPr lang="en-US" sz="1700" b="1" dirty="0">
                          <a:solidFill>
                            <a:schemeClr val="tx1"/>
                          </a:solidFill>
                          <a:latin typeface="Helvetica Neue" pitchFamily="34" charset="0"/>
                          <a:ea typeface="Helvetica Neue" pitchFamily="34" charset="-122"/>
                          <a:cs typeface="Helvetica Neue" pitchFamily="34" charset="-120"/>
                        </a:rPr>
                        <a:t>1,645</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2"/>
                    </a:solidFill>
                  </a:tcPr>
                </a:tc>
                <a:tc>
                  <a:txBody>
                    <a:bodyPr/>
                    <a:lstStyle/>
                    <a:p>
                      <a:pPr algn="ctr" indent="0" marL="0">
                        <a:buNone/>
                      </a:pPr>
                      <a:r>
                        <a:rPr lang="en-US" sz="1700" b="1" dirty="0">
                          <a:solidFill>
                            <a:schemeClr val="tx1"/>
                          </a:solidFill>
                          <a:latin typeface="Helvetica Neue" pitchFamily="34" charset="0"/>
                          <a:ea typeface="Helvetica Neue" pitchFamily="34" charset="-122"/>
                          <a:cs typeface="Helvetica Neue" pitchFamily="34" charset="-120"/>
                        </a:rPr>
                        <a:t>42 m²</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2"/>
                    </a:solidFill>
                  </a:tcPr>
                </a:tc>
                <a:tc>
                  <a:txBody>
                    <a:bodyPr/>
                    <a:lstStyle/>
                    <a:p>
                      <a:pPr algn="ctr" indent="0" marL="0">
                        <a:buNone/>
                      </a:pPr>
                      <a:r>
                        <a:rPr lang="en-US" sz="1700" b="1" dirty="0">
                          <a:solidFill>
                            <a:schemeClr val="tx1"/>
                          </a:solidFill>
                          <a:latin typeface="Helvetica Neue" pitchFamily="34" charset="0"/>
                          <a:ea typeface="Helvetica Neue" pitchFamily="34" charset="-122"/>
                          <a:cs typeface="Helvetica Neue" pitchFamily="34" charset="-120"/>
                        </a:rPr>
                        <a:t>512 m²</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2"/>
                    </a:solidFill>
                  </a:tcPr>
                </a:tc>
              </a:tr>
              <a:tr h="548640">
                <a:tc>
                  <a:txBody>
                    <a:bodyPr/>
                    <a:lstStyle/>
                    <a:p>
                      <a:pPr algn="l" indent="0" marL="0">
                        <a:buNone/>
                      </a:pPr>
                      <a:r>
                        <a:rPr lang="en-US" sz="1700" dirty="0">
                          <a:solidFill>
                            <a:schemeClr val="tx1"/>
                          </a:solidFill>
                          <a:latin typeface="Helvetica Neue" pitchFamily="34" charset="0"/>
                          <a:ea typeface="Helvetica Neue" pitchFamily="34" charset="-122"/>
                          <a:cs typeface="Helvetica Neue" pitchFamily="34" charset="-120"/>
                        </a:rPr>
                        <a:t>1%</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700" dirty="0">
                          <a:solidFill>
                            <a:schemeClr val="tx1"/>
                          </a:solidFill>
                          <a:latin typeface="Helvetica Neue" pitchFamily="34" charset="0"/>
                          <a:ea typeface="Helvetica Neue" pitchFamily="34" charset="-122"/>
                          <a:cs typeface="Helvetica Neue" pitchFamily="34" charset="-120"/>
                        </a:rPr>
                        <a:t>2,326</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700" dirty="0">
                          <a:solidFill>
                            <a:schemeClr val="tx1"/>
                          </a:solidFill>
                          <a:latin typeface="Helvetica Neue" pitchFamily="34" charset="0"/>
                          <a:ea typeface="Helvetica Neue" pitchFamily="34" charset="-122"/>
                          <a:cs typeface="Helvetica Neue" pitchFamily="34" charset="-120"/>
                        </a:rPr>
                        <a:t>59 m²</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700" dirty="0">
                          <a:solidFill>
                            <a:schemeClr val="tx1"/>
                          </a:solidFill>
                          <a:latin typeface="Helvetica Neue" pitchFamily="34" charset="0"/>
                          <a:ea typeface="Helvetica Neue" pitchFamily="34" charset="-122"/>
                          <a:cs typeface="Helvetica Neue" pitchFamily="34" charset="-120"/>
                        </a:rPr>
                        <a:t>529 m²</a:t>
                      </a:r>
                      <a:endParaRPr lang="en-US" sz="17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r>
            </a:tbl>
          </a:graphicData>
        </a:graphic>
      </p:graphicFrame>
      <p:sp>
        <p:nvSpPr>
          <p:cNvPr id="9" name="Text 5"/>
          <p:cNvSpPr txBox="1"/>
          <p:nvPr/>
        </p:nvSpPr>
        <p:spPr>
          <a:xfrm>
            <a:off x="6035040" y="4069080"/>
            <a:ext cx="5550408" cy="1097280"/>
          </a:xfrm>
          <a:prstGeom prst="rect">
            <a:avLst/>
          </a:prstGeom>
          <a:noFill/>
          <a:ln/>
        </p:spPr>
        <p:txBody>
          <a:bodyPr wrap="square" lIns="0" tIns="0" rIns="0" bIns="0" rtlCol="0" anchor="t"/>
          <a:lstStyle/>
          <a:p>
            <a:pPr indent="0" marL="0">
              <a:buNone/>
            </a:pPr>
            <a:r>
              <a:rPr lang="en-US" sz="1700" dirty="0">
                <a:solidFill>
                  <a:schemeClr val="tx2"/>
                </a:solidFill>
                <a:latin typeface="Helvetica Neue" pitchFamily="34" charset="0"/>
                <a:ea typeface="Helvetica Neue" pitchFamily="34" charset="-122"/>
                <a:cs typeface="Helvetica Neue" pitchFamily="34" charset="-120"/>
              </a:rPr>
              <a:t>Bajar el riesgo cuesta cada vez más stock. El lote no cambia: la aleatoriedad define cuándo pedir, no cuánto.</a:t>
            </a:r>
            <a:endParaRPr lang="en-US" sz="1700" dirty="0"/>
          </a:p>
        </p:txBody>
      </p:sp>
      <p:sp>
        <p:nvSpPr>
          <p:cNvPr id="25" name="Slide Number Placeholder 0"/>
          <p:cNvSpPr>
            <a:spLocks noGrp="1"/>
          </p:cNvSpPr>
          <p:nvPr>
            <p:ph type="sldNum" sz="quarter" idx="4294967295"/>
          </p:nvPr>
        </p:nvSpPr>
        <p:spPr>
          <a:xfrm>
            <a:off x="10954512" y="6364224"/>
            <a:ext cx="630936" cy="265176"/>
          </a:xfrm>
          <a:prstGeom prst="rect">
            <a:avLst/>
          </a:prstGeom>
          <a:extLst>
            <a:ext uri="{C572A759-6A51-4108-AA02-DFA0A04FC94B}">
              <ma14:wrappingTextBoxFlag xmlns:ma14="http://schemas.microsoft.com/office/mac/drawingml/2011/main" val="0"/>
            </a:ext>
          </a:extLst>
        </p:spPr>
        <p:txBody>
          <a:bodyPr/>
          <a:lstStyle>
            <a:lvl1pPr>
              <a:defRPr sz="1350">
                <a:solidFill>
                  <a:schemeClr val="tx2"/>
                </a:solidFill>
                <a:latin typeface="Helvetica Neue"/>
                <a:ea typeface="Helvetica Neue"/>
                <a:cs typeface="Helvetica Neue"/>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title" hasCustomPrompt="1"/>
          </p:nvPr>
        </p:nvSpPr>
        <p:spPr>
          <a:xfrm>
            <a:off x="612648" y="493776"/>
            <a:ext cx="10972800" cy="950976"/>
          </a:xfrm>
          <a:prstGeom prst="rect">
            <a:avLst/>
          </a:prstGeom>
          <a:noFill/>
          <a:ln/>
        </p:spPr>
        <p:txBody>
          <a:bodyPr wrap="square" lIns="0" tIns="0" rIns="0" bIns="0" rtlCol="0" anchor="ctr"/>
          <a:lstStyle/>
          <a:p>
            <a:pPr algn="l" indent="0" marL="0">
              <a:buNone/>
            </a:pPr>
            <a:r>
              <a:rPr lang="en-US" sz="3300" b="1" dirty="0">
                <a:solidFill>
                  <a:schemeClr val="tx1"/>
                </a:solidFill>
                <a:latin typeface="Helvetica Neue" pitchFamily="34" charset="0"/>
                <a:ea typeface="Helvetica Neue" pitchFamily="34" charset="-122"/>
                <a:cs typeface="Helvetica Neue" pitchFamily="34" charset="-120"/>
              </a:rPr>
              <a:t>La política de compra del corcho</a:t>
            </a:r>
            <a:endParaRPr lang="en-US" sz="3300" dirty="0"/>
          </a:p>
        </p:txBody>
      </p:sp>
      <p:sp>
        <p:nvSpPr>
          <p:cNvPr id="4" name="Regla de compra"/>
          <p:cNvSpPr/>
          <p:nvPr/>
        </p:nvSpPr>
        <p:spPr>
          <a:xfrm>
            <a:off x="612648" y="1600200"/>
            <a:ext cx="5212080" cy="1463040"/>
          </a:xfrm>
          <a:prstGeom prst="roundRect">
            <a:avLst>
              <a:gd name="adj" fmla="val 5000"/>
            </a:avLst>
          </a:prstGeom>
          <a:solidFill>
            <a:schemeClr val="bg1"/>
          </a:solidFill>
          <a:ln w="12700">
            <a:solidFill>
              <a:schemeClr val="accent3"/>
            </a:solidFill>
            <a:prstDash val="solid"/>
          </a:ln>
        </p:spPr>
      </p:sp>
      <p:sp>
        <p:nvSpPr>
          <p:cNvPr id="5" name="Text 2"/>
          <p:cNvSpPr txBox="1"/>
          <p:nvPr/>
        </p:nvSpPr>
        <p:spPr>
          <a:xfrm>
            <a:off x="886968" y="1783080"/>
            <a:ext cx="4754880" cy="1097280"/>
          </a:xfrm>
          <a:prstGeom prst="rect">
            <a:avLst/>
          </a:prstGeom>
          <a:noFill/>
          <a:ln/>
        </p:spPr>
        <p:txBody>
          <a:bodyPr wrap="square" lIns="0" tIns="0" rIns="0" bIns="0" rtlCol="0" anchor="t"/>
          <a:lstStyle/>
          <a:p>
            <a:pPr indent="0" marL="0">
              <a:lnSpc>
                <a:spcPct val="110000"/>
              </a:lnSpc>
              <a:buNone/>
            </a:pPr>
            <a:r>
              <a:rPr lang="en-US" sz="2200" b="1" dirty="0">
                <a:solidFill>
                  <a:schemeClr val="accent1"/>
                </a:solidFill>
                <a:latin typeface="Helvetica Neue" pitchFamily="34" charset="0"/>
                <a:ea typeface="Helvetica Neue" pitchFamily="34" charset="-122"/>
                <a:cs typeface="Helvetica Neue" pitchFamily="34" charset="-120"/>
              </a:rPr>
              <a:t>Cuando el stock baja a 512 m²,</a:t>
            </a:r>
            <a:endParaRPr lang="en-US" sz="2200" dirty="0"/>
          </a:p>
          <a:p>
            <a:pPr indent="0" marL="0">
              <a:lnSpc>
                <a:spcPct val="110000"/>
              </a:lnSpc>
              <a:buNone/>
            </a:pPr>
            <a:r>
              <a:rPr lang="en-US" sz="2200" b="1" dirty="0">
                <a:solidFill>
                  <a:schemeClr val="accent1"/>
                </a:solidFill>
                <a:latin typeface="Helvetica Neue" pitchFamily="34" charset="0"/>
                <a:ea typeface="Helvetica Neue" pitchFamily="34" charset="-122"/>
                <a:cs typeface="Helvetica Neue" pitchFamily="34" charset="-120"/>
              </a:rPr>
              <a:t>pedir 1.098 m² de corcho</a:t>
            </a:r>
            <a:endParaRPr lang="en-US" sz="2200" dirty="0"/>
          </a:p>
        </p:txBody>
      </p:sp>
      <p:sp>
        <p:nvSpPr>
          <p:cNvPr id="6" name="Text 3"/>
          <p:cNvSpPr txBox="1"/>
          <p:nvPr/>
        </p:nvSpPr>
        <p:spPr>
          <a:xfrm>
            <a:off x="612648" y="3337560"/>
            <a:ext cx="1737360" cy="548640"/>
          </a:xfrm>
          <a:prstGeom prst="rect">
            <a:avLst/>
          </a:prstGeom>
          <a:noFill/>
          <a:ln/>
        </p:spPr>
        <p:txBody>
          <a:bodyPr wrap="square" lIns="0" tIns="0" rIns="0" bIns="0" rtlCol="0" anchor="t"/>
          <a:lstStyle/>
          <a:p>
            <a:pPr indent="0" marL="0">
              <a:buNone/>
            </a:pPr>
            <a:r>
              <a:rPr lang="en-US" sz="2600" b="1" dirty="0">
                <a:solidFill>
                  <a:schemeClr val="accent1"/>
                </a:solidFill>
                <a:latin typeface="Helvetica Neue" pitchFamily="34" charset="0"/>
                <a:ea typeface="Helvetica Neue" pitchFamily="34" charset="-122"/>
                <a:cs typeface="Helvetica Neue" pitchFamily="34" charset="-120"/>
              </a:rPr>
              <a:t>15,6</a:t>
            </a:r>
            <a:endParaRPr lang="en-US" sz="2600" dirty="0"/>
          </a:p>
        </p:txBody>
      </p:sp>
      <p:sp>
        <p:nvSpPr>
          <p:cNvPr id="7" name="Text 4"/>
          <p:cNvSpPr txBox="1"/>
          <p:nvPr/>
        </p:nvSpPr>
        <p:spPr>
          <a:xfrm>
            <a:off x="2423160" y="3429000"/>
            <a:ext cx="3383280" cy="457200"/>
          </a:xfrm>
          <a:prstGeom prst="rect">
            <a:avLst/>
          </a:prstGeom>
          <a:noFill/>
          <a:ln/>
        </p:spPr>
        <p:txBody>
          <a:bodyPr wrap="square" lIns="0" tIns="0" rIns="0" bIns="0" rtlCol="0" anchor="t"/>
          <a:lstStyle/>
          <a:p>
            <a:pPr indent="0" marL="0">
              <a:buNone/>
            </a:pPr>
            <a:r>
              <a:rPr lang="en-US" sz="1700" dirty="0">
                <a:solidFill>
                  <a:schemeClr val="tx2"/>
                </a:solidFill>
                <a:latin typeface="Helvetica Neue" pitchFamily="34" charset="0"/>
                <a:ea typeface="Helvetica Neue" pitchFamily="34" charset="-122"/>
                <a:cs typeface="Helvetica Neue" pitchFamily="34" charset="-120"/>
              </a:rPr>
              <a:t>pedidos por año</a:t>
            </a:r>
            <a:endParaRPr lang="en-US" sz="1700" dirty="0"/>
          </a:p>
        </p:txBody>
      </p:sp>
      <p:sp>
        <p:nvSpPr>
          <p:cNvPr id="8" name="Text 5"/>
          <p:cNvSpPr txBox="1"/>
          <p:nvPr/>
        </p:nvSpPr>
        <p:spPr>
          <a:xfrm>
            <a:off x="612648" y="4050792"/>
            <a:ext cx="1737360" cy="548640"/>
          </a:xfrm>
          <a:prstGeom prst="rect">
            <a:avLst/>
          </a:prstGeom>
          <a:noFill/>
          <a:ln/>
        </p:spPr>
        <p:txBody>
          <a:bodyPr wrap="square" lIns="0" tIns="0" rIns="0" bIns="0" rtlCol="0" anchor="t"/>
          <a:lstStyle/>
          <a:p>
            <a:pPr indent="0" marL="0">
              <a:buNone/>
            </a:pPr>
            <a:r>
              <a:rPr lang="en-US" sz="2600" b="1" dirty="0">
                <a:solidFill>
                  <a:schemeClr val="accent1"/>
                </a:solidFill>
                <a:latin typeface="Helvetica Neue" pitchFamily="34" charset="0"/>
                <a:ea typeface="Helvetica Neue" pitchFamily="34" charset="-122"/>
                <a:cs typeface="Helvetica Neue" pitchFamily="34" charset="-120"/>
              </a:rPr>
              <a:t>≈23 días</a:t>
            </a:r>
            <a:endParaRPr lang="en-US" sz="2600" dirty="0"/>
          </a:p>
        </p:txBody>
      </p:sp>
      <p:sp>
        <p:nvSpPr>
          <p:cNvPr id="9" name="Text 6"/>
          <p:cNvSpPr txBox="1"/>
          <p:nvPr/>
        </p:nvSpPr>
        <p:spPr>
          <a:xfrm>
            <a:off x="2423160" y="4142232"/>
            <a:ext cx="3383280" cy="457200"/>
          </a:xfrm>
          <a:prstGeom prst="rect">
            <a:avLst/>
          </a:prstGeom>
          <a:noFill/>
          <a:ln/>
        </p:spPr>
        <p:txBody>
          <a:bodyPr wrap="square" lIns="0" tIns="0" rIns="0" bIns="0" rtlCol="0" anchor="t"/>
          <a:lstStyle/>
          <a:p>
            <a:pPr indent="0" marL="0">
              <a:buNone/>
            </a:pPr>
            <a:r>
              <a:rPr lang="en-US" sz="1700" dirty="0">
                <a:solidFill>
                  <a:schemeClr val="tx2"/>
                </a:solidFill>
                <a:latin typeface="Helvetica Neue" pitchFamily="34" charset="0"/>
                <a:ea typeface="Helvetica Neue" pitchFamily="34" charset="-122"/>
                <a:cs typeface="Helvetica Neue" pitchFamily="34" charset="-120"/>
              </a:rPr>
              <a:t>entre pedidos</a:t>
            </a:r>
            <a:endParaRPr lang="en-US" sz="1700" dirty="0"/>
          </a:p>
        </p:txBody>
      </p:sp>
      <p:sp>
        <p:nvSpPr>
          <p:cNvPr id="10" name="Text 7"/>
          <p:cNvSpPr txBox="1"/>
          <p:nvPr/>
        </p:nvSpPr>
        <p:spPr>
          <a:xfrm>
            <a:off x="612648" y="4764024"/>
            <a:ext cx="1737360" cy="548640"/>
          </a:xfrm>
          <a:prstGeom prst="rect">
            <a:avLst/>
          </a:prstGeom>
          <a:noFill/>
          <a:ln/>
        </p:spPr>
        <p:txBody>
          <a:bodyPr wrap="square" lIns="0" tIns="0" rIns="0" bIns="0" rtlCol="0" anchor="t"/>
          <a:lstStyle/>
          <a:p>
            <a:pPr indent="0" marL="0">
              <a:buNone/>
            </a:pPr>
            <a:r>
              <a:rPr lang="en-US" sz="2600" b="1" dirty="0">
                <a:solidFill>
                  <a:schemeClr val="accent1"/>
                </a:solidFill>
                <a:latin typeface="Helvetica Neue" pitchFamily="34" charset="0"/>
                <a:ea typeface="Helvetica Neue" pitchFamily="34" charset="-122"/>
                <a:cs typeface="Helvetica Neue" pitchFamily="34" charset="-120"/>
              </a:rPr>
              <a:t>95%</a:t>
            </a:r>
            <a:endParaRPr lang="en-US" sz="2600" dirty="0"/>
          </a:p>
        </p:txBody>
      </p:sp>
      <p:sp>
        <p:nvSpPr>
          <p:cNvPr id="11" name="Text 8"/>
          <p:cNvSpPr txBox="1"/>
          <p:nvPr/>
        </p:nvSpPr>
        <p:spPr>
          <a:xfrm>
            <a:off x="2423160" y="4855464"/>
            <a:ext cx="3383280" cy="457200"/>
          </a:xfrm>
          <a:prstGeom prst="rect">
            <a:avLst/>
          </a:prstGeom>
          <a:noFill/>
          <a:ln/>
        </p:spPr>
        <p:txBody>
          <a:bodyPr wrap="square" lIns="0" tIns="0" rIns="0" bIns="0" rtlCol="0" anchor="t"/>
          <a:lstStyle/>
          <a:p>
            <a:pPr indent="0" marL="0">
              <a:buNone/>
            </a:pPr>
            <a:r>
              <a:rPr lang="en-US" sz="1700" dirty="0">
                <a:solidFill>
                  <a:schemeClr val="tx2"/>
                </a:solidFill>
                <a:latin typeface="Helvetica Neue" pitchFamily="34" charset="0"/>
                <a:ea typeface="Helvetica Neue" pitchFamily="34" charset="-122"/>
                <a:cs typeface="Helvetica Neue" pitchFamily="34" charset="-120"/>
              </a:rPr>
              <a:t>de los ciclos sin faltante</a:t>
            </a:r>
            <a:endParaRPr lang="en-US" sz="1700" dirty="0"/>
          </a:p>
        </p:txBody>
      </p:sp>
      <p:graphicFrame>
        <p:nvGraphicFramePr>
          <p:cNvPr id="12" name="Tabla resumen stock"/>
          <p:cNvGraphicFramePr>
            <a:graphicFrameLocks noGrp="1"/>
          </p:cNvGraphicFramePr>
          <p:nvPr>
            <p:extLst>
              <p:ext uri="{D42A27DB-BD31-4B8C-83A1-F6EECF244321}">
                <p14:modId xmlns:p14="http://schemas.microsoft.com/office/powerpoint/2010/main" val="1579011935"/>
              </p:ext>
            </p:extLst>
          </p:nvPr>
        </p:nvGraphicFramePr>
        <p:xfrm>
          <a:off x="6217920" y="1600200"/>
          <a:ext cx="5367528" cy="914400"/>
        </p:xfrm>
        <a:graphic>
          <a:graphicData uri="http://schemas.openxmlformats.org/drawingml/2006/table">
            <a:tbl>
              <a:tblPr/>
              <a:tblGrid>
                <a:gridCol w="2441448"/>
                <a:gridCol w="1463040"/>
                <a:gridCol w="1463040"/>
              </a:tblGrid>
              <a:tr h="548640">
                <a:tc>
                  <a:txBody>
                    <a:bodyPr/>
                    <a:lstStyle/>
                    <a:p>
                      <a:pPr algn="l" indent="0" marL="0">
                        <a:buNone/>
                      </a:pPr>
                      <a:r>
                        <a:rPr lang="en-US" sz="1600" b="1" dirty="0">
                          <a:solidFill>
                            <a:schemeClr val="bg1"/>
                          </a:solidFill>
                          <a:latin typeface="Helvetica Neue" pitchFamily="34" charset="0"/>
                          <a:ea typeface="Helvetica Neue" pitchFamily="34" charset="-122"/>
                          <a:cs typeface="Helvetica Neue" pitchFamily="34" charset="-120"/>
                        </a:rPr>
                        <a:t>Modelo</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latin typeface="Helvetica Neue" pitchFamily="34" charset="0"/>
                          <a:ea typeface="Helvetica Neue" pitchFamily="34" charset="-122"/>
                          <a:cs typeface="Helvetica Neue" pitchFamily="34" charset="-120"/>
                        </a:rPr>
                        <a:t>Lote óptimo</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latin typeface="Helvetica Neue" pitchFamily="34" charset="0"/>
                          <a:ea typeface="Helvetica Neue" pitchFamily="34" charset="-122"/>
                          <a:cs typeface="Helvetica Neue" pitchFamily="34" charset="-120"/>
                        </a:rPr>
                        <a:t>Stock de seg.</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tx1"/>
                    </a:solidFill>
                  </a:tcPr>
                </a:tc>
              </a:tr>
              <a:tr h="548640">
                <a:tc>
                  <a:txBody>
                    <a:bodyPr/>
                    <a:lstStyle/>
                    <a:p>
                      <a:pPr algn="l" indent="0" marL="0">
                        <a:buNone/>
                      </a:pPr>
                      <a:r>
                        <a:rPr lang="en-US" sz="1600" dirty="0">
                          <a:solidFill>
                            <a:schemeClr val="tx1"/>
                          </a:solidFill>
                          <a:latin typeface="Helvetica Neue" pitchFamily="34" charset="0"/>
                          <a:ea typeface="Helvetica Neue" pitchFamily="34" charset="-122"/>
                          <a:cs typeface="Helvetica Neue" pitchFamily="34" charset="-120"/>
                        </a:rPr>
                        <a:t>Descuento (referencia)</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2.000 m²</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r>
              <a:tr h="548640">
                <a:tc>
                  <a:txBody>
                    <a:bodyPr/>
                    <a:lstStyle/>
                    <a:p>
                      <a:pPr algn="l" indent="0" marL="0">
                        <a:buNone/>
                      </a:pPr>
                      <a:r>
                        <a:rPr lang="en-US" sz="1600" dirty="0">
                          <a:solidFill>
                            <a:schemeClr val="tx1"/>
                          </a:solidFill>
                          <a:latin typeface="Helvetica Neue" pitchFamily="34" charset="0"/>
                          <a:ea typeface="Helvetica Neue" pitchFamily="34" charset="-122"/>
                          <a:cs typeface="Helvetica Neue" pitchFamily="34" charset="-120"/>
                        </a:rPr>
                        <a:t>Restringido · corcho</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1.098 m²</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r>
              <a:tr h="548640">
                <a:tc>
                  <a:txBody>
                    <a:bodyPr/>
                    <a:lstStyle/>
                    <a:p>
                      <a:pPr algn="l" indent="0" marL="0">
                        <a:buNone/>
                      </a:pPr>
                      <a:r>
                        <a:rPr lang="en-US" sz="1600" dirty="0">
                          <a:solidFill>
                            <a:schemeClr val="tx1"/>
                          </a:solidFill>
                          <a:latin typeface="Helvetica Neue" pitchFamily="34" charset="0"/>
                          <a:ea typeface="Helvetica Neue" pitchFamily="34" charset="-122"/>
                          <a:cs typeface="Helvetica Neue" pitchFamily="34" charset="-120"/>
                        </a:rPr>
                        <a:t>Restringido · sellador</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255 L</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bg1"/>
                    </a:solidFill>
                  </a:tcPr>
                </a:tc>
              </a:tr>
              <a:tr h="548640">
                <a:tc>
                  <a:txBody>
                    <a:bodyPr/>
                    <a:lstStyle/>
                    <a:p>
                      <a:pPr algn="l" indent="0" marL="0">
                        <a:buNone/>
                      </a:pPr>
                      <a:r>
                        <a:rPr lang="en-US" sz="1600" dirty="0">
                          <a:solidFill>
                            <a:schemeClr val="tx1"/>
                          </a:solidFill>
                          <a:latin typeface="Helvetica Neue" pitchFamily="34" charset="0"/>
                          <a:ea typeface="Helvetica Neue" pitchFamily="34" charset="-122"/>
                          <a:cs typeface="Helvetica Neue" pitchFamily="34" charset="-120"/>
                        </a:rPr>
                        <a:t>Aleatorio · corcho</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1.098 m²</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c>
                  <a:txBody>
                    <a:bodyPr/>
                    <a:lstStyle/>
                    <a:p>
                      <a:pPr algn="ctr" indent="0" marL="0">
                        <a:buNone/>
                      </a:pPr>
                      <a:r>
                        <a:rPr lang="en-US" sz="1600" dirty="0">
                          <a:solidFill>
                            <a:schemeClr val="tx1"/>
                          </a:solidFill>
                          <a:latin typeface="Helvetica Neue" pitchFamily="34" charset="0"/>
                          <a:ea typeface="Helvetica Neue" pitchFamily="34" charset="-122"/>
                          <a:cs typeface="Helvetica Neue" pitchFamily="34" charset="-120"/>
                        </a:rPr>
                        <a:t>42 m²</a:t>
                      </a:r>
                      <a:endParaRPr lang="en-US" sz="1600" dirty="0">
                        <a:latin typeface="Helvetica Neue" charset="0"/>
                        <a:ea typeface="Helvetica Neue" charset="0"/>
                        <a:cs typeface="Helvetica Neue" charset="0"/>
                      </a:endParaRPr>
                    </a:p>
                  </a:txBody>
                  <a:tcPr marL="109728" marR="109728" marT="54864" marB="54864" anchor="ctr">
                    <a:lnL w="9525" cap="flat" cmpd="sng" algn="ctr">
                      <a:solidFill>
                        <a:srgbClr val="B7D0CD"/>
                      </a:solidFill>
                      <a:prstDash val="solid"/>
                      <a:round/>
                      <a:headEnd type="none" w="med" len="med"/>
                      <a:tailEnd type="none" w="med" len="med"/>
                    </a:lnL>
                    <a:lnR w="9525" cap="flat" cmpd="sng" algn="ctr">
                      <a:solidFill>
                        <a:srgbClr val="B7D0CD"/>
                      </a:solidFill>
                      <a:prstDash val="solid"/>
                      <a:round/>
                      <a:headEnd type="none" w="med" len="med"/>
                      <a:tailEnd type="none" w="med" len="med"/>
                    </a:lnR>
                    <a:lnT w="9525" cap="flat" cmpd="sng" algn="ctr">
                      <a:solidFill>
                        <a:srgbClr val="B7D0CD"/>
                      </a:solidFill>
                      <a:prstDash val="solid"/>
                      <a:round/>
                      <a:headEnd type="none" w="med" len="med"/>
                      <a:tailEnd type="none" w="med" len="med"/>
                    </a:lnT>
                    <a:lnB w="9525" cap="flat" cmpd="sng" algn="ctr">
                      <a:solidFill>
                        <a:srgbClr val="B7D0CD"/>
                      </a:solidFill>
                      <a:prstDash val="solid"/>
                      <a:round/>
                      <a:headEnd type="none" w="med" len="med"/>
                      <a:tailEnd type="none" w="med" len="med"/>
                    </a:lnB>
                    <a:solidFill>
                      <a:schemeClr val="accent4"/>
                    </a:solidFill>
                  </a:tcPr>
                </a:tc>
              </a:tr>
            </a:tbl>
          </a:graphicData>
        </a:graphic>
      </p:graphicFrame>
      <p:sp>
        <p:nvSpPr>
          <p:cNvPr id="13" name="Text 9"/>
          <p:cNvSpPr txBox="1"/>
          <p:nvPr/>
        </p:nvSpPr>
        <p:spPr>
          <a:xfrm>
            <a:off x="6217920" y="4572000"/>
            <a:ext cx="5367528" cy="640080"/>
          </a:xfrm>
          <a:prstGeom prst="rect">
            <a:avLst/>
          </a:prstGeom>
          <a:noFill/>
          <a:ln/>
        </p:spPr>
        <p:txBody>
          <a:bodyPr wrap="square" lIns="0" tIns="0" rIns="0" bIns="0" rtlCol="0" anchor="t"/>
          <a:lstStyle/>
          <a:p>
            <a:pPr indent="0" marL="0">
              <a:buNone/>
            </a:pPr>
            <a:r>
              <a:rPr lang="en-US" sz="1500" dirty="0">
                <a:solidFill>
                  <a:schemeClr val="tx2"/>
                </a:solidFill>
                <a:latin typeface="Helvetica Neue" pitchFamily="34" charset="0"/>
                <a:ea typeface="Helvetica Neue" pitchFamily="34" charset="-122"/>
                <a:cs typeface="Helvetica Neue" pitchFamily="34" charset="-120"/>
              </a:rPr>
              <a:t>El lote de 2.000 m² requiere ampliar el depósito: queda como referencia.</a:t>
            </a:r>
            <a:endParaRPr lang="en-US" sz="1500" dirty="0"/>
          </a:p>
        </p:txBody>
      </p:sp>
      <p:sp>
        <p:nvSpPr>
          <p:cNvPr id="25" name="Slide Number Placeholder 0"/>
          <p:cNvSpPr>
            <a:spLocks noGrp="1"/>
          </p:cNvSpPr>
          <p:nvPr>
            <p:ph type="sldNum" sz="quarter" idx="4294967295"/>
          </p:nvPr>
        </p:nvSpPr>
        <p:spPr>
          <a:xfrm>
            <a:off x="10954512" y="6364224"/>
            <a:ext cx="630936" cy="265176"/>
          </a:xfrm>
          <a:prstGeom prst="rect">
            <a:avLst/>
          </a:prstGeom>
          <a:extLst>
            <a:ext uri="{C572A759-6A51-4108-AA02-DFA0A04FC94B}">
              <ma14:wrappingTextBoxFlag xmlns:ma14="http://schemas.microsoft.com/office/mac/drawingml/2011/main" val="0"/>
            </a:ext>
          </a:extLst>
        </p:spPr>
        <p:txBody>
          <a:bodyPr/>
          <a:lstStyle>
            <a:lvl1pPr>
              <a:defRPr sz="1350">
                <a:solidFill>
                  <a:schemeClr val="tx2"/>
                </a:solidFill>
                <a:latin typeface="Helvetica Neue"/>
                <a:ea typeface="Helvetica Neue"/>
                <a:cs typeface="Helvetica Neue"/>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title" hasCustomPrompt="1"/>
          </p:nvPr>
        </p:nvSpPr>
        <p:spPr>
          <a:xfrm>
            <a:off x="612648" y="493776"/>
            <a:ext cx="10972800" cy="950976"/>
          </a:xfrm>
          <a:prstGeom prst="rect">
            <a:avLst/>
          </a:prstGeom>
          <a:noFill/>
          <a:ln/>
        </p:spPr>
        <p:txBody>
          <a:bodyPr wrap="square" lIns="0" tIns="0" rIns="0" bIns="0" rtlCol="0" anchor="ctr"/>
          <a:lstStyle/>
          <a:p>
            <a:pPr algn="l" indent="0" marL="0">
              <a:buNone/>
            </a:pPr>
            <a:r>
              <a:rPr lang="en-US" sz="3300" b="1" dirty="0">
                <a:solidFill>
                  <a:schemeClr val="bg1"/>
                </a:solidFill>
                <a:latin typeface="Helvetica Neue" pitchFamily="34" charset="0"/>
                <a:ea typeface="Helvetica Neue" pitchFamily="34" charset="-122"/>
                <a:cs typeface="Helvetica Neue" pitchFamily="34" charset="-120"/>
              </a:rPr>
              <a:t>Conclusiones del proyecto</a:t>
            </a:r>
            <a:endParaRPr lang="en-US" sz="3300" dirty="0"/>
          </a:p>
        </p:txBody>
      </p:sp>
      <p:sp>
        <p:nvSpPr>
          <p:cNvPr id="4" name="Text 1"/>
          <p:cNvSpPr txBox="1"/>
          <p:nvPr/>
        </p:nvSpPr>
        <p:spPr>
          <a:xfrm>
            <a:off x="612648" y="1600200"/>
            <a:ext cx="10515600" cy="457200"/>
          </a:xfrm>
          <a:prstGeom prst="rect">
            <a:avLst/>
          </a:prstGeom>
          <a:noFill/>
          <a:ln/>
        </p:spPr>
        <p:txBody>
          <a:bodyPr wrap="square" lIns="0" tIns="0" rIns="0" bIns="0" rtlCol="0" anchor="t"/>
          <a:lstStyle/>
          <a:p>
            <a:pPr indent="0" marL="0">
              <a:buNone/>
            </a:pPr>
            <a:r>
              <a:rPr lang="en-US" sz="2400" b="1" dirty="0">
                <a:solidFill>
                  <a:schemeClr val="accent2"/>
                </a:solidFill>
                <a:latin typeface="Helvetica Neue" pitchFamily="34" charset="0"/>
                <a:ea typeface="Helvetica Neue" pitchFamily="34" charset="-122"/>
                <a:cs typeface="Helvetica Neue" pitchFamily="34" charset="-120"/>
              </a:rPr>
              <a:t>Producción · etapas 1 y 2</a:t>
            </a:r>
            <a:endParaRPr lang="en-US" sz="2400" dirty="0"/>
          </a:p>
        </p:txBody>
      </p:sp>
      <p:sp>
        <p:nvSpPr>
          <p:cNvPr id="5" name="Text 2"/>
          <p:cNvSpPr txBox="1"/>
          <p:nvPr/>
        </p:nvSpPr>
        <p:spPr>
          <a:xfrm>
            <a:off x="612648" y="2130552"/>
            <a:ext cx="10515600" cy="868680"/>
          </a:xfrm>
          <a:prstGeom prst="rect">
            <a:avLst/>
          </a:prstGeom>
          <a:noFill/>
          <a:ln/>
        </p:spPr>
        <p:txBody>
          <a:bodyPr wrap="square" lIns="0" tIns="0" rIns="0" bIns="0" rtlCol="0" anchor="t"/>
          <a:lstStyle/>
          <a:p>
            <a:pPr indent="0" marL="0">
              <a:buNone/>
            </a:pPr>
            <a:r>
              <a:rPr lang="en-US" sz="1900" dirty="0">
                <a:solidFill>
                  <a:schemeClr val="bg1"/>
                </a:solidFill>
                <a:latin typeface="Helvetica Neue" pitchFamily="34" charset="0"/>
                <a:ea typeface="Helvetica Neue" pitchFamily="34" charset="-122"/>
                <a:cs typeface="Helvetica Neue" pitchFamily="34" charset="-120"/>
              </a:rPr>
              <a:t>$6.600.000 semanales. Máquina y despacho son los cuellos de botella; ampliarlos solo si cuesta menos que su precio sombra. El corcho sobrante va a pedidos especiales.</a:t>
            </a:r>
            <a:endParaRPr lang="en-US" sz="1900" dirty="0"/>
          </a:p>
        </p:txBody>
      </p:sp>
      <p:sp>
        <p:nvSpPr>
          <p:cNvPr id="6" name="Text 3"/>
          <p:cNvSpPr txBox="1"/>
          <p:nvPr/>
        </p:nvSpPr>
        <p:spPr>
          <a:xfrm>
            <a:off x="612648" y="3108960"/>
            <a:ext cx="10515600" cy="457200"/>
          </a:xfrm>
          <a:prstGeom prst="rect">
            <a:avLst/>
          </a:prstGeom>
          <a:noFill/>
          <a:ln/>
        </p:spPr>
        <p:txBody>
          <a:bodyPr wrap="square" lIns="0" tIns="0" rIns="0" bIns="0" rtlCol="0" anchor="t"/>
          <a:lstStyle/>
          <a:p>
            <a:pPr indent="0" marL="0">
              <a:buNone/>
            </a:pPr>
            <a:r>
              <a:rPr lang="en-US" sz="2400" b="1" dirty="0">
                <a:solidFill>
                  <a:schemeClr val="accent2"/>
                </a:solidFill>
                <a:latin typeface="Helvetica Neue" pitchFamily="34" charset="0"/>
                <a:ea typeface="Helvetica Neue" pitchFamily="34" charset="-122"/>
                <a:cs typeface="Helvetica Neue" pitchFamily="34" charset="-120"/>
              </a:rPr>
              <a:t>Compras · etapa 3</a:t>
            </a:r>
            <a:endParaRPr lang="en-US" sz="2400" dirty="0"/>
          </a:p>
        </p:txBody>
      </p:sp>
      <p:sp>
        <p:nvSpPr>
          <p:cNvPr id="7" name="Text 4"/>
          <p:cNvSpPr txBox="1"/>
          <p:nvPr/>
        </p:nvSpPr>
        <p:spPr>
          <a:xfrm>
            <a:off x="612648" y="3639312"/>
            <a:ext cx="10515600" cy="868680"/>
          </a:xfrm>
          <a:prstGeom prst="rect">
            <a:avLst/>
          </a:prstGeom>
          <a:noFill/>
          <a:ln/>
        </p:spPr>
        <p:txBody>
          <a:bodyPr wrap="square" lIns="0" tIns="0" rIns="0" bIns="0" rtlCol="0" anchor="t"/>
          <a:lstStyle/>
          <a:p>
            <a:pPr indent="0" marL="0">
              <a:buNone/>
            </a:pPr>
            <a:r>
              <a:rPr lang="en-US" sz="1900" dirty="0">
                <a:solidFill>
                  <a:schemeClr val="bg1"/>
                </a:solidFill>
                <a:latin typeface="Helvetica Neue" pitchFamily="34" charset="0"/>
                <a:ea typeface="Helvetica Neue" pitchFamily="34" charset="-122"/>
                <a:cs typeface="Helvetica Neue" pitchFamily="34" charset="-120"/>
              </a:rPr>
              <a:t>Manda el depósito, no el precio: lotes de 1.098 m², pedido a 512 m² y 42 m² de stock de seguridad.</a:t>
            </a:r>
            <a:endParaRPr lang="en-US" sz="1900" dirty="0"/>
          </a:p>
        </p:txBody>
      </p:sp>
      <p:sp>
        <p:nvSpPr>
          <p:cNvPr id="8" name="Text 5"/>
          <p:cNvSpPr txBox="1"/>
          <p:nvPr/>
        </p:nvSpPr>
        <p:spPr>
          <a:xfrm>
            <a:off x="612648" y="4617720"/>
            <a:ext cx="10515600" cy="457200"/>
          </a:xfrm>
          <a:prstGeom prst="rect">
            <a:avLst/>
          </a:prstGeom>
          <a:noFill/>
          <a:ln/>
        </p:spPr>
        <p:txBody>
          <a:bodyPr wrap="square" lIns="0" tIns="0" rIns="0" bIns="0" rtlCol="0" anchor="t"/>
          <a:lstStyle/>
          <a:p>
            <a:pPr indent="0" marL="0">
              <a:buNone/>
            </a:pPr>
            <a:r>
              <a:rPr lang="en-US" sz="2400" b="1" dirty="0">
                <a:solidFill>
                  <a:schemeClr val="accent2"/>
                </a:solidFill>
                <a:latin typeface="Helvetica Neue" pitchFamily="34" charset="0"/>
                <a:ea typeface="Helvetica Neue" pitchFamily="34" charset="-122"/>
                <a:cs typeface="Helvetica Neue" pitchFamily="34" charset="-120"/>
              </a:rPr>
              <a:t>Decisión abierta</a:t>
            </a:r>
            <a:endParaRPr lang="en-US" sz="2400" dirty="0"/>
          </a:p>
        </p:txBody>
      </p:sp>
      <p:sp>
        <p:nvSpPr>
          <p:cNvPr id="9" name="Text 6"/>
          <p:cNvSpPr txBox="1"/>
          <p:nvPr/>
        </p:nvSpPr>
        <p:spPr>
          <a:xfrm>
            <a:off x="612648" y="5148072"/>
            <a:ext cx="10515600" cy="868680"/>
          </a:xfrm>
          <a:prstGeom prst="rect">
            <a:avLst/>
          </a:prstGeom>
          <a:noFill/>
          <a:ln/>
        </p:spPr>
        <p:txBody>
          <a:bodyPr wrap="square" lIns="0" tIns="0" rIns="0" bIns="0" rtlCol="0" anchor="t"/>
          <a:lstStyle/>
          <a:p>
            <a:pPr indent="0" marL="0">
              <a:buNone/>
            </a:pPr>
            <a:r>
              <a:rPr lang="en-US" sz="1900" dirty="0">
                <a:solidFill>
                  <a:schemeClr val="bg1"/>
                </a:solidFill>
                <a:latin typeface="Helvetica Neue" pitchFamily="34" charset="0"/>
                <a:ea typeface="Helvetica Neue" pitchFamily="34" charset="-122"/>
                <a:cs typeface="Helvetica Neue" pitchFamily="34" charset="-120"/>
              </a:rPr>
              <a:t>Ampliar el depósito a ≈106 m³ habilita el descuento: ≈$2,6 M por año si cuesta menos de $56.750 por m³ y por año.</a:t>
            </a:r>
            <a:endParaRPr lang="en-US" sz="1900" dirty="0"/>
          </a:p>
        </p:txBody>
      </p:sp>
      <p:sp>
        <p:nvSpPr>
          <p:cNvPr id="25" name="Slide Number Placeholder 0"/>
          <p:cNvSpPr>
            <a:spLocks noGrp="1"/>
          </p:cNvSpPr>
          <p:nvPr>
            <p:ph type="sldNum" sz="quarter" idx="4294967295"/>
          </p:nvPr>
        </p:nvSpPr>
        <p:spPr>
          <a:xfrm>
            <a:off x="10954512" y="6364224"/>
            <a:ext cx="630936" cy="265176"/>
          </a:xfrm>
          <a:prstGeom prst="rect">
            <a:avLst/>
          </a:prstGeom>
          <a:extLst>
            <a:ext uri="{C572A759-6A51-4108-AA02-DFA0A04FC94B}">
              <ma14:wrappingTextBoxFlag xmlns:ma14="http://schemas.microsoft.com/office/mac/drawingml/2011/main" val="0"/>
            </a:ext>
          </a:extLst>
        </p:spPr>
        <p:txBody>
          <a:bodyPr/>
          <a:lstStyle>
            <a:lvl1pPr>
              <a:defRPr sz="1350">
                <a:solidFill>
                  <a:schemeClr val="accent3"/>
                </a:solidFill>
                <a:latin typeface="Helvetica Neue"/>
                <a:ea typeface="Helvetica Neue"/>
                <a:cs typeface="Helvetica Neue"/>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Juntas de motor">
  <a:themeElements>
    <a:clrScheme name="Juntas de motor">
      <a:dk1>
        <a:srgbClr val="18313A"/>
      </a:dk1>
      <a:lt1>
        <a:srgbClr val="FFFFFF"/>
      </a:lt1>
      <a:dk2>
        <a:srgbClr val="52636A"/>
      </a:dk2>
      <a:lt2>
        <a:srgbClr val="F7F6F1"/>
      </a:lt2>
      <a:accent1>
        <a:srgbClr val="16766E"/>
      </a:accent1>
      <a:accent2>
        <a:srgbClr val="9EDBD1"/>
      </a:accent2>
      <a:accent3>
        <a:srgbClr val="B7D0CD"/>
      </a:accent3>
      <a:accent4>
        <a:srgbClr val="E6EFEB"/>
      </a:accent4>
      <a:accent5>
        <a:srgbClr val="9E4D32"/>
      </a:accent5>
      <a:accent6>
        <a:srgbClr val="C9A227"/>
      </a:accent6>
      <a:hlink>
        <a:srgbClr val="16766E"/>
      </a:hlink>
      <a:folHlink>
        <a:srgbClr val="52636A"/>
      </a:folHlink>
    </a:clrScheme>
    <a:fontScheme name="Juntas de motor">
      <a:majorFont>
        <a:latin typeface="Helvetica Ne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Neu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Juntas de motor — Defensa final</dc:title>
  <dc:subject>PptxGenJS Presentation</dc:subject>
  <dc:creator>Grupo 1 · Comisión 402</dc:creator>
  <cp:lastModifiedBy>Grupo 1 · Comisión 402</cp:lastModifiedBy>
  <cp:revision>1</cp:revision>
  <dcterms:created xsi:type="dcterms:W3CDTF">2026-10-20T13:19:44Z</dcterms:created>
  <dcterms:modified xsi:type="dcterms:W3CDTF">2026-10-20T13:19:44Z</dcterms:modified>
</cp:coreProperties>
</file>