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57d7e4cead34295" /><Relationship Type="http://schemas.openxmlformats.org/officeDocument/2006/relationships/extended-properties" Target="/docProps/app.xml" Id="R8a34411ca88a4724" /><Relationship Type="http://schemas.openxmlformats.org/officeDocument/2006/relationships/officeDocument" Target="/ppt/presentation.xml" Id="R77d17a7b94944753" /></Relationships>
</file>

<file path=ppt/presentation.xml><?xml version="1.0" encoding="utf-8"?>
<p:presentation xmlns:p="http://schemas.openxmlformats.org/presentationml/2006/main">
  <p:sldMasterIdLst>
    <p:sldMasterId xmlns:r="http://schemas.openxmlformats.org/officeDocument/2006/relationships" id="2147483648" r:id="Rfac4571ab1e2471e"/>
  </p:sldMasterIdLst>
  <p:notesMasterIdLst>
    <p:notesMasterId xmlns:r="http://schemas.openxmlformats.org/officeDocument/2006/relationships" r:id="R4a166de857434da0"/>
  </p:notesMasterIdLst>
  <p:sldIdLst>
    <p:sldId xmlns:r="http://schemas.openxmlformats.org/officeDocument/2006/relationships" id="256" r:id="R74f54873ff624d35"/>
    <p:sldId xmlns:r="http://schemas.openxmlformats.org/officeDocument/2006/relationships" id="257" r:id="R9f8eda26cae04572"/>
    <p:sldId xmlns:r="http://schemas.openxmlformats.org/officeDocument/2006/relationships" id="258" r:id="R4c42e7e16ee94565"/>
    <p:sldId xmlns:r="http://schemas.openxmlformats.org/officeDocument/2006/relationships" id="259" r:id="R10ff799a9f6e48c7"/>
    <p:sldId xmlns:r="http://schemas.openxmlformats.org/officeDocument/2006/relationships" id="260" r:id="Rce3a84b9158f49a2"/>
    <p:sldId xmlns:r="http://schemas.openxmlformats.org/officeDocument/2006/relationships" id="261" r:id="R291e74f932a14fac"/>
    <p:sldId xmlns:r="http://schemas.openxmlformats.org/officeDocument/2006/relationships" id="262" r:id="R636ee0a94346466b"/>
    <p:sldId xmlns:r="http://schemas.openxmlformats.org/officeDocument/2006/relationships" id="263" r:id="R6329738cad8b4231"/>
    <p:sldId xmlns:r="http://schemas.openxmlformats.org/officeDocument/2006/relationships" id="264" r:id="Reb71eb57071c4171"/>
    <p:sldId xmlns:r="http://schemas.openxmlformats.org/officeDocument/2006/relationships" id="265" r:id="Rec066134bd364ab4"/>
    <p:sldId xmlns:r="http://schemas.openxmlformats.org/officeDocument/2006/relationships" id="266" r:id="Re2025da1002d4871"/>
    <p:sldId xmlns:r="http://schemas.openxmlformats.org/officeDocument/2006/relationships" id="267" r:id="R6b8a60d5191e401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ff806ec58794e14" /><Relationship Type="http://schemas.openxmlformats.org/officeDocument/2006/relationships/slideMaster" Target="/ppt/slideMasters/slideMaster1.xml" Id="Rfac4571ab1e2471e" /><Relationship Type="http://schemas.openxmlformats.org/officeDocument/2006/relationships/notesMaster" Target="/ppt/notesMasters/notesMaster1.xml" Id="R4a166de857434da0" /><Relationship Type="http://schemas.openxmlformats.org/officeDocument/2006/relationships/presProps" Target="/ppt/presProps.xml" Id="Rcbe14a4ce2fb44bb" /><Relationship Type="http://schemas.openxmlformats.org/officeDocument/2006/relationships/tableStyles" Target="/ppt/tableStyles.xml" Id="Rdf4070bd84ee44bc" /><Relationship Type="http://schemas.openxmlformats.org/officeDocument/2006/relationships/slide" Target="/ppt/slides/slide1.xml" Id="R74f54873ff624d35" /><Relationship Type="http://schemas.openxmlformats.org/officeDocument/2006/relationships/slide" Target="/ppt/slides/slide2.xml" Id="R9f8eda26cae04572" /><Relationship Type="http://schemas.openxmlformats.org/officeDocument/2006/relationships/slide" Target="/ppt/slides/slide3.xml" Id="R4c42e7e16ee94565" /><Relationship Type="http://schemas.openxmlformats.org/officeDocument/2006/relationships/slide" Target="/ppt/slides/slide4.xml" Id="R10ff799a9f6e48c7" /><Relationship Type="http://schemas.openxmlformats.org/officeDocument/2006/relationships/slide" Target="/ppt/slides/slide5.xml" Id="Rce3a84b9158f49a2" /><Relationship Type="http://schemas.openxmlformats.org/officeDocument/2006/relationships/slide" Target="/ppt/slides/slide6.xml" Id="R291e74f932a14fac" /><Relationship Type="http://schemas.openxmlformats.org/officeDocument/2006/relationships/slide" Target="/ppt/slides/slide7.xml" Id="R636ee0a94346466b" /><Relationship Type="http://schemas.openxmlformats.org/officeDocument/2006/relationships/slide" Target="/ppt/slides/slide8.xml" Id="R6329738cad8b4231" /><Relationship Type="http://schemas.openxmlformats.org/officeDocument/2006/relationships/slide" Target="/ppt/slides/slide9.xml" Id="Reb71eb57071c4171" /><Relationship Type="http://schemas.openxmlformats.org/officeDocument/2006/relationships/slide" Target="/ppt/slides/slide10.xml" Id="Rec066134bd364ab4" /><Relationship Type="http://schemas.openxmlformats.org/officeDocument/2006/relationships/slide" Target="/ppt/slides/slide11.xml" Id="Re2025da1002d4871" /><Relationship Type="http://schemas.openxmlformats.org/officeDocument/2006/relationships/slide" Target="/ppt/slides/slide12.xml" Id="R6b8a60d5191e401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52d21cc766f45e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ce512f2a113461d" /><Relationship Type="http://schemas.openxmlformats.org/officeDocument/2006/relationships/notesMaster" Target="/ppt/notesMasters/notesMaster1.xml" Id="Ra716af584db543bc" /></Relationships>
</file>

<file path=ppt/notesSlides/_rels/notesSlide2.xml.rels>&#65279;<?xml version="1.0" encoding="utf-8"?><Relationships xmlns="http://schemas.openxmlformats.org/package/2006/relationships"><Relationship Type="http://schemas.openxmlformats.org/officeDocument/2006/relationships/slide" Target="/ppt/slides/slide2.xml" Id="R089eb6724d604fc6" /><Relationship Type="http://schemas.openxmlformats.org/officeDocument/2006/relationships/notesMaster" Target="/ppt/notesMasters/notesMaster1.xml" Id="R97068f896d684869" /></Relationships>
</file>

<file path=ppt/notesSlides/_rels/notesSlide3.xml.rels>&#65279;<?xml version="1.0" encoding="utf-8"?><Relationships xmlns="http://schemas.openxmlformats.org/package/2006/relationships"><Relationship Type="http://schemas.openxmlformats.org/officeDocument/2006/relationships/slide" Target="/ppt/slides/slide3.xml" Id="R2908b7cc72d945b9" /><Relationship Type="http://schemas.openxmlformats.org/officeDocument/2006/relationships/notesMaster" Target="/ppt/notesMasters/notesMaster1.xml" Id="R70cbcd6440d54cc5" /></Relationships>
</file>

<file path=ppt/notesSlides/_rels/notesSlide4.xml.rels>&#65279;<?xml version="1.0" encoding="utf-8"?><Relationships xmlns="http://schemas.openxmlformats.org/package/2006/relationships"><Relationship Type="http://schemas.openxmlformats.org/officeDocument/2006/relationships/slide" Target="/ppt/slides/slide4.xml" Id="R57cdf56a353f44a9" /><Relationship Type="http://schemas.openxmlformats.org/officeDocument/2006/relationships/notesMaster" Target="/ppt/notesMasters/notesMaster1.xml" Id="Rbe512d1b5a214432" /></Relationships>
</file>

<file path=ppt/notesSlides/_rels/notesSlide5.xml.rels>&#65279;<?xml version="1.0" encoding="utf-8"?><Relationships xmlns="http://schemas.openxmlformats.org/package/2006/relationships"><Relationship Type="http://schemas.openxmlformats.org/officeDocument/2006/relationships/slide" Target="/ppt/slides/slide5.xml" Id="Rf6437ae3af664c63" /><Relationship Type="http://schemas.openxmlformats.org/officeDocument/2006/relationships/notesMaster" Target="/ppt/notesMasters/notesMaster1.xml" Id="Re2934250c4d14824" /></Relationships>
</file>

<file path=ppt/notesSlides/_rels/notesSlide6.xml.rels>&#65279;<?xml version="1.0" encoding="utf-8"?><Relationships xmlns="http://schemas.openxmlformats.org/package/2006/relationships"><Relationship Type="http://schemas.openxmlformats.org/officeDocument/2006/relationships/slide" Target="/ppt/slides/slide6.xml" Id="Re895949f9a6f47fa" /><Relationship Type="http://schemas.openxmlformats.org/officeDocument/2006/relationships/notesMaster" Target="/ppt/notesMasters/notesMaster1.xml" Id="Rc204b0ec434f4ea9" /></Relationships>
</file>

<file path=ppt/notesSlides/_rels/notesSlide7.xml.rels>&#65279;<?xml version="1.0" encoding="utf-8"?><Relationships xmlns="http://schemas.openxmlformats.org/package/2006/relationships"><Relationship Type="http://schemas.openxmlformats.org/officeDocument/2006/relationships/slide" Target="/ppt/slides/slide7.xml" Id="Rb0a0349b901f48c4" /><Relationship Type="http://schemas.openxmlformats.org/officeDocument/2006/relationships/notesMaster" Target="/ppt/notesMasters/notesMaster1.xml" Id="R42fd0673e9af4392" /></Relationships>
</file>

<file path=ppt/notesSlides/_rels/notesSlide8.xml.rels>&#65279;<?xml version="1.0" encoding="utf-8"?><Relationships xmlns="http://schemas.openxmlformats.org/package/2006/relationships"><Relationship Type="http://schemas.openxmlformats.org/officeDocument/2006/relationships/slide" Target="/ppt/slides/slide8.xml" Id="Rc49e4c4fcd7b4450" /><Relationship Type="http://schemas.openxmlformats.org/officeDocument/2006/relationships/notesMaster" Target="/ppt/notesMasters/notesMaster1.xml" Id="R93cff280005f4eda" /></Relationships>
</file>

<file path=ppt/notesSlides/_rels/notesSlide9.xml.rels>&#65279;<?xml version="1.0" encoding="utf-8"?><Relationships xmlns="http://schemas.openxmlformats.org/package/2006/relationships"><Relationship Type="http://schemas.openxmlformats.org/officeDocument/2006/relationships/slide" Target="/ppt/slides/slide9.xml" Id="Rf9a8a181458d4a18" /><Relationship Type="http://schemas.openxmlformats.org/officeDocument/2006/relationships/notesMaster" Target="/ppt/notesMasters/notesMaster1.xml" Id="Rd6cc2dda93bb443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1f61e0dfd954e30" /><Relationship Type="http://schemas.openxmlformats.org/officeDocument/2006/relationships/notesMaster" Target="/ppt/notesMasters/notesMaster1.xml" Id="Re838453fa03546b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74ce8dbe35f4d0b" /><Relationship Type="http://schemas.openxmlformats.org/officeDocument/2006/relationships/notesMaster" Target="/ppt/notesMasters/notesMaster1.xml" Id="Ra1d6272a9108479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b9f9efccbca4c17" /><Relationship Type="http://schemas.openxmlformats.org/officeDocument/2006/relationships/notesMaster" Target="/ppt/notesMasters/notesMaster1.xml" Id="R77bf50a029c54a4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Agustín Dana</a:t>
            </a:r>
          </a:p>
          <a:p xmlns:a="http://schemas.openxmlformats.org/drawingml/2006/main">
            <a:r>
              <a:t/>
            </a:r>
          </a:p>
          <a:p xmlns:a="http://schemas.openxmlformats.org/drawingml/2006/main">
            <a:r>
              <a:t>Hola, somos el Grupo 1 de la comisión 402 y vamos a presentar la etapa 2 de nuestro trabajo de Investigación Operativa. Nuestro caso es una fábrica que produce juntas de corcho para motores.</a:t>
            </a:r>
          </a:p>
          <a:p xmlns:a="http://schemas.openxmlformats.org/drawingml/2006/main">
            <a:r>
              <a:t/>
            </a:r>
          </a:p>
          <a:p xmlns:a="http://schemas.openxmlformats.org/drawingml/2006/main">
            <a:r>
              <a:t>En la etapa anterior determinamos cuánto fabricar de cada producto para maximizar el beneficio semanal. En esta etapa tomamos esa solución como punto de partida y analizamos qué ocurre cuando cambian las ganancias o los recursos disponibles.</a:t>
            </a:r>
          </a:p>
          <a:p xmlns:a="http://schemas.openxmlformats.org/drawingml/2006/main">
            <a:r>
              <a:t/>
            </a:r>
          </a:p>
          <a:p xmlns:a="http://schemas.openxmlformats.org/drawingml/2006/main">
            <a:r>
              <a:t>También evaluamos si conviene incorporar un producto nuevo y qué pedidos especiales podemos aceptar con el corcho sobrante. La idea es usar los resultados del modelo para justificar decisiones concretas de la empresa.</a:t>
            </a:r>
          </a:p>
          <a:p xmlns:a="http://schemas.openxmlformats.org/drawingml/2006/main">
            <a:r>
              <a:t/>
            </a:r>
          </a:p>
          <a:p xmlns:a="http://schemas.openxmlformats.org/drawingml/2006/main">
            <a:r>
              <a:t>Fuentes: IO_402_Grupo1.docx, secciones 2.1 a 2.4; consigna Trabajo Práctico Integrador - IO - 2026.pdf. Importes del modelo en miles de pesos. Cálculos de los escenarios y cotas derivados del modelo.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Agustín Dana</a:t>
            </a:r>
          </a:p>
          <a:p xmlns:a="http://schemas.openxmlformats.org/drawingml/2006/main">
            <a:r>
              <a:t/>
            </a:r>
          </a:p>
          <a:p xmlns:a="http://schemas.openxmlformats.org/drawingml/2006/main">
            <a:r>
              <a:t>El plan óptimo original consiste en fabricar ochenta lotes de juntas de tapa de cilindros, veinte de cárter y cincuenta de múltiple. Cada lote representa cien juntas y el beneficio total es de seis millones seiscientos mil pesos semanales.</a:t>
            </a:r>
          </a:p>
          <a:p xmlns:a="http://schemas.openxmlformats.org/drawingml/2006/main">
            <a:r>
              <a:t/>
            </a:r>
          </a:p>
          <a:p xmlns:a="http://schemas.openxmlformats.org/drawingml/2006/main">
            <a:r>
              <a:t>Este plan consume trescientos treinta metros cuadrados de corcho de los seiscientos disponibles. Por lo tanto, quedan doscientos setenta metros cuadrados sin utilizar.</a:t>
            </a:r>
          </a:p>
          <a:p xmlns:a="http://schemas.openxmlformats.org/drawingml/2006/main">
            <a:r>
              <a:t/>
            </a:r>
          </a:p>
          <a:p xmlns:a="http://schemas.openxmlformats.org/drawingml/2006/main">
            <a:r>
              <a:t>En cambio, se usan las cuatrocientas ochenta horas de máquina y las doscientas unidades de capacidad de despacho. También se cumple exactamente el mínimo contractual de ciento cincuenta lotes totales. Esos resultados nos permiten identificar qué restricciones están activas. A continuación, Luis va a explicar cómo interpretamos económicamente esos recursos mediante el modelo dual.</a:t>
            </a:r>
          </a:p>
          <a:p xmlns:a="http://schemas.openxmlformats.org/drawingml/2006/main">
            <a:r>
              <a:t/>
            </a:r>
          </a:p>
          <a:p xmlns:a="http://schemas.openxmlformats.org/drawingml/2006/main">
            <a:r>
              <a:t>Fuentes: IO_402_Grupo1.docx, secciones 2.1 a 2.4; consigna Trabajo Práctico Integrador - IO - 2026.pdf. Importes del modelo en miles de pesos. Cálculos de los escenarios y cotas derivados del modelo.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Luis Parmigiani</a:t>
            </a:r>
          </a:p>
          <a:p xmlns:a="http://schemas.openxmlformats.org/drawingml/2006/main">
            <a:r>
              <a:t/>
            </a:r>
          </a:p>
          <a:p xmlns:a="http://schemas.openxmlformats.org/drawingml/2006/main">
            <a:r>
              <a:t>A partir del modelo primal construimos el dual. El primal decide las cantidades que debemos producir. El dual asigna un valor marginal a cada restricción del problema.</a:t>
            </a:r>
          </a:p>
          <a:p xmlns:a="http://schemas.openxmlformats.org/drawingml/2006/main">
            <a:r>
              <a:t/>
            </a:r>
          </a:p>
          <a:p xmlns:a="http://schemas.openxmlformats.org/drawingml/2006/main">
            <a:r>
              <a:t>Como el primal maximiza, el dual busca minimizar. Su función objetivo combina las disponibilidades de corcho, horas de máquina y despacho con el mínimo contractual. Cada producto del primal genera una restricción en el dual.</a:t>
            </a:r>
          </a:p>
          <a:p xmlns:a="http://schemas.openxmlformats.org/drawingml/2006/main">
            <a:r>
              <a:t/>
            </a:r>
          </a:p>
          <a:p xmlns:a="http://schemas.openxmlformats.org/drawingml/2006/main">
            <a:r>
              <a:t>Las primeras tres variables duales son no negativas porque corresponden a restricciones de capacidad de tipo menor o igual. La cuarta es no positiva porque representa una exigencia mínima de tipo mayor o igual.</a:t>
            </a:r>
          </a:p>
          <a:p xmlns:a="http://schemas.openxmlformats.org/drawingml/2006/main">
            <a:r>
              <a:t/>
            </a:r>
          </a:p>
          <a:p xmlns:a="http://schemas.openxmlformats.org/drawingml/2006/main">
            <a:r>
              <a:t>La solución dual es cero, veinte, treinta y menos sesenta. Al reemplazarla, obtenemos seis mil seiscientos, expresados en miles de pesos, exactamente el mismo valor óptimo que en el primal.</a:t>
            </a:r>
          </a:p>
          <a:p xmlns:a="http://schemas.openxmlformats.org/drawingml/2006/main">
            <a:r>
              <a:t/>
            </a:r>
          </a:p>
          <a:p xmlns:a="http://schemas.openxmlformats.org/drawingml/2006/main">
            <a:r>
              <a:t>Fuentes: IO_402_Grupo1.docx, secciones 2.1 a 2.4; consigna Trabajo Práctico Integrador - IO - 2026.pdf. Importes del modelo en miles de pesos. Cálculos de los escenarios y cotas derivados del modelo.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Luis Parmigiani</a:t>
            </a:r>
          </a:p>
          <a:p xmlns:a="http://schemas.openxmlformats.org/drawingml/2006/main">
            <a:r>
              <a:t/>
            </a:r>
          </a:p>
          <a:p xmlns:a="http://schemas.openxmlformats.org/drawingml/2006/main">
            <a:r>
              <a:t>Los precios sombra traducen esa solución a decisiones. El corcho tiene precio sombra cero porque ya sobra material. Conseguir un metro cuadrado adicional no mejora el beneficio en el escenario actual.</a:t>
            </a:r>
          </a:p>
          <a:p xmlns:a="http://schemas.openxmlformats.org/drawingml/2006/main">
            <a:r>
              <a:t/>
            </a:r>
          </a:p>
          <a:p xmlns:a="http://schemas.openxmlformats.org/drawingml/2006/main">
            <a:r>
              <a:t>Una hora adicional de máquina aporta veinte mil pesos de beneficio y una unidad adicional de capacidad de despacho aporta treinta mil pesos. Son recursos escasos porque se utilizan por completo.</a:t>
            </a:r>
          </a:p>
          <a:p xmlns:a="http://schemas.openxmlformats.org/drawingml/2006/main">
            <a:r>
              <a:t/>
            </a:r>
          </a:p>
          <a:p xmlns:a="http://schemas.openxmlformats.org/drawingml/2006/main">
            <a:r>
              <a:t>El mínimo contractual tiene un precio sombra de menos sesenta mil pesos. Si aumentamos esa exigencia en un lote, el beneficio disminuye en esa cantidad dentro del rango válido.</a:t>
            </a:r>
          </a:p>
          <a:p xmlns:a="http://schemas.openxmlformats.org/drawingml/2006/main">
            <a:r>
              <a:t/>
            </a:r>
          </a:p>
          <a:p xmlns:a="http://schemas.openxmlformats.org/drawingml/2006/main">
            <a:r>
              <a:t>Estos valores se aplican a cambios individuales y dentro de sus rangos de sensibilidad. Para decidir una ampliación también hay que comparar el beneficio adicional con su costo. Stéfano va a mostrar ahora el análisis de la ganancia del cárter.</a:t>
            </a:r>
          </a:p>
          <a:p xmlns:a="http://schemas.openxmlformats.org/drawingml/2006/main">
            <a:r>
              <a:t/>
            </a:r>
          </a:p>
          <a:p xmlns:a="http://schemas.openxmlformats.org/drawingml/2006/main">
            <a:r>
              <a:t>Fuentes: IO_402_Grupo1.docx, secciones 2.1 a 2.4; consigna Trabajo Práctico Integrador - IO - 2026.pdf. Importes del modelo en miles de pesos. Cálculos de los escenarios y cotas derivados del modelo.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Stéfano Conti</a:t>
            </a:r>
          </a:p>
          <a:p xmlns:a="http://schemas.openxmlformats.org/drawingml/2006/main">
            <a:r>
              <a:t/>
            </a:r>
          </a:p>
          <a:p xmlns:a="http://schemas.openxmlformats.org/drawingml/2006/main">
            <a:r>
              <a:t>El primer cambio que analizamos es la ganancia por lote de juntas de cárter, representada por ce dos. Su valor original es treinta, es decir, treinta mil pesos.</a:t>
            </a:r>
          </a:p>
          <a:p xmlns:a="http://schemas.openxmlformats.org/drawingml/2006/main">
            <a:r>
              <a:t/>
            </a:r>
          </a:p>
          <a:p xmlns:a="http://schemas.openxmlformats.org/drawingml/2006/main">
            <a:r>
              <a:t>Queremos saber cuánto puede variar sin que el plan actual deje de ser óptimo. Para eso revisamos los costos reducidos de las variables no básicas. En un problema de maximización deben mantenerse menores o iguales a cero.</a:t>
            </a:r>
          </a:p>
          <a:p xmlns:a="http://schemas.openxmlformats.org/drawingml/2006/main">
            <a:r>
              <a:t/>
            </a:r>
          </a:p>
          <a:p xmlns:a="http://schemas.openxmlformats.org/drawingml/2006/main">
            <a:r>
              <a:t>Al introducir la variación delta, las tres condiciones nos dan aumentos máximos de veinte, quince y diez. Tenemos que cumplirlas todas, por lo que elegimos la más restrictiva: diez.</a:t>
            </a:r>
          </a:p>
          <a:p xmlns:a="http://schemas.openxmlformats.org/drawingml/2006/main">
            <a:r>
              <a:t/>
            </a:r>
          </a:p>
          <a:p xmlns:a="http://schemas.openxmlformats.org/drawingml/2006/main">
            <a:r>
              <a:t>Entonces, ce dos puede subir de treinta a cuarenta. Hacia abajo, el análisis matemático de esta base no impone una cota. En el límite de cuarenta aparecen soluciones óptimas alternativas.</a:t>
            </a:r>
          </a:p>
          <a:p xmlns:a="http://schemas.openxmlformats.org/drawingml/2006/main">
            <a:r>
              <a:t/>
            </a:r>
          </a:p>
          <a:p xmlns:a="http://schemas.openxmlformats.org/drawingml/2006/main">
            <a:r>
              <a:t>Fuentes: IO_402_Grupo1.docx, secciones 2.1 a 2.4; consigna Trabajo Práctico Integrador - IO - 2026.pdf. Importes del modelo en miles de pesos. Cálculos de los escenarios y cotas derivados del modelo.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Stéfano Conti</a:t>
            </a:r>
          </a:p>
          <a:p xmlns:a="http://schemas.openxmlformats.org/drawingml/2006/main">
            <a:r>
              <a:t/>
            </a:r>
          </a:p>
          <a:p xmlns:a="http://schemas.openxmlformats.org/drawingml/2006/main">
            <a:r>
              <a:t>Para interpretar el rango, probamos primero una ganancia de treinta y cinco mil pesos por lote de cárter. Como está dentro del intervalo, mantenemos el plan de ochenta, veinte y cincuenta lotes.</a:t>
            </a:r>
          </a:p>
          <a:p xmlns:a="http://schemas.openxmlformats.org/drawingml/2006/main">
            <a:r>
              <a:t/>
            </a:r>
          </a:p>
          <a:p xmlns:a="http://schemas.openxmlformats.org/drawingml/2006/main">
            <a:r>
              <a:t>Los veinte lotes de cárter ahora aportan cinco mil pesos más cada uno. Por eso, el beneficio aumenta cien mil pesos y pasa de seis millones seiscientos mil a seis millones setecientos mil.</a:t>
            </a:r>
          </a:p>
          <a:p xmlns:a="http://schemas.openxmlformats.org/drawingml/2006/main">
            <a:r>
              <a:t/>
            </a:r>
          </a:p>
          <a:p xmlns:a="http://schemas.openxmlformats.org/drawingml/2006/main">
            <a:r>
              <a:t>También podemos ver qué ocurre con cuarenta y dos mil pesos, que queda fuera del rango. En ese caso hay que volver a optimizar. El nuevo plan es cero lotes de tapa, ciento cuarenta de cárter y treinta de múltiple, con un beneficio de siete millones ochenta mil pesos.</a:t>
            </a:r>
          </a:p>
          <a:p xmlns:a="http://schemas.openxmlformats.org/drawingml/2006/main">
            <a:r>
              <a:t/>
            </a:r>
          </a:p>
          <a:p xmlns:a="http://schemas.openxmlformats.org/drawingml/2006/main">
            <a:r>
              <a:t>Así distinguimos un cambio que solo modifica el beneficio de otro que también cambia la producción. Martín continúa con las horas de máquina.</a:t>
            </a:r>
          </a:p>
          <a:p xmlns:a="http://schemas.openxmlformats.org/drawingml/2006/main">
            <a:r>
              <a:t/>
            </a:r>
          </a:p>
          <a:p xmlns:a="http://schemas.openxmlformats.org/drawingml/2006/main">
            <a:r>
              <a:t>Fuentes: IO_402_Grupo1.docx, secciones 2.1 a 2.4; consigna Trabajo Práctico Integrador - IO - 2026.pdf. Importes del modelo en miles de pesos. Cálculos de los escenarios y cotas derivados del modelo.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Martín Redaelli</a:t>
            </a:r>
          </a:p>
          <a:p xmlns:a="http://schemas.openxmlformats.org/drawingml/2006/main">
            <a:r>
              <a:t/>
            </a:r>
          </a:p>
          <a:p xmlns:a="http://schemas.openxmlformats.org/drawingml/2006/main">
            <a:r>
              <a:t>El segundo cambio afecta a la disponibilidad de horas de troquelado. Partimos de cuatrocientas ochenta horas semanales y llamamos delta a la variación.</a:t>
            </a:r>
          </a:p>
          <a:p xmlns:a="http://schemas.openxmlformats.org/drawingml/2006/main">
            <a:r>
              <a:t/>
            </a:r>
          </a:p>
          <a:p xmlns:a="http://schemas.openxmlformats.org/drawingml/2006/main">
            <a:r>
              <a:t>A diferencia del caso anterior, ahora cambia el término independiente de una restricción. Por eso revisamos la factibilidad: las variables básicas deben seguir siendo no negativas.</a:t>
            </a:r>
          </a:p>
          <a:p xmlns:a="http://schemas.openxmlformats.org/drawingml/2006/main">
            <a:r>
              <a:t/>
            </a:r>
          </a:p>
          <a:p xmlns:a="http://schemas.openxmlformats.org/drawingml/2006/main">
            <a:r>
              <a:t>El nuevo plan queda expresado de esta manera: tapa de cilindros, ochenta más delta. Cárter, veinte menos delta. Múltiple permanece en cincuenta. El sobrante de corcho es doscientos setenta menos delta.</a:t>
            </a:r>
          </a:p>
          <a:p xmlns:a="http://schemas.openxmlformats.org/drawingml/2006/main">
            <a:r>
              <a:t/>
            </a:r>
          </a:p>
          <a:p xmlns:a="http://schemas.openxmlformats.org/drawingml/2006/main">
            <a:r>
              <a:t>Estas condiciones permiten que delta varíe entre menos ochenta y veinte. Al sumarle las cuatrocientas ochenta horas originales, obtenemos un rango de cuatrocientas a quinientas horas. En ese intervalo se mantiene la base óptima, aunque las cantidades producidas van cambiando.</a:t>
            </a:r>
          </a:p>
          <a:p xmlns:a="http://schemas.openxmlformats.org/drawingml/2006/main">
            <a:r>
              <a:t/>
            </a:r>
          </a:p>
          <a:p xmlns:a="http://schemas.openxmlformats.org/drawingml/2006/main">
            <a:r>
              <a:t>Fuentes: IO_402_Grupo1.docx, secciones 2.1 a 2.4; consigna Trabajo Práctico Integrador - IO - 2026.pdf. Importes del modelo en miles de pesos. Cálculos de los escenarios y cotas derivados del modelo.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Martín Redaelli</a:t>
            </a:r>
          </a:p>
          <a:p xmlns:a="http://schemas.openxmlformats.org/drawingml/2006/main">
            <a:r>
              <a:t/>
            </a:r>
          </a:p>
          <a:p xmlns:a="http://schemas.openxmlformats.org/drawingml/2006/main">
            <a:r>
              <a:t>Si conseguimos veinte horas adicionales, llegamos a quinientas. El modelo pasa de ochenta a cien lotes de tapa de cilindros, reduce los lotes de cárter de veinte a cero y mantiene los cincuenta lotes de múltiple.</a:t>
            </a:r>
          </a:p>
          <a:p xmlns:a="http://schemas.openxmlformats.org/drawingml/2006/main">
            <a:r>
              <a:t/>
            </a:r>
          </a:p>
          <a:p xmlns:a="http://schemas.openxmlformats.org/drawingml/2006/main">
            <a:r>
              <a:t>El beneficio aumenta cuatrocientos mil pesos: veinte horas por veinte mil pesos de precio sombra. Entonces pasa a siete millones de pesos semanales, antes de descontar un eventual costo adicional por contratar esas horas.</a:t>
            </a:r>
          </a:p>
          <a:p xmlns:a="http://schemas.openxmlformats.org/drawingml/2006/main">
            <a:r>
              <a:t/>
            </a:r>
          </a:p>
          <a:p xmlns:a="http://schemas.openxmlformats.org/drawingml/2006/main">
            <a:r>
              <a:t>Las quinientas horas marcan el extremo superior del rango. Si queremos analizar una ampliación mayor, debemos volver a resolver el problema y no podemos seguir usando automáticamente el mismo precio sombra.</a:t>
            </a:r>
          </a:p>
          <a:p xmlns:a="http://schemas.openxmlformats.org/drawingml/2006/main">
            <a:r>
              <a:t/>
            </a:r>
          </a:p>
          <a:p xmlns:a="http://schemas.openxmlformats.org/drawingml/2006/main">
            <a:r>
              <a:t>Este análisis permite valorar una ampliación concreta de capacidad y entender cómo afectaría a la producción. Juan va a presentar ahora la evaluación de un producto nuevo y el modelo de pedidos especiales.</a:t>
            </a:r>
          </a:p>
          <a:p xmlns:a="http://schemas.openxmlformats.org/drawingml/2006/main">
            <a:r>
              <a:t/>
            </a:r>
          </a:p>
          <a:p xmlns:a="http://schemas.openxmlformats.org/drawingml/2006/main">
            <a:r>
              <a:t>Fuentes: IO_402_Grupo1.docx, secciones 2.1 a 2.4; consigna Trabajo Práctico Integrador - IO - 2026.pdf. Importes del modelo en miles de pesos. Cálculos de los escenarios y cotas derivados del modelo.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Juan Cruz Bonadeo</a:t>
            </a:r>
          </a:p>
          <a:p xmlns:a="http://schemas.openxmlformats.org/drawingml/2006/main">
            <a:r>
              <a:t/>
            </a:r>
          </a:p>
          <a:p xmlns:a="http://schemas.openxmlformats.org/drawingml/2006/main">
            <a:r>
              <a:t>La nueva alternativa que evaluamos es fabricar juntas de bomba de agua, también en lotes de cien unidades. Cada lote utiliza dos metros cuadrados de corcho, tres horas de máquina y dos unidades de capacidad de despacho. Además, aporta un lote al cumplimiento del mínimo contractual.</a:t>
            </a:r>
          </a:p>
          <a:p xmlns:a="http://schemas.openxmlformats.org/drawingml/2006/main">
            <a:r>
              <a:t/>
            </a:r>
          </a:p>
          <a:p xmlns:a="http://schemas.openxmlformats.org/drawingml/2006/main">
            <a:r>
              <a:t>La ganancia propuesta es de cuarenta y cinco mil pesos por lote. Para saber si conviene introducirlo, valoramos sus consumos con los precios sombra: cero por dos, más veinte por tres, más treinta por dos, menos sesenta por uno.</a:t>
            </a:r>
          </a:p>
          <a:p xmlns:a="http://schemas.openxmlformats.org/drawingml/2006/main">
            <a:r>
              <a:t/>
            </a:r>
          </a:p>
          <a:p xmlns:a="http://schemas.openxmlformats.org/drawingml/2006/main">
            <a:r>
              <a:t>El resultado es sesenta mil pesos de costo de oportunidad. Como la contribución es de cuarenta y cinco mil, el costo reducido da menos quince mil pesos. Con las condiciones actuales, no conviene incorporarlo al plan óptimo.</a:t>
            </a:r>
          </a:p>
          <a:p xmlns:a="http://schemas.openxmlformats.org/drawingml/2006/main">
            <a:r>
              <a:t/>
            </a:r>
          </a:p>
          <a:p xmlns:a="http://schemas.openxmlformats.org/drawingml/2006/main">
            <a:r>
              <a:t>Fuentes: IO_402_Grupo1.docx, secciones 2.1 a 2.4; consigna Trabajo Práctico Integrador - IO - 2026.pdf. Importes del modelo en miles de pesos. Cálculos de los escenarios y cotas derivados del modelo.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Juan Cruz Bonadeo</a:t>
            </a:r>
          </a:p>
          <a:p xmlns:a="http://schemas.openxmlformats.org/drawingml/2006/main">
            <a:r>
              <a:t/>
            </a:r>
          </a:p>
          <a:p xmlns:a="http://schemas.openxmlformats.org/drawingml/2006/main">
            <a:r>
              <a:t>Después planteamos un problema de programación entera para aprovechar los doscientos setenta metros cuadrados sobrantes. Tenemos cuatro pedidos especiales, cada uno con un consumo de corcho y un beneficio fijo.</a:t>
            </a:r>
          </a:p>
          <a:p xmlns:a="http://schemas.openxmlformats.org/drawingml/2006/main">
            <a:r>
              <a:t/>
            </a:r>
          </a:p>
          <a:p xmlns:a="http://schemas.openxmlformats.org/drawingml/2006/main">
            <a:r>
              <a:t>La decisión es binaria: cada pedido se acepta completo o se rechaza. Por eso, las variables ye solo pueden valer cero o uno. La función objetivo suma los beneficios de los pedidos aceptados y la restricción impide superar los doscientos setenta metros cuadrados.</a:t>
            </a:r>
          </a:p>
          <a:p xmlns:a="http://schemas.openxmlformats.org/drawingml/2006/main">
            <a:r>
              <a:t/>
            </a:r>
          </a:p>
          <a:p xmlns:a="http://schemas.openxmlformats.org/drawingml/2006/main">
            <a:r>
              <a:t>Este submodelo considera únicamente el corcho. Para aplicar su resultado sin modificar el plan principal, los pedidos deben atenderse sin consumir las horas de máquina ni el despacho que ya están agotados. Si utilizan esas capacidades, hay que incorporarlas al modelo.</a:t>
            </a:r>
          </a:p>
          <a:p xmlns:a="http://schemas.openxmlformats.org/drawingml/2006/main">
            <a:r>
              <a:t/>
            </a:r>
          </a:p>
          <a:p xmlns:a="http://schemas.openxmlformats.org/drawingml/2006/main">
            <a:r>
              <a:t>Gonzalo va a explicar cómo obtenemos la mejor combinación de pedidos y las conclusiones de la etapa.</a:t>
            </a:r>
          </a:p>
          <a:p xmlns:a="http://schemas.openxmlformats.org/drawingml/2006/main">
            <a:r>
              <a:t/>
            </a:r>
          </a:p>
          <a:p xmlns:a="http://schemas.openxmlformats.org/drawingml/2006/main">
            <a:r>
              <a:t>Fuentes: IO_402_Grupo1.docx, secciones 2.1 a 2.4; consigna Trabajo Práctico Integrador - IO - 2026.pdf. Importes del modelo en miles de pesos. Cálculos de los escenarios y cotas derivados del modelo.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Gonzalo Casermeiro</a:t>
            </a:r>
          </a:p>
          <a:p xmlns:a="http://schemas.openxmlformats.org/drawingml/2006/main">
            <a:r>
              <a:t/>
            </a:r>
          </a:p>
          <a:p xmlns:a="http://schemas.openxmlformats.org/drawingml/2006/main">
            <a:r>
              <a:t>Primero relajamos las variables binarias y permitimos valores entre cero y uno. Ordenando por beneficio por metro cuadrado, entran completos los pedidos uno y dos, y el ochenta por ciento del pedido tres. La relajación da trescientos cuarenta y nueve mil pesos. Esa es una cota superior, pero no una solución admisible porque no podemos aceptar una fracción del pedido.</a:t>
            </a:r>
          </a:p>
          <a:p xmlns:a="http://schemas.openxmlformats.org/drawingml/2006/main">
            <a:r>
              <a:t/>
            </a:r>
          </a:p>
          <a:p xmlns:a="http://schemas.openxmlformats.org/drawingml/2006/main">
            <a:r>
              <a:t>Ramificamos sobre el pedido tres. Cuando lo rechazamos, podemos aceptar los pedidos uno, dos y cuatro. Usamos los doscientos setenta metros cuadrados y obtenemos trescientos cuarenta y cinco mil pesos.</a:t>
            </a:r>
          </a:p>
          <a:p xmlns:a="http://schemas.openxmlformats.org/drawingml/2006/main">
            <a:r>
              <a:t/>
            </a:r>
          </a:p>
          <a:p xmlns:a="http://schemas.openxmlformats.org/drawingml/2006/main">
            <a:r>
              <a:t>Cuando aceptamos el pedido tres, la relajación de esa rama tiene una cota de trescientos cuarenta y seis mil, por lo que todavía debemos explorarla. Al ramificar sobre el pedido dos, las cotas bajan a trescientos treinta y dos mil y trescientos cuarenta y cuatro mil. Como ambas son menores que trescientos cuarenta y cinco mil, podamos esas ramas. Así queda demostrada la optimalidad de aceptar uno, dos y cuatro.</a:t>
            </a:r>
          </a:p>
          <a:p xmlns:a="http://schemas.openxmlformats.org/drawingml/2006/main">
            <a:r>
              <a:t/>
            </a:r>
          </a:p>
          <a:p xmlns:a="http://schemas.openxmlformats.org/drawingml/2006/main">
            <a:r>
              <a:t>Fuentes: IO_402_Grupo1.docx, secciones 2.1 a 2.4; consigna Trabajo Práctico Integrador - IO - 2026.pdf. Importes del modelo en miles de pesos. Cálculos de los escenarios y cotas derivados del modelo.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Gonzalo Casermeiro</a:t>
            </a:r>
          </a:p>
          <a:p xmlns:a="http://schemas.openxmlformats.org/drawingml/2006/main">
            <a:r>
              <a:t/>
            </a:r>
          </a:p>
          <a:p xmlns:a="http://schemas.openxmlformats.org/drawingml/2006/main">
            <a:r>
              <a:t>La etapa 2 nos permitió interpretar y ampliar el resultado original. Identificamos que las horas de máquina y el despacho son recursos valiosos, mientras que ampliar la disponibilidad de corcho no mejora por sí sola el plan actual.</a:t>
            </a:r>
          </a:p>
          <a:p xmlns:a="http://schemas.openxmlformats.org/drawingml/2006/main">
            <a:r>
              <a:t/>
            </a:r>
          </a:p>
          <a:p xmlns:a="http://schemas.openxmlformats.org/drawingml/2006/main">
            <a:r>
              <a:t>Determinamos los rangos en los que podemos analizar cambios sin volver a resolver todo el modelo: hasta cuarenta mil pesos de ganancia por lote de cárter y entre cuatrocientas y quinientas horas de máquina.</a:t>
            </a:r>
          </a:p>
          <a:p xmlns:a="http://schemas.openxmlformats.org/drawingml/2006/main">
            <a:r>
              <a:t/>
            </a:r>
          </a:p>
          <a:p xmlns:a="http://schemas.openxmlformats.org/drawingml/2006/main">
            <a:r>
              <a:t>También concluimos que la junta de bomba de agua no conviene con la contribución propuesta. Finalmente, el modelo binario selecciona los pedidos uno, dos y cuatro, con trescientos cuarenta y cinco mil pesos de beneficio adicional, bajo las condiciones del submodelo.</a:t>
            </a:r>
          </a:p>
          <a:p xmlns:a="http://schemas.openxmlformats.org/drawingml/2006/main">
            <a:r>
              <a:t/>
            </a:r>
          </a:p>
          <a:p xmlns:a="http://schemas.openxmlformats.org/drawingml/2006/main">
            <a:r>
              <a:t>Con esto cerramos la etapa de sensibilidad, dualidad y programación entera. Muchas gracias.</a:t>
            </a:r>
          </a:p>
          <a:p xmlns:a="http://schemas.openxmlformats.org/drawingml/2006/main">
            <a:r>
              <a:t/>
            </a:r>
          </a:p>
          <a:p xmlns:a="http://schemas.openxmlformats.org/drawingml/2006/main">
            <a:r>
              <a:t>Fuentes: IO_402_Grupo1.docx, secciones 2.1 a 2.4; consigna Trabajo Práctico Integrador - IO - 2026.pdf. Importes del modelo en miles de pesos. Cálculos de los escenarios y cotas derivados del modelo.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8692db1e00c4dd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228a248224a44eb" /><Relationship Type="http://schemas.openxmlformats.org/officeDocument/2006/relationships/slideLayout" Target="/ppt/slideLayouts/slideLayout1.xml" Id="R4c7016e785714a4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c7016e785714a4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dd6cf41e2784af2" /><Relationship Type="http://schemas.openxmlformats.org/officeDocument/2006/relationships/notesSlide" Target="/ppt/notesSlides/notesSlide1.xml" Id="Red8d8c0c8459497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5879875a04f4df0" /><Relationship Type="http://schemas.openxmlformats.org/officeDocument/2006/relationships/notesSlide" Target="/ppt/notesSlides/notesSlide2.xml" Id="Rbdca1a21b618405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8ec6fedd255418f" /><Relationship Type="http://schemas.openxmlformats.org/officeDocument/2006/relationships/notesSlide" Target="/ppt/notesSlides/notesSlide3.xml" Id="R7211b368310444c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bf4c9c9fbcf4917" /><Relationship Type="http://schemas.openxmlformats.org/officeDocument/2006/relationships/notesSlide" Target="/ppt/notesSlides/notesSlide4.xml" Id="Rc9cc0ae9faa9441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bc60b1549284d44" /><Relationship Type="http://schemas.openxmlformats.org/officeDocument/2006/relationships/notesSlide" Target="/ppt/notesSlides/notesSlide5.xml" Id="R25e608baa6bf430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11b9977be584661" /><Relationship Type="http://schemas.openxmlformats.org/officeDocument/2006/relationships/notesSlide" Target="/ppt/notesSlides/notesSlide6.xml" Id="R8bb1b8dbfebb4bb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edab1a290244006" /><Relationship Type="http://schemas.openxmlformats.org/officeDocument/2006/relationships/notesSlide" Target="/ppt/notesSlides/notesSlide7.xml" Id="Rff6a4534bd39491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60e3408005f4188" /><Relationship Type="http://schemas.openxmlformats.org/officeDocument/2006/relationships/notesSlide" Target="/ppt/notesSlides/notesSlide8.xml" Id="R7ecbcc9103ca4c5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de52ab1a288415d" /><Relationship Type="http://schemas.openxmlformats.org/officeDocument/2006/relationships/notesSlide" Target="/ppt/notesSlides/notesSlide9.xml" Id="R98df1308b2ff482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379e40798c34eb6" /><Relationship Type="http://schemas.openxmlformats.org/officeDocument/2006/relationships/notesSlide" Target="/ppt/notesSlides/notesSlide10.xml" Id="R6d58a0cc42db495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97dfddbe898499f" /><Relationship Type="http://schemas.openxmlformats.org/officeDocument/2006/relationships/notesSlide" Target="/ppt/notesSlides/notesSlide11.xml" Id="R15dbc24fdf4b4a1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df9c9bf60324ced" /><Relationship Type="http://schemas.openxmlformats.org/officeDocument/2006/relationships/notesSlide" Target="/ppt/notesSlides/notesSlide12.xml" Id="Rdefc58f38d4d4ff2" /></Relationships>
</file>

<file path=ppt/slides/slide1.xml><?xml version="1.0" encoding="utf-8"?>
<p:sld xmlns:p="http://schemas.openxmlformats.org/presentationml/2006/main">
  <p:cSld>
    <p:bg>
      <p:bgPr>
        <a:solidFill xmlns:a="http://schemas.openxmlformats.org/drawingml/2006/main">
          <a:srgbClr val="18313A"/>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B7ABD27F-5687-454B-B10F-E38AF14696C0}"/>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Helvetica Neue"/>
                <a:ea typeface="Helvetica Neue"/>
                <a:cs typeface="Helvetica Neue"/>
              </a:defRPr>
            </a:pPr>
            <a:r>
              <a:rPr sz="3300" b="1">
                <a:solidFill>
                  <a:srgbClr val="FFFFFF"/>
                </a:solidFill>
                <a:latin typeface="Helvetica Neue"/>
                <a:ea typeface="Helvetica Neue"/>
                <a:cs typeface="Helvetica Neue"/>
              </a:rPr>
              <a:t>Juntas de motor</a:t>
            </a:r>
          </a:p>
        </p:txBody>
      </p:sp>
      <p:sp>
        <p:nvSpPr>
          <p:cNvPr id="2" name="text-1">
            <a:extLst xmlns:a="http://schemas.openxmlformats.org/drawingml/2006/main">
              <a:ext uri="{FF2B5EF4-FFF2-40B4-BE49-F238E27FC236}">
                <a16:creationId xmlns:a16="http://schemas.microsoft.com/office/drawing/2014/main" id="{14F6386E-4BD5-404E-B8F2-971C91D00CB9}"/>
              </a:ext>
            </a:extLst>
          </p:cNvPr>
          <p:cNvSpPr>
            <a:spLocks xmlns:a="http://schemas.openxmlformats.org/drawingml/2006/main" noGrp="1"/>
          </p:cNvSpPr>
          <p:nvPr/>
        </p:nvSpPr>
        <p:spPr>
          <a:xfrm xmlns:a="http://schemas.openxmlformats.org/drawingml/2006/main">
            <a:off x="609600" y="6372225"/>
            <a:ext cx="990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B7D0CD"/>
                </a:solidFill>
                <a:latin typeface="Helvetica Neue"/>
                <a:ea typeface="Helvetica Neue"/>
                <a:cs typeface="Helvetica Neue"/>
              </a:defRPr>
            </a:pPr>
            <a:r>
              <a:rPr sz="1350" b="0">
                <a:solidFill>
                  <a:srgbClr val="B7D0CD"/>
                </a:solidFill>
                <a:latin typeface="Helvetica Neue"/>
                <a:ea typeface="Helvetica Neue"/>
                <a:cs typeface="Helvetica Neue"/>
              </a:rPr>
              <a:t>Agustín Dana</a:t>
            </a:r>
          </a:p>
        </p:txBody>
      </p:sp>
      <p:sp>
        <p:nvSpPr>
          <p:cNvPr id="3" name="text-2">
            <a:extLst xmlns:a="http://schemas.openxmlformats.org/drawingml/2006/main">
              <a:ext uri="{FF2B5EF4-FFF2-40B4-BE49-F238E27FC236}">
                <a16:creationId xmlns:a16="http://schemas.microsoft.com/office/drawing/2014/main" id="{576F554A-E9DA-4BFD-88B5-94D208692CD7}"/>
              </a:ext>
            </a:extLst>
          </p:cNvPr>
          <p:cNvSpPr>
            <a:spLocks xmlns:a="http://schemas.openxmlformats.org/drawingml/2006/main" noGrp="1"/>
          </p:cNvSpPr>
          <p:nvPr/>
        </p:nvSpPr>
        <p:spPr>
          <a:xfrm xmlns:a="http://schemas.openxmlformats.org/drawingml/2006/main">
            <a:off x="10953750" y="6362700"/>
            <a:ext cx="628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B7D0CD"/>
                </a:solidFill>
                <a:latin typeface="Helvetica Neue"/>
                <a:ea typeface="Helvetica Neue"/>
                <a:cs typeface="Helvetica Neue"/>
              </a:defRPr>
            </a:pPr>
            <a:r>
              <a:rPr sz="1350" b="0">
                <a:solidFill>
                  <a:srgbClr val="B7D0CD"/>
                </a:solidFill>
                <a:latin typeface="Helvetica Neue"/>
                <a:ea typeface="Helvetica Neue"/>
                <a:cs typeface="Helvetica Neue"/>
              </a:rPr>
              <a:t>01</a:t>
            </a:r>
          </a:p>
        </p:txBody>
      </p:sp>
      <p:sp>
        <p:nvSpPr>
          <p:cNvPr id="4" name="text-3">
            <a:extLst xmlns:a="http://schemas.openxmlformats.org/drawingml/2006/main">
              <a:ext uri="{FF2B5EF4-FFF2-40B4-BE49-F238E27FC236}">
                <a16:creationId xmlns:a16="http://schemas.microsoft.com/office/drawing/2014/main" id="{7C889D24-B056-4701-B0A5-F7167174A37B}"/>
              </a:ext>
            </a:extLst>
          </p:cNvPr>
          <p:cNvSpPr>
            <a:spLocks xmlns:a="http://schemas.openxmlformats.org/drawingml/2006/main" noGrp="1"/>
          </p:cNvSpPr>
          <p:nvPr/>
        </p:nvSpPr>
        <p:spPr>
          <a:xfrm xmlns:a="http://schemas.openxmlformats.org/drawingml/2006/main">
            <a:off x="609600" y="1876425"/>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FFFFFF"/>
                </a:solidFill>
                <a:latin typeface="Helvetica Neue"/>
                <a:ea typeface="Helvetica Neue"/>
                <a:cs typeface="Helvetica Neue"/>
              </a:defRPr>
            </a:pPr>
            <a:r>
              <a:rPr sz="4650" b="1">
                <a:solidFill>
                  <a:srgbClr val="FFFFFF"/>
                </a:solidFill>
                <a:latin typeface="Helvetica Neue"/>
                <a:ea typeface="Helvetica Neue"/>
                <a:cs typeface="Helvetica Neue"/>
              </a:rPr>
              <a:t>Análisis de sensibilidad</a:t>
            </a:r>
          </a:p>
          <a:p xmlns:a="http://schemas.openxmlformats.org/drawingml/2006/main">
            <a:pPr algn="l">
              <a:defRPr sz="4650" b="1">
                <a:solidFill>
                  <a:srgbClr val="FFFFFF"/>
                </a:solidFill>
                <a:latin typeface="Helvetica Neue"/>
                <a:ea typeface="Helvetica Neue"/>
                <a:cs typeface="Helvetica Neue"/>
              </a:defRPr>
            </a:pPr>
            <a:r>
              <a:rPr sz="4650" b="1">
                <a:solidFill>
                  <a:srgbClr val="FFFFFF"/>
                </a:solidFill>
                <a:latin typeface="Helvetica Neue"/>
                <a:ea typeface="Helvetica Neue"/>
                <a:cs typeface="Helvetica Neue"/>
              </a:rPr>
              <a:t>y dualidad</a:t>
            </a:r>
          </a:p>
        </p:txBody>
      </p:sp>
      <p:sp>
        <p:nvSpPr>
          <p:cNvPr id="5" name="text-4">
            <a:extLst xmlns:a="http://schemas.openxmlformats.org/drawingml/2006/main">
              <a:ext uri="{FF2B5EF4-FFF2-40B4-BE49-F238E27FC236}">
                <a16:creationId xmlns:a16="http://schemas.microsoft.com/office/drawing/2014/main" id="{44237C7C-E35B-466B-8F74-F4A5B0FE76C4}"/>
              </a:ext>
            </a:extLst>
          </p:cNvPr>
          <p:cNvSpPr>
            <a:spLocks xmlns:a="http://schemas.openxmlformats.org/drawingml/2006/main" noGrp="1"/>
          </p:cNvSpPr>
          <p:nvPr/>
        </p:nvSpPr>
        <p:spPr>
          <a:xfrm xmlns:a="http://schemas.openxmlformats.org/drawingml/2006/main">
            <a:off x="638175" y="40576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B7D0CD"/>
                </a:solidFill>
                <a:latin typeface="Helvetica Neue"/>
                <a:ea typeface="Helvetica Neue"/>
                <a:cs typeface="Helvetica Neue"/>
              </a:defRPr>
            </a:pPr>
            <a:r>
              <a:rPr sz="2250" b="0">
                <a:solidFill>
                  <a:srgbClr val="B7D0CD"/>
                </a:solidFill>
                <a:latin typeface="Helvetica Neue"/>
                <a:ea typeface="Helvetica Neue"/>
                <a:cs typeface="Helvetica Neue"/>
              </a:rPr>
              <a:t>Etapa 2 del Trabajo Práctico Integrador</a:t>
            </a:r>
          </a:p>
        </p:txBody>
      </p:sp>
      <p:sp>
        <p:nvSpPr>
          <p:cNvPr id="6" name="text-5">
            <a:extLst xmlns:a="http://schemas.openxmlformats.org/drawingml/2006/main">
              <a:ext uri="{FF2B5EF4-FFF2-40B4-BE49-F238E27FC236}">
                <a16:creationId xmlns:a16="http://schemas.microsoft.com/office/drawing/2014/main" id="{29411C11-E849-4BEA-8D45-0A56D202DE2C}"/>
              </a:ext>
            </a:extLst>
          </p:cNvPr>
          <p:cNvSpPr>
            <a:spLocks xmlns:a="http://schemas.openxmlformats.org/drawingml/2006/main" noGrp="1"/>
          </p:cNvSpPr>
          <p:nvPr/>
        </p:nvSpPr>
        <p:spPr>
          <a:xfrm xmlns:a="http://schemas.openxmlformats.org/drawingml/2006/main">
            <a:off x="638175" y="4924425"/>
            <a:ext cx="1066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B7D0CD"/>
                </a:solidFill>
                <a:latin typeface="Helvetica Neue"/>
                <a:ea typeface="Helvetica Neue"/>
                <a:cs typeface="Helvetica Neue"/>
              </a:defRPr>
            </a:pPr>
            <a:r>
              <a:rPr sz="1875" b="0">
                <a:solidFill>
                  <a:srgbClr val="B7D0CD"/>
                </a:solidFill>
                <a:latin typeface="Helvetica Neue"/>
                <a:ea typeface="Helvetica Neue"/>
                <a:cs typeface="Helvetica Neue"/>
              </a:rPr>
              <a:t>Investigación Operativa</a:t>
            </a:r>
          </a:p>
          <a:p xmlns:a="http://schemas.openxmlformats.org/drawingml/2006/main">
            <a:pPr algn="l">
              <a:defRPr sz="1875" b="0">
                <a:solidFill>
                  <a:srgbClr val="B7D0CD"/>
                </a:solidFill>
                <a:latin typeface="Helvetica Neue"/>
                <a:ea typeface="Helvetica Neue"/>
                <a:cs typeface="Helvetica Neue"/>
              </a:defRPr>
            </a:pPr>
            <a:r>
              <a:rPr sz="1875" b="0">
                <a:solidFill>
                  <a:srgbClr val="B7D0CD"/>
                </a:solidFill>
                <a:latin typeface="Helvetica Neue"/>
                <a:ea typeface="Helvetica Neue"/>
                <a:cs typeface="Helvetica Neue"/>
              </a:rPr>
              <a:t>UTN Facultad Regional Rosario</a:t>
            </a:r>
          </a:p>
          <a:p xmlns:a="http://schemas.openxmlformats.org/drawingml/2006/main">
            <a:pPr algn="l">
              <a:defRPr sz="1875" b="0">
                <a:solidFill>
                  <a:srgbClr val="B7D0CD"/>
                </a:solidFill>
                <a:latin typeface="Helvetica Neue"/>
                <a:ea typeface="Helvetica Neue"/>
                <a:cs typeface="Helvetica Neue"/>
              </a:defRPr>
            </a:pPr>
            <a:r>
              <a:rPr sz="1875" b="0">
                <a:solidFill>
                  <a:srgbClr val="B7D0CD"/>
                </a:solidFill>
                <a:latin typeface="Helvetica Neue"/>
                <a:ea typeface="Helvetica Neue"/>
                <a:cs typeface="Helvetica Neue"/>
              </a:rPr>
              <a:t>Comisión 402 · Grupo 1</a:t>
            </a:r>
          </a:p>
        </p:txBody>
      </p:sp>
    </p:spTree>
    <p:extLst>
      <p:ext uri="{BB962C8B-B14F-4D97-AF65-F5344CB8AC3E}">
        <p14:creationId xmlns:p14="http://schemas.microsoft.com/office/powerpoint/2010/main" val="271371868"/>
      </p:ext>
    </p:extLst>
  </p:cSld>
</p:sld>
</file>

<file path=ppt/slides/slide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130EC6BE-C008-4B44-B978-D261C1827BCC}"/>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13A"/>
                </a:solidFill>
                <a:latin typeface="Helvetica Neue"/>
                <a:ea typeface="Helvetica Neue"/>
                <a:cs typeface="Helvetica Neue"/>
              </a:defRPr>
            </a:pPr>
            <a:r>
              <a:rPr sz="3300" b="1">
                <a:solidFill>
                  <a:srgbClr val="18313A"/>
                </a:solidFill>
                <a:latin typeface="Helvetica Neue"/>
                <a:ea typeface="Helvetica Neue"/>
                <a:cs typeface="Helvetica Neue"/>
              </a:rPr>
              <a:t>El plan de producción de partida</a:t>
            </a:r>
          </a:p>
        </p:txBody>
      </p:sp>
      <p:sp>
        <p:nvSpPr>
          <p:cNvPr id="2" name="text-1">
            <a:extLst xmlns:a="http://schemas.openxmlformats.org/drawingml/2006/main">
              <a:ext uri="{FF2B5EF4-FFF2-40B4-BE49-F238E27FC236}">
                <a16:creationId xmlns:a16="http://schemas.microsoft.com/office/drawing/2014/main" id="{0934E675-9B39-44C1-ADF4-E390B1E075BB}"/>
              </a:ext>
            </a:extLst>
          </p:cNvPr>
          <p:cNvSpPr>
            <a:spLocks xmlns:a="http://schemas.openxmlformats.org/drawingml/2006/main" noGrp="1"/>
          </p:cNvSpPr>
          <p:nvPr/>
        </p:nvSpPr>
        <p:spPr>
          <a:xfrm xmlns:a="http://schemas.openxmlformats.org/drawingml/2006/main">
            <a:off x="609600" y="6372225"/>
            <a:ext cx="990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36A"/>
                </a:solidFill>
                <a:latin typeface="Helvetica Neue"/>
                <a:ea typeface="Helvetica Neue"/>
                <a:cs typeface="Helvetica Neue"/>
              </a:defRPr>
            </a:pPr>
            <a:r>
              <a:rPr sz="1350" b="0">
                <a:solidFill>
                  <a:srgbClr val="52636A"/>
                </a:solidFill>
                <a:latin typeface="Helvetica Neue"/>
                <a:ea typeface="Helvetica Neue"/>
                <a:cs typeface="Helvetica Neue"/>
              </a:rPr>
              <a:t>Agustín Dana</a:t>
            </a:r>
          </a:p>
        </p:txBody>
      </p:sp>
      <p:sp>
        <p:nvSpPr>
          <p:cNvPr id="3" name="text-2">
            <a:extLst xmlns:a="http://schemas.openxmlformats.org/drawingml/2006/main">
              <a:ext uri="{FF2B5EF4-FFF2-40B4-BE49-F238E27FC236}">
                <a16:creationId xmlns:a16="http://schemas.microsoft.com/office/drawing/2014/main" id="{D2998862-2C4D-4EC4-B5EE-E791CB843F09}"/>
              </a:ext>
            </a:extLst>
          </p:cNvPr>
          <p:cNvSpPr>
            <a:spLocks xmlns:a="http://schemas.openxmlformats.org/drawingml/2006/main" noGrp="1"/>
          </p:cNvSpPr>
          <p:nvPr/>
        </p:nvSpPr>
        <p:spPr>
          <a:xfrm xmlns:a="http://schemas.openxmlformats.org/drawingml/2006/main">
            <a:off x="10953750" y="6362700"/>
            <a:ext cx="628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2636A"/>
                </a:solidFill>
                <a:latin typeface="Helvetica Neue"/>
                <a:ea typeface="Helvetica Neue"/>
                <a:cs typeface="Helvetica Neue"/>
              </a:defRPr>
            </a:pPr>
            <a:r>
              <a:rPr sz="1350" b="0">
                <a:solidFill>
                  <a:srgbClr val="52636A"/>
                </a:solidFill>
                <a:latin typeface="Helvetica Neue"/>
                <a:ea typeface="Helvetica Neue"/>
                <a:cs typeface="Helvetica Neue"/>
              </a:rPr>
              <a:t>02</a:t>
            </a:r>
          </a:p>
        </p:txBody>
      </p:sp>
      <p:graphicFrame>
        <p:nvGraphicFramePr>
          <p:cNvPr id="12" name=""/>
          <p:cNvGraphicFramePr/>
          <p:nvPr/>
        </p:nvGraphicFramePr>
        <p:xfrm>
          <a:off xmlns:a="http://schemas.openxmlformats.org/drawingml/2006/main" x="609600" y="1666875"/>
          <a:ext xmlns:a="http://schemas.openxmlformats.org/drawingml/2006/main" cx="5238750" cy="2857500"/>
        </p:xfrm>
        <a:graphic xmlns:a="http://schemas.openxmlformats.org/drawingml/2006/main">
          <a:graphicData uri="http://schemas.openxmlformats.org/drawingml/2006/table">
            <a:tbl>
              <a:tblPr/>
              <a:tblGrid>
                <a:gridCol w="3429000"/>
                <a:gridCol w="1809750"/>
              </a:tblGrid>
              <a:tr h="714375">
                <a:tc>
                  <a:txBody>
                    <a:bodyPr lIns="133350" tIns="114300" rIns="133350" bIns="114300">
                      <a:noAutofit/>
                    </a:bodyPr>
                    <a:lstStyle/>
                    <a:p>
                      <a:pPr algn="l"/>
                      <a:r>
                        <a:rPr sz="2100" b="1">
                          <a:solidFill>
                            <a:srgbClr val="FFFFFF"/>
                          </a:solidFill>
                          <a:latin typeface="Helvetica Neue"/>
                          <a:ea typeface="Helvetica Neue"/>
                          <a:cs typeface="Helvetica Neue"/>
                        </a:rPr>
                        <a:t>Producto</a:t>
                      </a:r>
                    </a:p>
                  </a:txBody>
                  <a:tcPr marL="133350" marR="133350" marT="114300" marB="114300" anchor="ctr">
                    <a:solidFill>
                      <a:srgbClr val="18313A"/>
                    </a:solidFill>
                  </a:tcPr>
                </a:tc>
                <a:tc>
                  <a:txBody>
                    <a:bodyPr lIns="133350" tIns="114300" rIns="133350" bIns="114300">
                      <a:noAutofit/>
                    </a:bodyPr>
                    <a:lstStyle/>
                    <a:p>
                      <a:pPr algn="ctr"/>
                      <a:r>
                        <a:rPr sz="2100" b="1">
                          <a:solidFill>
                            <a:srgbClr val="FFFFFF"/>
                          </a:solidFill>
                          <a:latin typeface="Helvetica Neue"/>
                          <a:ea typeface="Helvetica Neue"/>
                          <a:cs typeface="Helvetica Neue"/>
                        </a:rPr>
                        <a:t>Lotes por semana</a:t>
                      </a:r>
                    </a:p>
                  </a:txBody>
                  <a:tcPr marL="133350" marR="133350" marT="114300" marB="114300" anchor="ctr">
                    <a:solidFill>
                      <a:srgbClr val="18313A"/>
                    </a:solidFill>
                  </a:tcPr>
                </a:tc>
              </a:tr>
              <a:tr h="714375">
                <a:tc>
                  <a:txBody>
                    <a:bodyPr lIns="133350" tIns="114300" rIns="133350" bIns="114300">
                      <a:noAutofit/>
                    </a:bodyPr>
                    <a:lstStyle/>
                    <a:p>
                      <a:pPr algn="l"/>
                      <a:r>
                        <a:rPr sz="2100" b="0">
                          <a:solidFill>
                            <a:srgbClr val="18313A"/>
                          </a:solidFill>
                          <a:latin typeface="Helvetica Neue"/>
                          <a:ea typeface="Helvetica Neue"/>
                          <a:cs typeface="Helvetica Neue"/>
                        </a:rPr>
                        <a:t>Tapa de cilindros</a:t>
                      </a:r>
                    </a:p>
                  </a:txBody>
                  <a:tcPr marL="133350" marR="133350" marT="114300" marB="114300" anchor="ctr">
                    <a:solidFill>
                      <a:srgbClr val="FFFFFF"/>
                    </a:solidFill>
                  </a:tcPr>
                </a:tc>
                <a:tc>
                  <a:txBody>
                    <a:bodyPr lIns="133350" tIns="114300" rIns="133350" bIns="114300">
                      <a:noAutofit/>
                    </a:bodyPr>
                    <a:lstStyle/>
                    <a:p>
                      <a:pPr algn="ctr"/>
                      <a:r>
                        <a:rPr sz="2100" b="0">
                          <a:solidFill>
                            <a:srgbClr val="18313A"/>
                          </a:solidFill>
                          <a:latin typeface="Helvetica Neue"/>
                          <a:ea typeface="Helvetica Neue"/>
                          <a:cs typeface="Helvetica Neue"/>
                        </a:rPr>
                        <a:t>80</a:t>
                      </a:r>
                    </a:p>
                  </a:txBody>
                  <a:tcPr marL="133350" marR="133350" marT="114300" marB="114300" anchor="ctr">
                    <a:solidFill>
                      <a:srgbClr val="FFFFFF"/>
                    </a:solidFill>
                  </a:tcPr>
                </a:tc>
              </a:tr>
              <a:tr h="714375">
                <a:tc>
                  <a:txBody>
                    <a:bodyPr lIns="133350" tIns="114300" rIns="133350" bIns="114300">
                      <a:noAutofit/>
                    </a:bodyPr>
                    <a:lstStyle/>
                    <a:p>
                      <a:pPr algn="l"/>
                      <a:r>
                        <a:rPr sz="2100" b="0">
                          <a:solidFill>
                            <a:srgbClr val="18313A"/>
                          </a:solidFill>
                          <a:latin typeface="Helvetica Neue"/>
                          <a:ea typeface="Helvetica Neue"/>
                          <a:cs typeface="Helvetica Neue"/>
                        </a:rPr>
                        <a:t>Cárter</a:t>
                      </a:r>
                    </a:p>
                  </a:txBody>
                  <a:tcPr marL="133350" marR="133350" marT="114300" marB="114300" anchor="ctr">
                    <a:solidFill>
                      <a:srgbClr val="E6EFEB"/>
                    </a:solidFill>
                  </a:tcPr>
                </a:tc>
                <a:tc>
                  <a:txBody>
                    <a:bodyPr lIns="133350" tIns="114300" rIns="133350" bIns="114300">
                      <a:noAutofit/>
                    </a:bodyPr>
                    <a:lstStyle/>
                    <a:p>
                      <a:pPr algn="ctr"/>
                      <a:r>
                        <a:rPr sz="2100" b="0">
                          <a:solidFill>
                            <a:srgbClr val="18313A"/>
                          </a:solidFill>
                          <a:latin typeface="Helvetica Neue"/>
                          <a:ea typeface="Helvetica Neue"/>
                          <a:cs typeface="Helvetica Neue"/>
                        </a:rPr>
                        <a:t>20</a:t>
                      </a:r>
                    </a:p>
                  </a:txBody>
                  <a:tcPr marL="133350" marR="133350" marT="114300" marB="114300" anchor="ctr">
                    <a:solidFill>
                      <a:srgbClr val="E6EFEB"/>
                    </a:solidFill>
                  </a:tcPr>
                </a:tc>
              </a:tr>
              <a:tr h="714375">
                <a:tc>
                  <a:txBody>
                    <a:bodyPr lIns="133350" tIns="114300" rIns="133350" bIns="114300">
                      <a:noAutofit/>
                    </a:bodyPr>
                    <a:lstStyle/>
                    <a:p>
                      <a:pPr algn="l"/>
                      <a:r>
                        <a:rPr sz="2100" b="0">
                          <a:solidFill>
                            <a:srgbClr val="18313A"/>
                          </a:solidFill>
                          <a:latin typeface="Helvetica Neue"/>
                          <a:ea typeface="Helvetica Neue"/>
                          <a:cs typeface="Helvetica Neue"/>
                        </a:rPr>
                        <a:t>Múltiple</a:t>
                      </a:r>
                    </a:p>
                  </a:txBody>
                  <a:tcPr marL="133350" marR="133350" marT="114300" marB="114300" anchor="ctr">
                    <a:solidFill>
                      <a:srgbClr val="FFFFFF"/>
                    </a:solidFill>
                  </a:tcPr>
                </a:tc>
                <a:tc>
                  <a:txBody>
                    <a:bodyPr lIns="133350" tIns="114300" rIns="133350" bIns="114300">
                      <a:noAutofit/>
                    </a:bodyPr>
                    <a:lstStyle/>
                    <a:p>
                      <a:pPr algn="ctr"/>
                      <a:r>
                        <a:rPr sz="2100" b="0">
                          <a:solidFill>
                            <a:srgbClr val="18313A"/>
                          </a:solidFill>
                          <a:latin typeface="Helvetica Neue"/>
                          <a:ea typeface="Helvetica Neue"/>
                          <a:cs typeface="Helvetica Neue"/>
                        </a:rPr>
                        <a:t>50</a:t>
                      </a:r>
                    </a:p>
                  </a:txBody>
                  <a:tcPr marL="133350" marR="133350" marT="114300" marB="114300" anchor="ctr">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7E60A0D1-BD94-4D7F-968E-8BBF743598F9}"/>
              </a:ext>
            </a:extLst>
          </p:cNvPr>
          <p:cNvSpPr>
            <a:spLocks xmlns:a="http://schemas.openxmlformats.org/drawingml/2006/main" noGrp="1"/>
          </p:cNvSpPr>
          <p:nvPr/>
        </p:nvSpPr>
        <p:spPr>
          <a:xfrm xmlns:a="http://schemas.openxmlformats.org/drawingml/2006/main">
            <a:off x="6477000" y="1638300"/>
            <a:ext cx="4953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16766E"/>
                </a:solidFill>
                <a:latin typeface="Helvetica Neue"/>
                <a:ea typeface="Helvetica Neue"/>
                <a:cs typeface="Helvetica Neue"/>
              </a:defRPr>
            </a:pPr>
            <a:r>
              <a:rPr sz="4800" b="1">
                <a:solidFill>
                  <a:srgbClr val="16766E"/>
                </a:solidFill>
                <a:latin typeface="Helvetica Neue"/>
                <a:ea typeface="Helvetica Neue"/>
                <a:cs typeface="Helvetica Neue"/>
              </a:rPr>
              <a:t>$6.600.000</a:t>
            </a:r>
          </a:p>
        </p:txBody>
      </p:sp>
      <p:sp>
        <p:nvSpPr>
          <p:cNvPr id="6" name="text-4">
            <a:extLst xmlns:a="http://schemas.openxmlformats.org/drawingml/2006/main">
              <a:ext uri="{FF2B5EF4-FFF2-40B4-BE49-F238E27FC236}">
                <a16:creationId xmlns:a16="http://schemas.microsoft.com/office/drawing/2014/main" id="{8DAB0DE1-8CDE-481D-91EA-DDF496F96B79}"/>
              </a:ext>
            </a:extLst>
          </p:cNvPr>
          <p:cNvSpPr>
            <a:spLocks xmlns:a="http://schemas.openxmlformats.org/drawingml/2006/main" noGrp="1"/>
          </p:cNvSpPr>
          <p:nvPr/>
        </p:nvSpPr>
        <p:spPr>
          <a:xfrm xmlns:a="http://schemas.openxmlformats.org/drawingml/2006/main">
            <a:off x="6515100" y="254317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313A"/>
                </a:solidFill>
                <a:latin typeface="Helvetica Neue"/>
                <a:ea typeface="Helvetica Neue"/>
                <a:cs typeface="Helvetica Neue"/>
              </a:defRPr>
            </a:pPr>
            <a:r>
              <a:rPr sz="2025" b="0">
                <a:solidFill>
                  <a:srgbClr val="18313A"/>
                </a:solidFill>
                <a:latin typeface="Helvetica Neue"/>
                <a:ea typeface="Helvetica Neue"/>
                <a:cs typeface="Helvetica Neue"/>
              </a:rPr>
              <a:t>Beneficio semanal</a:t>
            </a:r>
          </a:p>
        </p:txBody>
      </p:sp>
      <p:sp>
        <p:nvSpPr>
          <p:cNvPr id="7" name="text-5">
            <a:extLst xmlns:a="http://schemas.openxmlformats.org/drawingml/2006/main">
              <a:ext uri="{FF2B5EF4-FFF2-40B4-BE49-F238E27FC236}">
                <a16:creationId xmlns:a16="http://schemas.microsoft.com/office/drawing/2014/main" id="{2128741B-FA8E-405B-A8AB-6432844B0ABE}"/>
              </a:ext>
            </a:extLst>
          </p:cNvPr>
          <p:cNvSpPr>
            <a:spLocks xmlns:a="http://schemas.openxmlformats.org/drawingml/2006/main" noGrp="1"/>
          </p:cNvSpPr>
          <p:nvPr/>
        </p:nvSpPr>
        <p:spPr>
          <a:xfrm xmlns:a="http://schemas.openxmlformats.org/drawingml/2006/main">
            <a:off x="6486525" y="3295650"/>
            <a:ext cx="5000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313A"/>
                </a:solidFill>
                <a:latin typeface="Helvetica Neue"/>
                <a:ea typeface="Helvetica Neue"/>
                <a:cs typeface="Helvetica Neue"/>
              </a:defRPr>
            </a:pPr>
            <a:r>
              <a:rPr sz="2100" b="0">
                <a:solidFill>
                  <a:srgbClr val="18313A"/>
                </a:solidFill>
                <a:latin typeface="Helvetica Neue"/>
                <a:ea typeface="Helvetica Neue"/>
                <a:cs typeface="Helvetica Neue"/>
              </a:rPr>
              <a:t>330 de 600 m² de corcho</a:t>
            </a:r>
          </a:p>
          <a:p xmlns:a="http://schemas.openxmlformats.org/drawingml/2006/main">
            <a:pPr algn="l">
              <a:defRPr sz="2100" b="0">
                <a:solidFill>
                  <a:srgbClr val="18313A"/>
                </a:solidFill>
                <a:latin typeface="Helvetica Neue"/>
                <a:ea typeface="Helvetica Neue"/>
                <a:cs typeface="Helvetica Neue"/>
              </a:defRPr>
            </a:pPr>
            <a:r>
              <a:rPr sz="2100" b="0">
                <a:solidFill>
                  <a:srgbClr val="18313A"/>
                </a:solidFill>
                <a:latin typeface="Helvetica Neue"/>
                <a:ea typeface="Helvetica Neue"/>
                <a:cs typeface="Helvetica Neue"/>
              </a:rPr>
              <a:t>480 de 480 horas de máquina</a:t>
            </a:r>
          </a:p>
          <a:p xmlns:a="http://schemas.openxmlformats.org/drawingml/2006/main">
            <a:pPr algn="l">
              <a:defRPr sz="2100" b="0">
                <a:solidFill>
                  <a:srgbClr val="18313A"/>
                </a:solidFill>
                <a:latin typeface="Helvetica Neue"/>
                <a:ea typeface="Helvetica Neue"/>
                <a:cs typeface="Helvetica Neue"/>
              </a:defRPr>
            </a:pPr>
            <a:r>
              <a:rPr sz="2100" b="0">
                <a:solidFill>
                  <a:srgbClr val="18313A"/>
                </a:solidFill>
                <a:latin typeface="Helvetica Neue"/>
                <a:ea typeface="Helvetica Neue"/>
                <a:cs typeface="Helvetica Neue"/>
              </a:rPr>
              <a:t>200 de 200 unidades de despacho</a:t>
            </a:r>
          </a:p>
        </p:txBody>
      </p:sp>
      <p:sp>
        <p:nvSpPr>
          <p:cNvPr id="8" name="text-6">
            <a:extLst xmlns:a="http://schemas.openxmlformats.org/drawingml/2006/main">
              <a:ext uri="{FF2B5EF4-FFF2-40B4-BE49-F238E27FC236}">
                <a16:creationId xmlns:a16="http://schemas.microsoft.com/office/drawing/2014/main" id="{799E8935-06FA-4425-BD9D-998B1753991C}"/>
              </a:ext>
            </a:extLst>
          </p:cNvPr>
          <p:cNvSpPr>
            <a:spLocks xmlns:a="http://schemas.openxmlformats.org/drawingml/2006/main" noGrp="1"/>
          </p:cNvSpPr>
          <p:nvPr/>
        </p:nvSpPr>
        <p:spPr>
          <a:xfrm xmlns:a="http://schemas.openxmlformats.org/drawingml/2006/main">
            <a:off x="609600" y="5010150"/>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36A"/>
                </a:solidFill>
                <a:latin typeface="Helvetica Neue"/>
                <a:ea typeface="Helvetica Neue"/>
                <a:cs typeface="Helvetica Neue"/>
              </a:defRPr>
            </a:pPr>
            <a:r>
              <a:rPr sz="1950" b="0">
                <a:solidFill>
                  <a:srgbClr val="52636A"/>
                </a:solidFill>
                <a:latin typeface="Helvetica Neue"/>
                <a:ea typeface="Helvetica Neue"/>
                <a:cs typeface="Helvetica Neue"/>
              </a:rPr>
              <a:t>Mínimo contractual: 150 lotes totales</a:t>
            </a:r>
          </a:p>
          <a:p xmlns:a="http://schemas.openxmlformats.org/drawingml/2006/main">
            <a:pPr algn="l">
              <a:defRPr sz="1950" b="0">
                <a:solidFill>
                  <a:srgbClr val="52636A"/>
                </a:solidFill>
                <a:latin typeface="Helvetica Neue"/>
                <a:ea typeface="Helvetica Neue"/>
                <a:cs typeface="Helvetica Neue"/>
              </a:defRPr>
            </a:pPr>
            <a:r>
              <a:rPr sz="1950" b="0">
                <a:solidFill>
                  <a:srgbClr val="52636A"/>
                </a:solidFill>
                <a:latin typeface="Helvetica Neue"/>
                <a:ea typeface="Helvetica Neue"/>
                <a:cs typeface="Helvetica Neue"/>
              </a:rPr>
              <a:t>1 lote = 100 juntas</a:t>
            </a:r>
          </a:p>
        </p:txBody>
      </p:sp>
    </p:spTree>
    <p:extLst>
      <p:ext uri="{BB962C8B-B14F-4D97-AF65-F5344CB8AC3E}">
        <p14:creationId xmlns:p14="http://schemas.microsoft.com/office/powerpoint/2010/main" val="1547425941"/>
      </p:ext>
    </p:extLst>
  </p:cSld>
</p:sld>
</file>

<file path=ppt/slides/slide3.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FF9930EC-C1BF-44EC-BD93-53DF3784D70B}"/>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13A"/>
                </a:solidFill>
                <a:latin typeface="Helvetica Neue"/>
                <a:ea typeface="Helvetica Neue"/>
                <a:cs typeface="Helvetica Neue"/>
              </a:defRPr>
            </a:pPr>
            <a:r>
              <a:rPr sz="3300" b="1">
                <a:solidFill>
                  <a:srgbClr val="18313A"/>
                </a:solidFill>
                <a:latin typeface="Helvetica Neue"/>
                <a:ea typeface="Helvetica Neue"/>
                <a:cs typeface="Helvetica Neue"/>
              </a:rPr>
              <a:t>El modelo dual</a:t>
            </a:r>
          </a:p>
        </p:txBody>
      </p:sp>
      <p:sp>
        <p:nvSpPr>
          <p:cNvPr id="2" name="text-1">
            <a:extLst xmlns:a="http://schemas.openxmlformats.org/drawingml/2006/main">
              <a:ext uri="{FF2B5EF4-FFF2-40B4-BE49-F238E27FC236}">
                <a16:creationId xmlns:a16="http://schemas.microsoft.com/office/drawing/2014/main" id="{BEEE81A6-E488-4305-BD4F-EB4A767861C1}"/>
              </a:ext>
            </a:extLst>
          </p:cNvPr>
          <p:cNvSpPr>
            <a:spLocks xmlns:a="http://schemas.openxmlformats.org/drawingml/2006/main" noGrp="1"/>
          </p:cNvSpPr>
          <p:nvPr/>
        </p:nvSpPr>
        <p:spPr>
          <a:xfrm xmlns:a="http://schemas.openxmlformats.org/drawingml/2006/main">
            <a:off x="609600" y="6372225"/>
            <a:ext cx="990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36A"/>
                </a:solidFill>
                <a:latin typeface="Helvetica Neue"/>
                <a:ea typeface="Helvetica Neue"/>
                <a:cs typeface="Helvetica Neue"/>
              </a:defRPr>
            </a:pPr>
            <a:r>
              <a:rPr sz="1350" b="0">
                <a:solidFill>
                  <a:srgbClr val="52636A"/>
                </a:solidFill>
                <a:latin typeface="Helvetica Neue"/>
                <a:ea typeface="Helvetica Neue"/>
                <a:cs typeface="Helvetica Neue"/>
              </a:rPr>
              <a:t>Luis Parmigiani</a:t>
            </a:r>
          </a:p>
        </p:txBody>
      </p:sp>
      <p:sp>
        <p:nvSpPr>
          <p:cNvPr id="3" name="text-2">
            <a:extLst xmlns:a="http://schemas.openxmlformats.org/drawingml/2006/main">
              <a:ext uri="{FF2B5EF4-FFF2-40B4-BE49-F238E27FC236}">
                <a16:creationId xmlns:a16="http://schemas.microsoft.com/office/drawing/2014/main" id="{1B0171E6-6481-4948-9BFB-B319D59199AA}"/>
              </a:ext>
            </a:extLst>
          </p:cNvPr>
          <p:cNvSpPr>
            <a:spLocks xmlns:a="http://schemas.openxmlformats.org/drawingml/2006/main" noGrp="1"/>
          </p:cNvSpPr>
          <p:nvPr/>
        </p:nvSpPr>
        <p:spPr>
          <a:xfrm xmlns:a="http://schemas.openxmlformats.org/drawingml/2006/main">
            <a:off x="10953750" y="6362700"/>
            <a:ext cx="628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2636A"/>
                </a:solidFill>
                <a:latin typeface="Helvetica Neue"/>
                <a:ea typeface="Helvetica Neue"/>
                <a:cs typeface="Helvetica Neue"/>
              </a:defRPr>
            </a:pPr>
            <a:r>
              <a:rPr sz="1350" b="0">
                <a:solidFill>
                  <a:srgbClr val="52636A"/>
                </a:solidFill>
                <a:latin typeface="Helvetica Neue"/>
                <a:ea typeface="Helvetica Neue"/>
                <a:cs typeface="Helvetica Neue"/>
              </a:rPr>
              <a:t>03</a:t>
            </a:r>
          </a:p>
        </p:txBody>
      </p:sp>
      <p:sp>
        <p:nvSpPr>
          <p:cNvPr id="4" name="text-3">
            <a:extLst xmlns:a="http://schemas.openxmlformats.org/drawingml/2006/main">
              <a:ext uri="{FF2B5EF4-FFF2-40B4-BE49-F238E27FC236}">
                <a16:creationId xmlns:a16="http://schemas.microsoft.com/office/drawing/2014/main" id="{A96D7F55-DF59-479B-BB89-3634F2437184}"/>
              </a:ext>
            </a:extLst>
          </p:cNvPr>
          <p:cNvSpPr>
            <a:spLocks xmlns:a="http://schemas.openxmlformats.org/drawingml/2006/main" noGrp="1"/>
          </p:cNvSpPr>
          <p:nvPr/>
        </p:nvSpPr>
        <p:spPr>
          <a:xfrm xmlns:a="http://schemas.openxmlformats.org/drawingml/2006/main">
            <a:off x="609600" y="1685925"/>
            <a:ext cx="11001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6766E"/>
                </a:solidFill>
                <a:latin typeface="Helvetica Neue"/>
                <a:ea typeface="Helvetica Neue"/>
                <a:cs typeface="Helvetica Neue"/>
              </a:defRPr>
            </a:pPr>
            <a:r>
              <a:rPr sz="2850" b="1">
                <a:solidFill>
                  <a:srgbClr val="16766E"/>
                </a:solidFill>
                <a:latin typeface="Helvetica Neue"/>
                <a:ea typeface="Helvetica Neue"/>
                <a:cs typeface="Helvetica Neue"/>
              </a:rPr>
              <a:t>Min W = 600U₁ + 480U₂ + 200U₃ + 150U₄</a:t>
            </a:r>
          </a:p>
        </p:txBody>
      </p:sp>
      <p:sp>
        <p:nvSpPr>
          <p:cNvPr id="5" name="text-4">
            <a:extLst xmlns:a="http://schemas.openxmlformats.org/drawingml/2006/main">
              <a:ext uri="{FF2B5EF4-FFF2-40B4-BE49-F238E27FC236}">
                <a16:creationId xmlns:a16="http://schemas.microsoft.com/office/drawing/2014/main" id="{6A08A530-0F5F-45B8-A9DF-CAF3D0B9860B}"/>
              </a:ext>
            </a:extLst>
          </p:cNvPr>
          <p:cNvSpPr>
            <a:spLocks xmlns:a="http://schemas.openxmlformats.org/drawingml/2006/main" noGrp="1"/>
          </p:cNvSpPr>
          <p:nvPr/>
        </p:nvSpPr>
        <p:spPr>
          <a:xfrm xmlns:a="http://schemas.openxmlformats.org/drawingml/2006/main">
            <a:off x="628650" y="2647950"/>
            <a:ext cx="75247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13A"/>
                </a:solidFill>
                <a:latin typeface="Helvetica Neue"/>
                <a:ea typeface="Helvetica Neue"/>
                <a:cs typeface="Helvetica Neue"/>
              </a:defRPr>
            </a:pPr>
            <a:r>
              <a:rPr sz="2550" b="0">
                <a:solidFill>
                  <a:srgbClr val="18313A"/>
                </a:solidFill>
                <a:latin typeface="Helvetica Neue"/>
                <a:ea typeface="Helvetica Neue"/>
                <a:cs typeface="Helvetica Neue"/>
              </a:rPr>
              <a:t>3U₁ + 4U₂ + U₃ + U₄ ≥ 50</a:t>
            </a:r>
          </a:p>
          <a:p xmlns:a="http://schemas.openxmlformats.org/drawingml/2006/main">
            <a:pPr algn="l">
              <a:defRPr sz="2550" b="0">
                <a:solidFill>
                  <a:srgbClr val="18313A"/>
                </a:solidFill>
                <a:latin typeface="Helvetica Neue"/>
                <a:ea typeface="Helvetica Neue"/>
                <a:cs typeface="Helvetica Neue"/>
              </a:defRPr>
            </a:pPr>
            <a:r>
              <a:rPr sz="2550" b="0">
                <a:solidFill>
                  <a:srgbClr val="18313A"/>
                </a:solidFill>
                <a:latin typeface="Helvetica Neue"/>
                <a:ea typeface="Helvetica Neue"/>
                <a:cs typeface="Helvetica Neue"/>
              </a:rPr>
              <a:t>2U₁ + 3U₂ + U₃ + U₄ ≥ 30</a:t>
            </a:r>
          </a:p>
          <a:p xmlns:a="http://schemas.openxmlformats.org/drawingml/2006/main">
            <a:pPr algn="l">
              <a:defRPr sz="2550" b="0">
                <a:solidFill>
                  <a:srgbClr val="18313A"/>
                </a:solidFill>
                <a:latin typeface="Helvetica Neue"/>
                <a:ea typeface="Helvetica Neue"/>
                <a:cs typeface="Helvetica Neue"/>
              </a:defRPr>
            </a:pPr>
            <a:r>
              <a:rPr sz="2550" b="0">
                <a:solidFill>
                  <a:srgbClr val="18313A"/>
                </a:solidFill>
                <a:latin typeface="Helvetica Neue"/>
                <a:ea typeface="Helvetica Neue"/>
                <a:cs typeface="Helvetica Neue"/>
              </a:rPr>
              <a:t>U₁ + 2U₂ + 2U₃ + U₄ ≥ 40</a:t>
            </a:r>
          </a:p>
        </p:txBody>
      </p:sp>
      <p:sp>
        <p:nvSpPr>
          <p:cNvPr id="6" name="text-5">
            <a:extLst xmlns:a="http://schemas.openxmlformats.org/drawingml/2006/main">
              <a:ext uri="{FF2B5EF4-FFF2-40B4-BE49-F238E27FC236}">
                <a16:creationId xmlns:a16="http://schemas.microsoft.com/office/drawing/2014/main" id="{51CF1E38-92CE-48A2-888C-6D10FAA3B00A}"/>
              </a:ext>
            </a:extLst>
          </p:cNvPr>
          <p:cNvSpPr>
            <a:spLocks xmlns:a="http://schemas.openxmlformats.org/drawingml/2006/main" noGrp="1"/>
          </p:cNvSpPr>
          <p:nvPr/>
        </p:nvSpPr>
        <p:spPr>
          <a:xfrm xmlns:a="http://schemas.openxmlformats.org/drawingml/2006/main">
            <a:off x="628650" y="44767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13A"/>
                </a:solidFill>
                <a:latin typeface="Helvetica Neue"/>
                <a:ea typeface="Helvetica Neue"/>
                <a:cs typeface="Helvetica Neue"/>
              </a:defRPr>
            </a:pPr>
            <a:r>
              <a:rPr sz="2250" b="0">
                <a:solidFill>
                  <a:srgbClr val="18313A"/>
                </a:solidFill>
                <a:latin typeface="Helvetica Neue"/>
                <a:ea typeface="Helvetica Neue"/>
                <a:cs typeface="Helvetica Neue"/>
              </a:rPr>
              <a:t>U₁, U₂, U₃ ≥ 0       U₄ ≤ 0</a:t>
            </a:r>
          </a:p>
        </p:txBody>
      </p:sp>
      <p:sp>
        <p:nvSpPr>
          <p:cNvPr id="7" name="text-6">
            <a:extLst xmlns:a="http://schemas.openxmlformats.org/drawingml/2006/main">
              <a:ext uri="{FF2B5EF4-FFF2-40B4-BE49-F238E27FC236}">
                <a16:creationId xmlns:a16="http://schemas.microsoft.com/office/drawing/2014/main" id="{80DCC672-0FAD-4D4D-BDE0-AA6F87ACB67E}"/>
              </a:ext>
            </a:extLst>
          </p:cNvPr>
          <p:cNvSpPr>
            <a:spLocks xmlns:a="http://schemas.openxmlformats.org/drawingml/2006/main" noGrp="1"/>
          </p:cNvSpPr>
          <p:nvPr/>
        </p:nvSpPr>
        <p:spPr>
          <a:xfrm xmlns:a="http://schemas.openxmlformats.org/drawingml/2006/main">
            <a:off x="628650" y="5305425"/>
            <a:ext cx="10953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6766E"/>
                </a:solidFill>
                <a:latin typeface="Helvetica Neue"/>
                <a:ea typeface="Helvetica Neue"/>
                <a:cs typeface="Helvetica Neue"/>
              </a:defRPr>
            </a:pPr>
            <a:r>
              <a:rPr sz="2625" b="1">
                <a:solidFill>
                  <a:srgbClr val="16766E"/>
                </a:solidFill>
                <a:latin typeface="Helvetica Neue"/>
                <a:ea typeface="Helvetica Neue"/>
                <a:cs typeface="Helvetica Neue"/>
              </a:rPr>
              <a:t>U* = (0, 20, 30, −60)       W* = Z* = 6.600</a:t>
            </a:r>
          </a:p>
        </p:txBody>
      </p:sp>
      <p:sp>
        <p:nvSpPr>
          <p:cNvPr id="8" name="text-7">
            <a:extLst xmlns:a="http://schemas.openxmlformats.org/drawingml/2006/main">
              <a:ext uri="{FF2B5EF4-FFF2-40B4-BE49-F238E27FC236}">
                <a16:creationId xmlns:a16="http://schemas.microsoft.com/office/drawing/2014/main" id="{46A8A08A-3026-49F5-8273-CF5ED60F3DB7}"/>
              </a:ext>
            </a:extLst>
          </p:cNvPr>
          <p:cNvSpPr>
            <a:spLocks xmlns:a="http://schemas.openxmlformats.org/drawingml/2006/main" noGrp="1"/>
          </p:cNvSpPr>
          <p:nvPr/>
        </p:nvSpPr>
        <p:spPr>
          <a:xfrm xmlns:a="http://schemas.openxmlformats.org/drawingml/2006/main">
            <a:off x="628650" y="588645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2636A"/>
                </a:solidFill>
                <a:latin typeface="Helvetica Neue"/>
                <a:ea typeface="Helvetica Neue"/>
                <a:cs typeface="Helvetica Neue"/>
              </a:defRPr>
            </a:pPr>
            <a:r>
              <a:rPr sz="1650" b="0">
                <a:solidFill>
                  <a:srgbClr val="52636A"/>
                </a:solidFill>
                <a:latin typeface="Helvetica Neue"/>
                <a:ea typeface="Helvetica Neue"/>
                <a:cs typeface="Helvetica Neue"/>
              </a:rPr>
              <a:t>Valores en miles de pesos</a:t>
            </a:r>
          </a:p>
        </p:txBody>
      </p:sp>
    </p:spTree>
    <p:extLst>
      <p:ext uri="{BB962C8B-B14F-4D97-AF65-F5344CB8AC3E}">
        <p14:creationId xmlns:p14="http://schemas.microsoft.com/office/powerpoint/2010/main" val="840266747"/>
      </p:ext>
    </p:extLst>
  </p:cSld>
</p:sld>
</file>

<file path=ppt/slides/slide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ADDFF4E7-4267-40E0-B4DF-C2F521694FB5}"/>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13A"/>
                </a:solidFill>
                <a:latin typeface="Helvetica Neue"/>
                <a:ea typeface="Helvetica Neue"/>
                <a:cs typeface="Helvetica Neue"/>
              </a:defRPr>
            </a:pPr>
            <a:r>
              <a:rPr sz="3300" b="1">
                <a:solidFill>
                  <a:srgbClr val="18313A"/>
                </a:solidFill>
                <a:latin typeface="Helvetica Neue"/>
                <a:ea typeface="Helvetica Neue"/>
                <a:cs typeface="Helvetica Neue"/>
              </a:rPr>
              <a:t>El valor marginal de los recursos</a:t>
            </a:r>
          </a:p>
        </p:txBody>
      </p:sp>
      <p:sp>
        <p:nvSpPr>
          <p:cNvPr id="2" name="text-1">
            <a:extLst xmlns:a="http://schemas.openxmlformats.org/drawingml/2006/main">
              <a:ext uri="{FF2B5EF4-FFF2-40B4-BE49-F238E27FC236}">
                <a16:creationId xmlns:a16="http://schemas.microsoft.com/office/drawing/2014/main" id="{1C8F1EC1-1683-46B4-AC61-B5A7C20B16D8}"/>
              </a:ext>
            </a:extLst>
          </p:cNvPr>
          <p:cNvSpPr>
            <a:spLocks xmlns:a="http://schemas.openxmlformats.org/drawingml/2006/main" noGrp="1"/>
          </p:cNvSpPr>
          <p:nvPr/>
        </p:nvSpPr>
        <p:spPr>
          <a:xfrm xmlns:a="http://schemas.openxmlformats.org/drawingml/2006/main">
            <a:off x="609600" y="6372225"/>
            <a:ext cx="990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36A"/>
                </a:solidFill>
                <a:latin typeface="Helvetica Neue"/>
                <a:ea typeface="Helvetica Neue"/>
                <a:cs typeface="Helvetica Neue"/>
              </a:defRPr>
            </a:pPr>
            <a:r>
              <a:rPr sz="1350" b="0">
                <a:solidFill>
                  <a:srgbClr val="52636A"/>
                </a:solidFill>
                <a:latin typeface="Helvetica Neue"/>
                <a:ea typeface="Helvetica Neue"/>
                <a:cs typeface="Helvetica Neue"/>
              </a:rPr>
              <a:t>Luis Parmigiani</a:t>
            </a:r>
          </a:p>
        </p:txBody>
      </p:sp>
      <p:sp>
        <p:nvSpPr>
          <p:cNvPr id="3" name="text-2">
            <a:extLst xmlns:a="http://schemas.openxmlformats.org/drawingml/2006/main">
              <a:ext uri="{FF2B5EF4-FFF2-40B4-BE49-F238E27FC236}">
                <a16:creationId xmlns:a16="http://schemas.microsoft.com/office/drawing/2014/main" id="{2802A7A2-16EF-45C7-BB21-257F7900B42B}"/>
              </a:ext>
            </a:extLst>
          </p:cNvPr>
          <p:cNvSpPr>
            <a:spLocks xmlns:a="http://schemas.openxmlformats.org/drawingml/2006/main" noGrp="1"/>
          </p:cNvSpPr>
          <p:nvPr/>
        </p:nvSpPr>
        <p:spPr>
          <a:xfrm xmlns:a="http://schemas.openxmlformats.org/drawingml/2006/main">
            <a:off x="10953750" y="6362700"/>
            <a:ext cx="628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2636A"/>
                </a:solidFill>
                <a:latin typeface="Helvetica Neue"/>
                <a:ea typeface="Helvetica Neue"/>
                <a:cs typeface="Helvetica Neue"/>
              </a:defRPr>
            </a:pPr>
            <a:r>
              <a:rPr sz="1350" b="0">
                <a:solidFill>
                  <a:srgbClr val="52636A"/>
                </a:solidFill>
                <a:latin typeface="Helvetica Neue"/>
                <a:ea typeface="Helvetica Neue"/>
                <a:cs typeface="Helvetica Neue"/>
              </a:rPr>
              <a:t>04</a:t>
            </a:r>
          </a:p>
        </p:txBody>
      </p:sp>
      <p:graphicFrame>
        <p:nvGraphicFramePr>
          <p:cNvPr id="9" name=""/>
          <p:cNvGraphicFramePr/>
          <p:nvPr/>
        </p:nvGraphicFramePr>
        <p:xfrm>
          <a:off xmlns:a="http://schemas.openxmlformats.org/drawingml/2006/main" x="609600" y="1581150"/>
          <a:ext xmlns:a="http://schemas.openxmlformats.org/drawingml/2006/main" cx="10972800" cy="3448050"/>
        </p:xfrm>
        <a:graphic xmlns:a="http://schemas.openxmlformats.org/drawingml/2006/main">
          <a:graphicData uri="http://schemas.openxmlformats.org/drawingml/2006/table">
            <a:tbl>
              <a:tblPr/>
              <a:tblGrid>
                <a:gridCol w="3381375"/>
                <a:gridCol w="2857500"/>
                <a:gridCol w="4733925"/>
              </a:tblGrid>
              <a:tr h="689610">
                <a:tc>
                  <a:txBody>
                    <a:bodyPr lIns="133350" tIns="114300" rIns="133350" bIns="114300">
                      <a:noAutofit/>
                    </a:bodyPr>
                    <a:lstStyle/>
                    <a:p>
                      <a:pPr algn="l"/>
                      <a:r>
                        <a:rPr sz="1875" b="1">
                          <a:solidFill>
                            <a:srgbClr val="FFFFFF"/>
                          </a:solidFill>
                          <a:latin typeface="Helvetica Neue"/>
                          <a:ea typeface="Helvetica Neue"/>
                          <a:cs typeface="Helvetica Neue"/>
                        </a:rPr>
                        <a:t>Recurso o condición</a:t>
                      </a:r>
                    </a:p>
                  </a:txBody>
                  <a:tcPr marL="133350" marR="133350" marT="114300" marB="114300" anchor="ctr">
                    <a:solidFill>
                      <a:srgbClr val="18313A"/>
                    </a:solidFill>
                  </a:tcPr>
                </a:tc>
                <a:tc>
                  <a:txBody>
                    <a:bodyPr lIns="133350" tIns="114300" rIns="133350" bIns="114300">
                      <a:noAutofit/>
                    </a:bodyPr>
                    <a:lstStyle/>
                    <a:p>
                      <a:pPr algn="ctr"/>
                      <a:r>
                        <a:rPr sz="1875" b="1">
                          <a:solidFill>
                            <a:srgbClr val="FFFFFF"/>
                          </a:solidFill>
                          <a:latin typeface="Helvetica Neue"/>
                          <a:ea typeface="Helvetica Neue"/>
                          <a:cs typeface="Helvetica Neue"/>
                        </a:rPr>
                        <a:t>Precio sombra</a:t>
                      </a:r>
                    </a:p>
                  </a:txBody>
                  <a:tcPr marL="133350" marR="133350" marT="114300" marB="114300" anchor="ctr">
                    <a:solidFill>
                      <a:srgbClr val="18313A"/>
                    </a:solidFill>
                  </a:tcPr>
                </a:tc>
                <a:tc>
                  <a:txBody>
                    <a:bodyPr lIns="133350" tIns="114300" rIns="133350" bIns="114300">
                      <a:noAutofit/>
                    </a:bodyPr>
                    <a:lstStyle/>
                    <a:p>
                      <a:pPr algn="ctr"/>
                      <a:r>
                        <a:rPr sz="1875" b="1">
                          <a:solidFill>
                            <a:srgbClr val="FFFFFF"/>
                          </a:solidFill>
                          <a:latin typeface="Helvetica Neue"/>
                          <a:ea typeface="Helvetica Neue"/>
                          <a:cs typeface="Helvetica Neue"/>
                        </a:rPr>
                        <a:t>Interpretación marginal</a:t>
                      </a:r>
                    </a:p>
                  </a:txBody>
                  <a:tcPr marL="133350" marR="133350" marT="114300" marB="114300" anchor="ctr">
                    <a:solidFill>
                      <a:srgbClr val="18313A"/>
                    </a:solidFill>
                  </a:tcPr>
                </a:tc>
              </a:tr>
              <a:tr h="689610">
                <a:tc>
                  <a:txBody>
                    <a:bodyPr lIns="133350" tIns="114300" rIns="133350" bIns="114300">
                      <a:noAutofit/>
                    </a:bodyPr>
                    <a:lstStyle/>
                    <a:p>
                      <a:pPr algn="l"/>
                      <a:r>
                        <a:rPr sz="1875" b="0">
                          <a:solidFill>
                            <a:srgbClr val="18313A"/>
                          </a:solidFill>
                          <a:latin typeface="Helvetica Neue"/>
                          <a:ea typeface="Helvetica Neue"/>
                          <a:cs typeface="Helvetica Neue"/>
                        </a:rPr>
                        <a:t>Corcho</a:t>
                      </a:r>
                    </a:p>
                  </a:txBody>
                  <a:tcPr marL="133350" marR="133350" marT="114300" marB="114300" anchor="ctr">
                    <a:solidFill>
                      <a:srgbClr val="FFFFFF"/>
                    </a:solidFill>
                  </a:tcPr>
                </a:tc>
                <a:tc>
                  <a:txBody>
                    <a:bodyPr lIns="133350" tIns="114300" rIns="133350" bIns="114300">
                      <a:noAutofit/>
                    </a:bodyPr>
                    <a:lstStyle/>
                    <a:p>
                      <a:pPr algn="ctr"/>
                      <a:r>
                        <a:rPr sz="1875" b="0">
                          <a:solidFill>
                            <a:srgbClr val="18313A"/>
                          </a:solidFill>
                          <a:latin typeface="Helvetica Neue"/>
                          <a:ea typeface="Helvetica Neue"/>
                          <a:cs typeface="Helvetica Neue"/>
                        </a:rPr>
                        <a:t>$0 / m²</a:t>
                      </a:r>
                    </a:p>
                  </a:txBody>
                  <a:tcPr marL="133350" marR="133350" marT="114300" marB="114300" anchor="ctr">
                    <a:solidFill>
                      <a:srgbClr val="FFFFFF"/>
                    </a:solidFill>
                  </a:tcPr>
                </a:tc>
                <a:tc>
                  <a:txBody>
                    <a:bodyPr lIns="133350" tIns="114300" rIns="133350" bIns="114300">
                      <a:noAutofit/>
                    </a:bodyPr>
                    <a:lstStyle/>
                    <a:p>
                      <a:pPr algn="ctr"/>
                      <a:r>
                        <a:rPr sz="1875" b="0">
                          <a:solidFill>
                            <a:srgbClr val="18313A"/>
                          </a:solidFill>
                          <a:latin typeface="Helvetica Neue"/>
                          <a:ea typeface="Helvetica Neue"/>
                          <a:cs typeface="Helvetica Neue"/>
                        </a:rPr>
                        <a:t>Más corcho no mejora Z</a:t>
                      </a:r>
                    </a:p>
                  </a:txBody>
                  <a:tcPr marL="133350" marR="133350" marT="114300" marB="114300" anchor="ctr">
                    <a:solidFill>
                      <a:srgbClr val="FFFFFF"/>
                    </a:solidFill>
                  </a:tcPr>
                </a:tc>
              </a:tr>
              <a:tr h="689610">
                <a:tc>
                  <a:txBody>
                    <a:bodyPr lIns="133350" tIns="114300" rIns="133350" bIns="114300">
                      <a:noAutofit/>
                    </a:bodyPr>
                    <a:lstStyle/>
                    <a:p>
                      <a:pPr algn="l"/>
                      <a:r>
                        <a:rPr sz="1875" b="0">
                          <a:solidFill>
                            <a:srgbClr val="18313A"/>
                          </a:solidFill>
                          <a:latin typeface="Helvetica Neue"/>
                          <a:ea typeface="Helvetica Neue"/>
                          <a:cs typeface="Helvetica Neue"/>
                        </a:rPr>
                        <a:t>Horas de máquina</a:t>
                      </a:r>
                    </a:p>
                  </a:txBody>
                  <a:tcPr marL="133350" marR="133350" marT="114300" marB="114300" anchor="ctr">
                    <a:solidFill>
                      <a:srgbClr val="E6EFEB"/>
                    </a:solidFill>
                  </a:tcPr>
                </a:tc>
                <a:tc>
                  <a:txBody>
                    <a:bodyPr lIns="133350" tIns="114300" rIns="133350" bIns="114300">
                      <a:noAutofit/>
                    </a:bodyPr>
                    <a:lstStyle/>
                    <a:p>
                      <a:pPr algn="ctr"/>
                      <a:r>
                        <a:rPr sz="1875" b="0">
                          <a:solidFill>
                            <a:srgbClr val="18313A"/>
                          </a:solidFill>
                          <a:latin typeface="Helvetica Neue"/>
                          <a:ea typeface="Helvetica Neue"/>
                          <a:cs typeface="Helvetica Neue"/>
                        </a:rPr>
                        <a:t>$20.000 / h</a:t>
                      </a:r>
                    </a:p>
                  </a:txBody>
                  <a:tcPr marL="133350" marR="133350" marT="114300" marB="114300" anchor="ctr">
                    <a:solidFill>
                      <a:srgbClr val="E6EFEB"/>
                    </a:solidFill>
                  </a:tcPr>
                </a:tc>
                <a:tc>
                  <a:txBody>
                    <a:bodyPr lIns="133350" tIns="114300" rIns="133350" bIns="114300">
                      <a:noAutofit/>
                    </a:bodyPr>
                    <a:lstStyle/>
                    <a:p>
                      <a:pPr algn="ctr"/>
                      <a:r>
                        <a:rPr sz="1875" b="0">
                          <a:solidFill>
                            <a:srgbClr val="18313A"/>
                          </a:solidFill>
                          <a:latin typeface="Helvetica Neue"/>
                          <a:ea typeface="Helvetica Neue"/>
                          <a:cs typeface="Helvetica Neue"/>
                        </a:rPr>
                        <a:t>Una hora más aumenta Z</a:t>
                      </a:r>
                    </a:p>
                  </a:txBody>
                  <a:tcPr marL="133350" marR="133350" marT="114300" marB="114300" anchor="ctr">
                    <a:solidFill>
                      <a:srgbClr val="E6EFEB"/>
                    </a:solidFill>
                  </a:tcPr>
                </a:tc>
              </a:tr>
              <a:tr h="689610">
                <a:tc>
                  <a:txBody>
                    <a:bodyPr lIns="133350" tIns="114300" rIns="133350" bIns="114300">
                      <a:noAutofit/>
                    </a:bodyPr>
                    <a:lstStyle/>
                    <a:p>
                      <a:pPr algn="l"/>
                      <a:r>
                        <a:rPr sz="1875" b="0">
                          <a:solidFill>
                            <a:srgbClr val="18313A"/>
                          </a:solidFill>
                          <a:latin typeface="Helvetica Neue"/>
                          <a:ea typeface="Helvetica Neue"/>
                          <a:cs typeface="Helvetica Neue"/>
                        </a:rPr>
                        <a:t>Capacidad de despacho</a:t>
                      </a:r>
                    </a:p>
                  </a:txBody>
                  <a:tcPr marL="133350" marR="133350" marT="114300" marB="114300" anchor="ctr">
                    <a:solidFill>
                      <a:srgbClr val="FFFFFF"/>
                    </a:solidFill>
                  </a:tcPr>
                </a:tc>
                <a:tc>
                  <a:txBody>
                    <a:bodyPr lIns="133350" tIns="114300" rIns="133350" bIns="114300">
                      <a:noAutofit/>
                    </a:bodyPr>
                    <a:lstStyle/>
                    <a:p>
                      <a:pPr algn="ctr"/>
                      <a:r>
                        <a:rPr sz="1875" b="0">
                          <a:solidFill>
                            <a:srgbClr val="18313A"/>
                          </a:solidFill>
                          <a:latin typeface="Helvetica Neue"/>
                          <a:ea typeface="Helvetica Neue"/>
                          <a:cs typeface="Helvetica Neue"/>
                        </a:rPr>
                        <a:t>$30.000 / unidad</a:t>
                      </a:r>
                    </a:p>
                  </a:txBody>
                  <a:tcPr marL="133350" marR="133350" marT="114300" marB="114300" anchor="ctr">
                    <a:solidFill>
                      <a:srgbClr val="FFFFFF"/>
                    </a:solidFill>
                  </a:tcPr>
                </a:tc>
                <a:tc>
                  <a:txBody>
                    <a:bodyPr lIns="133350" tIns="114300" rIns="133350" bIns="114300">
                      <a:noAutofit/>
                    </a:bodyPr>
                    <a:lstStyle/>
                    <a:p>
                      <a:pPr algn="ctr"/>
                      <a:r>
                        <a:rPr sz="1875" b="0">
                          <a:solidFill>
                            <a:srgbClr val="18313A"/>
                          </a:solidFill>
                          <a:latin typeface="Helvetica Neue"/>
                          <a:ea typeface="Helvetica Neue"/>
                          <a:cs typeface="Helvetica Neue"/>
                        </a:rPr>
                        <a:t>Una unidad más aumenta Z</a:t>
                      </a:r>
                    </a:p>
                  </a:txBody>
                  <a:tcPr marL="133350" marR="133350" marT="114300" marB="114300" anchor="ctr">
                    <a:solidFill>
                      <a:srgbClr val="FFFFFF"/>
                    </a:solidFill>
                  </a:tcPr>
                </a:tc>
              </a:tr>
              <a:tr h="689610">
                <a:tc>
                  <a:txBody>
                    <a:bodyPr lIns="133350" tIns="114300" rIns="133350" bIns="114300">
                      <a:noAutofit/>
                    </a:bodyPr>
                    <a:lstStyle/>
                    <a:p>
                      <a:pPr algn="l"/>
                      <a:r>
                        <a:rPr sz="1875" b="0">
                          <a:solidFill>
                            <a:srgbClr val="18313A"/>
                          </a:solidFill>
                          <a:latin typeface="Helvetica Neue"/>
                          <a:ea typeface="Helvetica Neue"/>
                          <a:cs typeface="Helvetica Neue"/>
                        </a:rPr>
                        <a:t>Mínimo contractual</a:t>
                      </a:r>
                    </a:p>
                  </a:txBody>
                  <a:tcPr marL="133350" marR="133350" marT="114300" marB="114300" anchor="ctr">
                    <a:solidFill>
                      <a:srgbClr val="E6EFEB"/>
                    </a:solidFill>
                  </a:tcPr>
                </a:tc>
                <a:tc>
                  <a:txBody>
                    <a:bodyPr lIns="133350" tIns="114300" rIns="133350" bIns="114300">
                      <a:noAutofit/>
                    </a:bodyPr>
                    <a:lstStyle/>
                    <a:p>
                      <a:pPr algn="ctr"/>
                      <a:r>
                        <a:rPr sz="1875" b="0">
                          <a:solidFill>
                            <a:srgbClr val="18313A"/>
                          </a:solidFill>
                          <a:latin typeface="Helvetica Neue"/>
                          <a:ea typeface="Helvetica Neue"/>
                          <a:cs typeface="Helvetica Neue"/>
                        </a:rPr>
                        <a:t>−$60.000 / lote</a:t>
                      </a:r>
                    </a:p>
                  </a:txBody>
                  <a:tcPr marL="133350" marR="133350" marT="114300" marB="114300" anchor="ctr">
                    <a:solidFill>
                      <a:srgbClr val="E6EFEB"/>
                    </a:solidFill>
                  </a:tcPr>
                </a:tc>
                <a:tc>
                  <a:txBody>
                    <a:bodyPr lIns="133350" tIns="114300" rIns="133350" bIns="114300">
                      <a:noAutofit/>
                    </a:bodyPr>
                    <a:lstStyle/>
                    <a:p>
                      <a:pPr algn="ctr"/>
                      <a:r>
                        <a:rPr sz="1875" b="0">
                          <a:solidFill>
                            <a:srgbClr val="18313A"/>
                          </a:solidFill>
                          <a:latin typeface="Helvetica Neue"/>
                          <a:ea typeface="Helvetica Neue"/>
                          <a:cs typeface="Helvetica Neue"/>
                        </a:rPr>
                        <a:t>Exigir más reduce Z</a:t>
                      </a:r>
                    </a:p>
                  </a:txBody>
                  <a:tcPr marL="133350" marR="133350" marT="114300" marB="114300" anchor="ctr">
                    <a:solidFill>
                      <a:srgbClr val="E6EFEB"/>
                    </a:solidFill>
                  </a:tcPr>
                </a:tc>
              </a:tr>
            </a:tbl>
          </a:graphicData>
        </a:graphic>
      </p:graphicFrame>
      <p:sp>
        <p:nvSpPr>
          <p:cNvPr id="5" name="text-3">
            <a:extLst xmlns:a="http://schemas.openxmlformats.org/drawingml/2006/main">
              <a:ext uri="{FF2B5EF4-FFF2-40B4-BE49-F238E27FC236}">
                <a16:creationId xmlns:a16="http://schemas.microsoft.com/office/drawing/2014/main" id="{98948540-6D7E-441A-BEFD-2868E2376945}"/>
              </a:ext>
            </a:extLst>
          </p:cNvPr>
          <p:cNvSpPr>
            <a:spLocks xmlns:a="http://schemas.openxmlformats.org/drawingml/2006/main" noGrp="1"/>
          </p:cNvSpPr>
          <p:nvPr/>
        </p:nvSpPr>
        <p:spPr>
          <a:xfrm xmlns:a="http://schemas.openxmlformats.org/drawingml/2006/main">
            <a:off x="609600" y="5381625"/>
            <a:ext cx="109347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36A"/>
                </a:solidFill>
                <a:latin typeface="Helvetica Neue"/>
                <a:ea typeface="Helvetica Neue"/>
                <a:cs typeface="Helvetica Neue"/>
              </a:defRPr>
            </a:pPr>
            <a:r>
              <a:rPr sz="1875" b="0">
                <a:solidFill>
                  <a:srgbClr val="52636A"/>
                </a:solidFill>
                <a:latin typeface="Helvetica Neue"/>
                <a:ea typeface="Helvetica Neue"/>
                <a:cs typeface="Helvetica Neue"/>
              </a:rPr>
              <a:t>Cambios individuales dentro del rango de sensibilidad.</a:t>
            </a:r>
          </a:p>
          <a:p xmlns:a="http://schemas.openxmlformats.org/drawingml/2006/main">
            <a:pPr algn="l">
              <a:defRPr sz="1875" b="0">
                <a:solidFill>
                  <a:srgbClr val="52636A"/>
                </a:solidFill>
                <a:latin typeface="Helvetica Neue"/>
                <a:ea typeface="Helvetica Neue"/>
                <a:cs typeface="Helvetica Neue"/>
              </a:defRPr>
            </a:pPr>
            <a:r>
              <a:rPr sz="1875" b="0">
                <a:solidFill>
                  <a:srgbClr val="52636A"/>
                </a:solidFill>
                <a:latin typeface="Helvetica Neue"/>
                <a:ea typeface="Helvetica Neue"/>
                <a:cs typeface="Helvetica Neue"/>
              </a:rPr>
              <a:t>La ampliación conviene si su costo es menor que el aporte marginal.</a:t>
            </a:r>
          </a:p>
        </p:txBody>
      </p:sp>
    </p:spTree>
    <p:extLst>
      <p:ext uri="{BB962C8B-B14F-4D97-AF65-F5344CB8AC3E}">
        <p14:creationId xmlns:p14="http://schemas.microsoft.com/office/powerpoint/2010/main" val="1921587256"/>
      </p:ext>
    </p:extLst>
  </p:cSld>
</p:sld>
</file>

<file path=ppt/slides/slide5.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3E77BFFA-7162-47A1-B045-82E049A96BEE}"/>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13A"/>
                </a:solidFill>
                <a:latin typeface="Helvetica Neue"/>
                <a:ea typeface="Helvetica Neue"/>
                <a:cs typeface="Helvetica Neue"/>
              </a:defRPr>
            </a:pPr>
            <a:r>
              <a:rPr sz="3300" b="1">
                <a:solidFill>
                  <a:srgbClr val="18313A"/>
                </a:solidFill>
                <a:latin typeface="Helvetica Neue"/>
                <a:ea typeface="Helvetica Neue"/>
                <a:cs typeface="Helvetica Neue"/>
              </a:rPr>
              <a:t>Sensibilidad de la ganancia del cárter</a:t>
            </a:r>
          </a:p>
        </p:txBody>
      </p:sp>
      <p:sp>
        <p:nvSpPr>
          <p:cNvPr id="2" name="text-1">
            <a:extLst xmlns:a="http://schemas.openxmlformats.org/drawingml/2006/main">
              <a:ext uri="{FF2B5EF4-FFF2-40B4-BE49-F238E27FC236}">
                <a16:creationId xmlns:a16="http://schemas.microsoft.com/office/drawing/2014/main" id="{9DC6E731-B8F3-4A8F-92CE-533A746DDC76}"/>
              </a:ext>
            </a:extLst>
          </p:cNvPr>
          <p:cNvSpPr>
            <a:spLocks xmlns:a="http://schemas.openxmlformats.org/drawingml/2006/main" noGrp="1"/>
          </p:cNvSpPr>
          <p:nvPr/>
        </p:nvSpPr>
        <p:spPr>
          <a:xfrm xmlns:a="http://schemas.openxmlformats.org/drawingml/2006/main">
            <a:off x="609600" y="6372225"/>
            <a:ext cx="990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36A"/>
                </a:solidFill>
                <a:latin typeface="Helvetica Neue"/>
                <a:ea typeface="Helvetica Neue"/>
                <a:cs typeface="Helvetica Neue"/>
              </a:defRPr>
            </a:pPr>
            <a:r>
              <a:rPr sz="1350" b="0">
                <a:solidFill>
                  <a:srgbClr val="52636A"/>
                </a:solidFill>
                <a:latin typeface="Helvetica Neue"/>
                <a:ea typeface="Helvetica Neue"/>
                <a:cs typeface="Helvetica Neue"/>
              </a:rPr>
              <a:t>Stéfano Conti</a:t>
            </a:r>
          </a:p>
        </p:txBody>
      </p:sp>
      <p:sp>
        <p:nvSpPr>
          <p:cNvPr id="3" name="text-2">
            <a:extLst xmlns:a="http://schemas.openxmlformats.org/drawingml/2006/main">
              <a:ext uri="{FF2B5EF4-FFF2-40B4-BE49-F238E27FC236}">
                <a16:creationId xmlns:a16="http://schemas.microsoft.com/office/drawing/2014/main" id="{802B4900-383D-486D-AB0F-67D5E9E490A0}"/>
              </a:ext>
            </a:extLst>
          </p:cNvPr>
          <p:cNvSpPr>
            <a:spLocks xmlns:a="http://schemas.openxmlformats.org/drawingml/2006/main" noGrp="1"/>
          </p:cNvSpPr>
          <p:nvPr/>
        </p:nvSpPr>
        <p:spPr>
          <a:xfrm xmlns:a="http://schemas.openxmlformats.org/drawingml/2006/main">
            <a:off x="10953750" y="6362700"/>
            <a:ext cx="628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2636A"/>
                </a:solidFill>
                <a:latin typeface="Helvetica Neue"/>
                <a:ea typeface="Helvetica Neue"/>
                <a:cs typeface="Helvetica Neue"/>
              </a:defRPr>
            </a:pPr>
            <a:r>
              <a:rPr sz="1350" b="0">
                <a:solidFill>
                  <a:srgbClr val="52636A"/>
                </a:solidFill>
                <a:latin typeface="Helvetica Neue"/>
                <a:ea typeface="Helvetica Neue"/>
                <a:cs typeface="Helvetica Neue"/>
              </a:rPr>
              <a:t>05</a:t>
            </a:r>
          </a:p>
        </p:txBody>
      </p:sp>
      <p:sp>
        <p:nvSpPr>
          <p:cNvPr id="4" name="text-3">
            <a:extLst xmlns:a="http://schemas.openxmlformats.org/drawingml/2006/main">
              <a:ext uri="{FF2B5EF4-FFF2-40B4-BE49-F238E27FC236}">
                <a16:creationId xmlns:a16="http://schemas.microsoft.com/office/drawing/2014/main" id="{3C15A776-562C-46CB-B7E2-5F9AEBD11650}"/>
              </a:ext>
            </a:extLst>
          </p:cNvPr>
          <p:cNvSpPr>
            <a:spLocks xmlns:a="http://schemas.openxmlformats.org/drawingml/2006/main" noGrp="1"/>
          </p:cNvSpPr>
          <p:nvPr/>
        </p:nvSpPr>
        <p:spPr>
          <a:xfrm xmlns:a="http://schemas.openxmlformats.org/drawingml/2006/main">
            <a:off x="609600" y="158115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6766E"/>
                </a:solidFill>
                <a:latin typeface="Helvetica Neue"/>
                <a:ea typeface="Helvetica Neue"/>
                <a:cs typeface="Helvetica Neue"/>
              </a:defRPr>
            </a:pPr>
            <a:r>
              <a:rPr sz="2925" b="1">
                <a:solidFill>
                  <a:srgbClr val="16766E"/>
                </a:solidFill>
                <a:latin typeface="Helvetica Neue"/>
                <a:ea typeface="Helvetica Neue"/>
                <a:cs typeface="Helvetica Neue"/>
              </a:rPr>
              <a:t>C₂ = 30 + ΔC₂</a:t>
            </a:r>
          </a:p>
        </p:txBody>
      </p:sp>
      <p:graphicFrame>
        <p:nvGraphicFramePr>
          <p:cNvPr id="13" name=""/>
          <p:cNvGraphicFramePr/>
          <p:nvPr/>
        </p:nvGraphicFramePr>
        <p:xfrm>
          <a:off xmlns:a="http://schemas.openxmlformats.org/drawingml/2006/main" x="609600" y="2447925"/>
          <a:ext xmlns:a="http://schemas.openxmlformats.org/drawingml/2006/main" cx="7048500" cy="2705100"/>
        </p:xfrm>
        <a:graphic xmlns:a="http://schemas.openxmlformats.org/drawingml/2006/main">
          <a:graphicData uri="http://schemas.openxmlformats.org/drawingml/2006/table">
            <a:tbl>
              <a:tblPr/>
              <a:tblGrid>
                <a:gridCol w="4667250"/>
                <a:gridCol w="2381250"/>
              </a:tblGrid>
              <a:tr h="676275">
                <a:tc>
                  <a:txBody>
                    <a:bodyPr lIns="133350" tIns="114300" rIns="133350" bIns="114300">
                      <a:noAutofit/>
                    </a:bodyPr>
                    <a:lstStyle/>
                    <a:p>
                      <a:pPr algn="l"/>
                      <a:r>
                        <a:rPr sz="2175" b="1">
                          <a:solidFill>
                            <a:srgbClr val="FFFFFF"/>
                          </a:solidFill>
                          <a:latin typeface="Helvetica Neue"/>
                          <a:ea typeface="Helvetica Neue"/>
                          <a:cs typeface="Helvetica Neue"/>
                        </a:rPr>
                        <a:t>Costo reducido actualizado</a:t>
                      </a:r>
                    </a:p>
                  </a:txBody>
                  <a:tcPr marL="133350" marR="133350" marT="114300" marB="114300" anchor="ctr">
                    <a:solidFill>
                      <a:srgbClr val="18313A"/>
                    </a:solidFill>
                  </a:tcPr>
                </a:tc>
                <a:tc>
                  <a:txBody>
                    <a:bodyPr lIns="133350" tIns="114300" rIns="133350" bIns="114300">
                      <a:noAutofit/>
                    </a:bodyPr>
                    <a:lstStyle/>
                    <a:p>
                      <a:pPr algn="ctr"/>
                      <a:r>
                        <a:rPr sz="2175" b="1">
                          <a:solidFill>
                            <a:srgbClr val="FFFFFF"/>
                          </a:solidFill>
                          <a:latin typeface="Helvetica Neue"/>
                          <a:ea typeface="Helvetica Neue"/>
                          <a:cs typeface="Helvetica Neue"/>
                        </a:rPr>
                        <a:t>Condición</a:t>
                      </a:r>
                    </a:p>
                  </a:txBody>
                  <a:tcPr marL="133350" marR="133350" marT="114300" marB="114300" anchor="ctr">
                    <a:solidFill>
                      <a:srgbClr val="18313A"/>
                    </a:solidFill>
                  </a:tcPr>
                </a:tc>
              </a:tr>
              <a:tr h="676275">
                <a:tc>
                  <a:txBody>
                    <a:bodyPr lIns="133350" tIns="114300" rIns="133350" bIns="114300">
                      <a:noAutofit/>
                    </a:bodyPr>
                    <a:lstStyle/>
                    <a:p>
                      <a:pPr algn="l"/>
                      <a:r>
                        <a:rPr sz="2175" b="0">
                          <a:solidFill>
                            <a:srgbClr val="18313A"/>
                          </a:solidFill>
                          <a:latin typeface="Helvetica Neue"/>
                          <a:ea typeface="Helvetica Neue"/>
                          <a:cs typeface="Helvetica Neue"/>
                        </a:rPr>
                        <a:t>−20 + ΔC₂ ≤ 0</a:t>
                      </a:r>
                    </a:p>
                  </a:txBody>
                  <a:tcPr marL="133350" marR="133350" marT="114300" marB="114300" anchor="ctr">
                    <a:solidFill>
                      <a:srgbClr val="FFFFFF"/>
                    </a:solidFill>
                  </a:tcPr>
                </a:tc>
                <a:tc>
                  <a:txBody>
                    <a:bodyPr lIns="133350" tIns="114300" rIns="133350" bIns="114300">
                      <a:noAutofit/>
                    </a:bodyPr>
                    <a:lstStyle/>
                    <a:p>
                      <a:pPr algn="ctr"/>
                      <a:r>
                        <a:rPr sz="2175" b="0">
                          <a:solidFill>
                            <a:srgbClr val="18313A"/>
                          </a:solidFill>
                          <a:latin typeface="Helvetica Neue"/>
                          <a:ea typeface="Helvetica Neue"/>
                          <a:cs typeface="Helvetica Neue"/>
                        </a:rPr>
                        <a:t>ΔC₂ ≤ 20</a:t>
                      </a:r>
                    </a:p>
                  </a:txBody>
                  <a:tcPr marL="133350" marR="133350" marT="114300" marB="114300" anchor="ctr">
                    <a:solidFill>
                      <a:srgbClr val="FFFFFF"/>
                    </a:solidFill>
                  </a:tcPr>
                </a:tc>
              </a:tr>
              <a:tr h="676275">
                <a:tc>
                  <a:txBody>
                    <a:bodyPr lIns="133350" tIns="114300" rIns="133350" bIns="114300">
                      <a:noAutofit/>
                    </a:bodyPr>
                    <a:lstStyle/>
                    <a:p>
                      <a:pPr algn="l"/>
                      <a:r>
                        <a:rPr sz="2175" b="0">
                          <a:solidFill>
                            <a:srgbClr val="18313A"/>
                          </a:solidFill>
                          <a:latin typeface="Helvetica Neue"/>
                          <a:ea typeface="Helvetica Neue"/>
                          <a:cs typeface="Helvetica Neue"/>
                        </a:rPr>
                        <a:t>−30 + 2ΔC₂ ≤ 0</a:t>
                      </a:r>
                    </a:p>
                  </a:txBody>
                  <a:tcPr marL="133350" marR="133350" marT="114300" marB="114300" anchor="ctr">
                    <a:solidFill>
                      <a:srgbClr val="E6EFEB"/>
                    </a:solidFill>
                  </a:tcPr>
                </a:tc>
                <a:tc>
                  <a:txBody>
                    <a:bodyPr lIns="133350" tIns="114300" rIns="133350" bIns="114300">
                      <a:noAutofit/>
                    </a:bodyPr>
                    <a:lstStyle/>
                    <a:p>
                      <a:pPr algn="ctr"/>
                      <a:r>
                        <a:rPr sz="2175" b="0">
                          <a:solidFill>
                            <a:srgbClr val="18313A"/>
                          </a:solidFill>
                          <a:latin typeface="Helvetica Neue"/>
                          <a:ea typeface="Helvetica Neue"/>
                          <a:cs typeface="Helvetica Neue"/>
                        </a:rPr>
                        <a:t>ΔC₂ ≤ 15</a:t>
                      </a:r>
                    </a:p>
                  </a:txBody>
                  <a:tcPr marL="133350" marR="133350" marT="114300" marB="114300" anchor="ctr">
                    <a:solidFill>
                      <a:srgbClr val="E6EFEB"/>
                    </a:solidFill>
                  </a:tcPr>
                </a:tc>
              </a:tr>
              <a:tr h="676275">
                <a:tc>
                  <a:txBody>
                    <a:bodyPr lIns="133350" tIns="114300" rIns="133350" bIns="114300">
                      <a:noAutofit/>
                    </a:bodyPr>
                    <a:lstStyle/>
                    <a:p>
                      <a:pPr algn="l"/>
                      <a:r>
                        <a:rPr sz="2175" b="0">
                          <a:solidFill>
                            <a:srgbClr val="18313A"/>
                          </a:solidFill>
                          <a:latin typeface="Helvetica Neue"/>
                          <a:ea typeface="Helvetica Neue"/>
                          <a:cs typeface="Helvetica Neue"/>
                        </a:rPr>
                        <a:t>−60 + 6ΔC₂ ≤ 0</a:t>
                      </a:r>
                    </a:p>
                  </a:txBody>
                  <a:tcPr marL="133350" marR="133350" marT="114300" marB="114300" anchor="ctr">
                    <a:solidFill>
                      <a:srgbClr val="FFFFFF"/>
                    </a:solidFill>
                  </a:tcPr>
                </a:tc>
                <a:tc>
                  <a:txBody>
                    <a:bodyPr lIns="133350" tIns="114300" rIns="133350" bIns="114300">
                      <a:noAutofit/>
                    </a:bodyPr>
                    <a:lstStyle/>
                    <a:p>
                      <a:pPr algn="ctr"/>
                      <a:r>
                        <a:rPr sz="2175" b="0">
                          <a:solidFill>
                            <a:srgbClr val="18313A"/>
                          </a:solidFill>
                          <a:latin typeface="Helvetica Neue"/>
                          <a:ea typeface="Helvetica Neue"/>
                          <a:cs typeface="Helvetica Neue"/>
                        </a:rPr>
                        <a:t>ΔC₂ ≤ 10</a:t>
                      </a:r>
                    </a:p>
                  </a:txBody>
                  <a:tcPr marL="133350" marR="133350" marT="114300" marB="114300" anchor="ctr">
                    <a:solidFill>
                      <a:srgbClr val="FFFFFF"/>
                    </a:solidFill>
                  </a:tcPr>
                </a:tc>
              </a:tr>
            </a:tbl>
          </a:graphicData>
        </a:graphic>
      </p:graphicFrame>
      <p:sp>
        <p:nvSpPr>
          <p:cNvPr id="6" name="text-4">
            <a:extLst xmlns:a="http://schemas.openxmlformats.org/drawingml/2006/main">
              <a:ext uri="{FF2B5EF4-FFF2-40B4-BE49-F238E27FC236}">
                <a16:creationId xmlns:a16="http://schemas.microsoft.com/office/drawing/2014/main" id="{6013DE16-3CF6-444B-A25B-4912CFB6E3FD}"/>
              </a:ext>
            </a:extLst>
          </p:cNvPr>
          <p:cNvSpPr>
            <a:spLocks xmlns:a="http://schemas.openxmlformats.org/drawingml/2006/main" noGrp="1"/>
          </p:cNvSpPr>
          <p:nvPr/>
        </p:nvSpPr>
        <p:spPr>
          <a:xfrm xmlns:a="http://schemas.openxmlformats.org/drawingml/2006/main">
            <a:off x="8086725" y="2714625"/>
            <a:ext cx="3476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6766E"/>
                </a:solidFill>
                <a:latin typeface="Helvetica Neue"/>
                <a:ea typeface="Helvetica Neue"/>
                <a:cs typeface="Helvetica Neue"/>
              </a:defRPr>
            </a:pPr>
            <a:r>
              <a:rPr sz="3900" b="1">
                <a:solidFill>
                  <a:srgbClr val="16766E"/>
                </a:solidFill>
                <a:latin typeface="Helvetica Neue"/>
                <a:ea typeface="Helvetica Neue"/>
                <a:cs typeface="Helvetica Neue"/>
              </a:rPr>
              <a:t>C₂ ≤ 40</a:t>
            </a:r>
          </a:p>
        </p:txBody>
      </p:sp>
      <p:sp>
        <p:nvSpPr>
          <p:cNvPr id="7" name="text-5">
            <a:extLst xmlns:a="http://schemas.openxmlformats.org/drawingml/2006/main">
              <a:ext uri="{FF2B5EF4-FFF2-40B4-BE49-F238E27FC236}">
                <a16:creationId xmlns:a16="http://schemas.microsoft.com/office/drawing/2014/main" id="{BFE18178-C6B0-497A-9CC5-0B2ABFB506C8}"/>
              </a:ext>
            </a:extLst>
          </p:cNvPr>
          <p:cNvSpPr>
            <a:spLocks xmlns:a="http://schemas.openxmlformats.org/drawingml/2006/main" noGrp="1"/>
          </p:cNvSpPr>
          <p:nvPr/>
        </p:nvSpPr>
        <p:spPr>
          <a:xfrm xmlns:a="http://schemas.openxmlformats.org/drawingml/2006/main">
            <a:off x="8115300" y="3667125"/>
            <a:ext cx="342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313A"/>
                </a:solidFill>
                <a:latin typeface="Helvetica Neue"/>
                <a:ea typeface="Helvetica Neue"/>
                <a:cs typeface="Helvetica Neue"/>
              </a:defRPr>
            </a:pPr>
            <a:r>
              <a:rPr sz="2100" b="0">
                <a:solidFill>
                  <a:srgbClr val="18313A"/>
                </a:solidFill>
                <a:latin typeface="Helvetica Neue"/>
                <a:ea typeface="Helvetica Neue"/>
                <a:cs typeface="Helvetica Neue"/>
              </a:rPr>
              <a:t>El plan actual</a:t>
            </a:r>
          </a:p>
          <a:p xmlns:a="http://schemas.openxmlformats.org/drawingml/2006/main">
            <a:pPr algn="l">
              <a:defRPr sz="2100" b="0">
                <a:solidFill>
                  <a:srgbClr val="18313A"/>
                </a:solidFill>
                <a:latin typeface="Helvetica Neue"/>
                <a:ea typeface="Helvetica Neue"/>
                <a:cs typeface="Helvetica Neue"/>
              </a:defRPr>
            </a:pPr>
            <a:r>
              <a:rPr sz="2100" b="0">
                <a:solidFill>
                  <a:srgbClr val="18313A"/>
                </a:solidFill>
                <a:latin typeface="Helvetica Neue"/>
                <a:ea typeface="Helvetica Neue"/>
                <a:cs typeface="Helvetica Neue"/>
              </a:rPr>
              <a:t>sigue siendo óptimo</a:t>
            </a:r>
          </a:p>
        </p:txBody>
      </p:sp>
      <p:sp>
        <p:nvSpPr>
          <p:cNvPr id="8" name="text-6">
            <a:extLst xmlns:a="http://schemas.openxmlformats.org/drawingml/2006/main">
              <a:ext uri="{FF2B5EF4-FFF2-40B4-BE49-F238E27FC236}">
                <a16:creationId xmlns:a16="http://schemas.microsoft.com/office/drawing/2014/main" id="{83393EB8-0B12-4C1B-819C-434E272D3EC9}"/>
              </a:ext>
            </a:extLst>
          </p:cNvPr>
          <p:cNvSpPr>
            <a:spLocks xmlns:a="http://schemas.openxmlformats.org/drawingml/2006/main" noGrp="1"/>
          </p:cNvSpPr>
          <p:nvPr/>
        </p:nvSpPr>
        <p:spPr>
          <a:xfrm xmlns:a="http://schemas.openxmlformats.org/drawingml/2006/main">
            <a:off x="609600" y="56197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36A"/>
                </a:solidFill>
                <a:latin typeface="Helvetica Neue"/>
                <a:ea typeface="Helvetica Neue"/>
                <a:cs typeface="Helvetica Neue"/>
              </a:defRPr>
            </a:pPr>
            <a:r>
              <a:rPr sz="1800" b="0">
                <a:solidFill>
                  <a:srgbClr val="52636A"/>
                </a:solidFill>
                <a:latin typeface="Helvetica Neue"/>
                <a:ea typeface="Helvetica Neue"/>
                <a:cs typeface="Helvetica Neue"/>
              </a:rPr>
              <a:t>Valores en miles de pesos. En C₂ = 40 hay óptimos alternativos.</a:t>
            </a:r>
          </a:p>
        </p:txBody>
      </p:sp>
    </p:spTree>
    <p:extLst>
      <p:ext uri="{BB962C8B-B14F-4D97-AF65-F5344CB8AC3E}">
        <p14:creationId xmlns:p14="http://schemas.microsoft.com/office/powerpoint/2010/main" val="1079216641"/>
      </p:ext>
    </p:extLst>
  </p:cSld>
</p:sld>
</file>

<file path=ppt/slides/slide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A4AABEE3-AFA3-40AA-B192-6899BF013A67}"/>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13A"/>
                </a:solidFill>
                <a:latin typeface="Helvetica Neue"/>
                <a:ea typeface="Helvetica Neue"/>
                <a:cs typeface="Helvetica Neue"/>
              </a:defRPr>
            </a:pPr>
            <a:r>
              <a:rPr sz="3300" b="1">
                <a:solidFill>
                  <a:srgbClr val="18313A"/>
                </a:solidFill>
                <a:latin typeface="Helvetica Neue"/>
                <a:ea typeface="Helvetica Neue"/>
                <a:cs typeface="Helvetica Neue"/>
              </a:rPr>
              <a:t>El efecto de cambiar C₂</a:t>
            </a:r>
          </a:p>
        </p:txBody>
      </p:sp>
      <p:sp>
        <p:nvSpPr>
          <p:cNvPr id="2" name="text-1">
            <a:extLst xmlns:a="http://schemas.openxmlformats.org/drawingml/2006/main">
              <a:ext uri="{FF2B5EF4-FFF2-40B4-BE49-F238E27FC236}">
                <a16:creationId xmlns:a16="http://schemas.microsoft.com/office/drawing/2014/main" id="{E4547A4E-E79A-4E9C-BABF-7EAD996807FF}"/>
              </a:ext>
            </a:extLst>
          </p:cNvPr>
          <p:cNvSpPr>
            <a:spLocks xmlns:a="http://schemas.openxmlformats.org/drawingml/2006/main" noGrp="1"/>
          </p:cNvSpPr>
          <p:nvPr/>
        </p:nvSpPr>
        <p:spPr>
          <a:xfrm xmlns:a="http://schemas.openxmlformats.org/drawingml/2006/main">
            <a:off x="609600" y="6372225"/>
            <a:ext cx="990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36A"/>
                </a:solidFill>
                <a:latin typeface="Helvetica Neue"/>
                <a:ea typeface="Helvetica Neue"/>
                <a:cs typeface="Helvetica Neue"/>
              </a:defRPr>
            </a:pPr>
            <a:r>
              <a:rPr sz="1350" b="0">
                <a:solidFill>
                  <a:srgbClr val="52636A"/>
                </a:solidFill>
                <a:latin typeface="Helvetica Neue"/>
                <a:ea typeface="Helvetica Neue"/>
                <a:cs typeface="Helvetica Neue"/>
              </a:rPr>
              <a:t>Stéfano Conti</a:t>
            </a:r>
          </a:p>
        </p:txBody>
      </p:sp>
      <p:sp>
        <p:nvSpPr>
          <p:cNvPr id="3" name="text-2">
            <a:extLst xmlns:a="http://schemas.openxmlformats.org/drawingml/2006/main">
              <a:ext uri="{FF2B5EF4-FFF2-40B4-BE49-F238E27FC236}">
                <a16:creationId xmlns:a16="http://schemas.microsoft.com/office/drawing/2014/main" id="{6FD81BA1-344E-4752-BE09-4BB66851A761}"/>
              </a:ext>
            </a:extLst>
          </p:cNvPr>
          <p:cNvSpPr>
            <a:spLocks xmlns:a="http://schemas.openxmlformats.org/drawingml/2006/main" noGrp="1"/>
          </p:cNvSpPr>
          <p:nvPr/>
        </p:nvSpPr>
        <p:spPr>
          <a:xfrm xmlns:a="http://schemas.openxmlformats.org/drawingml/2006/main">
            <a:off x="10953750" y="6362700"/>
            <a:ext cx="628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2636A"/>
                </a:solidFill>
                <a:latin typeface="Helvetica Neue"/>
                <a:ea typeface="Helvetica Neue"/>
                <a:cs typeface="Helvetica Neue"/>
              </a:defRPr>
            </a:pPr>
            <a:r>
              <a:rPr sz="1350" b="0">
                <a:solidFill>
                  <a:srgbClr val="52636A"/>
                </a:solidFill>
                <a:latin typeface="Helvetica Neue"/>
                <a:ea typeface="Helvetica Neue"/>
                <a:cs typeface="Helvetica Neue"/>
              </a:rPr>
              <a:t>06</a:t>
            </a:r>
          </a:p>
        </p:txBody>
      </p:sp>
      <p:graphicFrame>
        <p:nvGraphicFramePr>
          <p:cNvPr id="10" name=""/>
          <p:cNvGraphicFramePr/>
          <p:nvPr/>
        </p:nvGraphicFramePr>
        <p:xfrm>
          <a:off xmlns:a="http://schemas.openxmlformats.org/drawingml/2006/main" x="609600" y="1695450"/>
          <a:ext xmlns:a="http://schemas.openxmlformats.org/drawingml/2006/main" cx="10972800" cy="3000375"/>
        </p:xfrm>
        <a:graphic xmlns:a="http://schemas.openxmlformats.org/drawingml/2006/main">
          <a:graphicData uri="http://schemas.openxmlformats.org/drawingml/2006/table">
            <a:tbl>
              <a:tblPr/>
              <a:tblGrid>
                <a:gridCol w="3571875"/>
                <a:gridCol w="3590925"/>
                <a:gridCol w="3810000"/>
              </a:tblGrid>
              <a:tr h="750094">
                <a:tc>
                  <a:txBody>
                    <a:bodyPr lIns="133350" tIns="114300" rIns="133350" bIns="114300">
                      <a:noAutofit/>
                    </a:bodyPr>
                    <a:lstStyle/>
                    <a:p>
                      <a:pPr algn="l"/>
                      <a:r>
                        <a:rPr sz="2025" b="1">
                          <a:solidFill>
                            <a:srgbClr val="FFFFFF"/>
                          </a:solidFill>
                          <a:latin typeface="Helvetica Neue"/>
                          <a:ea typeface="Helvetica Neue"/>
                          <a:cs typeface="Helvetica Neue"/>
                        </a:rPr>
                        <a:t>C₂ ($ miles/lote)</a:t>
                      </a:r>
                    </a:p>
                  </a:txBody>
                  <a:tcPr marL="133350" marR="133350" marT="114300" marB="114300" anchor="ctr">
                    <a:solidFill>
                      <a:srgbClr val="18313A"/>
                    </a:solidFill>
                  </a:tcPr>
                </a:tc>
                <a:tc>
                  <a:txBody>
                    <a:bodyPr lIns="133350" tIns="114300" rIns="133350" bIns="114300">
                      <a:noAutofit/>
                    </a:bodyPr>
                    <a:lstStyle/>
                    <a:p>
                      <a:pPr algn="ctr"/>
                      <a:r>
                        <a:rPr sz="2025" b="1">
                          <a:solidFill>
                            <a:srgbClr val="FFFFFF"/>
                          </a:solidFill>
                          <a:latin typeface="Helvetica Neue"/>
                          <a:ea typeface="Helvetica Neue"/>
                          <a:cs typeface="Helvetica Neue"/>
                        </a:rPr>
                        <a:t>Plan (X₁, X₂, X₃)</a:t>
                      </a:r>
                    </a:p>
                  </a:txBody>
                  <a:tcPr marL="133350" marR="133350" marT="114300" marB="114300" anchor="ctr">
                    <a:solidFill>
                      <a:srgbClr val="18313A"/>
                    </a:solidFill>
                  </a:tcPr>
                </a:tc>
                <a:tc>
                  <a:txBody>
                    <a:bodyPr lIns="133350" tIns="114300" rIns="133350" bIns="114300">
                      <a:noAutofit/>
                    </a:bodyPr>
                    <a:lstStyle/>
                    <a:p>
                      <a:pPr algn="ctr"/>
                      <a:r>
                        <a:rPr sz="2025" b="1">
                          <a:solidFill>
                            <a:srgbClr val="FFFFFF"/>
                          </a:solidFill>
                          <a:latin typeface="Helvetica Neue"/>
                          <a:ea typeface="Helvetica Neue"/>
                          <a:cs typeface="Helvetica Neue"/>
                        </a:rPr>
                        <a:t>Beneficio semanal</a:t>
                      </a:r>
                    </a:p>
                  </a:txBody>
                  <a:tcPr marL="133350" marR="133350" marT="114300" marB="114300" anchor="ctr">
                    <a:solidFill>
                      <a:srgbClr val="18313A"/>
                    </a:solidFill>
                  </a:tcPr>
                </a:tc>
              </a:tr>
              <a:tr h="750094">
                <a:tc>
                  <a:txBody>
                    <a:bodyPr lIns="133350" tIns="114300" rIns="133350" bIns="114300">
                      <a:noAutofit/>
                    </a:bodyPr>
                    <a:lstStyle/>
                    <a:p>
                      <a:pPr algn="l"/>
                      <a:r>
                        <a:rPr sz="2025" b="0">
                          <a:solidFill>
                            <a:srgbClr val="18313A"/>
                          </a:solidFill>
                          <a:latin typeface="Helvetica Neue"/>
                          <a:ea typeface="Helvetica Neue"/>
                          <a:cs typeface="Helvetica Neue"/>
                        </a:rPr>
                        <a:t>30 · Original</a:t>
                      </a:r>
                    </a:p>
                  </a:txBody>
                  <a:tcPr marL="133350" marR="133350" marT="114300" marB="114300" anchor="ctr">
                    <a:solidFill>
                      <a:srgbClr val="FFFFFF"/>
                    </a:solidFill>
                  </a:tcPr>
                </a:tc>
                <a:tc>
                  <a:txBody>
                    <a:bodyPr lIns="133350" tIns="114300" rIns="133350" bIns="114300">
                      <a:noAutofit/>
                    </a:bodyPr>
                    <a:lstStyle/>
                    <a:p>
                      <a:pPr algn="ctr"/>
                      <a:r>
                        <a:rPr sz="2025" b="0">
                          <a:solidFill>
                            <a:srgbClr val="18313A"/>
                          </a:solidFill>
                          <a:latin typeface="Helvetica Neue"/>
                          <a:ea typeface="Helvetica Neue"/>
                          <a:cs typeface="Helvetica Neue"/>
                        </a:rPr>
                        <a:t>(80, 20, 50)</a:t>
                      </a:r>
                    </a:p>
                  </a:txBody>
                  <a:tcPr marL="133350" marR="133350" marT="114300" marB="114300" anchor="ctr">
                    <a:solidFill>
                      <a:srgbClr val="FFFFFF"/>
                    </a:solidFill>
                  </a:tcPr>
                </a:tc>
                <a:tc>
                  <a:txBody>
                    <a:bodyPr lIns="133350" tIns="114300" rIns="133350" bIns="114300">
                      <a:noAutofit/>
                    </a:bodyPr>
                    <a:lstStyle/>
                    <a:p>
                      <a:pPr algn="ctr"/>
                      <a:r>
                        <a:rPr sz="2025" b="0">
                          <a:solidFill>
                            <a:srgbClr val="18313A"/>
                          </a:solidFill>
                          <a:latin typeface="Helvetica Neue"/>
                          <a:ea typeface="Helvetica Neue"/>
                          <a:cs typeface="Helvetica Neue"/>
                        </a:rPr>
                        <a:t>$6.600.000</a:t>
                      </a:r>
                    </a:p>
                  </a:txBody>
                  <a:tcPr marL="133350" marR="133350" marT="114300" marB="114300" anchor="ctr">
                    <a:solidFill>
                      <a:srgbClr val="FFFFFF"/>
                    </a:solidFill>
                  </a:tcPr>
                </a:tc>
              </a:tr>
              <a:tr h="750094">
                <a:tc>
                  <a:txBody>
                    <a:bodyPr lIns="133350" tIns="114300" rIns="133350" bIns="114300">
                      <a:noAutofit/>
                    </a:bodyPr>
                    <a:lstStyle/>
                    <a:p>
                      <a:pPr algn="l"/>
                      <a:r>
                        <a:rPr sz="2025" b="0">
                          <a:solidFill>
                            <a:srgbClr val="18313A"/>
                          </a:solidFill>
                          <a:latin typeface="Helvetica Neue"/>
                          <a:ea typeface="Helvetica Neue"/>
                          <a:cs typeface="Helvetica Neue"/>
                        </a:rPr>
                        <a:t>35 · Dentro del rango</a:t>
                      </a:r>
                    </a:p>
                  </a:txBody>
                  <a:tcPr marL="133350" marR="133350" marT="114300" marB="114300" anchor="ctr">
                    <a:solidFill>
                      <a:srgbClr val="E6EFEB"/>
                    </a:solidFill>
                  </a:tcPr>
                </a:tc>
                <a:tc>
                  <a:txBody>
                    <a:bodyPr lIns="133350" tIns="114300" rIns="133350" bIns="114300">
                      <a:noAutofit/>
                    </a:bodyPr>
                    <a:lstStyle/>
                    <a:p>
                      <a:pPr algn="ctr"/>
                      <a:r>
                        <a:rPr sz="2025" b="0">
                          <a:solidFill>
                            <a:srgbClr val="18313A"/>
                          </a:solidFill>
                          <a:latin typeface="Helvetica Neue"/>
                          <a:ea typeface="Helvetica Neue"/>
                          <a:cs typeface="Helvetica Neue"/>
                        </a:rPr>
                        <a:t>(80, 20, 50)</a:t>
                      </a:r>
                    </a:p>
                  </a:txBody>
                  <a:tcPr marL="133350" marR="133350" marT="114300" marB="114300" anchor="ctr">
                    <a:solidFill>
                      <a:srgbClr val="E6EFEB"/>
                    </a:solidFill>
                  </a:tcPr>
                </a:tc>
                <a:tc>
                  <a:txBody>
                    <a:bodyPr lIns="133350" tIns="114300" rIns="133350" bIns="114300">
                      <a:noAutofit/>
                    </a:bodyPr>
                    <a:lstStyle/>
                    <a:p>
                      <a:pPr algn="ctr"/>
                      <a:r>
                        <a:rPr sz="2025" b="0">
                          <a:solidFill>
                            <a:srgbClr val="18313A"/>
                          </a:solidFill>
                          <a:latin typeface="Helvetica Neue"/>
                          <a:ea typeface="Helvetica Neue"/>
                          <a:cs typeface="Helvetica Neue"/>
                        </a:rPr>
                        <a:t>$6.700.000</a:t>
                      </a:r>
                    </a:p>
                  </a:txBody>
                  <a:tcPr marL="133350" marR="133350" marT="114300" marB="114300" anchor="ctr">
                    <a:solidFill>
                      <a:srgbClr val="E6EFEB"/>
                    </a:solidFill>
                  </a:tcPr>
                </a:tc>
              </a:tr>
              <a:tr h="750094">
                <a:tc>
                  <a:txBody>
                    <a:bodyPr lIns="133350" tIns="114300" rIns="133350" bIns="114300">
                      <a:noAutofit/>
                    </a:bodyPr>
                    <a:lstStyle/>
                    <a:p>
                      <a:pPr algn="l"/>
                      <a:r>
                        <a:rPr sz="2025" b="0">
                          <a:solidFill>
                            <a:srgbClr val="18313A"/>
                          </a:solidFill>
                          <a:latin typeface="Helvetica Neue"/>
                          <a:ea typeface="Helvetica Neue"/>
                          <a:cs typeface="Helvetica Neue"/>
                        </a:rPr>
                        <a:t>42 · Fuera del rango</a:t>
                      </a:r>
                    </a:p>
                  </a:txBody>
                  <a:tcPr marL="133350" marR="133350" marT="114300" marB="114300" anchor="ctr">
                    <a:solidFill>
                      <a:srgbClr val="FFFFFF"/>
                    </a:solidFill>
                  </a:tcPr>
                </a:tc>
                <a:tc>
                  <a:txBody>
                    <a:bodyPr lIns="133350" tIns="114300" rIns="133350" bIns="114300">
                      <a:noAutofit/>
                    </a:bodyPr>
                    <a:lstStyle/>
                    <a:p>
                      <a:pPr algn="ctr"/>
                      <a:r>
                        <a:rPr sz="2025" b="0">
                          <a:solidFill>
                            <a:srgbClr val="18313A"/>
                          </a:solidFill>
                          <a:latin typeface="Helvetica Neue"/>
                          <a:ea typeface="Helvetica Neue"/>
                          <a:cs typeface="Helvetica Neue"/>
                        </a:rPr>
                        <a:t>(0, 140, 30)</a:t>
                      </a:r>
                    </a:p>
                  </a:txBody>
                  <a:tcPr marL="133350" marR="133350" marT="114300" marB="114300" anchor="ctr">
                    <a:solidFill>
                      <a:srgbClr val="FFFFFF"/>
                    </a:solidFill>
                  </a:tcPr>
                </a:tc>
                <a:tc>
                  <a:txBody>
                    <a:bodyPr lIns="133350" tIns="114300" rIns="133350" bIns="114300">
                      <a:noAutofit/>
                    </a:bodyPr>
                    <a:lstStyle/>
                    <a:p>
                      <a:pPr algn="ctr"/>
                      <a:r>
                        <a:rPr sz="2025" b="0">
                          <a:solidFill>
                            <a:srgbClr val="18313A"/>
                          </a:solidFill>
                          <a:latin typeface="Helvetica Neue"/>
                          <a:ea typeface="Helvetica Neue"/>
                          <a:cs typeface="Helvetica Neue"/>
                        </a:rPr>
                        <a:t>$7.080.000</a:t>
                      </a:r>
                    </a:p>
                  </a:txBody>
                  <a:tcPr marL="133350" marR="133350" marT="114300" marB="114300" anchor="ctr">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7A63203C-580D-4E4F-AA36-E831C67AFFD2}"/>
              </a:ext>
            </a:extLst>
          </p:cNvPr>
          <p:cNvSpPr>
            <a:spLocks xmlns:a="http://schemas.openxmlformats.org/drawingml/2006/main" noGrp="1"/>
          </p:cNvSpPr>
          <p:nvPr/>
        </p:nvSpPr>
        <p:spPr>
          <a:xfrm xmlns:a="http://schemas.openxmlformats.org/drawingml/2006/main">
            <a:off x="609600" y="5162550"/>
            <a:ext cx="10953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6766E"/>
                </a:solidFill>
                <a:latin typeface="Helvetica Neue"/>
                <a:ea typeface="Helvetica Neue"/>
                <a:cs typeface="Helvetica Neue"/>
              </a:defRPr>
            </a:pPr>
            <a:r>
              <a:rPr sz="2325" b="1">
                <a:solidFill>
                  <a:srgbClr val="16766E"/>
                </a:solidFill>
                <a:latin typeface="Helvetica Neue"/>
                <a:ea typeface="Helvetica Neue"/>
                <a:cs typeface="Helvetica Neue"/>
              </a:rPr>
              <a:t>Con C₂ = 35: 20 lotes × $5.000 = $100.000 adicionales</a:t>
            </a:r>
          </a:p>
        </p:txBody>
      </p:sp>
      <p:sp>
        <p:nvSpPr>
          <p:cNvPr id="6" name="text-4">
            <a:extLst xmlns:a="http://schemas.openxmlformats.org/drawingml/2006/main">
              <a:ext uri="{FF2B5EF4-FFF2-40B4-BE49-F238E27FC236}">
                <a16:creationId xmlns:a16="http://schemas.microsoft.com/office/drawing/2014/main" id="{BC594C61-724B-4503-ACD2-A6908C2E617E}"/>
              </a:ext>
            </a:extLst>
          </p:cNvPr>
          <p:cNvSpPr>
            <a:spLocks xmlns:a="http://schemas.openxmlformats.org/drawingml/2006/main" noGrp="1"/>
          </p:cNvSpPr>
          <p:nvPr/>
        </p:nvSpPr>
        <p:spPr>
          <a:xfrm xmlns:a="http://schemas.openxmlformats.org/drawingml/2006/main">
            <a:off x="609600" y="5781675"/>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36A"/>
                </a:solidFill>
                <a:latin typeface="Helvetica Neue"/>
                <a:ea typeface="Helvetica Neue"/>
                <a:cs typeface="Helvetica Neue"/>
              </a:defRPr>
            </a:pPr>
            <a:r>
              <a:rPr sz="1875" b="0">
                <a:solidFill>
                  <a:srgbClr val="52636A"/>
                </a:solidFill>
                <a:latin typeface="Helvetica Neue"/>
                <a:ea typeface="Helvetica Neue"/>
                <a:cs typeface="Helvetica Neue"/>
              </a:rPr>
              <a:t>Fuera del rango, volvemos a optimizar el modelo.</a:t>
            </a:r>
          </a:p>
        </p:txBody>
      </p:sp>
    </p:spTree>
    <p:extLst>
      <p:ext uri="{BB962C8B-B14F-4D97-AF65-F5344CB8AC3E}">
        <p14:creationId xmlns:p14="http://schemas.microsoft.com/office/powerpoint/2010/main" val="1864314554"/>
      </p:ext>
    </p:extLst>
  </p:cSld>
</p:sld>
</file>

<file path=ppt/slides/slide7.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21794D75-D4AD-4A67-8D4E-34D1819D8966}"/>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13A"/>
                </a:solidFill>
                <a:latin typeface="Helvetica Neue"/>
                <a:ea typeface="Helvetica Neue"/>
                <a:cs typeface="Helvetica Neue"/>
              </a:defRPr>
            </a:pPr>
            <a:r>
              <a:rPr sz="3300" b="1">
                <a:solidFill>
                  <a:srgbClr val="18313A"/>
                </a:solidFill>
                <a:latin typeface="Helvetica Neue"/>
                <a:ea typeface="Helvetica Neue"/>
                <a:cs typeface="Helvetica Neue"/>
              </a:rPr>
              <a:t>Sensibilidad de las horas de máquina</a:t>
            </a:r>
          </a:p>
        </p:txBody>
      </p:sp>
      <p:sp>
        <p:nvSpPr>
          <p:cNvPr id="2" name="text-1">
            <a:extLst xmlns:a="http://schemas.openxmlformats.org/drawingml/2006/main">
              <a:ext uri="{FF2B5EF4-FFF2-40B4-BE49-F238E27FC236}">
                <a16:creationId xmlns:a16="http://schemas.microsoft.com/office/drawing/2014/main" id="{39BA2DBA-0FAA-4DC8-B1B3-81EA441D4E30}"/>
              </a:ext>
            </a:extLst>
          </p:cNvPr>
          <p:cNvSpPr>
            <a:spLocks xmlns:a="http://schemas.openxmlformats.org/drawingml/2006/main" noGrp="1"/>
          </p:cNvSpPr>
          <p:nvPr/>
        </p:nvSpPr>
        <p:spPr>
          <a:xfrm xmlns:a="http://schemas.openxmlformats.org/drawingml/2006/main">
            <a:off x="609600" y="6372225"/>
            <a:ext cx="990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36A"/>
                </a:solidFill>
                <a:latin typeface="Helvetica Neue"/>
                <a:ea typeface="Helvetica Neue"/>
                <a:cs typeface="Helvetica Neue"/>
              </a:defRPr>
            </a:pPr>
            <a:r>
              <a:rPr sz="1350" b="0">
                <a:solidFill>
                  <a:srgbClr val="52636A"/>
                </a:solidFill>
                <a:latin typeface="Helvetica Neue"/>
                <a:ea typeface="Helvetica Neue"/>
                <a:cs typeface="Helvetica Neue"/>
              </a:rPr>
              <a:t>Martín Redaelli</a:t>
            </a:r>
          </a:p>
        </p:txBody>
      </p:sp>
      <p:sp>
        <p:nvSpPr>
          <p:cNvPr id="3" name="text-2">
            <a:extLst xmlns:a="http://schemas.openxmlformats.org/drawingml/2006/main">
              <a:ext uri="{FF2B5EF4-FFF2-40B4-BE49-F238E27FC236}">
                <a16:creationId xmlns:a16="http://schemas.microsoft.com/office/drawing/2014/main" id="{333236C8-CE25-41C5-A793-1702BCA7A711}"/>
              </a:ext>
            </a:extLst>
          </p:cNvPr>
          <p:cNvSpPr>
            <a:spLocks xmlns:a="http://schemas.openxmlformats.org/drawingml/2006/main" noGrp="1"/>
          </p:cNvSpPr>
          <p:nvPr/>
        </p:nvSpPr>
        <p:spPr>
          <a:xfrm xmlns:a="http://schemas.openxmlformats.org/drawingml/2006/main">
            <a:off x="10953750" y="6362700"/>
            <a:ext cx="628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2636A"/>
                </a:solidFill>
                <a:latin typeface="Helvetica Neue"/>
                <a:ea typeface="Helvetica Neue"/>
                <a:cs typeface="Helvetica Neue"/>
              </a:defRPr>
            </a:pPr>
            <a:r>
              <a:rPr sz="1350" b="0">
                <a:solidFill>
                  <a:srgbClr val="52636A"/>
                </a:solidFill>
                <a:latin typeface="Helvetica Neue"/>
                <a:ea typeface="Helvetica Neue"/>
                <a:cs typeface="Helvetica Neue"/>
              </a:rPr>
              <a:t>07</a:t>
            </a:r>
          </a:p>
        </p:txBody>
      </p:sp>
      <p:sp>
        <p:nvSpPr>
          <p:cNvPr id="4" name="text-3">
            <a:extLst xmlns:a="http://schemas.openxmlformats.org/drawingml/2006/main">
              <a:ext uri="{FF2B5EF4-FFF2-40B4-BE49-F238E27FC236}">
                <a16:creationId xmlns:a16="http://schemas.microsoft.com/office/drawing/2014/main" id="{B3F9651A-8CBC-4F14-9641-73C1818F52F5}"/>
              </a:ext>
            </a:extLst>
          </p:cNvPr>
          <p:cNvSpPr>
            <a:spLocks xmlns:a="http://schemas.openxmlformats.org/drawingml/2006/main" noGrp="1"/>
          </p:cNvSpPr>
          <p:nvPr/>
        </p:nvSpPr>
        <p:spPr>
          <a:xfrm xmlns:a="http://schemas.openxmlformats.org/drawingml/2006/main">
            <a:off x="609600" y="156210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6766E"/>
                </a:solidFill>
                <a:latin typeface="Helvetica Neue"/>
                <a:ea typeface="Helvetica Neue"/>
                <a:cs typeface="Helvetica Neue"/>
              </a:defRPr>
            </a:pPr>
            <a:r>
              <a:rPr sz="3000" b="1">
                <a:solidFill>
                  <a:srgbClr val="16766E"/>
                </a:solidFill>
                <a:latin typeface="Helvetica Neue"/>
                <a:ea typeface="Helvetica Neue"/>
                <a:cs typeface="Helvetica Neue"/>
              </a:rPr>
              <a:t>b₂ = 480 + Δ</a:t>
            </a:r>
          </a:p>
        </p:txBody>
      </p:sp>
      <p:graphicFrame>
        <p:nvGraphicFramePr>
          <p:cNvPr id="13" name=""/>
          <p:cNvGraphicFramePr/>
          <p:nvPr/>
        </p:nvGraphicFramePr>
        <p:xfrm>
          <a:off xmlns:a="http://schemas.openxmlformats.org/drawingml/2006/main" x="609600" y="2400300"/>
          <a:ext xmlns:a="http://schemas.openxmlformats.org/drawingml/2006/main" cx="7286625" cy="3114675"/>
        </p:xfrm>
        <a:graphic xmlns:a="http://schemas.openxmlformats.org/drawingml/2006/main">
          <a:graphicData uri="http://schemas.openxmlformats.org/drawingml/2006/table">
            <a:tbl>
              <a:tblPr/>
              <a:tblGrid>
                <a:gridCol w="3095625"/>
                <a:gridCol w="2047875"/>
                <a:gridCol w="2143125"/>
              </a:tblGrid>
              <a:tr h="622935">
                <a:tc>
                  <a:txBody>
                    <a:bodyPr lIns="133350" tIns="114300" rIns="133350" bIns="114300">
                      <a:noAutofit/>
                    </a:bodyPr>
                    <a:lstStyle/>
                    <a:p>
                      <a:pPr algn="l"/>
                      <a:r>
                        <a:rPr sz="1875" b="1">
                          <a:solidFill>
                            <a:srgbClr val="FFFFFF"/>
                          </a:solidFill>
                          <a:latin typeface="Helvetica Neue"/>
                          <a:ea typeface="Helvetica Neue"/>
                          <a:cs typeface="Helvetica Neue"/>
                        </a:rPr>
                        <a:t>Variable básica</a:t>
                      </a:r>
                    </a:p>
                  </a:txBody>
                  <a:tcPr marL="133350" marR="133350" marT="114300" marB="114300" anchor="ctr">
                    <a:solidFill>
                      <a:srgbClr val="18313A"/>
                    </a:solidFill>
                  </a:tcPr>
                </a:tc>
                <a:tc>
                  <a:txBody>
                    <a:bodyPr lIns="133350" tIns="114300" rIns="133350" bIns="114300">
                      <a:noAutofit/>
                    </a:bodyPr>
                    <a:lstStyle/>
                    <a:p>
                      <a:pPr algn="ctr"/>
                      <a:r>
                        <a:rPr sz="1875" b="1">
                          <a:solidFill>
                            <a:srgbClr val="FFFFFF"/>
                          </a:solidFill>
                          <a:latin typeface="Helvetica Neue"/>
                          <a:ea typeface="Helvetica Neue"/>
                          <a:cs typeface="Helvetica Neue"/>
                        </a:rPr>
                        <a:t>Nuevo valor</a:t>
                      </a:r>
                    </a:p>
                  </a:txBody>
                  <a:tcPr marL="133350" marR="133350" marT="114300" marB="114300" anchor="ctr">
                    <a:solidFill>
                      <a:srgbClr val="18313A"/>
                    </a:solidFill>
                  </a:tcPr>
                </a:tc>
                <a:tc>
                  <a:txBody>
                    <a:bodyPr lIns="133350" tIns="114300" rIns="133350" bIns="114300">
                      <a:noAutofit/>
                    </a:bodyPr>
                    <a:lstStyle/>
                    <a:p>
                      <a:pPr algn="ctr"/>
                      <a:r>
                        <a:rPr sz="1875" b="1">
                          <a:solidFill>
                            <a:srgbClr val="FFFFFF"/>
                          </a:solidFill>
                          <a:latin typeface="Helvetica Neue"/>
                          <a:ea typeface="Helvetica Neue"/>
                          <a:cs typeface="Helvetica Neue"/>
                        </a:rPr>
                        <a:t>Condición</a:t>
                      </a:r>
                    </a:p>
                  </a:txBody>
                  <a:tcPr marL="133350" marR="133350" marT="114300" marB="114300" anchor="ctr">
                    <a:solidFill>
                      <a:srgbClr val="18313A"/>
                    </a:solidFill>
                  </a:tcPr>
                </a:tc>
              </a:tr>
              <a:tr h="622935">
                <a:tc>
                  <a:txBody>
                    <a:bodyPr lIns="133350" tIns="114300" rIns="133350" bIns="114300">
                      <a:noAutofit/>
                    </a:bodyPr>
                    <a:lstStyle/>
                    <a:p>
                      <a:pPr algn="l"/>
                      <a:r>
                        <a:rPr sz="1875" b="0">
                          <a:solidFill>
                            <a:srgbClr val="18313A"/>
                          </a:solidFill>
                          <a:latin typeface="Helvetica Neue"/>
                          <a:ea typeface="Helvetica Neue"/>
                          <a:cs typeface="Helvetica Neue"/>
                        </a:rPr>
                        <a:t>Tapa de cilindros</a:t>
                      </a:r>
                    </a:p>
                  </a:txBody>
                  <a:tcPr marL="133350" marR="133350" marT="114300" marB="114300" anchor="ctr">
                    <a:solidFill>
                      <a:srgbClr val="FFFFFF"/>
                    </a:solidFill>
                  </a:tcPr>
                </a:tc>
                <a:tc>
                  <a:txBody>
                    <a:bodyPr lIns="133350" tIns="114300" rIns="133350" bIns="114300">
                      <a:noAutofit/>
                    </a:bodyPr>
                    <a:lstStyle/>
                    <a:p>
                      <a:pPr algn="ctr"/>
                      <a:r>
                        <a:rPr sz="1875" b="0">
                          <a:solidFill>
                            <a:srgbClr val="18313A"/>
                          </a:solidFill>
                          <a:latin typeface="Helvetica Neue"/>
                          <a:ea typeface="Helvetica Neue"/>
                          <a:cs typeface="Helvetica Neue"/>
                        </a:rPr>
                        <a:t>80 + Δ</a:t>
                      </a:r>
                    </a:p>
                  </a:txBody>
                  <a:tcPr marL="133350" marR="133350" marT="114300" marB="114300" anchor="ctr">
                    <a:solidFill>
                      <a:srgbClr val="FFFFFF"/>
                    </a:solidFill>
                  </a:tcPr>
                </a:tc>
                <a:tc>
                  <a:txBody>
                    <a:bodyPr lIns="133350" tIns="114300" rIns="133350" bIns="114300">
                      <a:noAutofit/>
                    </a:bodyPr>
                    <a:lstStyle/>
                    <a:p>
                      <a:pPr algn="ctr"/>
                      <a:r>
                        <a:rPr sz="1875" b="0">
                          <a:solidFill>
                            <a:srgbClr val="18313A"/>
                          </a:solidFill>
                          <a:latin typeface="Helvetica Neue"/>
                          <a:ea typeface="Helvetica Neue"/>
                          <a:cs typeface="Helvetica Neue"/>
                        </a:rPr>
                        <a:t>Δ ≥ −80</a:t>
                      </a:r>
                    </a:p>
                  </a:txBody>
                  <a:tcPr marL="133350" marR="133350" marT="114300" marB="114300" anchor="ctr">
                    <a:solidFill>
                      <a:srgbClr val="FFFFFF"/>
                    </a:solidFill>
                  </a:tcPr>
                </a:tc>
              </a:tr>
              <a:tr h="622935">
                <a:tc>
                  <a:txBody>
                    <a:bodyPr lIns="133350" tIns="114300" rIns="133350" bIns="114300">
                      <a:noAutofit/>
                    </a:bodyPr>
                    <a:lstStyle/>
                    <a:p>
                      <a:pPr algn="l"/>
                      <a:r>
                        <a:rPr sz="1875" b="0">
                          <a:solidFill>
                            <a:srgbClr val="18313A"/>
                          </a:solidFill>
                          <a:latin typeface="Helvetica Neue"/>
                          <a:ea typeface="Helvetica Neue"/>
                          <a:cs typeface="Helvetica Neue"/>
                        </a:rPr>
                        <a:t>Cárter</a:t>
                      </a:r>
                    </a:p>
                  </a:txBody>
                  <a:tcPr marL="133350" marR="133350" marT="114300" marB="114300" anchor="ctr">
                    <a:solidFill>
                      <a:srgbClr val="E6EFEB"/>
                    </a:solidFill>
                  </a:tcPr>
                </a:tc>
                <a:tc>
                  <a:txBody>
                    <a:bodyPr lIns="133350" tIns="114300" rIns="133350" bIns="114300">
                      <a:noAutofit/>
                    </a:bodyPr>
                    <a:lstStyle/>
                    <a:p>
                      <a:pPr algn="ctr"/>
                      <a:r>
                        <a:rPr sz="1875" b="0">
                          <a:solidFill>
                            <a:srgbClr val="18313A"/>
                          </a:solidFill>
                          <a:latin typeface="Helvetica Neue"/>
                          <a:ea typeface="Helvetica Neue"/>
                          <a:cs typeface="Helvetica Neue"/>
                        </a:rPr>
                        <a:t>20 − Δ</a:t>
                      </a:r>
                    </a:p>
                  </a:txBody>
                  <a:tcPr marL="133350" marR="133350" marT="114300" marB="114300" anchor="ctr">
                    <a:solidFill>
                      <a:srgbClr val="E6EFEB"/>
                    </a:solidFill>
                  </a:tcPr>
                </a:tc>
                <a:tc>
                  <a:txBody>
                    <a:bodyPr lIns="133350" tIns="114300" rIns="133350" bIns="114300">
                      <a:noAutofit/>
                    </a:bodyPr>
                    <a:lstStyle/>
                    <a:p>
                      <a:pPr algn="ctr"/>
                      <a:r>
                        <a:rPr sz="1875" b="0">
                          <a:solidFill>
                            <a:srgbClr val="18313A"/>
                          </a:solidFill>
                          <a:latin typeface="Helvetica Neue"/>
                          <a:ea typeface="Helvetica Neue"/>
                          <a:cs typeface="Helvetica Neue"/>
                        </a:rPr>
                        <a:t>Δ ≤ 20</a:t>
                      </a:r>
                    </a:p>
                  </a:txBody>
                  <a:tcPr marL="133350" marR="133350" marT="114300" marB="114300" anchor="ctr">
                    <a:solidFill>
                      <a:srgbClr val="E6EFEB"/>
                    </a:solidFill>
                  </a:tcPr>
                </a:tc>
              </a:tr>
              <a:tr h="622935">
                <a:tc>
                  <a:txBody>
                    <a:bodyPr lIns="133350" tIns="114300" rIns="133350" bIns="114300">
                      <a:noAutofit/>
                    </a:bodyPr>
                    <a:lstStyle/>
                    <a:p>
                      <a:pPr algn="l"/>
                      <a:r>
                        <a:rPr sz="1875" b="0">
                          <a:solidFill>
                            <a:srgbClr val="18313A"/>
                          </a:solidFill>
                          <a:latin typeface="Helvetica Neue"/>
                          <a:ea typeface="Helvetica Neue"/>
                          <a:cs typeface="Helvetica Neue"/>
                        </a:rPr>
                        <a:t>Múltiple</a:t>
                      </a:r>
                    </a:p>
                  </a:txBody>
                  <a:tcPr marL="133350" marR="133350" marT="114300" marB="114300" anchor="ctr">
                    <a:solidFill>
                      <a:srgbClr val="FFFFFF"/>
                    </a:solidFill>
                  </a:tcPr>
                </a:tc>
                <a:tc>
                  <a:txBody>
                    <a:bodyPr lIns="133350" tIns="114300" rIns="133350" bIns="114300">
                      <a:noAutofit/>
                    </a:bodyPr>
                    <a:lstStyle/>
                    <a:p>
                      <a:pPr algn="ctr"/>
                      <a:r>
                        <a:rPr sz="1875" b="0">
                          <a:solidFill>
                            <a:srgbClr val="18313A"/>
                          </a:solidFill>
                          <a:latin typeface="Helvetica Neue"/>
                          <a:ea typeface="Helvetica Neue"/>
                          <a:cs typeface="Helvetica Neue"/>
                        </a:rPr>
                        <a:t>50</a:t>
                      </a:r>
                    </a:p>
                  </a:txBody>
                  <a:tcPr marL="133350" marR="133350" marT="114300" marB="114300" anchor="ctr">
                    <a:solidFill>
                      <a:srgbClr val="FFFFFF"/>
                    </a:solidFill>
                  </a:tcPr>
                </a:tc>
                <a:tc>
                  <a:txBody>
                    <a:bodyPr lIns="133350" tIns="114300" rIns="133350" bIns="114300">
                      <a:noAutofit/>
                    </a:bodyPr>
                    <a:lstStyle/>
                    <a:p>
                      <a:pPr algn="ctr"/>
                      <a:r>
                        <a:rPr sz="1875" b="0">
                          <a:solidFill>
                            <a:srgbClr val="18313A"/>
                          </a:solidFill>
                          <a:latin typeface="Helvetica Neue"/>
                          <a:ea typeface="Helvetica Neue"/>
                          <a:cs typeface="Helvetica Neue"/>
                        </a:rPr>
                        <a:t>Siempre ≥ 0</a:t>
                      </a:r>
                    </a:p>
                  </a:txBody>
                  <a:tcPr marL="133350" marR="133350" marT="114300" marB="114300" anchor="ctr">
                    <a:solidFill>
                      <a:srgbClr val="FFFFFF"/>
                    </a:solidFill>
                  </a:tcPr>
                </a:tc>
              </a:tr>
              <a:tr h="622935">
                <a:tc>
                  <a:txBody>
                    <a:bodyPr lIns="133350" tIns="114300" rIns="133350" bIns="114300">
                      <a:noAutofit/>
                    </a:bodyPr>
                    <a:lstStyle/>
                    <a:p>
                      <a:pPr algn="l"/>
                      <a:r>
                        <a:rPr sz="1875" b="0">
                          <a:solidFill>
                            <a:srgbClr val="18313A"/>
                          </a:solidFill>
                          <a:latin typeface="Helvetica Neue"/>
                          <a:ea typeface="Helvetica Neue"/>
                          <a:cs typeface="Helvetica Neue"/>
                        </a:rPr>
                        <a:t>Sobrante de corcho</a:t>
                      </a:r>
                    </a:p>
                  </a:txBody>
                  <a:tcPr marL="133350" marR="133350" marT="114300" marB="114300" anchor="ctr">
                    <a:solidFill>
                      <a:srgbClr val="E6EFEB"/>
                    </a:solidFill>
                  </a:tcPr>
                </a:tc>
                <a:tc>
                  <a:txBody>
                    <a:bodyPr lIns="133350" tIns="114300" rIns="133350" bIns="114300">
                      <a:noAutofit/>
                    </a:bodyPr>
                    <a:lstStyle/>
                    <a:p>
                      <a:pPr algn="ctr"/>
                      <a:r>
                        <a:rPr sz="1875" b="0">
                          <a:solidFill>
                            <a:srgbClr val="18313A"/>
                          </a:solidFill>
                          <a:latin typeface="Helvetica Neue"/>
                          <a:ea typeface="Helvetica Neue"/>
                          <a:cs typeface="Helvetica Neue"/>
                        </a:rPr>
                        <a:t>270 − Δ</a:t>
                      </a:r>
                    </a:p>
                  </a:txBody>
                  <a:tcPr marL="133350" marR="133350" marT="114300" marB="114300" anchor="ctr">
                    <a:solidFill>
                      <a:srgbClr val="E6EFEB"/>
                    </a:solidFill>
                  </a:tcPr>
                </a:tc>
                <a:tc>
                  <a:txBody>
                    <a:bodyPr lIns="133350" tIns="114300" rIns="133350" bIns="114300">
                      <a:noAutofit/>
                    </a:bodyPr>
                    <a:lstStyle/>
                    <a:p>
                      <a:pPr algn="ctr"/>
                      <a:r>
                        <a:rPr sz="1875" b="0">
                          <a:solidFill>
                            <a:srgbClr val="18313A"/>
                          </a:solidFill>
                          <a:latin typeface="Helvetica Neue"/>
                          <a:ea typeface="Helvetica Neue"/>
                          <a:cs typeface="Helvetica Neue"/>
                        </a:rPr>
                        <a:t>Δ ≤ 270</a:t>
                      </a:r>
                    </a:p>
                  </a:txBody>
                  <a:tcPr marL="133350" marR="133350" marT="114300" marB="114300" anchor="ctr">
                    <a:solidFill>
                      <a:srgbClr val="E6EFEB"/>
                    </a:solidFill>
                  </a:tcPr>
                </a:tc>
              </a:tr>
            </a:tbl>
          </a:graphicData>
        </a:graphic>
      </p:graphicFrame>
      <p:sp>
        <p:nvSpPr>
          <p:cNvPr id="6" name="text-4">
            <a:extLst xmlns:a="http://schemas.openxmlformats.org/drawingml/2006/main">
              <a:ext uri="{FF2B5EF4-FFF2-40B4-BE49-F238E27FC236}">
                <a16:creationId xmlns:a16="http://schemas.microsoft.com/office/drawing/2014/main" id="{3E884067-DA8A-4B0C-9C58-A5B6066CEF7A}"/>
              </a:ext>
            </a:extLst>
          </p:cNvPr>
          <p:cNvSpPr>
            <a:spLocks xmlns:a="http://schemas.openxmlformats.org/drawingml/2006/main" noGrp="1"/>
          </p:cNvSpPr>
          <p:nvPr/>
        </p:nvSpPr>
        <p:spPr>
          <a:xfrm xmlns:a="http://schemas.openxmlformats.org/drawingml/2006/main">
            <a:off x="8239125" y="2781300"/>
            <a:ext cx="3333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16766E"/>
                </a:solidFill>
                <a:latin typeface="Helvetica Neue"/>
                <a:ea typeface="Helvetica Neue"/>
                <a:cs typeface="Helvetica Neue"/>
              </a:defRPr>
            </a:pPr>
            <a:r>
              <a:rPr sz="3525" b="1">
                <a:solidFill>
                  <a:srgbClr val="16766E"/>
                </a:solidFill>
                <a:latin typeface="Helvetica Neue"/>
                <a:ea typeface="Helvetica Neue"/>
                <a:cs typeface="Helvetica Neue"/>
              </a:rPr>
              <a:t>400 a 500</a:t>
            </a:r>
          </a:p>
        </p:txBody>
      </p:sp>
      <p:sp>
        <p:nvSpPr>
          <p:cNvPr id="7" name="text-5">
            <a:extLst xmlns:a="http://schemas.openxmlformats.org/drawingml/2006/main">
              <a:ext uri="{FF2B5EF4-FFF2-40B4-BE49-F238E27FC236}">
                <a16:creationId xmlns:a16="http://schemas.microsoft.com/office/drawing/2014/main" id="{09AA81FB-AE8B-4F1D-A455-6ADC908FA32D}"/>
              </a:ext>
            </a:extLst>
          </p:cNvPr>
          <p:cNvSpPr>
            <a:spLocks xmlns:a="http://schemas.openxmlformats.org/drawingml/2006/main" noGrp="1"/>
          </p:cNvSpPr>
          <p:nvPr/>
        </p:nvSpPr>
        <p:spPr>
          <a:xfrm xmlns:a="http://schemas.openxmlformats.org/drawingml/2006/main">
            <a:off x="8267700" y="3609975"/>
            <a:ext cx="3257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313A"/>
                </a:solidFill>
                <a:latin typeface="Helvetica Neue"/>
                <a:ea typeface="Helvetica Neue"/>
                <a:cs typeface="Helvetica Neue"/>
              </a:defRPr>
            </a:pPr>
            <a:r>
              <a:rPr sz="2100" b="0">
                <a:solidFill>
                  <a:srgbClr val="18313A"/>
                </a:solidFill>
                <a:latin typeface="Helvetica Neue"/>
                <a:ea typeface="Helvetica Neue"/>
                <a:cs typeface="Helvetica Neue"/>
              </a:rPr>
              <a:t>horas semanales</a:t>
            </a:r>
          </a:p>
        </p:txBody>
      </p:sp>
      <p:sp>
        <p:nvSpPr>
          <p:cNvPr id="8" name="text-6">
            <a:extLst xmlns:a="http://schemas.openxmlformats.org/drawingml/2006/main">
              <a:ext uri="{FF2B5EF4-FFF2-40B4-BE49-F238E27FC236}">
                <a16:creationId xmlns:a16="http://schemas.microsoft.com/office/drawing/2014/main" id="{1D329EB3-FF2F-4BC1-ACBB-216FA9ED57B9}"/>
              </a:ext>
            </a:extLst>
          </p:cNvPr>
          <p:cNvSpPr>
            <a:spLocks xmlns:a="http://schemas.openxmlformats.org/drawingml/2006/main" noGrp="1"/>
          </p:cNvSpPr>
          <p:nvPr/>
        </p:nvSpPr>
        <p:spPr>
          <a:xfrm xmlns:a="http://schemas.openxmlformats.org/drawingml/2006/main">
            <a:off x="8258175" y="4591050"/>
            <a:ext cx="32861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8313A"/>
                </a:solidFill>
                <a:latin typeface="Helvetica Neue"/>
                <a:ea typeface="Helvetica Neue"/>
                <a:cs typeface="Helvetica Neue"/>
              </a:defRPr>
            </a:pPr>
            <a:r>
              <a:rPr sz="1950" b="0">
                <a:solidFill>
                  <a:srgbClr val="18313A"/>
                </a:solidFill>
                <a:latin typeface="Helvetica Neue"/>
                <a:ea typeface="Helvetica Neue"/>
                <a:cs typeface="Helvetica Neue"/>
              </a:rPr>
              <a:t>Misma base óptima.</a:t>
            </a:r>
          </a:p>
          <a:p xmlns:a="http://schemas.openxmlformats.org/drawingml/2006/main">
            <a:pPr algn="l">
              <a:defRPr sz="1950" b="0">
                <a:solidFill>
                  <a:srgbClr val="18313A"/>
                </a:solidFill>
                <a:latin typeface="Helvetica Neue"/>
                <a:ea typeface="Helvetica Neue"/>
                <a:cs typeface="Helvetica Neue"/>
              </a:defRPr>
            </a:pPr>
            <a:r>
              <a:rPr sz="1950" b="0">
                <a:solidFill>
                  <a:srgbClr val="18313A"/>
                </a:solidFill>
                <a:latin typeface="Helvetica Neue"/>
                <a:ea typeface="Helvetica Neue"/>
                <a:cs typeface="Helvetica Neue"/>
              </a:rPr>
              <a:t>Cambian las cantidades.</a:t>
            </a:r>
          </a:p>
        </p:txBody>
      </p:sp>
    </p:spTree>
    <p:extLst>
      <p:ext uri="{BB962C8B-B14F-4D97-AF65-F5344CB8AC3E}">
        <p14:creationId xmlns:p14="http://schemas.microsoft.com/office/powerpoint/2010/main" val="38654809"/>
      </p:ext>
    </p:extLst>
  </p:cSld>
</p:sld>
</file>

<file path=ppt/slides/slide8.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AF2AC4BD-7054-4A57-AB30-335E8186FFEC}"/>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13A"/>
                </a:solidFill>
                <a:latin typeface="Helvetica Neue"/>
                <a:ea typeface="Helvetica Neue"/>
                <a:cs typeface="Helvetica Neue"/>
              </a:defRPr>
            </a:pPr>
            <a:r>
              <a:rPr sz="3300" b="1">
                <a:solidFill>
                  <a:srgbClr val="18313A"/>
                </a:solidFill>
                <a:latin typeface="Helvetica Neue"/>
                <a:ea typeface="Helvetica Neue"/>
                <a:cs typeface="Helvetica Neue"/>
              </a:rPr>
              <a:t>Veinte horas adicionales</a:t>
            </a:r>
          </a:p>
        </p:txBody>
      </p:sp>
      <p:sp>
        <p:nvSpPr>
          <p:cNvPr id="2" name="text-1">
            <a:extLst xmlns:a="http://schemas.openxmlformats.org/drawingml/2006/main">
              <a:ext uri="{FF2B5EF4-FFF2-40B4-BE49-F238E27FC236}">
                <a16:creationId xmlns:a16="http://schemas.microsoft.com/office/drawing/2014/main" id="{A94A5DCB-8595-4A90-BACB-0C0EBC385D6A}"/>
              </a:ext>
            </a:extLst>
          </p:cNvPr>
          <p:cNvSpPr>
            <a:spLocks xmlns:a="http://schemas.openxmlformats.org/drawingml/2006/main" noGrp="1"/>
          </p:cNvSpPr>
          <p:nvPr/>
        </p:nvSpPr>
        <p:spPr>
          <a:xfrm xmlns:a="http://schemas.openxmlformats.org/drawingml/2006/main">
            <a:off x="609600" y="6372225"/>
            <a:ext cx="990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36A"/>
                </a:solidFill>
                <a:latin typeface="Helvetica Neue"/>
                <a:ea typeface="Helvetica Neue"/>
                <a:cs typeface="Helvetica Neue"/>
              </a:defRPr>
            </a:pPr>
            <a:r>
              <a:rPr sz="1350" b="0">
                <a:solidFill>
                  <a:srgbClr val="52636A"/>
                </a:solidFill>
                <a:latin typeface="Helvetica Neue"/>
                <a:ea typeface="Helvetica Neue"/>
                <a:cs typeface="Helvetica Neue"/>
              </a:rPr>
              <a:t>Martín Redaelli</a:t>
            </a:r>
          </a:p>
        </p:txBody>
      </p:sp>
      <p:sp>
        <p:nvSpPr>
          <p:cNvPr id="3" name="text-2">
            <a:extLst xmlns:a="http://schemas.openxmlformats.org/drawingml/2006/main">
              <a:ext uri="{FF2B5EF4-FFF2-40B4-BE49-F238E27FC236}">
                <a16:creationId xmlns:a16="http://schemas.microsoft.com/office/drawing/2014/main" id="{3ABADE16-FF12-4F6F-8DDC-3EF30C4C686B}"/>
              </a:ext>
            </a:extLst>
          </p:cNvPr>
          <p:cNvSpPr>
            <a:spLocks xmlns:a="http://schemas.openxmlformats.org/drawingml/2006/main" noGrp="1"/>
          </p:cNvSpPr>
          <p:nvPr/>
        </p:nvSpPr>
        <p:spPr>
          <a:xfrm xmlns:a="http://schemas.openxmlformats.org/drawingml/2006/main">
            <a:off x="10953750" y="6362700"/>
            <a:ext cx="628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2636A"/>
                </a:solidFill>
                <a:latin typeface="Helvetica Neue"/>
                <a:ea typeface="Helvetica Neue"/>
                <a:cs typeface="Helvetica Neue"/>
              </a:defRPr>
            </a:pPr>
            <a:r>
              <a:rPr sz="1350" b="0">
                <a:solidFill>
                  <a:srgbClr val="52636A"/>
                </a:solidFill>
                <a:latin typeface="Helvetica Neue"/>
                <a:ea typeface="Helvetica Neue"/>
                <a:cs typeface="Helvetica Neue"/>
              </a:rPr>
              <a:t>08</a:t>
            </a:r>
          </a:p>
        </p:txBody>
      </p:sp>
      <p:graphicFrame>
        <p:nvGraphicFramePr>
          <p:cNvPr id="10" name=""/>
          <p:cNvGraphicFramePr/>
          <p:nvPr/>
        </p:nvGraphicFramePr>
        <p:xfrm>
          <a:off xmlns:a="http://schemas.openxmlformats.org/drawingml/2006/main" x="609600" y="1704975"/>
          <a:ext xmlns:a="http://schemas.openxmlformats.org/drawingml/2006/main" cx="10972800" cy="2495550"/>
        </p:xfrm>
        <a:graphic xmlns:a="http://schemas.openxmlformats.org/drawingml/2006/main">
          <a:graphicData uri="http://schemas.openxmlformats.org/drawingml/2006/table">
            <a:tbl>
              <a:tblPr/>
              <a:tblGrid>
                <a:gridCol w="2476500"/>
                <a:gridCol w="1619250"/>
                <a:gridCol w="1619250"/>
                <a:gridCol w="1714500"/>
                <a:gridCol w="3543300"/>
              </a:tblGrid>
              <a:tr h="831850">
                <a:tc>
                  <a:txBody>
                    <a:bodyPr lIns="133350" tIns="114300" rIns="133350" bIns="114300">
                      <a:noAutofit/>
                    </a:bodyPr>
                    <a:lstStyle/>
                    <a:p>
                      <a:pPr algn="l"/>
                      <a:r>
                        <a:rPr sz="2175" b="1">
                          <a:solidFill>
                            <a:srgbClr val="FFFFFF"/>
                          </a:solidFill>
                          <a:latin typeface="Helvetica Neue"/>
                          <a:ea typeface="Helvetica Neue"/>
                          <a:cs typeface="Helvetica Neue"/>
                        </a:rPr>
                        <a:t>Escenario</a:t>
                      </a:r>
                    </a:p>
                  </a:txBody>
                  <a:tcPr marL="133350" marR="133350" marT="114300" marB="114300" anchor="ctr">
                    <a:solidFill>
                      <a:srgbClr val="18313A"/>
                    </a:solidFill>
                  </a:tcPr>
                </a:tc>
                <a:tc>
                  <a:txBody>
                    <a:bodyPr lIns="133350" tIns="114300" rIns="133350" bIns="114300">
                      <a:noAutofit/>
                    </a:bodyPr>
                    <a:lstStyle/>
                    <a:p>
                      <a:pPr algn="ctr"/>
                      <a:r>
                        <a:rPr sz="2175" b="1">
                          <a:solidFill>
                            <a:srgbClr val="FFFFFF"/>
                          </a:solidFill>
                          <a:latin typeface="Helvetica Neue"/>
                          <a:ea typeface="Helvetica Neue"/>
                          <a:cs typeface="Helvetica Neue"/>
                        </a:rPr>
                        <a:t>Tapa</a:t>
                      </a:r>
                    </a:p>
                  </a:txBody>
                  <a:tcPr marL="133350" marR="133350" marT="114300" marB="114300" anchor="ctr">
                    <a:solidFill>
                      <a:srgbClr val="18313A"/>
                    </a:solidFill>
                  </a:tcPr>
                </a:tc>
                <a:tc>
                  <a:txBody>
                    <a:bodyPr lIns="133350" tIns="114300" rIns="133350" bIns="114300">
                      <a:noAutofit/>
                    </a:bodyPr>
                    <a:lstStyle/>
                    <a:p>
                      <a:pPr algn="ctr"/>
                      <a:r>
                        <a:rPr sz="2175" b="1">
                          <a:solidFill>
                            <a:srgbClr val="FFFFFF"/>
                          </a:solidFill>
                          <a:latin typeface="Helvetica Neue"/>
                          <a:ea typeface="Helvetica Neue"/>
                          <a:cs typeface="Helvetica Neue"/>
                        </a:rPr>
                        <a:t>Cárter</a:t>
                      </a:r>
                    </a:p>
                  </a:txBody>
                  <a:tcPr marL="133350" marR="133350" marT="114300" marB="114300" anchor="ctr">
                    <a:solidFill>
                      <a:srgbClr val="18313A"/>
                    </a:solidFill>
                  </a:tcPr>
                </a:tc>
                <a:tc>
                  <a:txBody>
                    <a:bodyPr lIns="133350" tIns="114300" rIns="133350" bIns="114300">
                      <a:noAutofit/>
                    </a:bodyPr>
                    <a:lstStyle/>
                    <a:p>
                      <a:pPr algn="ctr"/>
                      <a:r>
                        <a:rPr sz="2175" b="1">
                          <a:solidFill>
                            <a:srgbClr val="FFFFFF"/>
                          </a:solidFill>
                          <a:latin typeface="Helvetica Neue"/>
                          <a:ea typeface="Helvetica Neue"/>
                          <a:cs typeface="Helvetica Neue"/>
                        </a:rPr>
                        <a:t>Múltiple</a:t>
                      </a:r>
                    </a:p>
                  </a:txBody>
                  <a:tcPr marL="133350" marR="133350" marT="114300" marB="114300" anchor="ctr">
                    <a:solidFill>
                      <a:srgbClr val="18313A"/>
                    </a:solidFill>
                  </a:tcPr>
                </a:tc>
                <a:tc>
                  <a:txBody>
                    <a:bodyPr lIns="133350" tIns="114300" rIns="133350" bIns="114300">
                      <a:noAutofit/>
                    </a:bodyPr>
                    <a:lstStyle/>
                    <a:p>
                      <a:pPr algn="ctr"/>
                      <a:r>
                        <a:rPr sz="2175" b="1">
                          <a:solidFill>
                            <a:srgbClr val="FFFFFF"/>
                          </a:solidFill>
                          <a:latin typeface="Helvetica Neue"/>
                          <a:ea typeface="Helvetica Neue"/>
                          <a:cs typeface="Helvetica Neue"/>
                        </a:rPr>
                        <a:t>Beneficio</a:t>
                      </a:r>
                    </a:p>
                  </a:txBody>
                  <a:tcPr marL="133350" marR="133350" marT="114300" marB="114300" anchor="ctr">
                    <a:solidFill>
                      <a:srgbClr val="18313A"/>
                    </a:solidFill>
                  </a:tcPr>
                </a:tc>
              </a:tr>
              <a:tr h="831850">
                <a:tc>
                  <a:txBody>
                    <a:bodyPr lIns="133350" tIns="114300" rIns="133350" bIns="114300">
                      <a:noAutofit/>
                    </a:bodyPr>
                    <a:lstStyle/>
                    <a:p>
                      <a:pPr algn="l"/>
                      <a:r>
                        <a:rPr sz="2175" b="0">
                          <a:solidFill>
                            <a:srgbClr val="18313A"/>
                          </a:solidFill>
                          <a:latin typeface="Helvetica Neue"/>
                          <a:ea typeface="Helvetica Neue"/>
                          <a:cs typeface="Helvetica Neue"/>
                        </a:rPr>
                        <a:t>480 horas</a:t>
                      </a:r>
                    </a:p>
                  </a:txBody>
                  <a:tcPr marL="133350" marR="133350" marT="114300" marB="114300" anchor="ctr">
                    <a:solidFill>
                      <a:srgbClr val="FFFFFF"/>
                    </a:solidFill>
                  </a:tcPr>
                </a:tc>
                <a:tc>
                  <a:txBody>
                    <a:bodyPr lIns="133350" tIns="114300" rIns="133350" bIns="114300">
                      <a:noAutofit/>
                    </a:bodyPr>
                    <a:lstStyle/>
                    <a:p>
                      <a:pPr algn="ctr"/>
                      <a:r>
                        <a:rPr sz="2175" b="0">
                          <a:solidFill>
                            <a:srgbClr val="18313A"/>
                          </a:solidFill>
                          <a:latin typeface="Helvetica Neue"/>
                          <a:ea typeface="Helvetica Neue"/>
                          <a:cs typeface="Helvetica Neue"/>
                        </a:rPr>
                        <a:t>80</a:t>
                      </a:r>
                    </a:p>
                  </a:txBody>
                  <a:tcPr marL="133350" marR="133350" marT="114300" marB="114300" anchor="ctr">
                    <a:solidFill>
                      <a:srgbClr val="FFFFFF"/>
                    </a:solidFill>
                  </a:tcPr>
                </a:tc>
                <a:tc>
                  <a:txBody>
                    <a:bodyPr lIns="133350" tIns="114300" rIns="133350" bIns="114300">
                      <a:noAutofit/>
                    </a:bodyPr>
                    <a:lstStyle/>
                    <a:p>
                      <a:pPr algn="ctr"/>
                      <a:r>
                        <a:rPr sz="2175" b="0">
                          <a:solidFill>
                            <a:srgbClr val="18313A"/>
                          </a:solidFill>
                          <a:latin typeface="Helvetica Neue"/>
                          <a:ea typeface="Helvetica Neue"/>
                          <a:cs typeface="Helvetica Neue"/>
                        </a:rPr>
                        <a:t>20</a:t>
                      </a:r>
                    </a:p>
                  </a:txBody>
                  <a:tcPr marL="133350" marR="133350" marT="114300" marB="114300" anchor="ctr">
                    <a:solidFill>
                      <a:srgbClr val="FFFFFF"/>
                    </a:solidFill>
                  </a:tcPr>
                </a:tc>
                <a:tc>
                  <a:txBody>
                    <a:bodyPr lIns="133350" tIns="114300" rIns="133350" bIns="114300">
                      <a:noAutofit/>
                    </a:bodyPr>
                    <a:lstStyle/>
                    <a:p>
                      <a:pPr algn="ctr"/>
                      <a:r>
                        <a:rPr sz="2175" b="0">
                          <a:solidFill>
                            <a:srgbClr val="18313A"/>
                          </a:solidFill>
                          <a:latin typeface="Helvetica Neue"/>
                          <a:ea typeface="Helvetica Neue"/>
                          <a:cs typeface="Helvetica Neue"/>
                        </a:rPr>
                        <a:t>50</a:t>
                      </a:r>
                    </a:p>
                  </a:txBody>
                  <a:tcPr marL="133350" marR="133350" marT="114300" marB="114300" anchor="ctr">
                    <a:solidFill>
                      <a:srgbClr val="FFFFFF"/>
                    </a:solidFill>
                  </a:tcPr>
                </a:tc>
                <a:tc>
                  <a:txBody>
                    <a:bodyPr lIns="133350" tIns="114300" rIns="133350" bIns="114300">
                      <a:noAutofit/>
                    </a:bodyPr>
                    <a:lstStyle/>
                    <a:p>
                      <a:pPr algn="ctr"/>
                      <a:r>
                        <a:rPr sz="2175" b="0">
                          <a:solidFill>
                            <a:srgbClr val="18313A"/>
                          </a:solidFill>
                          <a:latin typeface="Helvetica Neue"/>
                          <a:ea typeface="Helvetica Neue"/>
                          <a:cs typeface="Helvetica Neue"/>
                        </a:rPr>
                        <a:t>$6.600.000</a:t>
                      </a:r>
                    </a:p>
                  </a:txBody>
                  <a:tcPr marL="133350" marR="133350" marT="114300" marB="114300" anchor="ctr">
                    <a:solidFill>
                      <a:srgbClr val="FFFFFF"/>
                    </a:solidFill>
                  </a:tcPr>
                </a:tc>
              </a:tr>
              <a:tr h="831850">
                <a:tc>
                  <a:txBody>
                    <a:bodyPr lIns="133350" tIns="114300" rIns="133350" bIns="114300">
                      <a:noAutofit/>
                    </a:bodyPr>
                    <a:lstStyle/>
                    <a:p>
                      <a:pPr algn="l"/>
                      <a:r>
                        <a:rPr sz="2175" b="0">
                          <a:solidFill>
                            <a:srgbClr val="18313A"/>
                          </a:solidFill>
                          <a:latin typeface="Helvetica Neue"/>
                          <a:ea typeface="Helvetica Neue"/>
                          <a:cs typeface="Helvetica Neue"/>
                        </a:rPr>
                        <a:t>500 horas</a:t>
                      </a:r>
                    </a:p>
                  </a:txBody>
                  <a:tcPr marL="133350" marR="133350" marT="114300" marB="114300" anchor="ctr">
                    <a:solidFill>
                      <a:srgbClr val="E6EFEB"/>
                    </a:solidFill>
                  </a:tcPr>
                </a:tc>
                <a:tc>
                  <a:txBody>
                    <a:bodyPr lIns="133350" tIns="114300" rIns="133350" bIns="114300">
                      <a:noAutofit/>
                    </a:bodyPr>
                    <a:lstStyle/>
                    <a:p>
                      <a:pPr algn="ctr"/>
                      <a:r>
                        <a:rPr sz="2175" b="0">
                          <a:solidFill>
                            <a:srgbClr val="18313A"/>
                          </a:solidFill>
                          <a:latin typeface="Helvetica Neue"/>
                          <a:ea typeface="Helvetica Neue"/>
                          <a:cs typeface="Helvetica Neue"/>
                        </a:rPr>
                        <a:t>100</a:t>
                      </a:r>
                    </a:p>
                  </a:txBody>
                  <a:tcPr marL="133350" marR="133350" marT="114300" marB="114300" anchor="ctr">
                    <a:solidFill>
                      <a:srgbClr val="E6EFEB"/>
                    </a:solidFill>
                  </a:tcPr>
                </a:tc>
                <a:tc>
                  <a:txBody>
                    <a:bodyPr lIns="133350" tIns="114300" rIns="133350" bIns="114300">
                      <a:noAutofit/>
                    </a:bodyPr>
                    <a:lstStyle/>
                    <a:p>
                      <a:pPr algn="ctr"/>
                      <a:r>
                        <a:rPr sz="2175" b="0">
                          <a:solidFill>
                            <a:srgbClr val="18313A"/>
                          </a:solidFill>
                          <a:latin typeface="Helvetica Neue"/>
                          <a:ea typeface="Helvetica Neue"/>
                          <a:cs typeface="Helvetica Neue"/>
                        </a:rPr>
                        <a:t>0</a:t>
                      </a:r>
                    </a:p>
                  </a:txBody>
                  <a:tcPr marL="133350" marR="133350" marT="114300" marB="114300" anchor="ctr">
                    <a:solidFill>
                      <a:srgbClr val="E6EFEB"/>
                    </a:solidFill>
                  </a:tcPr>
                </a:tc>
                <a:tc>
                  <a:txBody>
                    <a:bodyPr lIns="133350" tIns="114300" rIns="133350" bIns="114300">
                      <a:noAutofit/>
                    </a:bodyPr>
                    <a:lstStyle/>
                    <a:p>
                      <a:pPr algn="ctr"/>
                      <a:r>
                        <a:rPr sz="2175" b="0">
                          <a:solidFill>
                            <a:srgbClr val="18313A"/>
                          </a:solidFill>
                          <a:latin typeface="Helvetica Neue"/>
                          <a:ea typeface="Helvetica Neue"/>
                          <a:cs typeface="Helvetica Neue"/>
                        </a:rPr>
                        <a:t>50</a:t>
                      </a:r>
                    </a:p>
                  </a:txBody>
                  <a:tcPr marL="133350" marR="133350" marT="114300" marB="114300" anchor="ctr">
                    <a:solidFill>
                      <a:srgbClr val="E6EFEB"/>
                    </a:solidFill>
                  </a:tcPr>
                </a:tc>
                <a:tc>
                  <a:txBody>
                    <a:bodyPr lIns="133350" tIns="114300" rIns="133350" bIns="114300">
                      <a:noAutofit/>
                    </a:bodyPr>
                    <a:lstStyle/>
                    <a:p>
                      <a:pPr algn="ctr"/>
                      <a:r>
                        <a:rPr sz="2175" b="0">
                          <a:solidFill>
                            <a:srgbClr val="18313A"/>
                          </a:solidFill>
                          <a:latin typeface="Helvetica Neue"/>
                          <a:ea typeface="Helvetica Neue"/>
                          <a:cs typeface="Helvetica Neue"/>
                        </a:rPr>
                        <a:t>$7.000.000</a:t>
                      </a:r>
                    </a:p>
                  </a:txBody>
                  <a:tcPr marL="133350" marR="133350" marT="114300" marB="114300" anchor="ctr">
                    <a:solidFill>
                      <a:srgbClr val="E6EFEB"/>
                    </a:solidFill>
                  </a:tcPr>
                </a:tc>
              </a:tr>
            </a:tbl>
          </a:graphicData>
        </a:graphic>
      </p:graphicFrame>
      <p:sp>
        <p:nvSpPr>
          <p:cNvPr id="5" name="text-3">
            <a:extLst xmlns:a="http://schemas.openxmlformats.org/drawingml/2006/main">
              <a:ext uri="{FF2B5EF4-FFF2-40B4-BE49-F238E27FC236}">
                <a16:creationId xmlns:a16="http://schemas.microsoft.com/office/drawing/2014/main" id="{6135A67C-DE45-4364-8B60-EC16C6C62667}"/>
              </a:ext>
            </a:extLst>
          </p:cNvPr>
          <p:cNvSpPr>
            <a:spLocks xmlns:a="http://schemas.openxmlformats.org/drawingml/2006/main" noGrp="1"/>
          </p:cNvSpPr>
          <p:nvPr/>
        </p:nvSpPr>
        <p:spPr>
          <a:xfrm xmlns:a="http://schemas.openxmlformats.org/drawingml/2006/main">
            <a:off x="609600" y="466725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6766E"/>
                </a:solidFill>
                <a:latin typeface="Helvetica Neue"/>
                <a:ea typeface="Helvetica Neue"/>
                <a:cs typeface="Helvetica Neue"/>
              </a:defRPr>
            </a:pPr>
            <a:r>
              <a:rPr sz="3000" b="1">
                <a:solidFill>
                  <a:srgbClr val="16766E"/>
                </a:solidFill>
                <a:latin typeface="Helvetica Neue"/>
                <a:ea typeface="Helvetica Neue"/>
                <a:cs typeface="Helvetica Neue"/>
              </a:rPr>
              <a:t>20 h × $20.000/h = $400.000 adicionales</a:t>
            </a:r>
          </a:p>
        </p:txBody>
      </p:sp>
      <p:sp>
        <p:nvSpPr>
          <p:cNvPr id="6" name="text-4">
            <a:extLst xmlns:a="http://schemas.openxmlformats.org/drawingml/2006/main">
              <a:ext uri="{FF2B5EF4-FFF2-40B4-BE49-F238E27FC236}">
                <a16:creationId xmlns:a16="http://schemas.microsoft.com/office/drawing/2014/main" id="{113A5F3A-36FC-4B72-95BD-3ADCAF2171E8}"/>
              </a:ext>
            </a:extLst>
          </p:cNvPr>
          <p:cNvSpPr>
            <a:spLocks xmlns:a="http://schemas.openxmlformats.org/drawingml/2006/main" noGrp="1"/>
          </p:cNvSpPr>
          <p:nvPr/>
        </p:nvSpPr>
        <p:spPr>
          <a:xfrm xmlns:a="http://schemas.openxmlformats.org/drawingml/2006/main">
            <a:off x="609600" y="5505450"/>
            <a:ext cx="10953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36A"/>
                </a:solidFill>
                <a:latin typeface="Helvetica Neue"/>
                <a:ea typeface="Helvetica Neue"/>
                <a:cs typeface="Helvetica Neue"/>
              </a:defRPr>
            </a:pPr>
            <a:r>
              <a:rPr sz="1875" b="0">
                <a:solidFill>
                  <a:srgbClr val="52636A"/>
                </a:solidFill>
                <a:latin typeface="Helvetica Neue"/>
                <a:ea typeface="Helvetica Neue"/>
                <a:cs typeface="Helvetica Neue"/>
              </a:rPr>
              <a:t>Beneficio antes de un costo adicional por contratar horas.</a:t>
            </a:r>
          </a:p>
          <a:p xmlns:a="http://schemas.openxmlformats.org/drawingml/2006/main">
            <a:pPr algn="l">
              <a:defRPr sz="1875" b="0">
                <a:solidFill>
                  <a:srgbClr val="52636A"/>
                </a:solidFill>
                <a:latin typeface="Helvetica Neue"/>
                <a:ea typeface="Helvetica Neue"/>
                <a:cs typeface="Helvetica Neue"/>
              </a:defRPr>
            </a:pPr>
            <a:r>
              <a:rPr sz="1875" b="0">
                <a:solidFill>
                  <a:srgbClr val="52636A"/>
                </a:solidFill>
                <a:latin typeface="Helvetica Neue"/>
                <a:ea typeface="Helvetica Neue"/>
                <a:cs typeface="Helvetica Neue"/>
              </a:rPr>
              <a:t>Más de 500 horas requiere un nuevo análisis.</a:t>
            </a:r>
          </a:p>
        </p:txBody>
      </p:sp>
    </p:spTree>
    <p:extLst>
      <p:ext uri="{BB962C8B-B14F-4D97-AF65-F5344CB8AC3E}">
        <p14:creationId xmlns:p14="http://schemas.microsoft.com/office/powerpoint/2010/main" val="585582239"/>
      </p:ext>
    </p:extLst>
  </p:cSld>
</p:sld>
</file>

<file path=ppt/slides/slide9.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3F806E36-58F2-45DC-8033-EF37D0ABB996}"/>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13A"/>
                </a:solidFill>
                <a:latin typeface="Helvetica Neue"/>
                <a:ea typeface="Helvetica Neue"/>
                <a:cs typeface="Helvetica Neue"/>
              </a:defRPr>
            </a:pPr>
            <a:r>
              <a:rPr sz="3300" b="1">
                <a:solidFill>
                  <a:srgbClr val="18313A"/>
                </a:solidFill>
                <a:latin typeface="Helvetica Neue"/>
                <a:ea typeface="Helvetica Neue"/>
                <a:cs typeface="Helvetica Neue"/>
              </a:rPr>
              <a:t>Evaluación de un producto nuevo</a:t>
            </a:r>
          </a:p>
        </p:txBody>
      </p:sp>
      <p:sp>
        <p:nvSpPr>
          <p:cNvPr id="2" name="text-1">
            <a:extLst xmlns:a="http://schemas.openxmlformats.org/drawingml/2006/main">
              <a:ext uri="{FF2B5EF4-FFF2-40B4-BE49-F238E27FC236}">
                <a16:creationId xmlns:a16="http://schemas.microsoft.com/office/drawing/2014/main" id="{B0DC249A-674D-4724-8811-E1E1E4D62294}"/>
              </a:ext>
            </a:extLst>
          </p:cNvPr>
          <p:cNvSpPr>
            <a:spLocks xmlns:a="http://schemas.openxmlformats.org/drawingml/2006/main" noGrp="1"/>
          </p:cNvSpPr>
          <p:nvPr/>
        </p:nvSpPr>
        <p:spPr>
          <a:xfrm xmlns:a="http://schemas.openxmlformats.org/drawingml/2006/main">
            <a:off x="609600" y="6372225"/>
            <a:ext cx="990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36A"/>
                </a:solidFill>
                <a:latin typeface="Helvetica Neue"/>
                <a:ea typeface="Helvetica Neue"/>
                <a:cs typeface="Helvetica Neue"/>
              </a:defRPr>
            </a:pPr>
            <a:r>
              <a:rPr sz="1350" b="0">
                <a:solidFill>
                  <a:srgbClr val="52636A"/>
                </a:solidFill>
                <a:latin typeface="Helvetica Neue"/>
                <a:ea typeface="Helvetica Neue"/>
                <a:cs typeface="Helvetica Neue"/>
              </a:rPr>
              <a:t>Juan Cruz Bonadeo</a:t>
            </a:r>
          </a:p>
        </p:txBody>
      </p:sp>
      <p:sp>
        <p:nvSpPr>
          <p:cNvPr id="3" name="text-2">
            <a:extLst xmlns:a="http://schemas.openxmlformats.org/drawingml/2006/main">
              <a:ext uri="{FF2B5EF4-FFF2-40B4-BE49-F238E27FC236}">
                <a16:creationId xmlns:a16="http://schemas.microsoft.com/office/drawing/2014/main" id="{3181021A-4A85-468C-B82E-42BB9134D79B}"/>
              </a:ext>
            </a:extLst>
          </p:cNvPr>
          <p:cNvSpPr>
            <a:spLocks xmlns:a="http://schemas.openxmlformats.org/drawingml/2006/main" noGrp="1"/>
          </p:cNvSpPr>
          <p:nvPr/>
        </p:nvSpPr>
        <p:spPr>
          <a:xfrm xmlns:a="http://schemas.openxmlformats.org/drawingml/2006/main">
            <a:off x="10953750" y="6362700"/>
            <a:ext cx="628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2636A"/>
                </a:solidFill>
                <a:latin typeface="Helvetica Neue"/>
                <a:ea typeface="Helvetica Neue"/>
                <a:cs typeface="Helvetica Neue"/>
              </a:defRPr>
            </a:pPr>
            <a:r>
              <a:rPr sz="1350" b="0">
                <a:solidFill>
                  <a:srgbClr val="52636A"/>
                </a:solidFill>
                <a:latin typeface="Helvetica Neue"/>
                <a:ea typeface="Helvetica Neue"/>
                <a:cs typeface="Helvetica Neue"/>
              </a:rPr>
              <a:t>09</a:t>
            </a:r>
          </a:p>
        </p:txBody>
      </p:sp>
      <p:sp>
        <p:nvSpPr>
          <p:cNvPr id="4" name="text-3">
            <a:extLst xmlns:a="http://schemas.openxmlformats.org/drawingml/2006/main">
              <a:ext uri="{FF2B5EF4-FFF2-40B4-BE49-F238E27FC236}">
                <a16:creationId xmlns:a16="http://schemas.microsoft.com/office/drawing/2014/main" id="{5AC3E61C-DAA3-44E8-9402-706399B1EE43}"/>
              </a:ext>
            </a:extLst>
          </p:cNvPr>
          <p:cNvSpPr>
            <a:spLocks xmlns:a="http://schemas.openxmlformats.org/drawingml/2006/main" noGrp="1"/>
          </p:cNvSpPr>
          <p:nvPr/>
        </p:nvSpPr>
        <p:spPr>
          <a:xfrm xmlns:a="http://schemas.openxmlformats.org/drawingml/2006/main">
            <a:off x="609600" y="151447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6766E"/>
                </a:solidFill>
                <a:latin typeface="Helvetica Neue"/>
                <a:ea typeface="Helvetica Neue"/>
                <a:cs typeface="Helvetica Neue"/>
              </a:defRPr>
            </a:pPr>
            <a:r>
              <a:rPr sz="2325" b="1">
                <a:solidFill>
                  <a:srgbClr val="16766E"/>
                </a:solidFill>
                <a:latin typeface="Helvetica Neue"/>
                <a:ea typeface="Helvetica Neue"/>
                <a:cs typeface="Helvetica Neue"/>
              </a:rPr>
              <a:t>Junta de bomba de agua</a:t>
            </a:r>
          </a:p>
        </p:txBody>
      </p:sp>
      <p:graphicFrame>
        <p:nvGraphicFramePr>
          <p:cNvPr id="15" name=""/>
          <p:cNvGraphicFramePr/>
          <p:nvPr/>
        </p:nvGraphicFramePr>
        <p:xfrm>
          <a:off xmlns:a="http://schemas.openxmlformats.org/drawingml/2006/main" x="609600" y="2238375"/>
          <a:ext xmlns:a="http://schemas.openxmlformats.org/drawingml/2006/main" cx="5657850" cy="3152775"/>
        </p:xfrm>
        <a:graphic xmlns:a="http://schemas.openxmlformats.org/drawingml/2006/main">
          <a:graphicData uri="http://schemas.openxmlformats.org/drawingml/2006/table">
            <a:tbl>
              <a:tblPr/>
              <a:tblGrid>
                <a:gridCol w="3848100"/>
                <a:gridCol w="1809750"/>
              </a:tblGrid>
              <a:tr h="630555">
                <a:tc>
                  <a:txBody>
                    <a:bodyPr lIns="133350" tIns="114300" rIns="133350" bIns="114300">
                      <a:noAutofit/>
                    </a:bodyPr>
                    <a:lstStyle/>
                    <a:p>
                      <a:pPr algn="l"/>
                      <a:r>
                        <a:rPr sz="1800" b="1">
                          <a:solidFill>
                            <a:srgbClr val="FFFFFF"/>
                          </a:solidFill>
                          <a:latin typeface="Helvetica Neue"/>
                          <a:ea typeface="Helvetica Neue"/>
                          <a:cs typeface="Helvetica Neue"/>
                        </a:rPr>
                        <a:t>Consumo o aporte por lote</a:t>
                      </a:r>
                    </a:p>
                  </a:txBody>
                  <a:tcPr marL="133350" marR="133350" marT="114300" marB="114300" anchor="ctr">
                    <a:solidFill>
                      <a:srgbClr val="18313A"/>
                    </a:solidFill>
                  </a:tcPr>
                </a:tc>
                <a:tc>
                  <a:txBody>
                    <a:bodyPr lIns="133350" tIns="114300" rIns="133350" bIns="114300">
                      <a:noAutofit/>
                    </a:bodyPr>
                    <a:lstStyle/>
                    <a:p>
                      <a:pPr algn="ctr"/>
                      <a:r>
                        <a:rPr sz="1800" b="1">
                          <a:solidFill>
                            <a:srgbClr val="FFFFFF"/>
                          </a:solidFill>
                          <a:latin typeface="Helvetica Neue"/>
                          <a:ea typeface="Helvetica Neue"/>
                          <a:cs typeface="Helvetica Neue"/>
                        </a:rPr>
                        <a:t>Cantidad</a:t>
                      </a:r>
                    </a:p>
                  </a:txBody>
                  <a:tcPr marL="133350" marR="133350" marT="114300" marB="114300" anchor="ctr">
                    <a:solidFill>
                      <a:srgbClr val="18313A"/>
                    </a:solidFill>
                  </a:tcPr>
                </a:tc>
              </a:tr>
              <a:tr h="630555">
                <a:tc>
                  <a:txBody>
                    <a:bodyPr lIns="133350" tIns="114300" rIns="133350" bIns="114300">
                      <a:noAutofit/>
                    </a:bodyPr>
                    <a:lstStyle/>
                    <a:p>
                      <a:pPr algn="l"/>
                      <a:r>
                        <a:rPr sz="1800" b="0">
                          <a:solidFill>
                            <a:srgbClr val="18313A"/>
                          </a:solidFill>
                          <a:latin typeface="Helvetica Neue"/>
                          <a:ea typeface="Helvetica Neue"/>
                          <a:cs typeface="Helvetica Neue"/>
                        </a:rPr>
                        <a:t>Corcho</a:t>
                      </a:r>
                    </a:p>
                  </a:txBody>
                  <a:tcPr marL="133350" marR="133350" marT="114300" marB="114300" anchor="ctr">
                    <a:solidFill>
                      <a:srgbClr val="FFFFFF"/>
                    </a:solidFill>
                  </a:tcPr>
                </a:tc>
                <a:tc>
                  <a:txBody>
                    <a:bodyPr lIns="133350" tIns="114300" rIns="133350" bIns="114300">
                      <a:noAutofit/>
                    </a:bodyPr>
                    <a:lstStyle/>
                    <a:p>
                      <a:pPr algn="ctr"/>
                      <a:r>
                        <a:rPr sz="1800" b="0">
                          <a:solidFill>
                            <a:srgbClr val="18313A"/>
                          </a:solidFill>
                          <a:latin typeface="Helvetica Neue"/>
                          <a:ea typeface="Helvetica Neue"/>
                          <a:cs typeface="Helvetica Neue"/>
                        </a:rPr>
                        <a:t>2 m²</a:t>
                      </a:r>
                    </a:p>
                  </a:txBody>
                  <a:tcPr marL="133350" marR="133350" marT="114300" marB="114300" anchor="ctr">
                    <a:solidFill>
                      <a:srgbClr val="FFFFFF"/>
                    </a:solidFill>
                  </a:tcPr>
                </a:tc>
              </a:tr>
              <a:tr h="630555">
                <a:tc>
                  <a:txBody>
                    <a:bodyPr lIns="133350" tIns="114300" rIns="133350" bIns="114300">
                      <a:noAutofit/>
                    </a:bodyPr>
                    <a:lstStyle/>
                    <a:p>
                      <a:pPr algn="l"/>
                      <a:r>
                        <a:rPr sz="1800" b="0">
                          <a:solidFill>
                            <a:srgbClr val="18313A"/>
                          </a:solidFill>
                          <a:latin typeface="Helvetica Neue"/>
                          <a:ea typeface="Helvetica Neue"/>
                          <a:cs typeface="Helvetica Neue"/>
                        </a:rPr>
                        <a:t>Horas de máquina</a:t>
                      </a:r>
                    </a:p>
                  </a:txBody>
                  <a:tcPr marL="133350" marR="133350" marT="114300" marB="114300" anchor="ctr">
                    <a:solidFill>
                      <a:srgbClr val="E6EFEB"/>
                    </a:solidFill>
                  </a:tcPr>
                </a:tc>
                <a:tc>
                  <a:txBody>
                    <a:bodyPr lIns="133350" tIns="114300" rIns="133350" bIns="114300">
                      <a:noAutofit/>
                    </a:bodyPr>
                    <a:lstStyle/>
                    <a:p>
                      <a:pPr algn="ctr"/>
                      <a:r>
                        <a:rPr sz="1800" b="0">
                          <a:solidFill>
                            <a:srgbClr val="18313A"/>
                          </a:solidFill>
                          <a:latin typeface="Helvetica Neue"/>
                          <a:ea typeface="Helvetica Neue"/>
                          <a:cs typeface="Helvetica Neue"/>
                        </a:rPr>
                        <a:t>3 h</a:t>
                      </a:r>
                    </a:p>
                  </a:txBody>
                  <a:tcPr marL="133350" marR="133350" marT="114300" marB="114300" anchor="ctr">
                    <a:solidFill>
                      <a:srgbClr val="E6EFEB"/>
                    </a:solidFill>
                  </a:tcPr>
                </a:tc>
              </a:tr>
              <a:tr h="630555">
                <a:tc>
                  <a:txBody>
                    <a:bodyPr lIns="133350" tIns="114300" rIns="133350" bIns="114300">
                      <a:noAutofit/>
                    </a:bodyPr>
                    <a:lstStyle/>
                    <a:p>
                      <a:pPr algn="l"/>
                      <a:r>
                        <a:rPr sz="1800" b="0">
                          <a:solidFill>
                            <a:srgbClr val="18313A"/>
                          </a:solidFill>
                          <a:latin typeface="Helvetica Neue"/>
                          <a:ea typeface="Helvetica Neue"/>
                          <a:cs typeface="Helvetica Neue"/>
                        </a:rPr>
                        <a:t>Capacidad de despacho</a:t>
                      </a:r>
                    </a:p>
                  </a:txBody>
                  <a:tcPr marL="133350" marR="133350" marT="114300" marB="114300" anchor="ctr">
                    <a:solidFill>
                      <a:srgbClr val="FFFFFF"/>
                    </a:solidFill>
                  </a:tcPr>
                </a:tc>
                <a:tc>
                  <a:txBody>
                    <a:bodyPr lIns="133350" tIns="114300" rIns="133350" bIns="114300">
                      <a:noAutofit/>
                    </a:bodyPr>
                    <a:lstStyle/>
                    <a:p>
                      <a:pPr algn="ctr"/>
                      <a:r>
                        <a:rPr sz="1800" b="0">
                          <a:solidFill>
                            <a:srgbClr val="18313A"/>
                          </a:solidFill>
                          <a:latin typeface="Helvetica Neue"/>
                          <a:ea typeface="Helvetica Neue"/>
                          <a:cs typeface="Helvetica Neue"/>
                        </a:rPr>
                        <a:t>2 unidades</a:t>
                      </a:r>
                    </a:p>
                  </a:txBody>
                  <a:tcPr marL="133350" marR="133350" marT="114300" marB="114300" anchor="ctr">
                    <a:solidFill>
                      <a:srgbClr val="FFFFFF"/>
                    </a:solidFill>
                  </a:tcPr>
                </a:tc>
              </a:tr>
              <a:tr h="630555">
                <a:tc>
                  <a:txBody>
                    <a:bodyPr lIns="133350" tIns="114300" rIns="133350" bIns="114300">
                      <a:noAutofit/>
                    </a:bodyPr>
                    <a:lstStyle/>
                    <a:p>
                      <a:pPr algn="l"/>
                      <a:r>
                        <a:rPr sz="1800" b="0">
                          <a:solidFill>
                            <a:srgbClr val="18313A"/>
                          </a:solidFill>
                          <a:latin typeface="Helvetica Neue"/>
                          <a:ea typeface="Helvetica Neue"/>
                          <a:cs typeface="Helvetica Neue"/>
                        </a:rPr>
                        <a:t>Mínimo contractual</a:t>
                      </a:r>
                    </a:p>
                  </a:txBody>
                  <a:tcPr marL="133350" marR="133350" marT="114300" marB="114300" anchor="ctr">
                    <a:solidFill>
                      <a:srgbClr val="E6EFEB"/>
                    </a:solidFill>
                  </a:tcPr>
                </a:tc>
                <a:tc>
                  <a:txBody>
                    <a:bodyPr lIns="133350" tIns="114300" rIns="133350" bIns="114300">
                      <a:noAutofit/>
                    </a:bodyPr>
                    <a:lstStyle/>
                    <a:p>
                      <a:pPr algn="ctr"/>
                      <a:r>
                        <a:rPr sz="1800" b="0">
                          <a:solidFill>
                            <a:srgbClr val="18313A"/>
                          </a:solidFill>
                          <a:latin typeface="Helvetica Neue"/>
                          <a:ea typeface="Helvetica Neue"/>
                          <a:cs typeface="Helvetica Neue"/>
                        </a:rPr>
                        <a:t>1 lote</a:t>
                      </a:r>
                    </a:p>
                  </a:txBody>
                  <a:tcPr marL="133350" marR="133350" marT="114300" marB="114300" anchor="ctr">
                    <a:solidFill>
                      <a:srgbClr val="E6EFEB"/>
                    </a:solidFill>
                  </a:tcPr>
                </a:tc>
              </a:tr>
            </a:tbl>
          </a:graphicData>
        </a:graphic>
      </p:graphicFrame>
      <p:sp>
        <p:nvSpPr>
          <p:cNvPr id="6" name="text-4">
            <a:extLst xmlns:a="http://schemas.openxmlformats.org/drawingml/2006/main">
              <a:ext uri="{FF2B5EF4-FFF2-40B4-BE49-F238E27FC236}">
                <a16:creationId xmlns:a16="http://schemas.microsoft.com/office/drawing/2014/main" id="{4CE466B5-3D25-468D-9B15-5913486BD6B1}"/>
              </a:ext>
            </a:extLst>
          </p:cNvPr>
          <p:cNvSpPr>
            <a:spLocks xmlns:a="http://schemas.openxmlformats.org/drawingml/2006/main" noGrp="1"/>
          </p:cNvSpPr>
          <p:nvPr/>
        </p:nvSpPr>
        <p:spPr>
          <a:xfrm xmlns:a="http://schemas.openxmlformats.org/drawingml/2006/main">
            <a:off x="6753225" y="2286000"/>
            <a:ext cx="4838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36A"/>
                </a:solidFill>
                <a:latin typeface="Helvetica Neue"/>
                <a:ea typeface="Helvetica Neue"/>
                <a:cs typeface="Helvetica Neue"/>
              </a:defRPr>
            </a:pPr>
            <a:r>
              <a:rPr sz="2100" b="0">
                <a:solidFill>
                  <a:srgbClr val="52636A"/>
                </a:solidFill>
                <a:latin typeface="Helvetica Neue"/>
                <a:ea typeface="Helvetica Neue"/>
                <a:cs typeface="Helvetica Neue"/>
              </a:rPr>
              <a:t>Costo de oportunidad</a:t>
            </a:r>
          </a:p>
        </p:txBody>
      </p:sp>
      <p:sp>
        <p:nvSpPr>
          <p:cNvPr id="7" name="text-5">
            <a:extLst xmlns:a="http://schemas.openxmlformats.org/drawingml/2006/main">
              <a:ext uri="{FF2B5EF4-FFF2-40B4-BE49-F238E27FC236}">
                <a16:creationId xmlns:a16="http://schemas.microsoft.com/office/drawing/2014/main" id="{8ECFC243-209E-4DDA-96AB-BA6EEF58BDE7}"/>
              </a:ext>
            </a:extLst>
          </p:cNvPr>
          <p:cNvSpPr>
            <a:spLocks xmlns:a="http://schemas.openxmlformats.org/drawingml/2006/main" noGrp="1"/>
          </p:cNvSpPr>
          <p:nvPr/>
        </p:nvSpPr>
        <p:spPr>
          <a:xfrm xmlns:a="http://schemas.openxmlformats.org/drawingml/2006/main">
            <a:off x="6753225" y="2952750"/>
            <a:ext cx="48387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8313A"/>
                </a:solidFill>
                <a:latin typeface="Helvetica Neue"/>
                <a:ea typeface="Helvetica Neue"/>
                <a:cs typeface="Helvetica Neue"/>
              </a:defRPr>
            </a:pPr>
            <a:r>
              <a:rPr sz="2175" b="0">
                <a:solidFill>
                  <a:srgbClr val="18313A"/>
                </a:solidFill>
                <a:latin typeface="Helvetica Neue"/>
                <a:ea typeface="Helvetica Neue"/>
                <a:cs typeface="Helvetica Neue"/>
              </a:rPr>
              <a:t>0×2 + 20×3 + 30×2 − 60×1</a:t>
            </a:r>
          </a:p>
          <a:p xmlns:a="http://schemas.openxmlformats.org/drawingml/2006/main">
            <a:pPr algn="l">
              <a:defRPr sz="2175" b="0">
                <a:solidFill>
                  <a:srgbClr val="18313A"/>
                </a:solidFill>
                <a:latin typeface="Helvetica Neue"/>
                <a:ea typeface="Helvetica Neue"/>
                <a:cs typeface="Helvetica Neue"/>
              </a:defRPr>
            </a:pPr>
            <a:r>
              <a:rPr sz="2175" b="0">
                <a:solidFill>
                  <a:srgbClr val="18313A"/>
                </a:solidFill>
                <a:latin typeface="Helvetica Neue"/>
                <a:ea typeface="Helvetica Neue"/>
                <a:cs typeface="Helvetica Neue"/>
              </a:rPr>
              <a:t>= 60</a:t>
            </a:r>
          </a:p>
        </p:txBody>
      </p:sp>
      <p:sp>
        <p:nvSpPr>
          <p:cNvPr id="8" name="text-6">
            <a:extLst xmlns:a="http://schemas.openxmlformats.org/drawingml/2006/main">
              <a:ext uri="{FF2B5EF4-FFF2-40B4-BE49-F238E27FC236}">
                <a16:creationId xmlns:a16="http://schemas.microsoft.com/office/drawing/2014/main" id="{676B8B41-F9EB-4E89-8A53-4D5A143B87BD}"/>
              </a:ext>
            </a:extLst>
          </p:cNvPr>
          <p:cNvSpPr>
            <a:spLocks xmlns:a="http://schemas.openxmlformats.org/drawingml/2006/main" noGrp="1"/>
          </p:cNvSpPr>
          <p:nvPr/>
        </p:nvSpPr>
        <p:spPr>
          <a:xfrm xmlns:a="http://schemas.openxmlformats.org/drawingml/2006/main">
            <a:off x="6753225" y="4248150"/>
            <a:ext cx="48387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9E4D32"/>
                </a:solidFill>
                <a:latin typeface="Helvetica Neue"/>
                <a:ea typeface="Helvetica Neue"/>
                <a:cs typeface="Helvetica Neue"/>
              </a:defRPr>
            </a:pPr>
            <a:r>
              <a:rPr sz="3225" b="1">
                <a:solidFill>
                  <a:srgbClr val="9E4D32"/>
                </a:solidFill>
                <a:latin typeface="Helvetica Neue"/>
                <a:ea typeface="Helvetica Neue"/>
                <a:cs typeface="Helvetica Neue"/>
              </a:rPr>
              <a:t>45 − 60 = −15</a:t>
            </a:r>
          </a:p>
        </p:txBody>
      </p:sp>
      <p:sp>
        <p:nvSpPr>
          <p:cNvPr id="9" name="text-7">
            <a:extLst xmlns:a="http://schemas.openxmlformats.org/drawingml/2006/main">
              <a:ext uri="{FF2B5EF4-FFF2-40B4-BE49-F238E27FC236}">
                <a16:creationId xmlns:a16="http://schemas.microsoft.com/office/drawing/2014/main" id="{88360DAD-F208-4D5E-9B9E-AECB77CD4236}"/>
              </a:ext>
            </a:extLst>
          </p:cNvPr>
          <p:cNvSpPr>
            <a:spLocks xmlns:a="http://schemas.openxmlformats.org/drawingml/2006/main" noGrp="1"/>
          </p:cNvSpPr>
          <p:nvPr/>
        </p:nvSpPr>
        <p:spPr>
          <a:xfrm xmlns:a="http://schemas.openxmlformats.org/drawingml/2006/main">
            <a:off x="6753225" y="5143500"/>
            <a:ext cx="4838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9E4D32"/>
                </a:solidFill>
                <a:latin typeface="Helvetica Neue"/>
                <a:ea typeface="Helvetica Neue"/>
                <a:cs typeface="Helvetica Neue"/>
              </a:defRPr>
            </a:pPr>
            <a:r>
              <a:rPr sz="2250" b="1">
                <a:solidFill>
                  <a:srgbClr val="9E4D32"/>
                </a:solidFill>
                <a:latin typeface="Helvetica Neue"/>
                <a:ea typeface="Helvetica Neue"/>
                <a:cs typeface="Helvetica Neue"/>
              </a:rPr>
              <a:t>No conviene incorporarlo</a:t>
            </a:r>
          </a:p>
        </p:txBody>
      </p:sp>
      <p:sp>
        <p:nvSpPr>
          <p:cNvPr id="10" name="text-8">
            <a:extLst xmlns:a="http://schemas.openxmlformats.org/drawingml/2006/main">
              <a:ext uri="{FF2B5EF4-FFF2-40B4-BE49-F238E27FC236}">
                <a16:creationId xmlns:a16="http://schemas.microsoft.com/office/drawing/2014/main" id="{7A7F753C-8557-44D8-99C6-B5BCA682D664}"/>
              </a:ext>
            </a:extLst>
          </p:cNvPr>
          <p:cNvSpPr>
            <a:spLocks xmlns:a="http://schemas.openxmlformats.org/drawingml/2006/main" noGrp="1"/>
          </p:cNvSpPr>
          <p:nvPr/>
        </p:nvSpPr>
        <p:spPr>
          <a:xfrm xmlns:a="http://schemas.openxmlformats.org/drawingml/2006/main">
            <a:off x="609600" y="5829300"/>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36A"/>
                </a:solidFill>
                <a:latin typeface="Helvetica Neue"/>
                <a:ea typeface="Helvetica Neue"/>
                <a:cs typeface="Helvetica Neue"/>
              </a:defRPr>
            </a:pPr>
            <a:r>
              <a:rPr sz="1800" b="0">
                <a:solidFill>
                  <a:srgbClr val="52636A"/>
                </a:solidFill>
                <a:latin typeface="Helvetica Neue"/>
                <a:ea typeface="Helvetica Neue"/>
                <a:cs typeface="Helvetica Neue"/>
              </a:rPr>
              <a:t>Contribución propuesta: 45 ($ miles por lote).</a:t>
            </a:r>
          </a:p>
        </p:txBody>
      </p:sp>
    </p:spTree>
    <p:extLst>
      <p:ext uri="{BB962C8B-B14F-4D97-AF65-F5344CB8AC3E}">
        <p14:creationId xmlns:p14="http://schemas.microsoft.com/office/powerpoint/2010/main" val="1375962852"/>
      </p:ext>
    </p:extLst>
  </p:cSld>
</p:sld>
</file>

<file path=ppt/slides/slide10.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1092D699-D093-4859-9FD6-CC7794ADD971}"/>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13A"/>
                </a:solidFill>
                <a:latin typeface="Helvetica Neue"/>
                <a:ea typeface="Helvetica Neue"/>
                <a:cs typeface="Helvetica Neue"/>
              </a:defRPr>
            </a:pPr>
            <a:r>
              <a:rPr sz="3300" b="1">
                <a:solidFill>
                  <a:srgbClr val="18313A"/>
                </a:solidFill>
                <a:latin typeface="Helvetica Neue"/>
                <a:ea typeface="Helvetica Neue"/>
                <a:cs typeface="Helvetica Neue"/>
              </a:rPr>
              <a:t>Pedidos especiales con el corcho sobrante</a:t>
            </a:r>
          </a:p>
        </p:txBody>
      </p:sp>
      <p:sp>
        <p:nvSpPr>
          <p:cNvPr id="2" name="text-1">
            <a:extLst xmlns:a="http://schemas.openxmlformats.org/drawingml/2006/main">
              <a:ext uri="{FF2B5EF4-FFF2-40B4-BE49-F238E27FC236}">
                <a16:creationId xmlns:a16="http://schemas.microsoft.com/office/drawing/2014/main" id="{BE9E09CF-19D2-4FBC-BB80-BBD50E358B59}"/>
              </a:ext>
            </a:extLst>
          </p:cNvPr>
          <p:cNvSpPr>
            <a:spLocks xmlns:a="http://schemas.openxmlformats.org/drawingml/2006/main" noGrp="1"/>
          </p:cNvSpPr>
          <p:nvPr/>
        </p:nvSpPr>
        <p:spPr>
          <a:xfrm xmlns:a="http://schemas.openxmlformats.org/drawingml/2006/main">
            <a:off x="609600" y="6372225"/>
            <a:ext cx="990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36A"/>
                </a:solidFill>
                <a:latin typeface="Helvetica Neue"/>
                <a:ea typeface="Helvetica Neue"/>
                <a:cs typeface="Helvetica Neue"/>
              </a:defRPr>
            </a:pPr>
            <a:r>
              <a:rPr sz="1350" b="0">
                <a:solidFill>
                  <a:srgbClr val="52636A"/>
                </a:solidFill>
                <a:latin typeface="Helvetica Neue"/>
                <a:ea typeface="Helvetica Neue"/>
                <a:cs typeface="Helvetica Neue"/>
              </a:rPr>
              <a:t>Juan Cruz Bonadeo</a:t>
            </a:r>
          </a:p>
        </p:txBody>
      </p:sp>
      <p:sp>
        <p:nvSpPr>
          <p:cNvPr id="3" name="text-2">
            <a:extLst xmlns:a="http://schemas.openxmlformats.org/drawingml/2006/main">
              <a:ext uri="{FF2B5EF4-FFF2-40B4-BE49-F238E27FC236}">
                <a16:creationId xmlns:a16="http://schemas.microsoft.com/office/drawing/2014/main" id="{3C1B2153-F84D-4553-9614-F3F18EDDEC92}"/>
              </a:ext>
            </a:extLst>
          </p:cNvPr>
          <p:cNvSpPr>
            <a:spLocks xmlns:a="http://schemas.openxmlformats.org/drawingml/2006/main" noGrp="1"/>
          </p:cNvSpPr>
          <p:nvPr/>
        </p:nvSpPr>
        <p:spPr>
          <a:xfrm xmlns:a="http://schemas.openxmlformats.org/drawingml/2006/main">
            <a:off x="10953750" y="6362700"/>
            <a:ext cx="628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2636A"/>
                </a:solidFill>
                <a:latin typeface="Helvetica Neue"/>
                <a:ea typeface="Helvetica Neue"/>
                <a:cs typeface="Helvetica Neue"/>
              </a:defRPr>
            </a:pPr>
            <a:r>
              <a:rPr sz="1350" b="0">
                <a:solidFill>
                  <a:srgbClr val="52636A"/>
                </a:solidFill>
                <a:latin typeface="Helvetica Neue"/>
                <a:ea typeface="Helvetica Neue"/>
                <a:cs typeface="Helvetica Neue"/>
              </a:rPr>
              <a:t>10</a:t>
            </a:r>
          </a:p>
        </p:txBody>
      </p:sp>
      <p:graphicFrame>
        <p:nvGraphicFramePr>
          <p:cNvPr id="14" name=""/>
          <p:cNvGraphicFramePr/>
          <p:nvPr/>
        </p:nvGraphicFramePr>
        <p:xfrm>
          <a:off xmlns:a="http://schemas.openxmlformats.org/drawingml/2006/main" x="609600" y="1590675"/>
          <a:ext xmlns:a="http://schemas.openxmlformats.org/drawingml/2006/main" cx="6477000" cy="2962275"/>
        </p:xfrm>
        <a:graphic xmlns:a="http://schemas.openxmlformats.org/drawingml/2006/main">
          <a:graphicData uri="http://schemas.openxmlformats.org/drawingml/2006/table">
            <a:tbl>
              <a:tblPr/>
              <a:tblGrid>
                <a:gridCol w="1619250"/>
                <a:gridCol w="2238375"/>
                <a:gridCol w="2619375"/>
              </a:tblGrid>
              <a:tr h="592455">
                <a:tc>
                  <a:txBody>
                    <a:bodyPr lIns="133350" tIns="114300" rIns="133350" bIns="114300">
                      <a:noAutofit/>
                    </a:bodyPr>
                    <a:lstStyle/>
                    <a:p>
                      <a:pPr algn="l"/>
                      <a:r>
                        <a:rPr sz="1950" b="1">
                          <a:solidFill>
                            <a:srgbClr val="FFFFFF"/>
                          </a:solidFill>
                          <a:latin typeface="Helvetica Neue"/>
                          <a:ea typeface="Helvetica Neue"/>
                          <a:cs typeface="Helvetica Neue"/>
                        </a:rPr>
                        <a:t>Pedido</a:t>
                      </a:r>
                    </a:p>
                  </a:txBody>
                  <a:tcPr marL="133350" marR="133350" marT="114300" marB="114300" anchor="ctr">
                    <a:solidFill>
                      <a:srgbClr val="18313A"/>
                    </a:solidFill>
                  </a:tcPr>
                </a:tc>
                <a:tc>
                  <a:txBody>
                    <a:bodyPr lIns="133350" tIns="114300" rIns="133350" bIns="114300">
                      <a:noAutofit/>
                    </a:bodyPr>
                    <a:lstStyle/>
                    <a:p>
                      <a:pPr algn="ctr"/>
                      <a:r>
                        <a:rPr sz="1950" b="1">
                          <a:solidFill>
                            <a:srgbClr val="FFFFFF"/>
                          </a:solidFill>
                          <a:latin typeface="Helvetica Neue"/>
                          <a:ea typeface="Helvetica Neue"/>
                          <a:cs typeface="Helvetica Neue"/>
                        </a:rPr>
                        <a:t>Corcho (m²)</a:t>
                      </a:r>
                    </a:p>
                  </a:txBody>
                  <a:tcPr marL="133350" marR="133350" marT="114300" marB="114300" anchor="ctr">
                    <a:solidFill>
                      <a:srgbClr val="18313A"/>
                    </a:solidFill>
                  </a:tcPr>
                </a:tc>
                <a:tc>
                  <a:txBody>
                    <a:bodyPr lIns="133350" tIns="114300" rIns="133350" bIns="114300">
                      <a:noAutofit/>
                    </a:bodyPr>
                    <a:lstStyle/>
                    <a:p>
                      <a:pPr algn="ctr"/>
                      <a:r>
                        <a:rPr sz="1950" b="1">
                          <a:solidFill>
                            <a:srgbClr val="FFFFFF"/>
                          </a:solidFill>
                          <a:latin typeface="Helvetica Neue"/>
                          <a:ea typeface="Helvetica Neue"/>
                          <a:cs typeface="Helvetica Neue"/>
                        </a:rPr>
                        <a:t>Beneficio ($ miles)</a:t>
                      </a:r>
                    </a:p>
                  </a:txBody>
                  <a:tcPr marL="133350" marR="133350" marT="114300" marB="114300" anchor="ctr">
                    <a:solidFill>
                      <a:srgbClr val="18313A"/>
                    </a:solidFill>
                  </a:tcPr>
                </a:tc>
              </a:tr>
              <a:tr h="592455">
                <a:tc>
                  <a:txBody>
                    <a:bodyPr lIns="133350" tIns="114300" rIns="133350" bIns="114300">
                      <a:noAutofit/>
                    </a:bodyPr>
                    <a:lstStyle/>
                    <a:p>
                      <a:pPr algn="l"/>
                      <a:r>
                        <a:rPr sz="1950" b="0">
                          <a:solidFill>
                            <a:srgbClr val="18313A"/>
                          </a:solidFill>
                          <a:latin typeface="Helvetica Neue"/>
                          <a:ea typeface="Helvetica Neue"/>
                          <a:cs typeface="Helvetica Neue"/>
                        </a:rPr>
                        <a:t>Y₁</a:t>
                      </a:r>
                    </a:p>
                  </a:txBody>
                  <a:tcPr marL="133350" marR="133350" marT="114300" marB="114300" anchor="ctr">
                    <a:solidFill>
                      <a:srgbClr val="FFFFFF"/>
                    </a:solidFill>
                  </a:tcPr>
                </a:tc>
                <a:tc>
                  <a:txBody>
                    <a:bodyPr lIns="133350" tIns="114300" rIns="133350" bIns="114300">
                      <a:noAutofit/>
                    </a:bodyPr>
                    <a:lstStyle/>
                    <a:p>
                      <a:pPr algn="ctr"/>
                      <a:r>
                        <a:rPr sz="1950" b="0">
                          <a:solidFill>
                            <a:srgbClr val="18313A"/>
                          </a:solidFill>
                          <a:latin typeface="Helvetica Neue"/>
                          <a:ea typeface="Helvetica Neue"/>
                          <a:cs typeface="Helvetica Neue"/>
                        </a:rPr>
                        <a:t>100</a:t>
                      </a:r>
                    </a:p>
                  </a:txBody>
                  <a:tcPr marL="133350" marR="133350" marT="114300" marB="114300" anchor="ctr">
                    <a:solidFill>
                      <a:srgbClr val="FFFFFF"/>
                    </a:solidFill>
                  </a:tcPr>
                </a:tc>
                <a:tc>
                  <a:txBody>
                    <a:bodyPr lIns="133350" tIns="114300" rIns="133350" bIns="114300">
                      <a:noAutofit/>
                    </a:bodyPr>
                    <a:lstStyle/>
                    <a:p>
                      <a:pPr algn="ctr"/>
                      <a:r>
                        <a:rPr sz="1950" b="0">
                          <a:solidFill>
                            <a:srgbClr val="18313A"/>
                          </a:solidFill>
                          <a:latin typeface="Helvetica Neue"/>
                          <a:ea typeface="Helvetica Neue"/>
                          <a:cs typeface="Helvetica Neue"/>
                        </a:rPr>
                        <a:t>140</a:t>
                      </a:r>
                    </a:p>
                  </a:txBody>
                  <a:tcPr marL="133350" marR="133350" marT="114300" marB="114300" anchor="ctr">
                    <a:solidFill>
                      <a:srgbClr val="FFFFFF"/>
                    </a:solidFill>
                  </a:tcPr>
                </a:tc>
              </a:tr>
              <a:tr h="592455">
                <a:tc>
                  <a:txBody>
                    <a:bodyPr lIns="133350" tIns="114300" rIns="133350" bIns="114300">
                      <a:noAutofit/>
                    </a:bodyPr>
                    <a:lstStyle/>
                    <a:p>
                      <a:pPr algn="l"/>
                      <a:r>
                        <a:rPr sz="1950" b="0">
                          <a:solidFill>
                            <a:srgbClr val="18313A"/>
                          </a:solidFill>
                          <a:latin typeface="Helvetica Neue"/>
                          <a:ea typeface="Helvetica Neue"/>
                          <a:cs typeface="Helvetica Neue"/>
                        </a:rPr>
                        <a:t>Y₂</a:t>
                      </a:r>
                    </a:p>
                  </a:txBody>
                  <a:tcPr marL="133350" marR="133350" marT="114300" marB="114300" anchor="ctr">
                    <a:solidFill>
                      <a:srgbClr val="E6EFEB"/>
                    </a:solidFill>
                  </a:tcPr>
                </a:tc>
                <a:tc>
                  <a:txBody>
                    <a:bodyPr lIns="133350" tIns="114300" rIns="133350" bIns="114300">
                      <a:noAutofit/>
                    </a:bodyPr>
                    <a:lstStyle/>
                    <a:p>
                      <a:pPr algn="ctr"/>
                      <a:r>
                        <a:rPr sz="1950" b="0">
                          <a:solidFill>
                            <a:srgbClr val="18313A"/>
                          </a:solidFill>
                          <a:latin typeface="Helvetica Neue"/>
                          <a:ea typeface="Helvetica Neue"/>
                          <a:cs typeface="Helvetica Neue"/>
                        </a:rPr>
                        <a:t>90</a:t>
                      </a:r>
                    </a:p>
                  </a:txBody>
                  <a:tcPr marL="133350" marR="133350" marT="114300" marB="114300" anchor="ctr">
                    <a:solidFill>
                      <a:srgbClr val="E6EFEB"/>
                    </a:solidFill>
                  </a:tcPr>
                </a:tc>
                <a:tc>
                  <a:txBody>
                    <a:bodyPr lIns="133350" tIns="114300" rIns="133350" bIns="114300">
                      <a:noAutofit/>
                    </a:bodyPr>
                    <a:lstStyle/>
                    <a:p>
                      <a:pPr algn="ctr"/>
                      <a:r>
                        <a:rPr sz="1950" b="0">
                          <a:solidFill>
                            <a:srgbClr val="18313A"/>
                          </a:solidFill>
                          <a:latin typeface="Helvetica Neue"/>
                          <a:ea typeface="Helvetica Neue"/>
                          <a:cs typeface="Helvetica Neue"/>
                        </a:rPr>
                        <a:t>117</a:t>
                      </a:r>
                    </a:p>
                  </a:txBody>
                  <a:tcPr marL="133350" marR="133350" marT="114300" marB="114300" anchor="ctr">
                    <a:solidFill>
                      <a:srgbClr val="E6EFEB"/>
                    </a:solidFill>
                  </a:tcPr>
                </a:tc>
              </a:tr>
              <a:tr h="592455">
                <a:tc>
                  <a:txBody>
                    <a:bodyPr lIns="133350" tIns="114300" rIns="133350" bIns="114300">
                      <a:noAutofit/>
                    </a:bodyPr>
                    <a:lstStyle/>
                    <a:p>
                      <a:pPr algn="l"/>
                      <a:r>
                        <a:rPr sz="1950" b="0">
                          <a:solidFill>
                            <a:srgbClr val="18313A"/>
                          </a:solidFill>
                          <a:latin typeface="Helvetica Neue"/>
                          <a:ea typeface="Helvetica Neue"/>
                          <a:cs typeface="Helvetica Neue"/>
                        </a:rPr>
                        <a:t>Y₃</a:t>
                      </a:r>
                    </a:p>
                  </a:txBody>
                  <a:tcPr marL="133350" marR="133350" marT="114300" marB="114300" anchor="ctr">
                    <a:solidFill>
                      <a:srgbClr val="FFFFFF"/>
                    </a:solidFill>
                  </a:tcPr>
                </a:tc>
                <a:tc>
                  <a:txBody>
                    <a:bodyPr lIns="133350" tIns="114300" rIns="133350" bIns="114300">
                      <a:noAutofit/>
                    </a:bodyPr>
                    <a:lstStyle/>
                    <a:p>
                      <a:pPr algn="ctr"/>
                      <a:r>
                        <a:rPr sz="1950" b="0">
                          <a:solidFill>
                            <a:srgbClr val="18313A"/>
                          </a:solidFill>
                          <a:latin typeface="Helvetica Neue"/>
                          <a:ea typeface="Helvetica Neue"/>
                          <a:cs typeface="Helvetica Neue"/>
                        </a:rPr>
                        <a:t>100</a:t>
                      </a:r>
                    </a:p>
                  </a:txBody>
                  <a:tcPr marL="133350" marR="133350" marT="114300" marB="114300" anchor="ctr">
                    <a:solidFill>
                      <a:srgbClr val="FFFFFF"/>
                    </a:solidFill>
                  </a:tcPr>
                </a:tc>
                <a:tc>
                  <a:txBody>
                    <a:bodyPr lIns="133350" tIns="114300" rIns="133350" bIns="114300">
                      <a:noAutofit/>
                    </a:bodyPr>
                    <a:lstStyle/>
                    <a:p>
                      <a:pPr algn="ctr"/>
                      <a:r>
                        <a:rPr sz="1950" b="0">
                          <a:solidFill>
                            <a:srgbClr val="18313A"/>
                          </a:solidFill>
                          <a:latin typeface="Helvetica Neue"/>
                          <a:ea typeface="Helvetica Neue"/>
                          <a:cs typeface="Helvetica Neue"/>
                        </a:rPr>
                        <a:t>115</a:t>
                      </a:r>
                    </a:p>
                  </a:txBody>
                  <a:tcPr marL="133350" marR="133350" marT="114300" marB="114300" anchor="ctr">
                    <a:solidFill>
                      <a:srgbClr val="FFFFFF"/>
                    </a:solidFill>
                  </a:tcPr>
                </a:tc>
              </a:tr>
              <a:tr h="592455">
                <a:tc>
                  <a:txBody>
                    <a:bodyPr lIns="133350" tIns="114300" rIns="133350" bIns="114300">
                      <a:noAutofit/>
                    </a:bodyPr>
                    <a:lstStyle/>
                    <a:p>
                      <a:pPr algn="l"/>
                      <a:r>
                        <a:rPr sz="1950" b="0">
                          <a:solidFill>
                            <a:srgbClr val="18313A"/>
                          </a:solidFill>
                          <a:latin typeface="Helvetica Neue"/>
                          <a:ea typeface="Helvetica Neue"/>
                          <a:cs typeface="Helvetica Neue"/>
                        </a:rPr>
                        <a:t>Y₄</a:t>
                      </a:r>
                    </a:p>
                  </a:txBody>
                  <a:tcPr marL="133350" marR="133350" marT="114300" marB="114300" anchor="ctr">
                    <a:solidFill>
                      <a:srgbClr val="E6EFEB"/>
                    </a:solidFill>
                  </a:tcPr>
                </a:tc>
                <a:tc>
                  <a:txBody>
                    <a:bodyPr lIns="133350" tIns="114300" rIns="133350" bIns="114300">
                      <a:noAutofit/>
                    </a:bodyPr>
                    <a:lstStyle/>
                    <a:p>
                      <a:pPr algn="ctr"/>
                      <a:r>
                        <a:rPr sz="1950" b="0">
                          <a:solidFill>
                            <a:srgbClr val="18313A"/>
                          </a:solidFill>
                          <a:latin typeface="Helvetica Neue"/>
                          <a:ea typeface="Helvetica Neue"/>
                          <a:cs typeface="Helvetica Neue"/>
                        </a:rPr>
                        <a:t>80</a:t>
                      </a:r>
                    </a:p>
                  </a:txBody>
                  <a:tcPr marL="133350" marR="133350" marT="114300" marB="114300" anchor="ctr">
                    <a:solidFill>
                      <a:srgbClr val="E6EFEB"/>
                    </a:solidFill>
                  </a:tcPr>
                </a:tc>
                <a:tc>
                  <a:txBody>
                    <a:bodyPr lIns="133350" tIns="114300" rIns="133350" bIns="114300">
                      <a:noAutofit/>
                    </a:bodyPr>
                    <a:lstStyle/>
                    <a:p>
                      <a:pPr algn="ctr"/>
                      <a:r>
                        <a:rPr sz="1950" b="0">
                          <a:solidFill>
                            <a:srgbClr val="18313A"/>
                          </a:solidFill>
                          <a:latin typeface="Helvetica Neue"/>
                          <a:ea typeface="Helvetica Neue"/>
                          <a:cs typeface="Helvetica Neue"/>
                        </a:rPr>
                        <a:t>88</a:t>
                      </a:r>
                    </a:p>
                  </a:txBody>
                  <a:tcPr marL="133350" marR="133350" marT="114300" marB="114300" anchor="ctr">
                    <a:solidFill>
                      <a:srgbClr val="E6EFEB"/>
                    </a:solidFill>
                  </a:tcPr>
                </a:tc>
              </a:tr>
            </a:tbl>
          </a:graphicData>
        </a:graphic>
      </p:graphicFrame>
      <p:sp>
        <p:nvSpPr>
          <p:cNvPr id="5" name="text-3">
            <a:extLst xmlns:a="http://schemas.openxmlformats.org/drawingml/2006/main">
              <a:ext uri="{FF2B5EF4-FFF2-40B4-BE49-F238E27FC236}">
                <a16:creationId xmlns:a16="http://schemas.microsoft.com/office/drawing/2014/main" id="{6612BD6A-1AC2-4578-9920-F0BF8F2BADDF}"/>
              </a:ext>
            </a:extLst>
          </p:cNvPr>
          <p:cNvSpPr>
            <a:spLocks xmlns:a="http://schemas.openxmlformats.org/drawingml/2006/main" noGrp="1"/>
          </p:cNvSpPr>
          <p:nvPr/>
        </p:nvSpPr>
        <p:spPr>
          <a:xfrm xmlns:a="http://schemas.openxmlformats.org/drawingml/2006/main">
            <a:off x="7667625" y="1704975"/>
            <a:ext cx="3905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16766E"/>
                </a:solidFill>
                <a:latin typeface="Helvetica Neue"/>
                <a:ea typeface="Helvetica Neue"/>
                <a:cs typeface="Helvetica Neue"/>
              </a:defRPr>
            </a:pPr>
            <a:r>
              <a:rPr sz="4425" b="1">
                <a:solidFill>
                  <a:srgbClr val="16766E"/>
                </a:solidFill>
                <a:latin typeface="Helvetica Neue"/>
                <a:ea typeface="Helvetica Neue"/>
                <a:cs typeface="Helvetica Neue"/>
              </a:rPr>
              <a:t>270 m²</a:t>
            </a:r>
          </a:p>
        </p:txBody>
      </p:sp>
      <p:sp>
        <p:nvSpPr>
          <p:cNvPr id="6" name="text-4">
            <a:extLst xmlns:a="http://schemas.openxmlformats.org/drawingml/2006/main">
              <a:ext uri="{FF2B5EF4-FFF2-40B4-BE49-F238E27FC236}">
                <a16:creationId xmlns:a16="http://schemas.microsoft.com/office/drawing/2014/main" id="{568B16CC-BD7D-48E0-911F-501E36874C74}"/>
              </a:ext>
            </a:extLst>
          </p:cNvPr>
          <p:cNvSpPr>
            <a:spLocks xmlns:a="http://schemas.openxmlformats.org/drawingml/2006/main" noGrp="1"/>
          </p:cNvSpPr>
          <p:nvPr/>
        </p:nvSpPr>
        <p:spPr>
          <a:xfrm xmlns:a="http://schemas.openxmlformats.org/drawingml/2006/main">
            <a:off x="7696200" y="2686050"/>
            <a:ext cx="3867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313A"/>
                </a:solidFill>
                <a:latin typeface="Helvetica Neue"/>
                <a:ea typeface="Helvetica Neue"/>
                <a:cs typeface="Helvetica Neue"/>
              </a:defRPr>
            </a:pPr>
            <a:r>
              <a:rPr sz="2025" b="0">
                <a:solidFill>
                  <a:srgbClr val="18313A"/>
                </a:solidFill>
                <a:latin typeface="Helvetica Neue"/>
                <a:ea typeface="Helvetica Neue"/>
                <a:cs typeface="Helvetica Neue"/>
              </a:rPr>
              <a:t>Capacidad disponible</a:t>
            </a:r>
          </a:p>
        </p:txBody>
      </p:sp>
      <p:sp>
        <p:nvSpPr>
          <p:cNvPr id="7" name="text-5">
            <a:extLst xmlns:a="http://schemas.openxmlformats.org/drawingml/2006/main">
              <a:ext uri="{FF2B5EF4-FFF2-40B4-BE49-F238E27FC236}">
                <a16:creationId xmlns:a16="http://schemas.microsoft.com/office/drawing/2014/main" id="{CB7BC99E-E617-4CA0-A178-791B9FEC0F9B}"/>
              </a:ext>
            </a:extLst>
          </p:cNvPr>
          <p:cNvSpPr>
            <a:spLocks xmlns:a="http://schemas.openxmlformats.org/drawingml/2006/main" noGrp="1"/>
          </p:cNvSpPr>
          <p:nvPr/>
        </p:nvSpPr>
        <p:spPr>
          <a:xfrm xmlns:a="http://schemas.openxmlformats.org/drawingml/2006/main">
            <a:off x="7667625" y="3657600"/>
            <a:ext cx="3905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13A"/>
                </a:solidFill>
                <a:latin typeface="Helvetica Neue"/>
                <a:ea typeface="Helvetica Neue"/>
                <a:cs typeface="Helvetica Neue"/>
              </a:defRPr>
            </a:pPr>
            <a:r>
              <a:rPr sz="3150" b="0">
                <a:solidFill>
                  <a:srgbClr val="18313A"/>
                </a:solidFill>
                <a:latin typeface="Helvetica Neue"/>
                <a:ea typeface="Helvetica Neue"/>
                <a:cs typeface="Helvetica Neue"/>
              </a:rPr>
              <a:t>Yⱼ ∈ {0, 1}</a:t>
            </a:r>
          </a:p>
        </p:txBody>
      </p:sp>
      <p:sp>
        <p:nvSpPr>
          <p:cNvPr id="8" name="text-6">
            <a:extLst xmlns:a="http://schemas.openxmlformats.org/drawingml/2006/main">
              <a:ext uri="{FF2B5EF4-FFF2-40B4-BE49-F238E27FC236}">
                <a16:creationId xmlns:a16="http://schemas.microsoft.com/office/drawing/2014/main" id="{54FD914B-E73A-4013-8C33-1F540708E77D}"/>
              </a:ext>
            </a:extLst>
          </p:cNvPr>
          <p:cNvSpPr>
            <a:spLocks xmlns:a="http://schemas.openxmlformats.org/drawingml/2006/main" noGrp="1"/>
          </p:cNvSpPr>
          <p:nvPr/>
        </p:nvSpPr>
        <p:spPr>
          <a:xfrm xmlns:a="http://schemas.openxmlformats.org/drawingml/2006/main">
            <a:off x="609600" y="4895850"/>
            <a:ext cx="10953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6766E"/>
                </a:solidFill>
                <a:latin typeface="Helvetica Neue"/>
                <a:ea typeface="Helvetica Neue"/>
                <a:cs typeface="Helvetica Neue"/>
              </a:defRPr>
            </a:pPr>
            <a:r>
              <a:rPr sz="2400" b="1">
                <a:solidFill>
                  <a:srgbClr val="16766E"/>
                </a:solidFill>
                <a:latin typeface="Helvetica Neue"/>
                <a:ea typeface="Helvetica Neue"/>
                <a:cs typeface="Helvetica Neue"/>
              </a:rPr>
              <a:t>Max W = 140Y₁ + 117Y₂ + 115Y₃ + 88Y₄</a:t>
            </a:r>
          </a:p>
        </p:txBody>
      </p:sp>
      <p:sp>
        <p:nvSpPr>
          <p:cNvPr id="9" name="text-7">
            <a:extLst xmlns:a="http://schemas.openxmlformats.org/drawingml/2006/main">
              <a:ext uri="{FF2B5EF4-FFF2-40B4-BE49-F238E27FC236}">
                <a16:creationId xmlns:a16="http://schemas.microsoft.com/office/drawing/2014/main" id="{655F843D-5750-4399-86F1-D4A082A6F4B7}"/>
              </a:ext>
            </a:extLst>
          </p:cNvPr>
          <p:cNvSpPr>
            <a:spLocks xmlns:a="http://schemas.openxmlformats.org/drawingml/2006/main" noGrp="1"/>
          </p:cNvSpPr>
          <p:nvPr/>
        </p:nvSpPr>
        <p:spPr>
          <a:xfrm xmlns:a="http://schemas.openxmlformats.org/drawingml/2006/main">
            <a:off x="609600" y="542925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13A"/>
                </a:solidFill>
                <a:latin typeface="Helvetica Neue"/>
                <a:ea typeface="Helvetica Neue"/>
                <a:cs typeface="Helvetica Neue"/>
              </a:defRPr>
            </a:pPr>
            <a:r>
              <a:rPr sz="2250" b="0">
                <a:solidFill>
                  <a:srgbClr val="18313A"/>
                </a:solidFill>
                <a:latin typeface="Helvetica Neue"/>
                <a:ea typeface="Helvetica Neue"/>
                <a:cs typeface="Helvetica Neue"/>
              </a:rPr>
              <a:t>100Y₁ + 90Y₂ + 100Y₃ + 80Y₄ ≤ 270</a:t>
            </a:r>
          </a:p>
        </p:txBody>
      </p:sp>
      <p:sp>
        <p:nvSpPr>
          <p:cNvPr id="10" name="text-8">
            <a:extLst xmlns:a="http://schemas.openxmlformats.org/drawingml/2006/main">
              <a:ext uri="{FF2B5EF4-FFF2-40B4-BE49-F238E27FC236}">
                <a16:creationId xmlns:a16="http://schemas.microsoft.com/office/drawing/2014/main" id="{DBD677D4-92C6-44B7-80F2-AAFCFB9B386A}"/>
              </a:ext>
            </a:extLst>
          </p:cNvPr>
          <p:cNvSpPr>
            <a:spLocks xmlns:a="http://schemas.openxmlformats.org/drawingml/2006/main" noGrp="1"/>
          </p:cNvSpPr>
          <p:nvPr/>
        </p:nvSpPr>
        <p:spPr>
          <a:xfrm xmlns:a="http://schemas.openxmlformats.org/drawingml/2006/main">
            <a:off x="609600" y="5991225"/>
            <a:ext cx="10953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2636A"/>
                </a:solidFill>
                <a:latin typeface="Helvetica Neue"/>
                <a:ea typeface="Helvetica Neue"/>
                <a:cs typeface="Helvetica Neue"/>
              </a:defRPr>
            </a:pPr>
            <a:r>
              <a:rPr sz="1500" b="0">
                <a:solidFill>
                  <a:srgbClr val="52636A"/>
                </a:solidFill>
                <a:latin typeface="Helvetica Neue"/>
                <a:ea typeface="Helvetica Neue"/>
                <a:cs typeface="Helvetica Neue"/>
              </a:rPr>
              <a:t>Submodelo limitado al corcho. Requiere capacidad independiente de máquina y despacho.</a:t>
            </a:r>
          </a:p>
        </p:txBody>
      </p:sp>
    </p:spTree>
    <p:extLst>
      <p:ext uri="{BB962C8B-B14F-4D97-AF65-F5344CB8AC3E}">
        <p14:creationId xmlns:p14="http://schemas.microsoft.com/office/powerpoint/2010/main" val="1560748379"/>
      </p:ext>
    </p:extLst>
  </p:cSld>
</p:sld>
</file>

<file path=ppt/slides/slide11.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B15EE0A3-5419-49BE-847C-58F5FFE62E11}"/>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13A"/>
                </a:solidFill>
                <a:latin typeface="Helvetica Neue"/>
                <a:ea typeface="Helvetica Neue"/>
                <a:cs typeface="Helvetica Neue"/>
              </a:defRPr>
            </a:pPr>
            <a:r>
              <a:rPr sz="3300" b="1">
                <a:solidFill>
                  <a:srgbClr val="18313A"/>
                </a:solidFill>
                <a:latin typeface="Helvetica Neue"/>
                <a:ea typeface="Helvetica Neue"/>
                <a:cs typeface="Helvetica Neue"/>
              </a:rPr>
              <a:t>Resolución por Branch and Bound</a:t>
            </a:r>
          </a:p>
        </p:txBody>
      </p:sp>
      <p:sp>
        <p:nvSpPr>
          <p:cNvPr id="2" name="text-1">
            <a:extLst xmlns:a="http://schemas.openxmlformats.org/drawingml/2006/main">
              <a:ext uri="{FF2B5EF4-FFF2-40B4-BE49-F238E27FC236}">
                <a16:creationId xmlns:a16="http://schemas.microsoft.com/office/drawing/2014/main" id="{9C12968D-6614-4B35-B821-DD1F4B62469F}"/>
              </a:ext>
            </a:extLst>
          </p:cNvPr>
          <p:cNvSpPr>
            <a:spLocks xmlns:a="http://schemas.openxmlformats.org/drawingml/2006/main" noGrp="1"/>
          </p:cNvSpPr>
          <p:nvPr/>
        </p:nvSpPr>
        <p:spPr>
          <a:xfrm xmlns:a="http://schemas.openxmlformats.org/drawingml/2006/main">
            <a:off x="609600" y="6372225"/>
            <a:ext cx="990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36A"/>
                </a:solidFill>
                <a:latin typeface="Helvetica Neue"/>
                <a:ea typeface="Helvetica Neue"/>
                <a:cs typeface="Helvetica Neue"/>
              </a:defRPr>
            </a:pPr>
            <a:r>
              <a:rPr sz="1350" b="0">
                <a:solidFill>
                  <a:srgbClr val="52636A"/>
                </a:solidFill>
                <a:latin typeface="Helvetica Neue"/>
                <a:ea typeface="Helvetica Neue"/>
                <a:cs typeface="Helvetica Neue"/>
              </a:rPr>
              <a:t>Gonzalo Casermeiro</a:t>
            </a:r>
          </a:p>
        </p:txBody>
      </p:sp>
      <p:sp>
        <p:nvSpPr>
          <p:cNvPr id="3" name="text-2">
            <a:extLst xmlns:a="http://schemas.openxmlformats.org/drawingml/2006/main">
              <a:ext uri="{FF2B5EF4-FFF2-40B4-BE49-F238E27FC236}">
                <a16:creationId xmlns:a16="http://schemas.microsoft.com/office/drawing/2014/main" id="{5DAFB32D-7991-4A2B-A4FF-90672EECC9A6}"/>
              </a:ext>
            </a:extLst>
          </p:cNvPr>
          <p:cNvSpPr>
            <a:spLocks xmlns:a="http://schemas.openxmlformats.org/drawingml/2006/main" noGrp="1"/>
          </p:cNvSpPr>
          <p:nvPr/>
        </p:nvSpPr>
        <p:spPr>
          <a:xfrm xmlns:a="http://schemas.openxmlformats.org/drawingml/2006/main">
            <a:off x="10953750" y="6362700"/>
            <a:ext cx="628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2636A"/>
                </a:solidFill>
                <a:latin typeface="Helvetica Neue"/>
                <a:ea typeface="Helvetica Neue"/>
                <a:cs typeface="Helvetica Neue"/>
              </a:defRPr>
            </a:pPr>
            <a:r>
              <a:rPr sz="1350" b="0">
                <a:solidFill>
                  <a:srgbClr val="52636A"/>
                </a:solidFill>
                <a:latin typeface="Helvetica Neue"/>
                <a:ea typeface="Helvetica Neue"/>
                <a:cs typeface="Helvetica Neue"/>
              </a:rPr>
              <a:t>11</a:t>
            </a:r>
          </a:p>
        </p:txBody>
      </p:sp>
      <p:sp>
        <p:nvSpPr>
          <p:cNvPr id="4" name="text-3">
            <a:extLst xmlns:a="http://schemas.openxmlformats.org/drawingml/2006/main">
              <a:ext uri="{FF2B5EF4-FFF2-40B4-BE49-F238E27FC236}">
                <a16:creationId xmlns:a16="http://schemas.microsoft.com/office/drawing/2014/main" id="{93678E3A-F19E-40B0-94F1-D47A548D048B}"/>
              </a:ext>
            </a:extLst>
          </p:cNvPr>
          <p:cNvSpPr>
            <a:spLocks xmlns:a="http://schemas.openxmlformats.org/drawingml/2006/main" noGrp="1"/>
          </p:cNvSpPr>
          <p:nvPr/>
        </p:nvSpPr>
        <p:spPr>
          <a:xfrm xmlns:a="http://schemas.openxmlformats.org/drawingml/2006/main">
            <a:off x="609600" y="15525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6766E"/>
                </a:solidFill>
                <a:latin typeface="Helvetica Neue"/>
                <a:ea typeface="Helvetica Neue"/>
                <a:cs typeface="Helvetica Neue"/>
              </a:defRPr>
            </a:pPr>
            <a:r>
              <a:rPr sz="2550" b="1">
                <a:solidFill>
                  <a:srgbClr val="16766E"/>
                </a:solidFill>
                <a:latin typeface="Helvetica Neue"/>
                <a:ea typeface="Helvetica Neue"/>
                <a:cs typeface="Helvetica Neue"/>
              </a:rPr>
              <a:t>Relajación: (1; 1; 0,8; 0)       Cota superior = 349</a:t>
            </a:r>
          </a:p>
        </p:txBody>
      </p:sp>
      <p:graphicFrame>
        <p:nvGraphicFramePr>
          <p:cNvPr id="11" name=""/>
          <p:cNvGraphicFramePr/>
          <p:nvPr/>
        </p:nvGraphicFramePr>
        <p:xfrm>
          <a:off xmlns:a="http://schemas.openxmlformats.org/drawingml/2006/main" x="609600" y="2362200"/>
          <a:ext xmlns:a="http://schemas.openxmlformats.org/drawingml/2006/main" cx="10972800" cy="2914650"/>
        </p:xfrm>
        <a:graphic xmlns:a="http://schemas.openxmlformats.org/drawingml/2006/main">
          <a:graphicData uri="http://schemas.openxmlformats.org/drawingml/2006/table">
            <a:tbl>
              <a:tblPr/>
              <a:tblGrid>
                <a:gridCol w="3952875"/>
                <a:gridCol w="4114800"/>
                <a:gridCol w="2905125"/>
              </a:tblGrid>
              <a:tr h="582930">
                <a:tc>
                  <a:txBody>
                    <a:bodyPr lIns="133350" tIns="114300" rIns="133350" bIns="114300">
                      <a:noAutofit/>
                    </a:bodyPr>
                    <a:lstStyle/>
                    <a:p>
                      <a:pPr algn="l"/>
                      <a:r>
                        <a:rPr sz="1800" b="1">
                          <a:solidFill>
                            <a:srgbClr val="FFFFFF"/>
                          </a:solidFill>
                          <a:latin typeface="Helvetica Neue"/>
                          <a:ea typeface="Helvetica Neue"/>
                          <a:cs typeface="Helvetica Neue"/>
                        </a:rPr>
                        <a:t>Rama</a:t>
                      </a:r>
                    </a:p>
                  </a:txBody>
                  <a:tcPr marL="133350" marR="133350" marT="114300" marB="114300" anchor="ctr">
                    <a:solidFill>
                      <a:srgbClr val="18313A"/>
                    </a:solidFill>
                  </a:tcPr>
                </a:tc>
                <a:tc>
                  <a:txBody>
                    <a:bodyPr lIns="133350" tIns="114300" rIns="133350" bIns="114300">
                      <a:noAutofit/>
                    </a:bodyPr>
                    <a:lstStyle/>
                    <a:p>
                      <a:pPr algn="ctr"/>
                      <a:r>
                        <a:rPr sz="1800" b="1">
                          <a:solidFill>
                            <a:srgbClr val="FFFFFF"/>
                          </a:solidFill>
                          <a:latin typeface="Helvetica Neue"/>
                          <a:ea typeface="Helvetica Neue"/>
                          <a:cs typeface="Helvetica Neue"/>
                        </a:rPr>
                        <a:t>Resultado o cota</a:t>
                      </a:r>
                    </a:p>
                  </a:txBody>
                  <a:tcPr marL="133350" marR="133350" marT="114300" marB="114300" anchor="ctr">
                    <a:solidFill>
                      <a:srgbClr val="18313A"/>
                    </a:solidFill>
                  </a:tcPr>
                </a:tc>
                <a:tc>
                  <a:txBody>
                    <a:bodyPr lIns="133350" tIns="114300" rIns="133350" bIns="114300">
                      <a:noAutofit/>
                    </a:bodyPr>
                    <a:lstStyle/>
                    <a:p>
                      <a:pPr algn="ctr"/>
                      <a:r>
                        <a:rPr sz="1800" b="1">
                          <a:solidFill>
                            <a:srgbClr val="FFFFFF"/>
                          </a:solidFill>
                          <a:latin typeface="Helvetica Neue"/>
                          <a:ea typeface="Helvetica Neue"/>
                          <a:cs typeface="Helvetica Neue"/>
                        </a:rPr>
                        <a:t>Decisión</a:t>
                      </a:r>
                    </a:p>
                  </a:txBody>
                  <a:tcPr marL="133350" marR="133350" marT="114300" marB="114300" anchor="ctr">
                    <a:solidFill>
                      <a:srgbClr val="18313A"/>
                    </a:solidFill>
                  </a:tcPr>
                </a:tc>
              </a:tr>
              <a:tr h="582930">
                <a:tc>
                  <a:txBody>
                    <a:bodyPr lIns="133350" tIns="114300" rIns="133350" bIns="114300">
                      <a:noAutofit/>
                    </a:bodyPr>
                    <a:lstStyle/>
                    <a:p>
                      <a:pPr algn="l"/>
                      <a:r>
                        <a:rPr sz="1800" b="0">
                          <a:solidFill>
                            <a:srgbClr val="18313A"/>
                          </a:solidFill>
                          <a:latin typeface="Helvetica Neue"/>
                          <a:ea typeface="Helvetica Neue"/>
                          <a:cs typeface="Helvetica Neue"/>
                        </a:rPr>
                        <a:t>Y₃ = 0</a:t>
                      </a:r>
                    </a:p>
                  </a:txBody>
                  <a:tcPr marL="133350" marR="133350" marT="114300" marB="114300" anchor="ctr">
                    <a:solidFill>
                      <a:srgbClr val="FFFFFF"/>
                    </a:solidFill>
                  </a:tcPr>
                </a:tc>
                <a:tc>
                  <a:txBody>
                    <a:bodyPr lIns="133350" tIns="114300" rIns="133350" bIns="114300">
                      <a:noAutofit/>
                    </a:bodyPr>
                    <a:lstStyle/>
                    <a:p>
                      <a:pPr algn="ctr"/>
                      <a:r>
                        <a:rPr sz="1800" b="0">
                          <a:solidFill>
                            <a:srgbClr val="18313A"/>
                          </a:solidFill>
                          <a:latin typeface="Helvetica Neue"/>
                          <a:ea typeface="Helvetica Neue"/>
                          <a:cs typeface="Helvetica Neue"/>
                        </a:rPr>
                        <a:t>W = 345 · (1, 1, 0, 1)</a:t>
                      </a:r>
                    </a:p>
                  </a:txBody>
                  <a:tcPr marL="133350" marR="133350" marT="114300" marB="114300" anchor="ctr">
                    <a:solidFill>
                      <a:srgbClr val="FFFFFF"/>
                    </a:solidFill>
                  </a:tcPr>
                </a:tc>
                <a:tc>
                  <a:txBody>
                    <a:bodyPr lIns="133350" tIns="114300" rIns="133350" bIns="114300">
                      <a:noAutofit/>
                    </a:bodyPr>
                    <a:lstStyle/>
                    <a:p>
                      <a:pPr algn="ctr"/>
                      <a:r>
                        <a:rPr sz="1800" b="0">
                          <a:solidFill>
                            <a:srgbClr val="18313A"/>
                          </a:solidFill>
                          <a:latin typeface="Helvetica Neue"/>
                          <a:ea typeface="Helvetica Neue"/>
                          <a:cs typeface="Helvetica Neue"/>
                        </a:rPr>
                        <a:t>Solución entera</a:t>
                      </a:r>
                    </a:p>
                  </a:txBody>
                  <a:tcPr marL="133350" marR="133350" marT="114300" marB="114300" anchor="ctr">
                    <a:solidFill>
                      <a:srgbClr val="FFFFFF"/>
                    </a:solidFill>
                  </a:tcPr>
                </a:tc>
              </a:tr>
              <a:tr h="582930">
                <a:tc>
                  <a:txBody>
                    <a:bodyPr lIns="133350" tIns="114300" rIns="133350" bIns="114300">
                      <a:noAutofit/>
                    </a:bodyPr>
                    <a:lstStyle/>
                    <a:p>
                      <a:pPr algn="l"/>
                      <a:r>
                        <a:rPr sz="1800" b="0">
                          <a:solidFill>
                            <a:srgbClr val="18313A"/>
                          </a:solidFill>
                          <a:latin typeface="Helvetica Neue"/>
                          <a:ea typeface="Helvetica Neue"/>
                          <a:cs typeface="Helvetica Neue"/>
                        </a:rPr>
                        <a:t>Y₃ = 1</a:t>
                      </a:r>
                    </a:p>
                  </a:txBody>
                  <a:tcPr marL="133350" marR="133350" marT="114300" marB="114300" anchor="ctr">
                    <a:solidFill>
                      <a:srgbClr val="E6EFEB"/>
                    </a:solidFill>
                  </a:tcPr>
                </a:tc>
                <a:tc>
                  <a:txBody>
                    <a:bodyPr lIns="133350" tIns="114300" rIns="133350" bIns="114300">
                      <a:noAutofit/>
                    </a:bodyPr>
                    <a:lstStyle/>
                    <a:p>
                      <a:pPr algn="ctr"/>
                      <a:r>
                        <a:rPr sz="1800" b="0">
                          <a:solidFill>
                            <a:srgbClr val="18313A"/>
                          </a:solidFill>
                          <a:latin typeface="Helvetica Neue"/>
                          <a:ea typeface="Helvetica Neue"/>
                          <a:cs typeface="Helvetica Neue"/>
                        </a:rPr>
                        <a:t>Cota = 346</a:t>
                      </a:r>
                    </a:p>
                  </a:txBody>
                  <a:tcPr marL="133350" marR="133350" marT="114300" marB="114300" anchor="ctr">
                    <a:solidFill>
                      <a:srgbClr val="E6EFEB"/>
                    </a:solidFill>
                  </a:tcPr>
                </a:tc>
                <a:tc>
                  <a:txBody>
                    <a:bodyPr lIns="133350" tIns="114300" rIns="133350" bIns="114300">
                      <a:noAutofit/>
                    </a:bodyPr>
                    <a:lstStyle/>
                    <a:p>
                      <a:pPr algn="ctr"/>
                      <a:r>
                        <a:rPr sz="1800" b="0">
                          <a:solidFill>
                            <a:srgbClr val="18313A"/>
                          </a:solidFill>
                          <a:latin typeface="Helvetica Neue"/>
                          <a:ea typeface="Helvetica Neue"/>
                          <a:cs typeface="Helvetica Neue"/>
                        </a:rPr>
                        <a:t>Ramificar en Y₂</a:t>
                      </a:r>
                    </a:p>
                  </a:txBody>
                  <a:tcPr marL="133350" marR="133350" marT="114300" marB="114300" anchor="ctr">
                    <a:solidFill>
                      <a:srgbClr val="E6EFEB"/>
                    </a:solidFill>
                  </a:tcPr>
                </a:tc>
              </a:tr>
              <a:tr h="582930">
                <a:tc>
                  <a:txBody>
                    <a:bodyPr lIns="133350" tIns="114300" rIns="133350" bIns="114300">
                      <a:noAutofit/>
                    </a:bodyPr>
                    <a:lstStyle/>
                    <a:p>
                      <a:pPr algn="l"/>
                      <a:r>
                        <a:rPr sz="1800" b="0">
                          <a:solidFill>
                            <a:srgbClr val="18313A"/>
                          </a:solidFill>
                          <a:latin typeface="Helvetica Neue"/>
                          <a:ea typeface="Helvetica Neue"/>
                          <a:cs typeface="Helvetica Neue"/>
                        </a:rPr>
                        <a:t>Y₃ = 1, Y₂ = 0</a:t>
                      </a:r>
                    </a:p>
                  </a:txBody>
                  <a:tcPr marL="133350" marR="133350" marT="114300" marB="114300" anchor="ctr">
                    <a:solidFill>
                      <a:srgbClr val="FFFFFF"/>
                    </a:solidFill>
                  </a:tcPr>
                </a:tc>
                <a:tc>
                  <a:txBody>
                    <a:bodyPr lIns="133350" tIns="114300" rIns="133350" bIns="114300">
                      <a:noAutofit/>
                    </a:bodyPr>
                    <a:lstStyle/>
                    <a:p>
                      <a:pPr algn="ctr"/>
                      <a:r>
                        <a:rPr sz="1800" b="0">
                          <a:solidFill>
                            <a:srgbClr val="18313A"/>
                          </a:solidFill>
                          <a:latin typeface="Helvetica Neue"/>
                          <a:ea typeface="Helvetica Neue"/>
                          <a:cs typeface="Helvetica Neue"/>
                        </a:rPr>
                        <a:t>Cota = 332 &lt; 345</a:t>
                      </a:r>
                    </a:p>
                  </a:txBody>
                  <a:tcPr marL="133350" marR="133350" marT="114300" marB="114300" anchor="ctr">
                    <a:solidFill>
                      <a:srgbClr val="FFFFFF"/>
                    </a:solidFill>
                  </a:tcPr>
                </a:tc>
                <a:tc>
                  <a:txBody>
                    <a:bodyPr lIns="133350" tIns="114300" rIns="133350" bIns="114300">
                      <a:noAutofit/>
                    </a:bodyPr>
                    <a:lstStyle/>
                    <a:p>
                      <a:pPr algn="ctr"/>
                      <a:r>
                        <a:rPr sz="1800" b="0">
                          <a:solidFill>
                            <a:srgbClr val="18313A"/>
                          </a:solidFill>
                          <a:latin typeface="Helvetica Neue"/>
                          <a:ea typeface="Helvetica Neue"/>
                          <a:cs typeface="Helvetica Neue"/>
                        </a:rPr>
                        <a:t>Podar</a:t>
                      </a:r>
                    </a:p>
                  </a:txBody>
                  <a:tcPr marL="133350" marR="133350" marT="114300" marB="114300" anchor="ctr">
                    <a:solidFill>
                      <a:srgbClr val="FFFFFF"/>
                    </a:solidFill>
                  </a:tcPr>
                </a:tc>
              </a:tr>
              <a:tr h="582930">
                <a:tc>
                  <a:txBody>
                    <a:bodyPr lIns="133350" tIns="114300" rIns="133350" bIns="114300">
                      <a:noAutofit/>
                    </a:bodyPr>
                    <a:lstStyle/>
                    <a:p>
                      <a:pPr algn="l"/>
                      <a:r>
                        <a:rPr sz="1800" b="0">
                          <a:solidFill>
                            <a:srgbClr val="18313A"/>
                          </a:solidFill>
                          <a:latin typeface="Helvetica Neue"/>
                          <a:ea typeface="Helvetica Neue"/>
                          <a:cs typeface="Helvetica Neue"/>
                        </a:rPr>
                        <a:t>Y₃ = 1, Y₂ = 1</a:t>
                      </a:r>
                    </a:p>
                  </a:txBody>
                  <a:tcPr marL="133350" marR="133350" marT="114300" marB="114300" anchor="ctr">
                    <a:solidFill>
                      <a:srgbClr val="E6EFEB"/>
                    </a:solidFill>
                  </a:tcPr>
                </a:tc>
                <a:tc>
                  <a:txBody>
                    <a:bodyPr lIns="133350" tIns="114300" rIns="133350" bIns="114300">
                      <a:noAutofit/>
                    </a:bodyPr>
                    <a:lstStyle/>
                    <a:p>
                      <a:pPr algn="ctr"/>
                      <a:r>
                        <a:rPr sz="1800" b="0">
                          <a:solidFill>
                            <a:srgbClr val="18313A"/>
                          </a:solidFill>
                          <a:latin typeface="Helvetica Neue"/>
                          <a:ea typeface="Helvetica Neue"/>
                          <a:cs typeface="Helvetica Neue"/>
                        </a:rPr>
                        <a:t>Cota = 344 &lt; 345</a:t>
                      </a:r>
                    </a:p>
                  </a:txBody>
                  <a:tcPr marL="133350" marR="133350" marT="114300" marB="114300" anchor="ctr">
                    <a:solidFill>
                      <a:srgbClr val="E6EFEB"/>
                    </a:solidFill>
                  </a:tcPr>
                </a:tc>
                <a:tc>
                  <a:txBody>
                    <a:bodyPr lIns="133350" tIns="114300" rIns="133350" bIns="114300">
                      <a:noAutofit/>
                    </a:bodyPr>
                    <a:lstStyle/>
                    <a:p>
                      <a:pPr algn="ctr"/>
                      <a:r>
                        <a:rPr sz="1800" b="0">
                          <a:solidFill>
                            <a:srgbClr val="18313A"/>
                          </a:solidFill>
                          <a:latin typeface="Helvetica Neue"/>
                          <a:ea typeface="Helvetica Neue"/>
                          <a:cs typeface="Helvetica Neue"/>
                        </a:rPr>
                        <a:t>Podar</a:t>
                      </a:r>
                    </a:p>
                  </a:txBody>
                  <a:tcPr marL="133350" marR="133350" marT="114300" marB="114300" anchor="ctr">
                    <a:solidFill>
                      <a:srgbClr val="E6EFEB"/>
                    </a:solidFill>
                  </a:tcPr>
                </a:tc>
              </a:tr>
            </a:tbl>
          </a:graphicData>
        </a:graphic>
      </p:graphicFrame>
      <p:sp>
        <p:nvSpPr>
          <p:cNvPr id="6" name="text-4">
            <a:extLst xmlns:a="http://schemas.openxmlformats.org/drawingml/2006/main">
              <a:ext uri="{FF2B5EF4-FFF2-40B4-BE49-F238E27FC236}">
                <a16:creationId xmlns:a16="http://schemas.microsoft.com/office/drawing/2014/main" id="{49150A54-842A-44FC-8BD6-FBA6B5143753}"/>
              </a:ext>
            </a:extLst>
          </p:cNvPr>
          <p:cNvSpPr>
            <a:spLocks xmlns:a="http://schemas.openxmlformats.org/drawingml/2006/main" noGrp="1"/>
          </p:cNvSpPr>
          <p:nvPr/>
        </p:nvSpPr>
        <p:spPr>
          <a:xfrm xmlns:a="http://schemas.openxmlformats.org/drawingml/2006/main">
            <a:off x="609600" y="561975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6766E"/>
                </a:solidFill>
                <a:latin typeface="Helvetica Neue"/>
                <a:ea typeface="Helvetica Neue"/>
                <a:cs typeface="Helvetica Neue"/>
              </a:defRPr>
            </a:pPr>
            <a:r>
              <a:rPr sz="2325" b="1">
                <a:solidFill>
                  <a:srgbClr val="16766E"/>
                </a:solidFill>
                <a:latin typeface="Helvetica Neue"/>
                <a:ea typeface="Helvetica Neue"/>
                <a:cs typeface="Helvetica Neue"/>
              </a:rPr>
              <a:t>Óptimo: aceptar 1, 2 y 4       Beneficio adicional: $345.000</a:t>
            </a:r>
          </a:p>
        </p:txBody>
      </p:sp>
    </p:spTree>
    <p:extLst>
      <p:ext uri="{BB962C8B-B14F-4D97-AF65-F5344CB8AC3E}">
        <p14:creationId xmlns:p14="http://schemas.microsoft.com/office/powerpoint/2010/main" val="1654035674"/>
      </p:ext>
    </p:extLst>
  </p:cSld>
</p:sld>
</file>

<file path=ppt/slides/slide12.xml><?xml version="1.0" encoding="utf-8"?>
<p:sld xmlns:p="http://schemas.openxmlformats.org/presentationml/2006/main">
  <p:cSld>
    <p:bg>
      <p:bgPr>
        <a:solidFill xmlns:a="http://schemas.openxmlformats.org/drawingml/2006/main">
          <a:srgbClr val="18313A"/>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A8796D95-0457-470A-A399-88859AF3C009}"/>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Helvetica Neue"/>
                <a:ea typeface="Helvetica Neue"/>
                <a:cs typeface="Helvetica Neue"/>
              </a:defRPr>
            </a:pPr>
            <a:r>
              <a:rPr sz="3300" b="1">
                <a:solidFill>
                  <a:srgbClr val="FFFFFF"/>
                </a:solidFill>
                <a:latin typeface="Helvetica Neue"/>
                <a:ea typeface="Helvetica Neue"/>
                <a:cs typeface="Helvetica Neue"/>
              </a:rPr>
              <a:t>Conclusiones de la etapa 2</a:t>
            </a:r>
          </a:p>
        </p:txBody>
      </p:sp>
      <p:sp>
        <p:nvSpPr>
          <p:cNvPr id="2" name="text-1">
            <a:extLst xmlns:a="http://schemas.openxmlformats.org/drawingml/2006/main">
              <a:ext uri="{FF2B5EF4-FFF2-40B4-BE49-F238E27FC236}">
                <a16:creationId xmlns:a16="http://schemas.microsoft.com/office/drawing/2014/main" id="{BF584737-DE82-426B-AB61-F5B37AFB29EA}"/>
              </a:ext>
            </a:extLst>
          </p:cNvPr>
          <p:cNvSpPr>
            <a:spLocks xmlns:a="http://schemas.openxmlformats.org/drawingml/2006/main" noGrp="1"/>
          </p:cNvSpPr>
          <p:nvPr/>
        </p:nvSpPr>
        <p:spPr>
          <a:xfrm xmlns:a="http://schemas.openxmlformats.org/drawingml/2006/main">
            <a:off x="609600" y="6372225"/>
            <a:ext cx="990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B7D0CD"/>
                </a:solidFill>
                <a:latin typeface="Helvetica Neue"/>
                <a:ea typeface="Helvetica Neue"/>
                <a:cs typeface="Helvetica Neue"/>
              </a:defRPr>
            </a:pPr>
            <a:r>
              <a:rPr sz="1350" b="0">
                <a:solidFill>
                  <a:srgbClr val="B7D0CD"/>
                </a:solidFill>
                <a:latin typeface="Helvetica Neue"/>
                <a:ea typeface="Helvetica Neue"/>
                <a:cs typeface="Helvetica Neue"/>
              </a:rPr>
              <a:t>Gonzalo Casermeiro</a:t>
            </a:r>
          </a:p>
        </p:txBody>
      </p:sp>
      <p:sp>
        <p:nvSpPr>
          <p:cNvPr id="3" name="text-2">
            <a:extLst xmlns:a="http://schemas.openxmlformats.org/drawingml/2006/main">
              <a:ext uri="{FF2B5EF4-FFF2-40B4-BE49-F238E27FC236}">
                <a16:creationId xmlns:a16="http://schemas.microsoft.com/office/drawing/2014/main" id="{14FE3085-288B-48F1-A4AE-5B6C170F86AE}"/>
              </a:ext>
            </a:extLst>
          </p:cNvPr>
          <p:cNvSpPr>
            <a:spLocks xmlns:a="http://schemas.openxmlformats.org/drawingml/2006/main" noGrp="1"/>
          </p:cNvSpPr>
          <p:nvPr/>
        </p:nvSpPr>
        <p:spPr>
          <a:xfrm xmlns:a="http://schemas.openxmlformats.org/drawingml/2006/main">
            <a:off x="10953750" y="6362700"/>
            <a:ext cx="628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B7D0CD"/>
                </a:solidFill>
                <a:latin typeface="Helvetica Neue"/>
                <a:ea typeface="Helvetica Neue"/>
                <a:cs typeface="Helvetica Neue"/>
              </a:defRPr>
            </a:pPr>
            <a:r>
              <a:rPr sz="1350" b="0">
                <a:solidFill>
                  <a:srgbClr val="B7D0CD"/>
                </a:solidFill>
                <a:latin typeface="Helvetica Neue"/>
                <a:ea typeface="Helvetica Neue"/>
                <a:cs typeface="Helvetica Neue"/>
              </a:rPr>
              <a:t>12</a:t>
            </a:r>
          </a:p>
        </p:txBody>
      </p:sp>
      <p:sp>
        <p:nvSpPr>
          <p:cNvPr id="4" name="text-3">
            <a:extLst xmlns:a="http://schemas.openxmlformats.org/drawingml/2006/main">
              <a:ext uri="{FF2B5EF4-FFF2-40B4-BE49-F238E27FC236}">
                <a16:creationId xmlns:a16="http://schemas.microsoft.com/office/drawing/2014/main" id="{E073D82B-D5CF-4A1E-9363-3D34997A83F3}"/>
              </a:ext>
            </a:extLst>
          </p:cNvPr>
          <p:cNvSpPr>
            <a:spLocks xmlns:a="http://schemas.openxmlformats.org/drawingml/2006/main" noGrp="1"/>
          </p:cNvSpPr>
          <p:nvPr/>
        </p:nvSpPr>
        <p:spPr>
          <a:xfrm xmlns:a="http://schemas.openxmlformats.org/drawingml/2006/main">
            <a:off x="609600" y="1638300"/>
            <a:ext cx="5286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9EDBD1"/>
                </a:solidFill>
                <a:latin typeface="Helvetica Neue"/>
                <a:ea typeface="Helvetica Neue"/>
                <a:cs typeface="Helvetica Neue"/>
              </a:defRPr>
            </a:pPr>
            <a:r>
              <a:rPr sz="2475" b="1">
                <a:solidFill>
                  <a:srgbClr val="9EDBD1"/>
                </a:solidFill>
                <a:latin typeface="Helvetica Neue"/>
                <a:ea typeface="Helvetica Neue"/>
                <a:cs typeface="Helvetica Neue"/>
              </a:rPr>
              <a:t>Máquina y despacho</a:t>
            </a:r>
          </a:p>
        </p:txBody>
      </p:sp>
      <p:sp>
        <p:nvSpPr>
          <p:cNvPr id="5" name="text-4">
            <a:extLst xmlns:a="http://schemas.openxmlformats.org/drawingml/2006/main">
              <a:ext uri="{FF2B5EF4-FFF2-40B4-BE49-F238E27FC236}">
                <a16:creationId xmlns:a16="http://schemas.microsoft.com/office/drawing/2014/main" id="{56B53494-743E-4358-9DFB-9C81BBCD1CF3}"/>
              </a:ext>
            </a:extLst>
          </p:cNvPr>
          <p:cNvSpPr>
            <a:spLocks xmlns:a="http://schemas.openxmlformats.org/drawingml/2006/main" noGrp="1"/>
          </p:cNvSpPr>
          <p:nvPr/>
        </p:nvSpPr>
        <p:spPr>
          <a:xfrm xmlns:a="http://schemas.openxmlformats.org/drawingml/2006/main">
            <a:off x="609600" y="221932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FFFFFF"/>
                </a:solidFill>
                <a:latin typeface="Helvetica Neue"/>
                <a:ea typeface="Helvetica Neue"/>
                <a:cs typeface="Helvetica Neue"/>
              </a:defRPr>
            </a:pPr>
            <a:r>
              <a:rPr sz="2175" b="0">
                <a:solidFill>
                  <a:srgbClr val="FFFFFF"/>
                </a:solidFill>
                <a:latin typeface="Helvetica Neue"/>
                <a:ea typeface="Helvetica Neue"/>
                <a:cs typeface="Helvetica Neue"/>
              </a:rPr>
              <a:t>Son los recursos con valor marginal positivo.</a:t>
            </a:r>
          </a:p>
        </p:txBody>
      </p:sp>
      <p:sp>
        <p:nvSpPr>
          <p:cNvPr id="6" name="text-5">
            <a:extLst xmlns:a="http://schemas.openxmlformats.org/drawingml/2006/main">
              <a:ext uri="{FF2B5EF4-FFF2-40B4-BE49-F238E27FC236}">
                <a16:creationId xmlns:a16="http://schemas.microsoft.com/office/drawing/2014/main" id="{72B8A629-A07C-4689-891B-0AB28C206809}"/>
              </a:ext>
            </a:extLst>
          </p:cNvPr>
          <p:cNvSpPr>
            <a:spLocks xmlns:a="http://schemas.openxmlformats.org/drawingml/2006/main" noGrp="1"/>
          </p:cNvSpPr>
          <p:nvPr/>
        </p:nvSpPr>
        <p:spPr>
          <a:xfrm xmlns:a="http://schemas.openxmlformats.org/drawingml/2006/main">
            <a:off x="609600" y="3009900"/>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9EDBD1"/>
                </a:solidFill>
                <a:latin typeface="Helvetica Neue"/>
                <a:ea typeface="Helvetica Neue"/>
                <a:cs typeface="Helvetica Neue"/>
              </a:defRPr>
            </a:pPr>
            <a:r>
              <a:rPr sz="2475" b="1">
                <a:solidFill>
                  <a:srgbClr val="9EDBD1"/>
                </a:solidFill>
                <a:latin typeface="Helvetica Neue"/>
                <a:ea typeface="Helvetica Neue"/>
                <a:cs typeface="Helvetica Neue"/>
              </a:rPr>
              <a:t>Rangos de sensibilidad</a:t>
            </a:r>
          </a:p>
        </p:txBody>
      </p:sp>
      <p:sp>
        <p:nvSpPr>
          <p:cNvPr id="7" name="text-6">
            <a:extLst xmlns:a="http://schemas.openxmlformats.org/drawingml/2006/main">
              <a:ext uri="{FF2B5EF4-FFF2-40B4-BE49-F238E27FC236}">
                <a16:creationId xmlns:a16="http://schemas.microsoft.com/office/drawing/2014/main" id="{EAD10CAA-E14E-406C-A22D-9AF1CF5EC5E0}"/>
              </a:ext>
            </a:extLst>
          </p:cNvPr>
          <p:cNvSpPr>
            <a:spLocks xmlns:a="http://schemas.openxmlformats.org/drawingml/2006/main" noGrp="1"/>
          </p:cNvSpPr>
          <p:nvPr/>
        </p:nvSpPr>
        <p:spPr>
          <a:xfrm xmlns:a="http://schemas.openxmlformats.org/drawingml/2006/main">
            <a:off x="609600" y="35909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FFFFFF"/>
                </a:solidFill>
                <a:latin typeface="Helvetica Neue"/>
                <a:ea typeface="Helvetica Neue"/>
                <a:cs typeface="Helvetica Neue"/>
              </a:defRPr>
            </a:pPr>
            <a:r>
              <a:rPr sz="2175" b="0">
                <a:solidFill>
                  <a:srgbClr val="FFFFFF"/>
                </a:solidFill>
                <a:latin typeface="Helvetica Neue"/>
                <a:ea typeface="Helvetica Neue"/>
                <a:cs typeface="Helvetica Neue"/>
              </a:rPr>
              <a:t>C₂ hasta $40.000 por lote. Máquina entre 400 y 500 horas.</a:t>
            </a:r>
          </a:p>
        </p:txBody>
      </p:sp>
      <p:sp>
        <p:nvSpPr>
          <p:cNvPr id="8" name="text-7">
            <a:extLst xmlns:a="http://schemas.openxmlformats.org/drawingml/2006/main">
              <a:ext uri="{FF2B5EF4-FFF2-40B4-BE49-F238E27FC236}">
                <a16:creationId xmlns:a16="http://schemas.microsoft.com/office/drawing/2014/main" id="{1077622C-D679-4F7A-8715-0F5B91E7FA90}"/>
              </a:ext>
            </a:extLst>
          </p:cNvPr>
          <p:cNvSpPr>
            <a:spLocks xmlns:a="http://schemas.openxmlformats.org/drawingml/2006/main" noGrp="1"/>
          </p:cNvSpPr>
          <p:nvPr/>
        </p:nvSpPr>
        <p:spPr>
          <a:xfrm xmlns:a="http://schemas.openxmlformats.org/drawingml/2006/main">
            <a:off x="609600" y="4619625"/>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9EDBD1"/>
                </a:solidFill>
                <a:latin typeface="Helvetica Neue"/>
                <a:ea typeface="Helvetica Neue"/>
                <a:cs typeface="Helvetica Neue"/>
              </a:defRPr>
            </a:pPr>
            <a:r>
              <a:rPr sz="2475" b="1">
                <a:solidFill>
                  <a:srgbClr val="9EDBD1"/>
                </a:solidFill>
                <a:latin typeface="Helvetica Neue"/>
                <a:ea typeface="Helvetica Neue"/>
                <a:cs typeface="Helvetica Neue"/>
              </a:rPr>
              <a:t>Nuevas oportunidades</a:t>
            </a:r>
          </a:p>
        </p:txBody>
      </p:sp>
      <p:sp>
        <p:nvSpPr>
          <p:cNvPr id="9" name="text-8">
            <a:extLst xmlns:a="http://schemas.openxmlformats.org/drawingml/2006/main">
              <a:ext uri="{FF2B5EF4-FFF2-40B4-BE49-F238E27FC236}">
                <a16:creationId xmlns:a16="http://schemas.microsoft.com/office/drawing/2014/main" id="{928F6844-5B1E-4541-8F40-4D77DAE9205A}"/>
              </a:ext>
            </a:extLst>
          </p:cNvPr>
          <p:cNvSpPr>
            <a:spLocks xmlns:a="http://schemas.openxmlformats.org/drawingml/2006/main" noGrp="1"/>
          </p:cNvSpPr>
          <p:nvPr/>
        </p:nvSpPr>
        <p:spPr>
          <a:xfrm xmlns:a="http://schemas.openxmlformats.org/drawingml/2006/main">
            <a:off x="609600" y="52006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Bomba de agua: no conviene con la ganancia propuesta.</a:t>
            </a:r>
          </a:p>
          <a:p xmlns:a="http://schemas.openxmlformats.org/drawingml/2006/main">
            <a:pPr algn="l">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Pedidos 1, 2 y 4: $345.000 adicionales bajo el submodelo.</a:t>
            </a:r>
          </a:p>
        </p:txBody>
      </p:sp>
    </p:spTree>
    <p:extLst>
      <p:ext uri="{BB962C8B-B14F-4D97-AF65-F5344CB8AC3E}">
        <p14:creationId xmlns:p14="http://schemas.microsoft.com/office/powerpoint/2010/main" val="3325054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2026-09-18T12:50:59.1740000Z</dcterms:created>
  <dcterms:modified xsi:type="dcterms:W3CDTF">2026-09-18T12:50:59.1740000Z</dcterms:modified>
</coreProperties>
</file>