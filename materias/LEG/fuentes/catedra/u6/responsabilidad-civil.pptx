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CB9F"/>
    <a:srgbClr val="67B9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090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31F-C02E-4C8C-BCF8-65068530EEFC}" type="datetimeFigureOut">
              <a:rPr lang="es-AR" smtClean="0"/>
              <a:t>14/9/2024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0F31-486A-45C7-AB10-6FBFB1F9877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1279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31F-C02E-4C8C-BCF8-65068530EEFC}" type="datetimeFigureOut">
              <a:rPr lang="es-AR" smtClean="0"/>
              <a:t>14/9/2024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0F31-486A-45C7-AB10-6FBFB1F9877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471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31F-C02E-4C8C-BCF8-65068530EEFC}" type="datetimeFigureOut">
              <a:rPr lang="es-AR" smtClean="0"/>
              <a:t>14/9/2024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0F31-486A-45C7-AB10-6FBFB1F9877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9932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31F-C02E-4C8C-BCF8-65068530EEFC}" type="datetimeFigureOut">
              <a:rPr lang="es-AR" smtClean="0"/>
              <a:t>14/9/2024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0F31-486A-45C7-AB10-6FBFB1F9877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844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31F-C02E-4C8C-BCF8-65068530EEFC}" type="datetimeFigureOut">
              <a:rPr lang="es-AR" smtClean="0"/>
              <a:t>14/9/2024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0F31-486A-45C7-AB10-6FBFB1F9877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67250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31F-C02E-4C8C-BCF8-65068530EEFC}" type="datetimeFigureOut">
              <a:rPr lang="es-AR" smtClean="0"/>
              <a:t>14/9/2024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0F31-486A-45C7-AB10-6FBFB1F9877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5710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31F-C02E-4C8C-BCF8-65068530EEFC}" type="datetimeFigureOut">
              <a:rPr lang="es-AR" smtClean="0"/>
              <a:t>14/9/2024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0F31-486A-45C7-AB10-6FBFB1F9877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86460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31F-C02E-4C8C-BCF8-65068530EEFC}" type="datetimeFigureOut">
              <a:rPr lang="es-AR" smtClean="0"/>
              <a:t>14/9/2024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0F31-486A-45C7-AB10-6FBFB1F9877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414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31F-C02E-4C8C-BCF8-65068530EEFC}" type="datetimeFigureOut">
              <a:rPr lang="es-AR" smtClean="0"/>
              <a:t>14/9/2024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0F31-486A-45C7-AB10-6FBFB1F9877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809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31F-C02E-4C8C-BCF8-65068530EEFC}" type="datetimeFigureOut">
              <a:rPr lang="es-AR" smtClean="0"/>
              <a:t>14/9/2024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0F31-486A-45C7-AB10-6FBFB1F9877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823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931F-C02E-4C8C-BCF8-65068530EEFC}" type="datetimeFigureOut">
              <a:rPr lang="es-AR" smtClean="0"/>
              <a:t>14/9/2024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0F31-486A-45C7-AB10-6FBFB1F9877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6701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3931F-C02E-4C8C-BCF8-65068530EEFC}" type="datetimeFigureOut">
              <a:rPr lang="es-AR" smtClean="0"/>
              <a:t>14/9/2024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C0F31-486A-45C7-AB10-6FBFB1F9877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503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4509120"/>
            <a:ext cx="6400800" cy="1129680"/>
          </a:xfrm>
        </p:spPr>
        <p:txBody>
          <a:bodyPr/>
          <a:lstStyle/>
          <a:p>
            <a:r>
              <a:rPr lang="es-AR" dirty="0" err="1">
                <a:solidFill>
                  <a:schemeClr val="tx1"/>
                </a:solidFill>
              </a:rPr>
              <a:t>Abog</a:t>
            </a:r>
            <a:r>
              <a:rPr lang="es-AR" dirty="0">
                <a:solidFill>
                  <a:schemeClr val="tx1"/>
                </a:solidFill>
              </a:rPr>
              <a:t>. </a:t>
            </a:r>
            <a:r>
              <a:rPr lang="es-AR" dirty="0" err="1">
                <a:solidFill>
                  <a:schemeClr val="tx1"/>
                </a:solidFill>
              </a:rPr>
              <a:t>Prof</a:t>
            </a:r>
            <a:r>
              <a:rPr lang="es-AR" dirty="0">
                <a:solidFill>
                  <a:schemeClr val="tx1"/>
                </a:solidFill>
              </a:rPr>
              <a:t>: Verónica </a:t>
            </a:r>
            <a:r>
              <a:rPr lang="es-AR" dirty="0" err="1">
                <a:solidFill>
                  <a:schemeClr val="tx1"/>
                </a:solidFill>
              </a:rPr>
              <a:t>Massachiodi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662382" y="2060848"/>
            <a:ext cx="7848872" cy="1584176"/>
          </a:xfrm>
          <a:prstGeom prst="rect">
            <a:avLst/>
          </a:prstGeom>
          <a:solidFill>
            <a:srgbClr val="8FCB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4000" b="1" dirty="0">
                <a:solidFill>
                  <a:schemeClr val="tx1"/>
                </a:solidFill>
              </a:rPr>
              <a:t>RESPONSABILIDAD CIVIL</a:t>
            </a:r>
          </a:p>
        </p:txBody>
      </p:sp>
    </p:spTree>
    <p:extLst>
      <p:ext uri="{BB962C8B-B14F-4D97-AF65-F5344CB8AC3E}">
        <p14:creationId xmlns:p14="http://schemas.microsoft.com/office/powerpoint/2010/main" val="204477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692697"/>
            <a:ext cx="7772400" cy="1368151"/>
          </a:xfrm>
        </p:spPr>
        <p:txBody>
          <a:bodyPr/>
          <a:lstStyle/>
          <a:p>
            <a:r>
              <a:rPr lang="es-AR" dirty="0"/>
              <a:t>Tipos de responsabilidad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492896"/>
            <a:ext cx="6400800" cy="3145904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s-AR" dirty="0">
                <a:solidFill>
                  <a:schemeClr val="tx1"/>
                </a:solidFill>
              </a:rPr>
              <a:t>Contractual: incumplimiento de una obligación</a:t>
            </a:r>
          </a:p>
          <a:p>
            <a:pPr algn="l"/>
            <a:endParaRPr lang="es-AR" dirty="0">
              <a:solidFill>
                <a:schemeClr val="tx1"/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s-AR" dirty="0">
                <a:solidFill>
                  <a:schemeClr val="tx1"/>
                </a:solidFill>
              </a:rPr>
              <a:t>Extracontractual: violación del deber genérico de no dañar a otro</a:t>
            </a:r>
          </a:p>
        </p:txBody>
      </p:sp>
    </p:spTree>
    <p:extLst>
      <p:ext uri="{BB962C8B-B14F-4D97-AF65-F5344CB8AC3E}">
        <p14:creationId xmlns:p14="http://schemas.microsoft.com/office/powerpoint/2010/main" val="317723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69857"/>
            <a:ext cx="7632848" cy="5724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6903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15851"/>
            <a:ext cx="7848872" cy="5886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1771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15851"/>
            <a:ext cx="8064896" cy="5940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8438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69858"/>
            <a:ext cx="7560840" cy="5670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966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839886"/>
            <a:ext cx="7056784" cy="529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1776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915816" y="908720"/>
            <a:ext cx="3096344" cy="360040"/>
          </a:xfrm>
        </p:spPr>
        <p:txBody>
          <a:bodyPr>
            <a:normAutofit fontScale="90000"/>
          </a:bodyPr>
          <a:lstStyle/>
          <a:p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708920"/>
            <a:ext cx="6400800" cy="4464496"/>
          </a:xfrm>
        </p:spPr>
        <p:txBody>
          <a:bodyPr>
            <a:normAutofit/>
          </a:bodyPr>
          <a:lstStyle/>
          <a:p>
            <a:r>
              <a:rPr lang="es-AR" sz="1800" b="1" dirty="0">
                <a:solidFill>
                  <a:schemeClr val="tx1"/>
                </a:solidFill>
              </a:rPr>
              <a:t>ACCIÓN U OMISIÓN NO JUSTIFICADA.</a:t>
            </a:r>
          </a:p>
          <a:p>
            <a:endParaRPr lang="es-AR" sz="1800" b="1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FF0000"/>
                </a:solidFill>
              </a:rPr>
              <a:t>ENCUENTRA JUSTIFICACIÓN ANTE CIERTAS SITUACIONES COMO LEGÍTIMA DEFENSA</a:t>
            </a:r>
            <a:r>
              <a:rPr lang="es-AR" sz="1900" dirty="0">
                <a:solidFill>
                  <a:srgbClr val="FF0000"/>
                </a:solidFill>
              </a:rPr>
              <a:t>:  REQUIERE 1) AGRESIÓN ILÍCITA ACTUAL O INMINENTE; 2)  AUSENCIA DE PROVOCACIÓN POR QUIEN SE DEFIENDE 3) EMPLEO DE UN MEDIO PROPORCIONADO PARA REPELER LA AGRESIÓN EN RELACIÓN CON EL USADO POR EL AGRESOR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902" y="548680"/>
            <a:ext cx="4464496" cy="1186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0175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655" y="404664"/>
            <a:ext cx="4408487" cy="8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611560" y="1052736"/>
            <a:ext cx="787266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/>
              <a:t>1</a:t>
            </a:r>
            <a:r>
              <a:rPr lang="es-AR" b="1" dirty="0"/>
              <a:t>) SUBJETIVO: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CULPA (OMISIÓN DE LA DILIGENCIA DEBIDA SEGÚN LA NATURALEZA DE LA OBLIGACIÓN Y LAS CIRCUNSTANCIAS DE PERSONA, TIEMPO Y LUGAR) IMPRUDENCIA, NEGLIGENCIA E IMPERICIA EN EL ARTE O PROFESIÓN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DOLO (PRODUCCIÓN DE UN DAÑO DE MANERA INTENCIONAL, O CON MANIFIESTA INDIFERENCIA POR LOS INTERESES AJENOS</a:t>
            </a:r>
          </a:p>
          <a:p>
            <a:endParaRPr lang="es-AR" dirty="0"/>
          </a:p>
          <a:p>
            <a:r>
              <a:rPr lang="es-AR" dirty="0"/>
              <a:t>VALORACIÓN DE LA CONDUCTA: A MAYOR DEBER DE OBRAR CON PRUDENCIA Y PLENO CONOCIMIENTO, MAYOR ES LA DILIGENCIA QUE SE EXIGE Y LA VALORACIÓN DE LA PREVISIBILIDAD DE LAS CONSECUENCIAS</a:t>
            </a:r>
          </a:p>
          <a:p>
            <a:endParaRPr lang="es-AR" dirty="0"/>
          </a:p>
          <a:p>
            <a:r>
              <a:rPr lang="es-AR" dirty="0"/>
              <a:t>LA ACTIVIDAD DEL PROFESIONAL LIBERAL ES SUBJETIVA SALVO QUE HUBIERA COMPROMETIDO UN RESULTADO CONCRETO Y NO LO LOGRE  (ART. 1768)</a:t>
            </a:r>
          </a:p>
        </p:txBody>
      </p:sp>
      <p:sp>
        <p:nvSpPr>
          <p:cNvPr id="3" name="2 Rectángulo"/>
          <p:cNvSpPr/>
          <p:nvPr/>
        </p:nvSpPr>
        <p:spPr>
          <a:xfrm>
            <a:off x="611560" y="4715151"/>
            <a:ext cx="770485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/>
              <a:t>2) </a:t>
            </a:r>
            <a:r>
              <a:rPr lang="es-AR" b="1" dirty="0"/>
              <a:t>OBJETIVO</a:t>
            </a:r>
            <a:r>
              <a:rPr lang="es-AR" dirty="0"/>
              <a:t>: PRESCINDE DE CULPA PARA ATRIBUIR RESPONSABILIDAD. </a:t>
            </a:r>
          </a:p>
          <a:p>
            <a:r>
              <a:rPr lang="es-AR" dirty="0"/>
              <a:t>        HAY RESPONSABILIDAD OBJETIVA POR EJ:CUANDO LA OBLIGACIÓN ES DE RESULTADO (ART. 1723)/ EN LA RESPONSABILIDAD DEL PRINCIPAL POR EL HECHO DEL DEPENDIENTE (ART. 1753) CUANDO EL HECHO DAÑOSO OCURRE EN EJERCICIO O CON OCASIÓN DE LAS FUNCIONES ENCOMENDADAS AL DEPENDIENTE</a:t>
            </a:r>
          </a:p>
        </p:txBody>
      </p:sp>
    </p:spTree>
    <p:extLst>
      <p:ext uri="{BB962C8B-B14F-4D97-AF65-F5344CB8AC3E}">
        <p14:creationId xmlns:p14="http://schemas.microsoft.com/office/powerpoint/2010/main" val="4026266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63" y="476672"/>
            <a:ext cx="4408487" cy="8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429000"/>
            <a:ext cx="4408487" cy="8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683568" y="4437112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dirty="0"/>
              <a:t>ES LA LESIÓN A UN DERECHO O INTERES NO PROHIBIDO POR EL ORDENAMIENTO JURIDICO Y QUE TIENE POR OBJETO LA PERSONA, EL PATRIMONIO O UN DERECHO DE INCIDENCIA COLECTIVA (ART. 1737)</a:t>
            </a:r>
          </a:p>
        </p:txBody>
      </p:sp>
      <p:sp>
        <p:nvSpPr>
          <p:cNvPr id="3" name="2 Rectángulo"/>
          <p:cNvSpPr/>
          <p:nvPr/>
        </p:nvSpPr>
        <p:spPr>
          <a:xfrm>
            <a:off x="683568" y="1844824"/>
            <a:ext cx="77048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/>
              <a:t>PARA QUE EXISTA RESPONSABILIDAD DEBE HABER UNA RELACIÓN DE CAUSA A EFECTO ENTRE EL ACTO DEL SUJETO Y EL DAÑO SUFRIDO POR EL DAMNIFICADO</a:t>
            </a:r>
          </a:p>
        </p:txBody>
      </p:sp>
    </p:spTree>
    <p:extLst>
      <p:ext uri="{BB962C8B-B14F-4D97-AF65-F5344CB8AC3E}">
        <p14:creationId xmlns:p14="http://schemas.microsoft.com/office/powerpoint/2010/main" val="24803695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309</Words>
  <Application>Microsoft Office PowerPoint</Application>
  <PresentationFormat>Presentación en pantalla (4:3)</PresentationFormat>
  <Paragraphs>29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Tema de Office</vt:lpstr>
      <vt:lpstr>Presentación de PowerPoint</vt:lpstr>
      <vt:lpstr>Tipos de responsabilidad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Responsabilidad Civil</dc:title>
  <dc:creator>Patricia</dc:creator>
  <cp:lastModifiedBy>Veronica Andrea Massachiodi</cp:lastModifiedBy>
  <cp:revision>9</cp:revision>
  <dcterms:created xsi:type="dcterms:W3CDTF">2020-10-11T22:28:08Z</dcterms:created>
  <dcterms:modified xsi:type="dcterms:W3CDTF">2024-09-14T13:51:04Z</dcterms:modified>
</cp:coreProperties>
</file>